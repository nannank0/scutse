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303" r:id="rId3"/>
    <p:sldId id="275" r:id="rId5"/>
    <p:sldId id="365" r:id="rId6"/>
    <p:sldId id="483" r:id="rId7"/>
    <p:sldId id="484" r:id="rId8"/>
    <p:sldId id="485" r:id="rId9"/>
    <p:sldId id="486" r:id="rId10"/>
    <p:sldId id="487" r:id="rId11"/>
    <p:sldId id="488" r:id="rId12"/>
    <p:sldId id="489" r:id="rId13"/>
    <p:sldId id="490" r:id="rId14"/>
    <p:sldId id="491" r:id="rId15"/>
    <p:sldId id="492" r:id="rId16"/>
    <p:sldId id="493" r:id="rId17"/>
    <p:sldId id="494" r:id="rId18"/>
    <p:sldId id="495" r:id="rId19"/>
    <p:sldId id="496" r:id="rId20"/>
    <p:sldId id="497" r:id="rId21"/>
    <p:sldId id="498" r:id="rId22"/>
    <p:sldId id="499" r:id="rId23"/>
    <p:sldId id="500" r:id="rId24"/>
    <p:sldId id="501" r:id="rId25"/>
    <p:sldId id="502" r:id="rId26"/>
    <p:sldId id="503" r:id="rId27"/>
    <p:sldId id="504" r:id="rId28"/>
    <p:sldId id="505" r:id="rId29"/>
    <p:sldId id="506" r:id="rId30"/>
    <p:sldId id="507" r:id="rId31"/>
    <p:sldId id="508" r:id="rId32"/>
    <p:sldId id="509" r:id="rId33"/>
    <p:sldId id="510" r:id="rId34"/>
    <p:sldId id="511" r:id="rId35"/>
    <p:sldId id="512" r:id="rId36"/>
    <p:sldId id="513" r:id="rId37"/>
    <p:sldId id="514" r:id="rId38"/>
    <p:sldId id="515" r:id="rId39"/>
    <p:sldId id="516" r:id="rId40"/>
    <p:sldId id="51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230" initials="P" lastIdx="1" clrIdx="0"/>
  <p:cmAuthor id="2" name="jiexin" initials="j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pPr marL="0" lvl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CC4D53-F844-4B19-81F6-71952C8D6F22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smtClean="0">
              <a:ea typeface="SimSun" pitchFamily="2" charset="-122"/>
            </a:endParaRPr>
          </a:p>
          <a:p>
            <a:endParaRPr lang="en-US" altLang="zh-CN" smtClean="0"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err="1">
              <a:sym typeface="+mn-ea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olidFill>
                <a:srgbClr val="FF0000"/>
              </a:solidFill>
              <a:ea typeface="SimSun" pitchFamily="2" charset="-122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6395" y="897255"/>
            <a:ext cx="9144000" cy="1924050"/>
          </a:xfrm>
        </p:spPr>
        <p:txBody>
          <a:bodyPr/>
          <a:p>
            <a:r>
              <a:rPr lang="en-US" altLang="zh-CN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Structures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52140"/>
            <a:ext cx="9144000" cy="252603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sz="32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p>
            <a:r>
              <a:rPr lang="en-US"/>
              <a:t>Chapter 4-1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3600" dirty="0">
                <a:sym typeface="+mn-ea"/>
              </a:rPr>
              <a:t>Tree </a:t>
            </a:r>
            <a:r>
              <a:rPr lang="en-US" altLang="zh-CN" sz="3600" dirty="0">
                <a:sym typeface="+mn-ea"/>
              </a:rPr>
              <a:t>I</a:t>
            </a:r>
            <a:endParaRPr lang="en-US" altLang="zh-CN" sz="36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Content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imSun" pitchFamily="2" charset="-122"/>
                <a:sym typeface="+mn-ea"/>
              </a:rPr>
              <a:t>Definitions of tree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SimSun" pitchFamily="2" charset="-122"/>
                <a:sym typeface="+mn-ea"/>
              </a:rPr>
              <a:t>Binary tree</a:t>
            </a:r>
            <a:endParaRPr lang="en-US" altLang="zh-CN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SimSun" pitchFamily="2" charset="-122"/>
                <a:sym typeface="+mn-ea"/>
              </a:rPr>
              <a:t>AVL tree</a:t>
            </a:r>
            <a:endParaRPr lang="en-US" altLang="zh-CN" dirty="0" smtClean="0"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SimSun" pitchFamily="2" charset="-122"/>
                <a:sym typeface="+mn-ea"/>
              </a:rPr>
              <a:t>Splay tree</a:t>
            </a:r>
            <a:endParaRPr lang="en-US" altLang="zh-CN" dirty="0" smtClean="0">
              <a:ea typeface="SimSun" pitchFamily="2" charset="-122"/>
            </a:endParaRPr>
          </a:p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dirty="0" smtClean="0">
                <a:ea typeface="SimSun" pitchFamily="2" charset="-122"/>
                <a:sym typeface="+mn-ea"/>
              </a:rPr>
              <a:t>B-tree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D4A27-C905-40C6-8377-BDF4E5666573}" type="slidenum">
              <a:rPr lang="en-US" altLang="zh-CN" sz="790"/>
            </a:fld>
            <a:endParaRPr lang="en-US" altLang="zh-CN" sz="79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Why Do We Need Trees?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4220" y="1718310"/>
            <a:ext cx="7880985" cy="3115310"/>
          </a:xfrm>
        </p:spPr>
        <p:txBody>
          <a:bodyPr/>
          <a:lstStyle/>
          <a:p>
            <a:r>
              <a:rPr lang="en-US" altLang="zh-CN" sz="2400" dirty="0" smtClean="0">
                <a:ea typeface="SimSun" pitchFamily="2" charset="-122"/>
              </a:rPr>
              <a:t>Lists, Stacks, and Queues are linear relationships</a:t>
            </a:r>
            <a:endParaRPr lang="en-US" altLang="zh-CN" sz="2400" dirty="0" smtClean="0">
              <a:ea typeface="SimSun" pitchFamily="2" charset="-122"/>
            </a:endParaRPr>
          </a:p>
          <a:p>
            <a:endParaRPr lang="en-US" altLang="zh-CN" sz="2400" dirty="0" smtClean="0">
              <a:ea typeface="SimSun" pitchFamily="2" charset="-122"/>
            </a:endParaRPr>
          </a:p>
          <a:p>
            <a:r>
              <a:rPr lang="en-US" altLang="zh-CN" sz="2400" dirty="0" smtClean="0">
                <a:ea typeface="SimSun" pitchFamily="2" charset="-122"/>
              </a:rPr>
              <a:t>Information often contains hierarchical relationships </a:t>
            </a:r>
            <a:endParaRPr lang="en-US" altLang="zh-CN" sz="24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 smtClean="0">
                <a:ea typeface="SimSun" pitchFamily="2" charset="-122"/>
              </a:rPr>
              <a:t>File directories or folders </a:t>
            </a:r>
            <a:endParaRPr lang="en-US" altLang="zh-CN" sz="20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 smtClean="0">
                <a:ea typeface="SimSun" pitchFamily="2" charset="-122"/>
              </a:rPr>
              <a:t>H</a:t>
            </a:r>
            <a:r>
              <a:rPr lang="en-US" altLang="zh-CN" sz="2000" dirty="0" smtClean="0">
                <a:ea typeface="SimSun" pitchFamily="2" charset="-122"/>
                <a:sym typeface="+mn-ea"/>
              </a:rPr>
              <a:t>ierarchies in organizations </a:t>
            </a:r>
            <a:endParaRPr lang="en-US" altLang="zh-CN" sz="2000" dirty="0" smtClean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dirty="0" smtClean="0">
                <a:ea typeface="SimSun" pitchFamily="2" charset="-122"/>
              </a:rPr>
              <a:t>Moves in a game</a:t>
            </a:r>
            <a:endParaRPr lang="en-US" altLang="zh-CN" sz="20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 smtClean="0">
                <a:ea typeface="SimSun" pitchFamily="2" charset="-122"/>
              </a:rPr>
              <a:t>Can build a tree to support fast searching</a:t>
            </a:r>
            <a:endParaRPr lang="en-US" altLang="zh-CN" sz="2400" dirty="0" smtClean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07B3B8-4360-4556-8382-E92D4ECCDC0F}" type="slidenum">
              <a:rPr lang="en-US" altLang="zh-CN" sz="790"/>
            </a:fld>
            <a:endParaRPr lang="en-US" altLang="zh-CN" sz="79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Tree </a:t>
            </a:r>
            <a:r>
              <a:rPr lang="en-US" altLang="zh-CN" dirty="0" smtClean="0">
                <a:ea typeface="SimSun" pitchFamily="2" charset="-122"/>
                <a:sym typeface="+mn-ea"/>
              </a:rPr>
              <a:t>Definition and </a:t>
            </a:r>
            <a:r>
              <a:rPr lang="en-US" altLang="zh-CN" dirty="0" smtClean="0">
                <a:ea typeface="SimSun" pitchFamily="2" charset="-122"/>
              </a:rPr>
              <a:t>Jargon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8198" name="Text Box 4"/>
          <p:cNvSpPr txBox="1">
            <a:spLocks noChangeArrowheads="1"/>
          </p:cNvSpPr>
          <p:nvPr/>
        </p:nvSpPr>
        <p:spPr bwMode="auto">
          <a:xfrm>
            <a:off x="1377950" y="2464435"/>
            <a:ext cx="4029075" cy="3784600"/>
          </a:xfrm>
          <a:prstGeom prst="rect">
            <a:avLst/>
          </a:prstGeom>
          <a:noFill/>
          <a:ln w="9525">
            <a:solidFill>
              <a:srgbClr val="9900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root</a:t>
            </a: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nodes and edges</a:t>
            </a: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  <a:sym typeface="+mn-ea"/>
              </a:rPr>
              <a:t> subtrees</a:t>
            </a: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leaves</a:t>
            </a: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parent, children, siblings</a:t>
            </a: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ancestors,  descendants</a:t>
            </a: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endParaRPr lang="en-US" altLang="zh-CN" sz="2400" dirty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path, path length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rPr>
              <a:t> height, depth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93635" y="2962567"/>
            <a:ext cx="2401793" cy="2550503"/>
            <a:chOff x="4114800" y="4000500"/>
            <a:chExt cx="1730214" cy="1943100"/>
          </a:xfrm>
        </p:grpSpPr>
        <p:sp>
          <p:nvSpPr>
            <p:cNvPr id="8199" name="Oval 5"/>
            <p:cNvSpPr>
              <a:spLocks noChangeArrowheads="1"/>
            </p:cNvSpPr>
            <p:nvPr/>
          </p:nvSpPr>
          <p:spPr bwMode="auto">
            <a:xfrm>
              <a:off x="4800600" y="4000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41148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48006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2" name="Oval 8"/>
            <p:cNvSpPr>
              <a:spLocks noChangeArrowheads="1"/>
            </p:cNvSpPr>
            <p:nvPr/>
          </p:nvSpPr>
          <p:spPr bwMode="auto">
            <a:xfrm>
              <a:off x="54864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3" name="Oval 9"/>
            <p:cNvSpPr>
              <a:spLocks noChangeArrowheads="1"/>
            </p:cNvSpPr>
            <p:nvPr/>
          </p:nvSpPr>
          <p:spPr bwMode="auto">
            <a:xfrm>
              <a:off x="44577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4" name="Oval 10"/>
            <p:cNvSpPr>
              <a:spLocks noChangeArrowheads="1"/>
            </p:cNvSpPr>
            <p:nvPr/>
          </p:nvSpPr>
          <p:spPr bwMode="auto">
            <a:xfrm>
              <a:off x="51435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5" name="Line 11"/>
            <p:cNvSpPr>
              <a:spLocks noChangeShapeType="1"/>
            </p:cNvSpPr>
            <p:nvPr/>
          </p:nvSpPr>
          <p:spPr bwMode="auto">
            <a:xfrm flipH="1">
              <a:off x="4400550" y="4343400"/>
              <a:ext cx="5715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6" name="Line 12"/>
            <p:cNvSpPr>
              <a:spLocks noChangeShapeType="1"/>
            </p:cNvSpPr>
            <p:nvPr/>
          </p:nvSpPr>
          <p:spPr bwMode="auto">
            <a:xfrm>
              <a:off x="4972050" y="4343400"/>
              <a:ext cx="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 flipH="1">
              <a:off x="4629150" y="5086350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4972050" y="5086350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9" name="Line 15"/>
            <p:cNvSpPr>
              <a:spLocks noChangeShapeType="1"/>
            </p:cNvSpPr>
            <p:nvPr/>
          </p:nvSpPr>
          <p:spPr bwMode="auto">
            <a:xfrm>
              <a:off x="4972050" y="4343400"/>
              <a:ext cx="62865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10" name="Text Box 16"/>
            <p:cNvSpPr txBox="1">
              <a:spLocks noChangeArrowheads="1"/>
            </p:cNvSpPr>
            <p:nvPr/>
          </p:nvSpPr>
          <p:spPr bwMode="auto">
            <a:xfrm>
              <a:off x="4848818" y="4026886"/>
              <a:ext cx="303610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A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1" name="Text Box 17"/>
            <p:cNvSpPr txBox="1">
              <a:spLocks noChangeArrowheads="1"/>
            </p:cNvSpPr>
            <p:nvPr/>
          </p:nvSpPr>
          <p:spPr bwMode="auto">
            <a:xfrm>
              <a:off x="4160757" y="4777021"/>
              <a:ext cx="303610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B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2" name="Text Box 18"/>
            <p:cNvSpPr txBox="1">
              <a:spLocks noChangeArrowheads="1"/>
            </p:cNvSpPr>
            <p:nvPr/>
          </p:nvSpPr>
          <p:spPr bwMode="auto">
            <a:xfrm>
              <a:off x="4854414" y="4767979"/>
              <a:ext cx="303610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C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3" name="Text Box 19"/>
            <p:cNvSpPr txBox="1">
              <a:spLocks noChangeArrowheads="1"/>
            </p:cNvSpPr>
            <p:nvPr/>
          </p:nvSpPr>
          <p:spPr bwMode="auto">
            <a:xfrm>
              <a:off x="5541405" y="4777171"/>
              <a:ext cx="303609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D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4" name="Text Box 20"/>
            <p:cNvSpPr txBox="1">
              <a:spLocks noChangeArrowheads="1"/>
            </p:cNvSpPr>
            <p:nvPr/>
          </p:nvSpPr>
          <p:spPr bwMode="auto">
            <a:xfrm>
              <a:off x="4506395" y="5629134"/>
              <a:ext cx="303609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E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5" name="Text Box 21"/>
            <p:cNvSpPr txBox="1">
              <a:spLocks noChangeArrowheads="1"/>
            </p:cNvSpPr>
            <p:nvPr/>
          </p:nvSpPr>
          <p:spPr bwMode="auto">
            <a:xfrm>
              <a:off x="5208030" y="5632373"/>
              <a:ext cx="303609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F</a:t>
              </a:r>
              <a:endParaRPr lang="en-US" altLang="zh-CN" sz="1800">
                <a:ea typeface="SimSun" pitchFamily="2" charset="-122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228725" y="1402715"/>
            <a:ext cx="106553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000" dirty="0">
                <a:ea typeface="SimSun" pitchFamily="2" charset="-122"/>
                <a:sym typeface="+mn-ea"/>
              </a:rPr>
              <a:t>A tree is a set of </a:t>
            </a:r>
            <a:r>
              <a:rPr lang="en-US" altLang="zh-CN" sz="2000" dirty="0" err="1">
                <a:ea typeface="SimSun" pitchFamily="2" charset="-122"/>
                <a:sym typeface="+mn-ea"/>
              </a:rPr>
              <a:t>nodes,i.e</a:t>
            </a:r>
            <a:r>
              <a:rPr lang="en-US" altLang="zh-CN" sz="2000" dirty="0">
                <a:ea typeface="SimSun" pitchFamily="2" charset="-122"/>
                <a:sym typeface="+mn-ea"/>
              </a:rPr>
              <a:t>., either </a:t>
            </a:r>
            <a:endParaRPr lang="en-US" altLang="zh-CN" sz="2000" dirty="0">
              <a:ea typeface="SimSun" pitchFamily="2" charset="-122"/>
            </a:endParaRPr>
          </a:p>
          <a:p>
            <a:pPr marL="742950" lvl="1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SimSun" pitchFamily="2" charset="-122"/>
                <a:sym typeface="+mn-ea"/>
              </a:rPr>
              <a:t>it’s an empty set of nodes, or</a:t>
            </a:r>
            <a:endParaRPr lang="en-US" altLang="zh-CN" sz="2000" dirty="0">
              <a:ea typeface="SimSun" pitchFamily="2" charset="-122"/>
            </a:endParaRPr>
          </a:p>
          <a:p>
            <a:pPr marL="742950" lvl="1" indent="-28575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SimSun" pitchFamily="2" charset="-122"/>
                <a:sym typeface="+mn-ea"/>
              </a:rPr>
              <a:t>it has one node called the </a:t>
            </a:r>
            <a:r>
              <a:rPr lang="en-US" altLang="zh-CN" sz="2000" dirty="0">
                <a:solidFill>
                  <a:srgbClr val="FF0000"/>
                </a:solidFill>
                <a:ea typeface="SimSun" pitchFamily="2" charset="-122"/>
                <a:sym typeface="+mn-ea"/>
              </a:rPr>
              <a:t>root</a:t>
            </a:r>
            <a:r>
              <a:rPr lang="en-US" altLang="zh-CN" sz="2000" dirty="0">
                <a:ea typeface="SimSun" pitchFamily="2" charset="-122"/>
                <a:sym typeface="+mn-ea"/>
              </a:rPr>
              <a:t> from which zero or more trees  (subtrees) descend</a:t>
            </a:r>
            <a:endParaRPr lang="en-US" altLang="zh-CN" sz="2000" dirty="0">
              <a:ea typeface="SimSun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More Tree Jargon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490" y="2113915"/>
            <a:ext cx="5975350" cy="324104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Length</a:t>
            </a:r>
            <a:r>
              <a:rPr lang="en-US" altLang="zh-CN" sz="2400" dirty="0">
                <a:ea typeface="SimSun" pitchFamily="2" charset="-122"/>
              </a:rPr>
              <a:t> of a path = number of edges</a:t>
            </a: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Depth</a:t>
            </a:r>
            <a:r>
              <a:rPr lang="en-US" altLang="zh-CN" sz="2400" dirty="0">
                <a:ea typeface="SimSun" pitchFamily="2" charset="-122"/>
              </a:rPr>
              <a:t> of a node N = length of path from root to N</a:t>
            </a: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Height</a:t>
            </a:r>
            <a:r>
              <a:rPr lang="en-US" altLang="zh-CN" sz="2400" dirty="0">
                <a:ea typeface="SimSun" pitchFamily="2" charset="-122"/>
              </a:rPr>
              <a:t> of node N = length of longest path from N to a leaf</a:t>
            </a: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Depth of tree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= depth of deepest node</a:t>
            </a: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Height of tree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= height of root</a:t>
            </a:r>
            <a:endParaRPr lang="en-US" altLang="zh-CN" sz="2400" dirty="0"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178165" y="2153577"/>
            <a:ext cx="2401793" cy="2550503"/>
            <a:chOff x="4114800" y="4000500"/>
            <a:chExt cx="1730214" cy="1943100"/>
          </a:xfrm>
        </p:grpSpPr>
        <p:sp>
          <p:nvSpPr>
            <p:cNvPr id="8199" name="Oval 5"/>
            <p:cNvSpPr>
              <a:spLocks noChangeArrowheads="1"/>
            </p:cNvSpPr>
            <p:nvPr/>
          </p:nvSpPr>
          <p:spPr bwMode="auto">
            <a:xfrm>
              <a:off x="4800600" y="4000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41148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48006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2" name="Oval 8"/>
            <p:cNvSpPr>
              <a:spLocks noChangeArrowheads="1"/>
            </p:cNvSpPr>
            <p:nvPr/>
          </p:nvSpPr>
          <p:spPr bwMode="auto">
            <a:xfrm>
              <a:off x="54864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3" name="Oval 9"/>
            <p:cNvSpPr>
              <a:spLocks noChangeArrowheads="1"/>
            </p:cNvSpPr>
            <p:nvPr/>
          </p:nvSpPr>
          <p:spPr bwMode="auto">
            <a:xfrm>
              <a:off x="44577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4" name="Oval 10"/>
            <p:cNvSpPr>
              <a:spLocks noChangeArrowheads="1"/>
            </p:cNvSpPr>
            <p:nvPr/>
          </p:nvSpPr>
          <p:spPr bwMode="auto">
            <a:xfrm>
              <a:off x="51435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8205" name="Line 11"/>
            <p:cNvSpPr>
              <a:spLocks noChangeShapeType="1"/>
            </p:cNvSpPr>
            <p:nvPr/>
          </p:nvSpPr>
          <p:spPr bwMode="auto">
            <a:xfrm flipH="1">
              <a:off x="4400550" y="4343400"/>
              <a:ext cx="5715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6" name="Line 12"/>
            <p:cNvSpPr>
              <a:spLocks noChangeShapeType="1"/>
            </p:cNvSpPr>
            <p:nvPr/>
          </p:nvSpPr>
          <p:spPr bwMode="auto">
            <a:xfrm>
              <a:off x="4972050" y="4343400"/>
              <a:ext cx="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 flipH="1">
              <a:off x="4629150" y="5086350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4972050" y="5086350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9" name="Line 15"/>
            <p:cNvSpPr>
              <a:spLocks noChangeShapeType="1"/>
            </p:cNvSpPr>
            <p:nvPr/>
          </p:nvSpPr>
          <p:spPr bwMode="auto">
            <a:xfrm>
              <a:off x="4972050" y="4343400"/>
              <a:ext cx="62865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10" name="Text Box 16"/>
            <p:cNvSpPr txBox="1">
              <a:spLocks noChangeArrowheads="1"/>
            </p:cNvSpPr>
            <p:nvPr/>
          </p:nvSpPr>
          <p:spPr bwMode="auto">
            <a:xfrm>
              <a:off x="4848818" y="4026886"/>
              <a:ext cx="303610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A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1" name="Text Box 17"/>
            <p:cNvSpPr txBox="1">
              <a:spLocks noChangeArrowheads="1"/>
            </p:cNvSpPr>
            <p:nvPr/>
          </p:nvSpPr>
          <p:spPr bwMode="auto">
            <a:xfrm>
              <a:off x="4160757" y="4777021"/>
              <a:ext cx="303610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B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2" name="Text Box 18"/>
            <p:cNvSpPr txBox="1">
              <a:spLocks noChangeArrowheads="1"/>
            </p:cNvSpPr>
            <p:nvPr/>
          </p:nvSpPr>
          <p:spPr bwMode="auto">
            <a:xfrm>
              <a:off x="4854414" y="4767979"/>
              <a:ext cx="303610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C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3" name="Text Box 19"/>
            <p:cNvSpPr txBox="1">
              <a:spLocks noChangeArrowheads="1"/>
            </p:cNvSpPr>
            <p:nvPr/>
          </p:nvSpPr>
          <p:spPr bwMode="auto">
            <a:xfrm>
              <a:off x="5541405" y="4777171"/>
              <a:ext cx="303609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D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4" name="Text Box 20"/>
            <p:cNvSpPr txBox="1">
              <a:spLocks noChangeArrowheads="1"/>
            </p:cNvSpPr>
            <p:nvPr/>
          </p:nvSpPr>
          <p:spPr bwMode="auto">
            <a:xfrm>
              <a:off x="4506395" y="5629134"/>
              <a:ext cx="303609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E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215" name="Text Box 21"/>
            <p:cNvSpPr txBox="1">
              <a:spLocks noChangeArrowheads="1"/>
            </p:cNvSpPr>
            <p:nvPr/>
          </p:nvSpPr>
          <p:spPr bwMode="auto">
            <a:xfrm>
              <a:off x="5208030" y="5632373"/>
              <a:ext cx="303609" cy="280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F</a:t>
              </a:r>
              <a:endParaRPr lang="en-US" altLang="zh-CN" sz="1800">
                <a:ea typeface="SimSun" pitchFamily="2" charset="-122"/>
              </a:endParaRPr>
            </a:p>
          </p:txBody>
        </p:sp>
      </p:grpSp>
      <p:sp>
        <p:nvSpPr>
          <p:cNvPr id="3" name="Text Box 21"/>
          <p:cNvSpPr txBox="1">
            <a:spLocks noChangeArrowheads="1"/>
          </p:cNvSpPr>
          <p:nvPr/>
        </p:nvSpPr>
        <p:spPr bwMode="auto">
          <a:xfrm>
            <a:off x="7428865" y="1454785"/>
            <a:ext cx="281178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6600"/>
                </a:solidFill>
                <a:ea typeface="SimSun" pitchFamily="2" charset="-122"/>
              </a:rPr>
              <a:t>depth=0, height = 2</a:t>
            </a:r>
            <a:endParaRPr lang="en-US" altLang="zh-CN" dirty="0">
              <a:solidFill>
                <a:srgbClr val="006600"/>
              </a:solidFill>
              <a:ea typeface="SimSun" pitchFamily="2" charset="-122"/>
            </a:endParaRPr>
          </a:p>
        </p:txBody>
      </p:sp>
      <p:sp>
        <p:nvSpPr>
          <p:cNvPr id="4" name="Line 24"/>
          <p:cNvSpPr>
            <a:spLocks noChangeShapeType="1"/>
          </p:cNvSpPr>
          <p:nvPr/>
        </p:nvSpPr>
        <p:spPr bwMode="auto">
          <a:xfrm>
            <a:off x="8760460" y="1915160"/>
            <a:ext cx="370205" cy="287655"/>
          </a:xfrm>
          <a:prstGeom prst="line">
            <a:avLst/>
          </a:prstGeom>
          <a:noFill/>
          <a:ln w="539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endParaRPr lang="zh-CN" altLang="en-US" sz="1015"/>
          </a:p>
        </p:txBody>
      </p:sp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10669969" y="3835353"/>
            <a:ext cx="124777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6600"/>
                </a:solidFill>
                <a:ea typeface="SimSun" pitchFamily="2" charset="-122"/>
              </a:rPr>
              <a:t>depth=1, </a:t>
            </a:r>
            <a:endParaRPr lang="en-US" altLang="zh-CN">
              <a:solidFill>
                <a:srgbClr val="006600"/>
              </a:solidFill>
              <a:ea typeface="SimSun" pitchFamily="2" charset="-122"/>
            </a:endParaRPr>
          </a:p>
          <a:p>
            <a:r>
              <a:rPr lang="en-US" altLang="zh-CN">
                <a:solidFill>
                  <a:srgbClr val="006600"/>
                </a:solidFill>
                <a:ea typeface="SimSun" pitchFamily="2" charset="-122"/>
              </a:rPr>
              <a:t>height =0</a:t>
            </a:r>
            <a:endParaRPr lang="en-US" altLang="zh-CN">
              <a:solidFill>
                <a:srgbClr val="006600"/>
              </a:solidFill>
              <a:ea typeface="SimSun" pitchFamily="2" charset="-122"/>
            </a:endParaRPr>
          </a:p>
        </p:txBody>
      </p:sp>
      <p:sp>
        <p:nvSpPr>
          <p:cNvPr id="6" name="Line 24"/>
          <p:cNvSpPr>
            <a:spLocks noChangeShapeType="1"/>
          </p:cNvSpPr>
          <p:nvPr/>
        </p:nvSpPr>
        <p:spPr bwMode="auto">
          <a:xfrm rot="11160000">
            <a:off x="10579735" y="3529330"/>
            <a:ext cx="370205" cy="287655"/>
          </a:xfrm>
          <a:prstGeom prst="line">
            <a:avLst/>
          </a:prstGeom>
          <a:noFill/>
          <a:ln w="539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endParaRPr lang="zh-CN" altLang="en-US" sz="1015"/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6609715" y="5137150"/>
            <a:ext cx="252031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rgbClr val="006600"/>
                </a:solidFill>
                <a:ea typeface="SimSun" pitchFamily="2" charset="-122"/>
              </a:rPr>
              <a:t>depth = 2, height=0</a:t>
            </a:r>
            <a:endParaRPr lang="en-US" altLang="zh-CN" sz="2000">
              <a:solidFill>
                <a:srgbClr val="006600"/>
              </a:solidFill>
              <a:ea typeface="SimSun" pitchFamily="2" charset="-122"/>
            </a:endParaRPr>
          </a:p>
        </p:txBody>
      </p:sp>
      <p:sp>
        <p:nvSpPr>
          <p:cNvPr id="8" name="Line 24"/>
          <p:cNvSpPr>
            <a:spLocks noChangeShapeType="1"/>
          </p:cNvSpPr>
          <p:nvPr/>
        </p:nvSpPr>
        <p:spPr bwMode="auto">
          <a:xfrm rot="11160000" flipH="1">
            <a:off x="8382635" y="4723130"/>
            <a:ext cx="260350" cy="400050"/>
          </a:xfrm>
          <a:prstGeom prst="line">
            <a:avLst/>
          </a:prstGeom>
          <a:noFill/>
          <a:ln w="539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endParaRPr lang="zh-CN" altLang="en-US" sz="1015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3AA85E-28B4-4CC0-9757-098BED7EC81B}" type="slidenum">
              <a:rPr lang="en-US" altLang="zh-CN" sz="790"/>
            </a:fld>
            <a:endParaRPr lang="en-US" altLang="zh-CN" sz="79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Tree Trivia</a:t>
            </a:r>
            <a:endParaRPr lang="en-US" altLang="zh-CN" sz="2250" dirty="0">
              <a:ea typeface="SimSun" pitchFamily="2" charset="-122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68450"/>
            <a:ext cx="10972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altLang="zh-CN" sz="2800" dirty="0" smtClean="0">
              <a:solidFill>
                <a:schemeClr val="accent2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SimSun" pitchFamily="2" charset="-122"/>
              </a:rPr>
              <a:t>Two </a:t>
            </a:r>
            <a:r>
              <a:rPr lang="en-US" altLang="zh-CN" sz="2800" dirty="0">
                <a:ea typeface="SimSun" pitchFamily="2" charset="-122"/>
              </a:rPr>
              <a:t>nodes in a tree have at most one path between them</a:t>
            </a:r>
            <a:endParaRPr lang="en-US" altLang="zh-CN" sz="28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 smtClean="0">
              <a:solidFill>
                <a:srgbClr val="008000"/>
              </a:solidFill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solidFill>
                  <a:srgbClr val="008000"/>
                </a:solidFill>
                <a:ea typeface="SimSun" pitchFamily="2" charset="-122"/>
              </a:rPr>
              <a:t>Can </a:t>
            </a:r>
            <a:r>
              <a:rPr lang="en-US" altLang="zh-CN" sz="2800" dirty="0">
                <a:solidFill>
                  <a:srgbClr val="008000"/>
                </a:solidFill>
                <a:ea typeface="SimSun" pitchFamily="2" charset="-122"/>
              </a:rPr>
              <a:t>a non-zero path from node N reach node N again?</a:t>
            </a:r>
            <a:endParaRPr lang="en-US" altLang="zh-CN" sz="2800" dirty="0">
              <a:solidFill>
                <a:srgbClr val="008000"/>
              </a:solidFill>
              <a:ea typeface="SimSun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   </a:t>
            </a:r>
            <a:r>
              <a:rPr lang="en-US" altLang="zh-CN" sz="2400" dirty="0" smtClean="0">
                <a:solidFill>
                  <a:srgbClr val="FF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   - No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. Trees can never have cycles (loops)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127497-8FEF-4448-A552-F10B27ECFFC5}" type="slidenum">
              <a:rPr lang="en-US" altLang="zh-CN" sz="790"/>
            </a:fld>
            <a:endParaRPr lang="en-US" altLang="zh-CN" sz="790"/>
          </a:p>
        </p:txBody>
      </p:sp>
      <p:sp>
        <p:nvSpPr>
          <p:cNvPr id="1126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Paths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127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1238885"/>
            <a:ext cx="10972800" cy="205295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zh-CN" smtClean="0">
              <a:ea typeface="SimSun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mtClean="0">
                <a:ea typeface="SimSun" pitchFamily="2" charset="-122"/>
              </a:rPr>
              <a:t>A tree with N nodes always has N-1 edges (prove it by induction)</a:t>
            </a:r>
            <a:endParaRPr lang="en-US" altLang="zh-CN" smtClean="0">
              <a:ea typeface="SimSun" pitchFamily="2" charset="-122"/>
            </a:endParaRPr>
          </a:p>
        </p:txBody>
      </p:sp>
      <p:sp>
        <p:nvSpPr>
          <p:cNvPr id="11271" name="Text Box 1028"/>
          <p:cNvSpPr txBox="1">
            <a:spLocks noChangeArrowheads="1"/>
          </p:cNvSpPr>
          <p:nvPr/>
        </p:nvSpPr>
        <p:spPr bwMode="auto">
          <a:xfrm>
            <a:off x="2216150" y="2766060"/>
            <a:ext cx="8332470" cy="3784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Base Case</a:t>
            </a:r>
            <a:r>
              <a:rPr lang="en-US" altLang="zh-CN" sz="2400" dirty="0">
                <a:ea typeface="SimSun" pitchFamily="2" charset="-122"/>
              </a:rPr>
              <a:t>: N=1   </a:t>
            </a:r>
            <a:r>
              <a:rPr lang="en-US" altLang="zh-CN" sz="2400" dirty="0" smtClean="0">
                <a:ea typeface="SimSun" pitchFamily="2" charset="-122"/>
              </a:rPr>
              <a:t> one </a:t>
            </a:r>
            <a:r>
              <a:rPr lang="en-US" altLang="zh-CN" sz="2400" dirty="0">
                <a:ea typeface="SimSun" pitchFamily="2" charset="-122"/>
              </a:rPr>
              <a:t>node, zero edges</a:t>
            </a:r>
            <a:endParaRPr lang="en-US" altLang="zh-CN" sz="2400" dirty="0">
              <a:ea typeface="SimSun" pitchFamily="2" charset="-122"/>
            </a:endParaRPr>
          </a:p>
          <a:p>
            <a:endParaRPr lang="en-US" altLang="zh-CN" sz="2400" dirty="0">
              <a:ea typeface="SimSun" pitchFamily="2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Inductive Hypothesis</a:t>
            </a:r>
            <a:r>
              <a:rPr lang="en-US" altLang="zh-CN" sz="2400" dirty="0">
                <a:ea typeface="SimSun" pitchFamily="2" charset="-122"/>
              </a:rPr>
              <a:t>:  Suppose that a tree with N=k </a:t>
            </a:r>
            <a:r>
              <a:rPr lang="en-US" altLang="zh-CN" sz="2400" dirty="0" smtClean="0">
                <a:ea typeface="SimSun" pitchFamily="2" charset="-122"/>
              </a:rPr>
              <a:t>nodes always </a:t>
            </a:r>
            <a:r>
              <a:rPr lang="en-US" altLang="zh-CN" sz="2400" dirty="0">
                <a:ea typeface="SimSun" pitchFamily="2" charset="-122"/>
              </a:rPr>
              <a:t>has k-1 edges.</a:t>
            </a:r>
            <a:endParaRPr lang="en-US" altLang="zh-CN" sz="2400" dirty="0">
              <a:ea typeface="SimSun" pitchFamily="2" charset="-122"/>
            </a:endParaRPr>
          </a:p>
          <a:p>
            <a:endParaRPr lang="en-US" altLang="zh-CN" sz="2400" dirty="0">
              <a:solidFill>
                <a:srgbClr val="FF0000"/>
              </a:solidFill>
              <a:ea typeface="SimSun" pitchFamily="2" charset="-122"/>
            </a:endParaRPr>
          </a:p>
          <a:p>
            <a:endParaRPr lang="en-US" altLang="zh-CN" sz="2400" dirty="0">
              <a:solidFill>
                <a:srgbClr val="FF0000"/>
              </a:solidFill>
              <a:ea typeface="SimSun" pitchFamily="2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Induction</a:t>
            </a:r>
            <a:r>
              <a:rPr lang="en-US" altLang="zh-CN" sz="2400" dirty="0">
                <a:ea typeface="SimSun" pitchFamily="2" charset="-122"/>
              </a:rPr>
              <a:t>:  Suppose N=k+1…</a:t>
            </a:r>
            <a:endParaRPr lang="en-US" altLang="zh-CN" sz="2400" dirty="0">
              <a:ea typeface="SimSun" pitchFamily="2" charset="-122"/>
            </a:endParaRPr>
          </a:p>
          <a:p>
            <a:r>
              <a:rPr lang="en-US" altLang="zh-CN" sz="2400" dirty="0">
                <a:ea typeface="SimSun" pitchFamily="2" charset="-122"/>
              </a:rPr>
              <a:t>The k+1st node must connect</a:t>
            </a:r>
            <a:endParaRPr lang="en-US" altLang="zh-CN" sz="2400" dirty="0">
              <a:ea typeface="SimSun" pitchFamily="2" charset="-122"/>
            </a:endParaRPr>
          </a:p>
          <a:p>
            <a:r>
              <a:rPr lang="en-US" altLang="zh-CN" sz="2400" dirty="0">
                <a:ea typeface="SimSun" pitchFamily="2" charset="-122"/>
              </a:rPr>
              <a:t>to the rest by 1 or more edges.</a:t>
            </a:r>
            <a:endParaRPr lang="en-US" altLang="zh-CN" sz="2400" dirty="0">
              <a:ea typeface="SimSun" pitchFamily="2" charset="-122"/>
            </a:endParaRPr>
          </a:p>
          <a:p>
            <a:r>
              <a:rPr lang="en-US" altLang="zh-CN" sz="2400" dirty="0">
                <a:ea typeface="SimSun" pitchFamily="2" charset="-122"/>
              </a:rPr>
              <a:t>If more, we get a cycle. So it connects by just 1 more edge</a:t>
            </a:r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11286" name="Oval 1051"/>
          <p:cNvSpPr>
            <a:spLocks noChangeArrowheads="1"/>
          </p:cNvSpPr>
          <p:nvPr/>
        </p:nvSpPr>
        <p:spPr bwMode="auto">
          <a:xfrm>
            <a:off x="7004685" y="5186045"/>
            <a:ext cx="284480" cy="33718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11287" name="Line 1052"/>
          <p:cNvSpPr>
            <a:spLocks noChangeShapeType="1"/>
          </p:cNvSpPr>
          <p:nvPr/>
        </p:nvSpPr>
        <p:spPr bwMode="auto">
          <a:xfrm flipV="1">
            <a:off x="7289165" y="5018405"/>
            <a:ext cx="285115" cy="217805"/>
          </a:xfrm>
          <a:prstGeom prst="line">
            <a:avLst/>
          </a:prstGeom>
          <a:noFill/>
          <a:ln w="31750" cmpd="sng">
            <a:solidFill>
              <a:schemeClr val="accent1">
                <a:shade val="50000"/>
              </a:schemeClr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11288" name="Text Box 1053"/>
          <p:cNvSpPr txBox="1">
            <a:spLocks noChangeArrowheads="1"/>
          </p:cNvSpPr>
          <p:nvPr/>
        </p:nvSpPr>
        <p:spPr bwMode="auto">
          <a:xfrm>
            <a:off x="9769661" y="4343936"/>
            <a:ext cx="3352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rgbClr val="008000"/>
                </a:solidFill>
                <a:ea typeface="SimSun" pitchFamily="2" charset="-122"/>
              </a:rPr>
              <a:t>k</a:t>
            </a:r>
            <a:endParaRPr lang="en-US" altLang="zh-CN" sz="2400">
              <a:solidFill>
                <a:srgbClr val="008000"/>
              </a:solidFill>
              <a:ea typeface="SimSun" pitchFamily="2" charset="-122"/>
            </a:endParaRPr>
          </a:p>
        </p:txBody>
      </p:sp>
      <p:sp>
        <p:nvSpPr>
          <p:cNvPr id="11289" name="Text Box 1054"/>
          <p:cNvSpPr txBox="1">
            <a:spLocks noChangeArrowheads="1"/>
          </p:cNvSpPr>
          <p:nvPr/>
        </p:nvSpPr>
        <p:spPr bwMode="auto">
          <a:xfrm>
            <a:off x="6874696" y="4681439"/>
            <a:ext cx="47244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8000"/>
                </a:solidFill>
                <a:ea typeface="SimSun" pitchFamily="2" charset="-122"/>
              </a:rPr>
              <a:t>+1</a:t>
            </a:r>
            <a:endParaRPr lang="en-US" altLang="zh-CN">
              <a:solidFill>
                <a:srgbClr val="008000"/>
              </a:solidFill>
              <a:ea typeface="SimSun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240" y="4107180"/>
            <a:ext cx="1922145" cy="1416050"/>
          </a:xfrm>
          <a:prstGeom prst="rect">
            <a:avLst/>
          </a:prstGeom>
        </p:spPr>
      </p:pic>
      <p:sp>
        <p:nvSpPr>
          <p:cNvPr id="11285" name="Oval 1050"/>
          <p:cNvSpPr>
            <a:spLocks noChangeArrowheads="1"/>
          </p:cNvSpPr>
          <p:nvPr/>
        </p:nvSpPr>
        <p:spPr bwMode="auto">
          <a:xfrm>
            <a:off x="7574280" y="4196080"/>
            <a:ext cx="2220595" cy="1517015"/>
          </a:xfrm>
          <a:prstGeom prst="ellipse">
            <a:avLst/>
          </a:prstGeom>
          <a:noFill/>
          <a:ln w="952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/>
      <p:bldP spid="1127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ECC09E-3F2B-4D60-AE45-396B36C803CF}" type="slidenum">
              <a:rPr lang="en-US" altLang="zh-CN" sz="790"/>
            </a:fld>
            <a:endParaRPr lang="en-US" altLang="zh-CN" sz="79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Implementation of Trees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2020" y="1724660"/>
            <a:ext cx="8438515" cy="4336415"/>
          </a:xfrm>
        </p:spPr>
        <p:txBody>
          <a:bodyPr/>
          <a:lstStyle/>
          <a:p>
            <a:r>
              <a:rPr lang="en-US" altLang="zh-CN" sz="2800" dirty="0">
                <a:ea typeface="SimSun" pitchFamily="2" charset="-122"/>
              </a:rPr>
              <a:t>One possible pointer-based Implementation</a:t>
            </a:r>
            <a:endParaRPr lang="en-US" altLang="zh-CN" sz="2800" dirty="0">
              <a:ea typeface="SimSun" pitchFamily="2" charset="-122"/>
            </a:endParaRPr>
          </a:p>
          <a:p>
            <a:pPr lvl="1"/>
            <a:r>
              <a:rPr lang="en-US" altLang="zh-CN" sz="2400" dirty="0">
                <a:ea typeface="SimSun" pitchFamily="2" charset="-122"/>
              </a:rPr>
              <a:t>tree nodes with value and a pointer to each child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en-US" altLang="zh-CN" sz="2400" dirty="0">
                <a:solidFill>
                  <a:srgbClr val="CC0000"/>
                </a:solidFill>
                <a:ea typeface="SimSun" pitchFamily="2" charset="-122"/>
              </a:rPr>
              <a:t>but how many pointers should we allocate space for</a:t>
            </a:r>
            <a:r>
              <a:rPr lang="en-US" altLang="zh-CN" sz="2400" dirty="0" smtClean="0">
                <a:solidFill>
                  <a:srgbClr val="CC0000"/>
                </a:solidFill>
                <a:ea typeface="SimSun" pitchFamily="2" charset="-122"/>
              </a:rPr>
              <a:t>?</a:t>
            </a:r>
            <a:endParaRPr lang="en-US" altLang="zh-CN" sz="2400" dirty="0" smtClean="0">
              <a:solidFill>
                <a:srgbClr val="CC0000"/>
              </a:solidFill>
              <a:ea typeface="SimSun" pitchFamily="2" charset="-122"/>
            </a:endParaRPr>
          </a:p>
          <a:p>
            <a:pPr lvl="1"/>
            <a:endParaRPr lang="en-US" altLang="zh-CN" sz="2400" dirty="0">
              <a:ea typeface="SimSun" pitchFamily="2" charset="-122"/>
            </a:endParaRPr>
          </a:p>
          <a:p>
            <a:r>
              <a:rPr lang="en-US" altLang="zh-CN" sz="2800" dirty="0">
                <a:ea typeface="SimSun" pitchFamily="2" charset="-122"/>
              </a:rPr>
              <a:t>A more flexible pointer-based implementation</a:t>
            </a:r>
            <a:endParaRPr lang="en-US" altLang="zh-CN" sz="2800" dirty="0">
              <a:ea typeface="SimSun" pitchFamily="2" charset="-122"/>
            </a:endParaRPr>
          </a:p>
          <a:p>
            <a:pPr lvl="1"/>
            <a:r>
              <a:rPr lang="en-US" altLang="zh-CN" sz="2400" dirty="0">
                <a:ea typeface="SimSun" pitchFamily="2" charset="-122"/>
              </a:rPr>
              <a:t>1</a:t>
            </a:r>
            <a:r>
              <a:rPr lang="en-US" altLang="zh-CN" sz="2400" baseline="30000" dirty="0">
                <a:ea typeface="SimSun" pitchFamily="2" charset="-122"/>
              </a:rPr>
              <a:t>st</a:t>
            </a:r>
            <a:r>
              <a:rPr lang="en-US" altLang="zh-CN" sz="2400" dirty="0">
                <a:ea typeface="SimSun" pitchFamily="2" charset="-122"/>
              </a:rPr>
              <a:t> Child / Next Sibling List Representation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en-US" altLang="zh-CN" sz="2400" dirty="0">
                <a:ea typeface="SimSun" pitchFamily="2" charset="-122"/>
              </a:rPr>
              <a:t>Each node has 2 pointers: one to its first child and one to next sibling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en-US" altLang="zh-CN" sz="2400" dirty="0">
                <a:ea typeface="SimSun" pitchFamily="2" charset="-122"/>
              </a:rPr>
              <a:t>Can handle arbitrary number of children</a:t>
            </a:r>
            <a:endParaRPr lang="en-US" altLang="zh-CN" sz="2400" dirty="0"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347325" y="1262380"/>
            <a:ext cx="1529715" cy="1535430"/>
            <a:chOff x="4114800" y="4000500"/>
            <a:chExt cx="1730214" cy="1943100"/>
          </a:xfrm>
        </p:grpSpPr>
        <p:sp>
          <p:nvSpPr>
            <p:cNvPr id="8199" name="Oval 5"/>
            <p:cNvSpPr>
              <a:spLocks noChangeArrowheads="1"/>
            </p:cNvSpPr>
            <p:nvPr/>
          </p:nvSpPr>
          <p:spPr bwMode="auto">
            <a:xfrm>
              <a:off x="4800600" y="40005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000">
                <a:ea typeface="SimSun" pitchFamily="2" charset="-122"/>
              </a:endParaRPr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41148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000">
                <a:ea typeface="SimSun" pitchFamily="2" charset="-122"/>
              </a:endParaRPr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48006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000">
                <a:ea typeface="SimSun" pitchFamily="2" charset="-122"/>
              </a:endParaRPr>
            </a:p>
          </p:txBody>
        </p:sp>
        <p:sp>
          <p:nvSpPr>
            <p:cNvPr id="8202" name="Oval 8"/>
            <p:cNvSpPr>
              <a:spLocks noChangeArrowheads="1"/>
            </p:cNvSpPr>
            <p:nvPr/>
          </p:nvSpPr>
          <p:spPr bwMode="auto">
            <a:xfrm>
              <a:off x="5486400" y="474345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000">
                <a:ea typeface="SimSun" pitchFamily="2" charset="-122"/>
              </a:endParaRPr>
            </a:p>
          </p:txBody>
        </p:sp>
        <p:sp>
          <p:nvSpPr>
            <p:cNvPr id="8203" name="Oval 9"/>
            <p:cNvSpPr>
              <a:spLocks noChangeArrowheads="1"/>
            </p:cNvSpPr>
            <p:nvPr/>
          </p:nvSpPr>
          <p:spPr bwMode="auto">
            <a:xfrm>
              <a:off x="44577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000">
                <a:ea typeface="SimSun" pitchFamily="2" charset="-122"/>
              </a:endParaRPr>
            </a:p>
          </p:txBody>
        </p:sp>
        <p:sp>
          <p:nvSpPr>
            <p:cNvPr id="8204" name="Oval 10"/>
            <p:cNvSpPr>
              <a:spLocks noChangeArrowheads="1"/>
            </p:cNvSpPr>
            <p:nvPr/>
          </p:nvSpPr>
          <p:spPr bwMode="auto">
            <a:xfrm>
              <a:off x="5143500" y="5600700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000">
                <a:ea typeface="SimSun" pitchFamily="2" charset="-122"/>
              </a:endParaRPr>
            </a:p>
          </p:txBody>
        </p:sp>
        <p:sp>
          <p:nvSpPr>
            <p:cNvPr id="8205" name="Line 11"/>
            <p:cNvSpPr>
              <a:spLocks noChangeShapeType="1"/>
            </p:cNvSpPr>
            <p:nvPr/>
          </p:nvSpPr>
          <p:spPr bwMode="auto">
            <a:xfrm flipH="1">
              <a:off x="4400550" y="4343400"/>
              <a:ext cx="5715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6" name="Line 12"/>
            <p:cNvSpPr>
              <a:spLocks noChangeShapeType="1"/>
            </p:cNvSpPr>
            <p:nvPr/>
          </p:nvSpPr>
          <p:spPr bwMode="auto">
            <a:xfrm>
              <a:off x="4972050" y="4343400"/>
              <a:ext cx="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 flipH="1">
              <a:off x="4629150" y="5086350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4972050" y="5086350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09" name="Line 15"/>
            <p:cNvSpPr>
              <a:spLocks noChangeShapeType="1"/>
            </p:cNvSpPr>
            <p:nvPr/>
          </p:nvSpPr>
          <p:spPr bwMode="auto">
            <a:xfrm>
              <a:off x="4972050" y="4343400"/>
              <a:ext cx="62865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500"/>
            </a:p>
          </p:txBody>
        </p:sp>
        <p:sp>
          <p:nvSpPr>
            <p:cNvPr id="8210" name="Text Box 16"/>
            <p:cNvSpPr txBox="1">
              <a:spLocks noChangeArrowheads="1"/>
            </p:cNvSpPr>
            <p:nvPr/>
          </p:nvSpPr>
          <p:spPr bwMode="auto">
            <a:xfrm>
              <a:off x="4848818" y="4026886"/>
              <a:ext cx="303610" cy="310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000">
                  <a:ea typeface="SimSun" pitchFamily="2" charset="-122"/>
                </a:rPr>
                <a:t>A</a:t>
              </a:r>
              <a:endParaRPr lang="en-US" altLang="zh-CN" sz="1000">
                <a:ea typeface="SimSun" pitchFamily="2" charset="-122"/>
              </a:endParaRPr>
            </a:p>
          </p:txBody>
        </p:sp>
        <p:sp>
          <p:nvSpPr>
            <p:cNvPr id="8211" name="Text Box 17"/>
            <p:cNvSpPr txBox="1">
              <a:spLocks noChangeArrowheads="1"/>
            </p:cNvSpPr>
            <p:nvPr/>
          </p:nvSpPr>
          <p:spPr bwMode="auto">
            <a:xfrm>
              <a:off x="4160757" y="4777021"/>
              <a:ext cx="303610" cy="310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000">
                  <a:ea typeface="SimSun" pitchFamily="2" charset="-122"/>
                </a:rPr>
                <a:t>B</a:t>
              </a:r>
              <a:endParaRPr lang="en-US" altLang="zh-CN" sz="1000">
                <a:ea typeface="SimSun" pitchFamily="2" charset="-122"/>
              </a:endParaRPr>
            </a:p>
          </p:txBody>
        </p:sp>
        <p:sp>
          <p:nvSpPr>
            <p:cNvPr id="8212" name="Text Box 18"/>
            <p:cNvSpPr txBox="1">
              <a:spLocks noChangeArrowheads="1"/>
            </p:cNvSpPr>
            <p:nvPr/>
          </p:nvSpPr>
          <p:spPr bwMode="auto">
            <a:xfrm>
              <a:off x="4854414" y="4767979"/>
              <a:ext cx="303610" cy="310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000">
                  <a:ea typeface="SimSun" pitchFamily="2" charset="-122"/>
                </a:rPr>
                <a:t>C</a:t>
              </a:r>
              <a:endParaRPr lang="en-US" altLang="zh-CN" sz="1000">
                <a:ea typeface="SimSun" pitchFamily="2" charset="-122"/>
              </a:endParaRPr>
            </a:p>
          </p:txBody>
        </p:sp>
        <p:sp>
          <p:nvSpPr>
            <p:cNvPr id="8213" name="Text Box 19"/>
            <p:cNvSpPr txBox="1">
              <a:spLocks noChangeArrowheads="1"/>
            </p:cNvSpPr>
            <p:nvPr/>
          </p:nvSpPr>
          <p:spPr bwMode="auto">
            <a:xfrm>
              <a:off x="5541405" y="4777171"/>
              <a:ext cx="303609" cy="310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000">
                  <a:ea typeface="SimSun" pitchFamily="2" charset="-122"/>
                </a:rPr>
                <a:t>D</a:t>
              </a:r>
              <a:endParaRPr lang="en-US" altLang="zh-CN" sz="1000">
                <a:ea typeface="SimSun" pitchFamily="2" charset="-122"/>
              </a:endParaRPr>
            </a:p>
          </p:txBody>
        </p:sp>
        <p:sp>
          <p:nvSpPr>
            <p:cNvPr id="8214" name="Text Box 20"/>
            <p:cNvSpPr txBox="1">
              <a:spLocks noChangeArrowheads="1"/>
            </p:cNvSpPr>
            <p:nvPr/>
          </p:nvSpPr>
          <p:spPr bwMode="auto">
            <a:xfrm>
              <a:off x="4506395" y="5629134"/>
              <a:ext cx="303609" cy="310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000">
                  <a:ea typeface="SimSun" pitchFamily="2" charset="-122"/>
                </a:rPr>
                <a:t>E</a:t>
              </a:r>
              <a:endParaRPr lang="en-US" altLang="zh-CN" sz="1000">
                <a:ea typeface="SimSun" pitchFamily="2" charset="-122"/>
              </a:endParaRPr>
            </a:p>
          </p:txBody>
        </p:sp>
        <p:sp>
          <p:nvSpPr>
            <p:cNvPr id="8215" name="Text Box 21"/>
            <p:cNvSpPr txBox="1">
              <a:spLocks noChangeArrowheads="1"/>
            </p:cNvSpPr>
            <p:nvPr/>
          </p:nvSpPr>
          <p:spPr bwMode="auto">
            <a:xfrm>
              <a:off x="5208030" y="5632373"/>
              <a:ext cx="303609" cy="310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000">
                  <a:ea typeface="SimSun" pitchFamily="2" charset="-122"/>
                </a:rPr>
                <a:t>F</a:t>
              </a:r>
              <a:endParaRPr lang="en-US" altLang="zh-CN" sz="1000">
                <a:ea typeface="SimSun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EAF9DB-95EE-441B-BF79-C2372C3401E3}" type="slidenum">
              <a:rPr lang="en-US" altLang="zh-CN" sz="790"/>
            </a:fld>
            <a:endParaRPr lang="en-US" altLang="zh-CN" sz="79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612140" y="148590"/>
            <a:ext cx="10515600" cy="1344930"/>
          </a:xfrm>
        </p:spPr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Arbitrary Branching</a:t>
            </a:r>
            <a:endParaRPr lang="en-US" altLang="zh-CN" dirty="0" smtClean="0"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9945" y="2492895"/>
            <a:ext cx="2693427" cy="2921115"/>
            <a:chOff x="1157883" y="2582768"/>
            <a:chExt cx="1742274" cy="1943100"/>
          </a:xfrm>
        </p:grpSpPr>
        <p:sp>
          <p:nvSpPr>
            <p:cNvPr id="13318" name="Oval 3"/>
            <p:cNvSpPr>
              <a:spLocks noChangeArrowheads="1"/>
            </p:cNvSpPr>
            <p:nvPr/>
          </p:nvSpPr>
          <p:spPr bwMode="auto">
            <a:xfrm>
              <a:off x="1843683" y="258276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13319" name="Oval 4"/>
            <p:cNvSpPr>
              <a:spLocks noChangeArrowheads="1"/>
            </p:cNvSpPr>
            <p:nvPr/>
          </p:nvSpPr>
          <p:spPr bwMode="auto">
            <a:xfrm>
              <a:off x="1157883" y="332571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13320" name="Oval 5"/>
            <p:cNvSpPr>
              <a:spLocks noChangeArrowheads="1"/>
            </p:cNvSpPr>
            <p:nvPr/>
          </p:nvSpPr>
          <p:spPr bwMode="auto">
            <a:xfrm>
              <a:off x="1843683" y="332571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13321" name="Oval 6"/>
            <p:cNvSpPr>
              <a:spLocks noChangeArrowheads="1"/>
            </p:cNvSpPr>
            <p:nvPr/>
          </p:nvSpPr>
          <p:spPr bwMode="auto">
            <a:xfrm>
              <a:off x="2529483" y="332571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13322" name="Oval 7"/>
            <p:cNvSpPr>
              <a:spLocks noChangeArrowheads="1"/>
            </p:cNvSpPr>
            <p:nvPr/>
          </p:nvSpPr>
          <p:spPr bwMode="auto">
            <a:xfrm>
              <a:off x="1500783" y="418296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13323" name="Oval 8"/>
            <p:cNvSpPr>
              <a:spLocks noChangeArrowheads="1"/>
            </p:cNvSpPr>
            <p:nvPr/>
          </p:nvSpPr>
          <p:spPr bwMode="auto">
            <a:xfrm>
              <a:off x="2186583" y="4182968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13324" name="Line 9"/>
            <p:cNvSpPr>
              <a:spLocks noChangeShapeType="1"/>
            </p:cNvSpPr>
            <p:nvPr/>
          </p:nvSpPr>
          <p:spPr bwMode="auto">
            <a:xfrm flipH="1">
              <a:off x="1443633" y="2925668"/>
              <a:ext cx="5715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5" name="Line 10"/>
            <p:cNvSpPr>
              <a:spLocks noChangeShapeType="1"/>
            </p:cNvSpPr>
            <p:nvPr/>
          </p:nvSpPr>
          <p:spPr bwMode="auto">
            <a:xfrm>
              <a:off x="2015133" y="2925668"/>
              <a:ext cx="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6" name="Line 11"/>
            <p:cNvSpPr>
              <a:spLocks noChangeShapeType="1"/>
            </p:cNvSpPr>
            <p:nvPr/>
          </p:nvSpPr>
          <p:spPr bwMode="auto">
            <a:xfrm flipH="1">
              <a:off x="1672233" y="3668618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7" name="Line 12"/>
            <p:cNvSpPr>
              <a:spLocks noChangeShapeType="1"/>
            </p:cNvSpPr>
            <p:nvPr/>
          </p:nvSpPr>
          <p:spPr bwMode="auto">
            <a:xfrm>
              <a:off x="2015133" y="3668618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8" name="Line 13"/>
            <p:cNvSpPr>
              <a:spLocks noChangeShapeType="1"/>
            </p:cNvSpPr>
            <p:nvPr/>
          </p:nvSpPr>
          <p:spPr bwMode="auto">
            <a:xfrm>
              <a:off x="2015133" y="2925668"/>
              <a:ext cx="62865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13329" name="Text Box 14"/>
            <p:cNvSpPr txBox="1">
              <a:spLocks noChangeArrowheads="1"/>
            </p:cNvSpPr>
            <p:nvPr/>
          </p:nvSpPr>
          <p:spPr bwMode="auto">
            <a:xfrm>
              <a:off x="1903073" y="2613681"/>
              <a:ext cx="303610" cy="24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A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3330" name="Text Box 15"/>
            <p:cNvSpPr txBox="1">
              <a:spLocks noChangeArrowheads="1"/>
            </p:cNvSpPr>
            <p:nvPr/>
          </p:nvSpPr>
          <p:spPr bwMode="auto">
            <a:xfrm>
              <a:off x="1225478" y="3369994"/>
              <a:ext cx="303610" cy="24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B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3331" name="Text Box 16"/>
            <p:cNvSpPr txBox="1">
              <a:spLocks noChangeArrowheads="1"/>
            </p:cNvSpPr>
            <p:nvPr/>
          </p:nvSpPr>
          <p:spPr bwMode="auto">
            <a:xfrm>
              <a:off x="1901753" y="3360469"/>
              <a:ext cx="303610" cy="24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SimSun" pitchFamily="2" charset="-122"/>
                </a:rPr>
                <a:t>C</a:t>
              </a:r>
              <a:endParaRPr lang="en-US" altLang="zh-CN" sz="1800" dirty="0">
                <a:ea typeface="SimSun" pitchFamily="2" charset="-122"/>
              </a:endParaRPr>
            </a:p>
          </p:txBody>
        </p:sp>
        <p:sp>
          <p:nvSpPr>
            <p:cNvPr id="13332" name="Text Box 17"/>
            <p:cNvSpPr txBox="1">
              <a:spLocks noChangeArrowheads="1"/>
            </p:cNvSpPr>
            <p:nvPr/>
          </p:nvSpPr>
          <p:spPr bwMode="auto">
            <a:xfrm>
              <a:off x="2596548" y="3368495"/>
              <a:ext cx="303609" cy="24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D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3333" name="Text Box 18"/>
            <p:cNvSpPr txBox="1">
              <a:spLocks noChangeArrowheads="1"/>
            </p:cNvSpPr>
            <p:nvPr/>
          </p:nvSpPr>
          <p:spPr bwMode="auto">
            <a:xfrm>
              <a:off x="1562425" y="4230815"/>
              <a:ext cx="303609" cy="24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E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3334" name="Text Box 19"/>
            <p:cNvSpPr txBox="1">
              <a:spLocks noChangeArrowheads="1"/>
            </p:cNvSpPr>
            <p:nvPr/>
          </p:nvSpPr>
          <p:spPr bwMode="auto">
            <a:xfrm>
              <a:off x="2255369" y="4224863"/>
              <a:ext cx="303609" cy="24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F</a:t>
              </a:r>
              <a:endParaRPr lang="en-US" altLang="zh-CN" sz="1800">
                <a:ea typeface="SimSun" pitchFamily="2" charset="-122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9410" y="1920875"/>
            <a:ext cx="2424430" cy="9867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310" y="3451225"/>
            <a:ext cx="3752850" cy="257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EAF9DB-95EE-441B-BF79-C2372C3401E3}" type="slidenum">
              <a:rPr lang="en-US" altLang="zh-CN" sz="790"/>
            </a:fld>
            <a:endParaRPr lang="en-US" altLang="zh-CN" sz="790"/>
          </a:p>
        </p:txBody>
      </p:sp>
      <p:sp>
        <p:nvSpPr>
          <p:cNvPr id="3" name="矩形 2"/>
          <p:cNvSpPr/>
          <p:nvPr/>
        </p:nvSpPr>
        <p:spPr>
          <a:xfrm>
            <a:off x="3599815" y="2198370"/>
            <a:ext cx="476059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//Node declarations for </a:t>
            </a:r>
            <a:r>
              <a:rPr lang="en-US" altLang="zh-CN" sz="28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</a:t>
            </a:r>
            <a:endParaRPr lang="en-US" altLang="zh-CN" sz="2800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Object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element;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firstChild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nextSibling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ea typeface="SimSun" pitchFamily="2" charset="-122"/>
              </a:rPr>
              <a:t>Implementation of Trees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5156" y="793580"/>
            <a:ext cx="4321691" cy="2851208"/>
          </a:xfrm>
        </p:spPr>
        <p:txBody>
          <a:bodyPr>
            <a:normAutofit/>
          </a:bodyPr>
          <a:lstStyle/>
          <a:p>
            <a:r>
              <a:rPr lang="en-US" altLang="zh-CN" sz="5400" dirty="0" smtClean="0"/>
              <a:t>Binary Trees</a:t>
            </a:r>
            <a:endParaRPr lang="en-US" altLang="zh-CN" sz="5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418270-3881-40C3-AA92-CFE4732A76C8}" type="slidenum">
              <a:rPr lang="en-US" altLang="zh-CN" sz="790"/>
            </a:fld>
            <a:endParaRPr lang="en-US" altLang="zh-CN" sz="79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SimSun" pitchFamily="2" charset="-122"/>
              </a:rPr>
              <a:t>Binary Trees</a:t>
            </a:r>
            <a:endParaRPr lang="en-US" altLang="zh-CN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2730" y="1651635"/>
            <a:ext cx="9116695" cy="4940935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SimSun" pitchFamily="2" charset="-122"/>
              </a:rPr>
              <a:t>Every node has at most two children</a:t>
            </a:r>
            <a:endParaRPr lang="en-US" altLang="zh-CN" dirty="0">
              <a:ea typeface="SimSun" pitchFamily="2" charset="-122"/>
            </a:endParaRPr>
          </a:p>
          <a:p>
            <a:pPr lvl="1"/>
            <a:r>
              <a:rPr lang="en-US" altLang="zh-CN" dirty="0">
                <a:ea typeface="SimSun" pitchFamily="2" charset="-122"/>
              </a:rPr>
              <a:t>Most popular tree in computer </a:t>
            </a:r>
            <a:r>
              <a:rPr lang="en-US" altLang="zh-CN" dirty="0" smtClean="0">
                <a:ea typeface="SimSun" pitchFamily="2" charset="-122"/>
              </a:rPr>
              <a:t>science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endParaRPr lang="en-US" altLang="zh-CN" sz="1350" dirty="0">
              <a:ea typeface="SimSun" pitchFamily="2" charset="-122"/>
            </a:endParaRPr>
          </a:p>
          <a:p>
            <a:r>
              <a:rPr lang="en-US" altLang="zh-CN" dirty="0">
                <a:ea typeface="SimSun" pitchFamily="2" charset="-122"/>
              </a:rPr>
              <a:t>Given N nodes, what is the </a:t>
            </a:r>
            <a:r>
              <a:rPr lang="en-US" altLang="zh-CN" dirty="0">
                <a:solidFill>
                  <a:srgbClr val="FF0000"/>
                </a:solidFill>
                <a:ea typeface="SimSun" pitchFamily="2" charset="-122"/>
              </a:rPr>
              <a:t>minimum</a:t>
            </a:r>
            <a:r>
              <a:rPr lang="en-US" altLang="zh-CN" dirty="0">
                <a:ea typeface="SimSun" pitchFamily="2" charset="-122"/>
              </a:rPr>
              <a:t> depth of a binary tree? 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sz="2800" dirty="0" smtClean="0">
                <a:solidFill>
                  <a:srgbClr val="008000"/>
                </a:solidFill>
                <a:ea typeface="SimSun" pitchFamily="2" charset="-122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ea typeface="SimSun" pitchFamily="2" charset="-122"/>
              </a:rPr>
              <a:t>This </a:t>
            </a:r>
            <a:r>
              <a:rPr lang="en-US" altLang="zh-CN" dirty="0">
                <a:solidFill>
                  <a:srgbClr val="008000"/>
                </a:solidFill>
                <a:ea typeface="SimSun" pitchFamily="2" charset="-122"/>
              </a:rPr>
              <a:t>means all levels but the last are full</a:t>
            </a:r>
            <a:r>
              <a:rPr lang="en-US" altLang="zh-CN" dirty="0" smtClean="0">
                <a:solidFill>
                  <a:srgbClr val="008000"/>
                </a:solidFill>
                <a:ea typeface="SimSun" pitchFamily="2" charset="-122"/>
              </a:rPr>
              <a:t>!</a:t>
            </a:r>
            <a:endParaRPr lang="en-US" altLang="zh-CN" dirty="0" smtClean="0">
              <a:solidFill>
                <a:srgbClr val="008000"/>
              </a:solidFill>
              <a:ea typeface="SimSun" pitchFamily="2" charset="-122"/>
            </a:endParaRPr>
          </a:p>
          <a:p>
            <a:pPr lvl="1"/>
            <a:endParaRPr lang="en-US" altLang="zh-CN" sz="900" dirty="0">
              <a:solidFill>
                <a:srgbClr val="008000"/>
              </a:solidFill>
              <a:ea typeface="SimSun" pitchFamily="2" charset="-122"/>
            </a:endParaRPr>
          </a:p>
          <a:p>
            <a:pPr lvl="1"/>
            <a:r>
              <a:rPr lang="en-US" altLang="zh-CN" dirty="0">
                <a:ea typeface="SimSun" pitchFamily="2" charset="-122"/>
              </a:rPr>
              <a:t>At depth d, you can have N = 2</a:t>
            </a:r>
            <a:r>
              <a:rPr lang="en-US" altLang="zh-CN" baseline="30000" dirty="0">
                <a:ea typeface="SimSun" pitchFamily="2" charset="-122"/>
              </a:rPr>
              <a:t>d</a:t>
            </a:r>
            <a:r>
              <a:rPr lang="en-US" altLang="zh-CN" dirty="0">
                <a:ea typeface="SimSun" pitchFamily="2" charset="-122"/>
              </a:rPr>
              <a:t> to N = 2</a:t>
            </a:r>
            <a:r>
              <a:rPr lang="en-US" altLang="zh-CN" baseline="30000" dirty="0">
                <a:ea typeface="SimSun" pitchFamily="2" charset="-122"/>
              </a:rPr>
              <a:t>d+1</a:t>
            </a:r>
            <a:r>
              <a:rPr lang="en-US" altLang="zh-CN" dirty="0">
                <a:ea typeface="SimSun" pitchFamily="2" charset="-122"/>
              </a:rPr>
              <a:t>-1 nodes </a:t>
            </a:r>
            <a:endParaRPr lang="en-US" altLang="zh-CN" dirty="0">
              <a:ea typeface="SimSun" pitchFamily="2" charset="-122"/>
            </a:endParaRPr>
          </a:p>
        </p:txBody>
      </p:sp>
      <p:graphicFrame>
        <p:nvGraphicFramePr>
          <p:cNvPr id="14343" name="Object 8"/>
          <p:cNvGraphicFramePr>
            <a:graphicFrameLocks noChangeAspect="1"/>
          </p:cNvGraphicFramePr>
          <p:nvPr/>
        </p:nvGraphicFramePr>
        <p:xfrm>
          <a:off x="3424555" y="5457190"/>
          <a:ext cx="497205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1" imgW="2540000" imgH="241300" progId="Equation.3">
                  <p:embed/>
                </p:oleObj>
              </mc:Choice>
              <mc:Fallback>
                <p:oleObj name="Equation" r:id="rId1" imgW="25400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555" y="5457190"/>
                        <a:ext cx="4972050" cy="47244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12789-759C-40FD-B767-60D2BF1E68C9}" type="slidenum">
              <a:rPr lang="en-US" altLang="zh-CN" sz="790"/>
            </a:fld>
            <a:endParaRPr lang="en-US" altLang="zh-CN" sz="790"/>
          </a:p>
        </p:txBody>
      </p:sp>
      <p:sp>
        <p:nvSpPr>
          <p:cNvPr id="1536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Minimum depth vs node count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536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64920" y="1573530"/>
            <a:ext cx="9661525" cy="103695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SimSun" pitchFamily="2" charset="-122"/>
              </a:rPr>
              <a:t>At depth d, you can have N = 2</a:t>
            </a:r>
            <a:r>
              <a:rPr lang="en-US" altLang="zh-CN" sz="2800" baseline="30000" dirty="0">
                <a:ea typeface="SimSun" pitchFamily="2" charset="-122"/>
              </a:rPr>
              <a:t>d</a:t>
            </a:r>
            <a:r>
              <a:rPr lang="en-US" altLang="zh-CN" sz="2800" dirty="0">
                <a:ea typeface="SimSun" pitchFamily="2" charset="-122"/>
              </a:rPr>
              <a:t> to 2</a:t>
            </a:r>
            <a:r>
              <a:rPr lang="en-US" altLang="zh-CN" sz="2800" baseline="30000" dirty="0">
                <a:ea typeface="SimSun" pitchFamily="2" charset="-122"/>
              </a:rPr>
              <a:t>d+1</a:t>
            </a:r>
            <a:r>
              <a:rPr lang="en-US" altLang="zh-CN" sz="2800" dirty="0">
                <a:ea typeface="SimSun" pitchFamily="2" charset="-122"/>
              </a:rPr>
              <a:t>-1 nodes </a:t>
            </a:r>
            <a:endParaRPr lang="en-US" altLang="zh-CN" sz="28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SimSun" pitchFamily="2" charset="-122"/>
              </a:rPr>
              <a:t>minimum depth d is </a:t>
            </a:r>
            <a:r>
              <a:rPr lang="en-US" altLang="zh-CN" sz="2800" dirty="0">
                <a:solidFill>
                  <a:srgbClr val="0000FF"/>
                </a:solidFill>
                <a:ea typeface="SimSun" pitchFamily="2" charset="-122"/>
                <a:sym typeface="Symbol" panose="05050102010706020507" pitchFamily="18" charset="2"/>
              </a:rPr>
              <a:t>(log N)</a:t>
            </a:r>
            <a:endParaRPr lang="en-US" altLang="zh-CN" sz="2800" dirty="0">
              <a:solidFill>
                <a:srgbClr val="0000FF"/>
              </a:solidFill>
              <a:ea typeface="SimSun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solidFill>
                <a:srgbClr val="0000FF"/>
              </a:solidFill>
              <a:ea typeface="SimSun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10890" y="4298950"/>
            <a:ext cx="3144520" cy="2074545"/>
            <a:chOff x="668230" y="5126782"/>
            <a:chExt cx="3143250" cy="1943100"/>
          </a:xfrm>
        </p:grpSpPr>
        <p:sp>
          <p:nvSpPr>
            <p:cNvPr id="15367" name="Oval 1028"/>
            <p:cNvSpPr>
              <a:spLocks noChangeArrowheads="1"/>
            </p:cNvSpPr>
            <p:nvPr/>
          </p:nvSpPr>
          <p:spPr bwMode="auto">
            <a:xfrm>
              <a:off x="2154130" y="51267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ea typeface="SimSun" pitchFamily="2" charset="-122"/>
                </a:rPr>
                <a:t>1</a:t>
              </a:r>
              <a:endParaRPr lang="en-US" altLang="zh-CN" sz="1350">
                <a:ea typeface="SimSun" pitchFamily="2" charset="-122"/>
              </a:endParaRPr>
            </a:p>
          </p:txBody>
        </p:sp>
        <p:sp>
          <p:nvSpPr>
            <p:cNvPr id="15368" name="Oval 1029"/>
            <p:cNvSpPr>
              <a:spLocks noChangeArrowheads="1"/>
            </p:cNvSpPr>
            <p:nvPr/>
          </p:nvSpPr>
          <p:spPr bwMode="auto">
            <a:xfrm>
              <a:off x="1182580" y="586973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dirty="0">
                  <a:ea typeface="SimSun" pitchFamily="2" charset="-122"/>
                </a:rPr>
                <a:t>2</a:t>
              </a:r>
              <a:endParaRPr lang="en-US" altLang="zh-CN" sz="1350" dirty="0">
                <a:ea typeface="SimSun" pitchFamily="2" charset="-122"/>
              </a:endParaRPr>
            </a:p>
          </p:txBody>
        </p:sp>
        <p:sp>
          <p:nvSpPr>
            <p:cNvPr id="15369" name="Oval 1030"/>
            <p:cNvSpPr>
              <a:spLocks noChangeArrowheads="1"/>
            </p:cNvSpPr>
            <p:nvPr/>
          </p:nvSpPr>
          <p:spPr bwMode="auto">
            <a:xfrm>
              <a:off x="3011380" y="586973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 dirty="0">
                  <a:ea typeface="SimSun" pitchFamily="2" charset="-122"/>
                </a:rPr>
                <a:t>3</a:t>
              </a:r>
              <a:endParaRPr lang="en-US" altLang="zh-CN" sz="1350" dirty="0">
                <a:ea typeface="SimSun" pitchFamily="2" charset="-122"/>
              </a:endParaRPr>
            </a:p>
          </p:txBody>
        </p:sp>
        <p:sp>
          <p:nvSpPr>
            <p:cNvPr id="15370" name="Oval 1031"/>
            <p:cNvSpPr>
              <a:spLocks noChangeArrowheads="1"/>
            </p:cNvSpPr>
            <p:nvPr/>
          </p:nvSpPr>
          <p:spPr bwMode="auto">
            <a:xfrm>
              <a:off x="255418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ea typeface="SimSun" pitchFamily="2" charset="-122"/>
                </a:rPr>
                <a:t>6</a:t>
              </a:r>
              <a:endParaRPr lang="en-US" altLang="zh-CN" sz="1350">
                <a:ea typeface="SimSun" pitchFamily="2" charset="-122"/>
              </a:endParaRPr>
            </a:p>
          </p:txBody>
        </p:sp>
        <p:sp>
          <p:nvSpPr>
            <p:cNvPr id="15371" name="Oval 1032"/>
            <p:cNvSpPr>
              <a:spLocks noChangeArrowheads="1"/>
            </p:cNvSpPr>
            <p:nvPr/>
          </p:nvSpPr>
          <p:spPr bwMode="auto">
            <a:xfrm>
              <a:off x="346858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ea typeface="SimSun" pitchFamily="2" charset="-122"/>
                </a:rPr>
                <a:t>7</a:t>
              </a:r>
              <a:endParaRPr lang="en-US" altLang="zh-CN" sz="1350">
                <a:ea typeface="SimSun" pitchFamily="2" charset="-122"/>
              </a:endParaRPr>
            </a:p>
          </p:txBody>
        </p:sp>
        <p:sp>
          <p:nvSpPr>
            <p:cNvPr id="15372" name="Oval 1042"/>
            <p:cNvSpPr>
              <a:spLocks noChangeArrowheads="1"/>
            </p:cNvSpPr>
            <p:nvPr/>
          </p:nvSpPr>
          <p:spPr bwMode="auto">
            <a:xfrm>
              <a:off x="66823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ea typeface="SimSun" pitchFamily="2" charset="-122"/>
                </a:rPr>
                <a:t>4</a:t>
              </a:r>
              <a:endParaRPr lang="en-US" altLang="zh-CN" sz="1350">
                <a:ea typeface="SimSun" pitchFamily="2" charset="-122"/>
              </a:endParaRPr>
            </a:p>
          </p:txBody>
        </p:sp>
        <p:sp>
          <p:nvSpPr>
            <p:cNvPr id="15373" name="Oval 1043"/>
            <p:cNvSpPr>
              <a:spLocks noChangeArrowheads="1"/>
            </p:cNvSpPr>
            <p:nvPr/>
          </p:nvSpPr>
          <p:spPr bwMode="auto">
            <a:xfrm>
              <a:off x="1639780" y="6726982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350">
                  <a:ea typeface="SimSun" pitchFamily="2" charset="-122"/>
                </a:rPr>
                <a:t>5</a:t>
              </a:r>
              <a:endParaRPr lang="en-US" altLang="zh-CN" sz="1350">
                <a:ea typeface="SimSun" pitchFamily="2" charset="-122"/>
              </a:endParaRPr>
            </a:p>
          </p:txBody>
        </p:sp>
        <p:cxnSp>
          <p:nvCxnSpPr>
            <p:cNvPr id="15374" name="AutoShape 1048"/>
            <p:cNvCxnSpPr>
              <a:cxnSpLocks noChangeShapeType="1"/>
              <a:stCxn id="15367" idx="3"/>
              <a:endCxn id="15368" idx="7"/>
            </p:cNvCxnSpPr>
            <p:nvPr/>
          </p:nvCxnSpPr>
          <p:spPr bwMode="auto">
            <a:xfrm flipH="1">
              <a:off x="1475474" y="5419676"/>
              <a:ext cx="728663" cy="5000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5" name="AutoShape 1049"/>
            <p:cNvCxnSpPr>
              <a:cxnSpLocks noChangeShapeType="1"/>
              <a:stCxn id="15367" idx="5"/>
              <a:endCxn id="15369" idx="1"/>
            </p:cNvCxnSpPr>
            <p:nvPr/>
          </p:nvCxnSpPr>
          <p:spPr bwMode="auto">
            <a:xfrm>
              <a:off x="2447024" y="5419676"/>
              <a:ext cx="614363" cy="5000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6" name="AutoShape 1050"/>
            <p:cNvCxnSpPr>
              <a:cxnSpLocks noChangeShapeType="1"/>
              <a:stCxn id="15368" idx="3"/>
              <a:endCxn id="15372" idx="0"/>
            </p:cNvCxnSpPr>
            <p:nvPr/>
          </p:nvCxnSpPr>
          <p:spPr bwMode="auto">
            <a:xfrm flipH="1">
              <a:off x="839681" y="6162626"/>
              <a:ext cx="39290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7" name="AutoShape 1051"/>
            <p:cNvCxnSpPr>
              <a:cxnSpLocks noChangeShapeType="1"/>
              <a:stCxn id="15368" idx="5"/>
              <a:endCxn id="15373" idx="0"/>
            </p:cNvCxnSpPr>
            <p:nvPr/>
          </p:nvCxnSpPr>
          <p:spPr bwMode="auto">
            <a:xfrm>
              <a:off x="1475474" y="6162626"/>
              <a:ext cx="33575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8" name="AutoShape 1052"/>
            <p:cNvCxnSpPr>
              <a:cxnSpLocks noChangeShapeType="1"/>
              <a:stCxn id="15369" idx="3"/>
              <a:endCxn id="15370" idx="0"/>
            </p:cNvCxnSpPr>
            <p:nvPr/>
          </p:nvCxnSpPr>
          <p:spPr bwMode="auto">
            <a:xfrm flipH="1">
              <a:off x="2725631" y="6162626"/>
              <a:ext cx="33575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79" name="AutoShape 1053"/>
            <p:cNvCxnSpPr>
              <a:cxnSpLocks noChangeShapeType="1"/>
              <a:stCxn id="15369" idx="5"/>
              <a:endCxn id="15371" idx="0"/>
            </p:cNvCxnSpPr>
            <p:nvPr/>
          </p:nvCxnSpPr>
          <p:spPr bwMode="auto">
            <a:xfrm>
              <a:off x="3304274" y="6162626"/>
              <a:ext cx="335756" cy="5643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380" name="Text Box 1065"/>
          <p:cNvSpPr txBox="1">
            <a:spLocks noChangeArrowheads="1"/>
          </p:cNvSpPr>
          <p:nvPr/>
        </p:nvSpPr>
        <p:spPr bwMode="auto">
          <a:xfrm>
            <a:off x="1620520" y="2414905"/>
            <a:ext cx="6524625" cy="1337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800"/>
              <a:t>T(n) = (f(n)) means</a:t>
            </a:r>
            <a:endParaRPr lang="en-US" altLang="zh-CN" sz="1800"/>
          </a:p>
          <a:p>
            <a:pPr>
              <a:lnSpc>
                <a:spcPct val="150000"/>
              </a:lnSpc>
            </a:pPr>
            <a:r>
              <a:rPr lang="en-US" altLang="zh-CN" sz="1800"/>
              <a:t>T(n) = O(f(n)) and  f(n) = O(T(n)),</a:t>
            </a:r>
            <a:endParaRPr lang="en-US" altLang="zh-CN" sz="1800"/>
          </a:p>
          <a:p>
            <a:pPr>
              <a:lnSpc>
                <a:spcPct val="150000"/>
              </a:lnSpc>
            </a:pPr>
            <a:r>
              <a:rPr lang="en-US" altLang="zh-CN" sz="1800"/>
              <a:t>i.e. T(n) and f(n) have the same growth rate</a:t>
            </a:r>
            <a:endParaRPr lang="en-US" altLang="zh-CN" sz="1800"/>
          </a:p>
        </p:txBody>
      </p:sp>
      <p:sp>
        <p:nvSpPr>
          <p:cNvPr id="15381" name="Text Box 1066"/>
          <p:cNvSpPr txBox="1">
            <a:spLocks noChangeArrowheads="1"/>
          </p:cNvSpPr>
          <p:nvPr/>
        </p:nvSpPr>
        <p:spPr bwMode="auto">
          <a:xfrm>
            <a:off x="6904790" y="4753126"/>
            <a:ext cx="2156460" cy="104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SimSun" pitchFamily="2" charset="-122"/>
                <a:sym typeface="Symbol" panose="05050102010706020507" pitchFamily="18" charset="2"/>
              </a:rPr>
              <a:t>d=2</a:t>
            </a:r>
            <a:endParaRPr lang="en-US" altLang="zh-CN" dirty="0">
              <a:ea typeface="SimSun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ea typeface="SimSun" pitchFamily="2" charset="-122"/>
                <a:sym typeface="Symbol" panose="05050102010706020507" pitchFamily="18" charset="2"/>
              </a:rPr>
              <a:t>N=2</a:t>
            </a:r>
            <a:r>
              <a:rPr lang="en-US" altLang="zh-CN" baseline="30000" dirty="0">
                <a:ea typeface="SimSun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SimSun" pitchFamily="2" charset="-122"/>
                <a:sym typeface="Symbol" panose="05050102010706020507" pitchFamily="18" charset="2"/>
              </a:rPr>
              <a:t> to 2</a:t>
            </a:r>
            <a:r>
              <a:rPr lang="en-US" altLang="zh-CN" baseline="30000" dirty="0">
                <a:ea typeface="SimSun" pitchFamily="2" charset="-122"/>
                <a:sym typeface="Symbol" panose="05050102010706020507" pitchFamily="18" charset="2"/>
              </a:rPr>
              <a:t>3</a:t>
            </a:r>
            <a:r>
              <a:rPr lang="en-US" altLang="zh-CN" dirty="0">
                <a:ea typeface="SimSun" pitchFamily="2" charset="-122"/>
                <a:sym typeface="Symbol" panose="05050102010706020507" pitchFamily="18" charset="2"/>
              </a:rPr>
              <a:t>-1 </a:t>
            </a:r>
            <a:endParaRPr lang="en-US" altLang="zh-CN" dirty="0" smtClean="0">
              <a:ea typeface="SimSun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 smtClean="0">
                <a:ea typeface="SimSun" pitchFamily="2" charset="-122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ea typeface="SimSun" pitchFamily="2" charset="-122"/>
                <a:sym typeface="Symbol" panose="05050102010706020507" pitchFamily="18" charset="2"/>
              </a:rPr>
              <a:t>i.e</a:t>
            </a:r>
            <a:r>
              <a:rPr lang="en-US" altLang="zh-CN" dirty="0">
                <a:ea typeface="SimSun" pitchFamily="2" charset="-122"/>
                <a:sym typeface="Symbol" panose="05050102010706020507" pitchFamily="18" charset="2"/>
              </a:rPr>
              <a:t>, 4 to 7 nodes)</a:t>
            </a:r>
            <a:endParaRPr lang="en-US" altLang="zh-CN" dirty="0">
              <a:ea typeface="SimSun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50CC6E-98C8-4E74-92D0-2D27952C0AD3}" type="slidenum">
              <a:rPr lang="en-US" altLang="zh-CN" sz="790"/>
            </a:fld>
            <a:endParaRPr lang="en-US" altLang="zh-CN" sz="79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Maximum depth vs node count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1704975"/>
          </a:xfrm>
        </p:spPr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What is the maximum depth of a binary tree?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Degenerate case: Tree is a linked list!</a:t>
            </a:r>
            <a:endParaRPr lang="en-US" altLang="zh-CN" dirty="0" smtClean="0">
              <a:ea typeface="SimSun" pitchFamily="2" charset="-122"/>
            </a:endParaRPr>
          </a:p>
          <a:p>
            <a:pPr lvl="1"/>
            <a:r>
              <a:rPr lang="en-US" altLang="zh-CN" dirty="0" smtClean="0">
                <a:ea typeface="SimSun" pitchFamily="2" charset="-122"/>
              </a:rPr>
              <a:t>Maximum depth = 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N-1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  <a:p>
            <a:pPr lvl="1"/>
            <a:endParaRPr lang="en-US" altLang="zh-CN" dirty="0" smtClean="0">
              <a:solidFill>
                <a:srgbClr val="0000FF"/>
              </a:solidFill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47185" y="3419475"/>
            <a:ext cx="4590415" cy="3002280"/>
            <a:chOff x="830684" y="4559126"/>
            <a:chExt cx="4914900" cy="2857500"/>
          </a:xfrm>
        </p:grpSpPr>
        <p:sp>
          <p:nvSpPr>
            <p:cNvPr id="7" name="Oval 1027"/>
            <p:cNvSpPr>
              <a:spLocks noChangeArrowheads="1"/>
            </p:cNvSpPr>
            <p:nvPr/>
          </p:nvSpPr>
          <p:spPr bwMode="auto">
            <a:xfrm>
              <a:off x="830684" y="45591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1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8" name="Oval 1028"/>
            <p:cNvSpPr>
              <a:spLocks noChangeArrowheads="1"/>
            </p:cNvSpPr>
            <p:nvPr/>
          </p:nvSpPr>
          <p:spPr bwMode="auto">
            <a:xfrm>
              <a:off x="3973934" y="61593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5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9" name="Oval 1029"/>
            <p:cNvSpPr>
              <a:spLocks noChangeArrowheads="1"/>
            </p:cNvSpPr>
            <p:nvPr/>
          </p:nvSpPr>
          <p:spPr bwMode="auto">
            <a:xfrm>
              <a:off x="1630784" y="495917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2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0" name="Oval 1030"/>
            <p:cNvSpPr>
              <a:spLocks noChangeArrowheads="1"/>
            </p:cNvSpPr>
            <p:nvPr/>
          </p:nvSpPr>
          <p:spPr bwMode="auto">
            <a:xfrm>
              <a:off x="2488034" y="53592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3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1" name="Oval 1031"/>
            <p:cNvSpPr>
              <a:spLocks noChangeArrowheads="1"/>
            </p:cNvSpPr>
            <p:nvPr/>
          </p:nvSpPr>
          <p:spPr bwMode="auto">
            <a:xfrm>
              <a:off x="3230984" y="575927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4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2" name="Oval 1032"/>
            <p:cNvSpPr>
              <a:spLocks noChangeArrowheads="1"/>
            </p:cNvSpPr>
            <p:nvPr/>
          </p:nvSpPr>
          <p:spPr bwMode="auto">
            <a:xfrm>
              <a:off x="5402684" y="70737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7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13" name="Oval 1033"/>
            <p:cNvSpPr>
              <a:spLocks noChangeArrowheads="1"/>
            </p:cNvSpPr>
            <p:nvPr/>
          </p:nvSpPr>
          <p:spPr bwMode="auto">
            <a:xfrm>
              <a:off x="4716884" y="661652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6</a:t>
              </a:r>
              <a:endParaRPr lang="en-US" altLang="zh-CN" sz="1800">
                <a:ea typeface="SimSun" pitchFamily="2" charset="-122"/>
              </a:endParaRPr>
            </a:p>
          </p:txBody>
        </p:sp>
        <p:cxnSp>
          <p:nvCxnSpPr>
            <p:cNvPr id="14" name="AutoShape 1034"/>
            <p:cNvCxnSpPr>
              <a:cxnSpLocks noChangeShapeType="1"/>
              <a:stCxn id="7" idx="5"/>
              <a:endCxn id="9" idx="0"/>
            </p:cNvCxnSpPr>
            <p:nvPr/>
          </p:nvCxnSpPr>
          <p:spPr bwMode="auto">
            <a:xfrm>
              <a:off x="1123578" y="4852020"/>
              <a:ext cx="67865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035"/>
            <p:cNvCxnSpPr>
              <a:cxnSpLocks noChangeShapeType="1"/>
              <a:stCxn id="8" idx="5"/>
              <a:endCxn id="13" idx="0"/>
            </p:cNvCxnSpPr>
            <p:nvPr/>
          </p:nvCxnSpPr>
          <p:spPr bwMode="auto">
            <a:xfrm>
              <a:off x="4266828" y="6452220"/>
              <a:ext cx="62150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1036"/>
            <p:cNvCxnSpPr>
              <a:cxnSpLocks noChangeShapeType="1"/>
              <a:stCxn id="9" idx="5"/>
              <a:endCxn id="10" idx="0"/>
            </p:cNvCxnSpPr>
            <p:nvPr/>
          </p:nvCxnSpPr>
          <p:spPr bwMode="auto">
            <a:xfrm>
              <a:off x="1923678" y="5252070"/>
              <a:ext cx="73580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1037"/>
            <p:cNvCxnSpPr>
              <a:cxnSpLocks noChangeShapeType="1"/>
              <a:stCxn id="10" idx="5"/>
              <a:endCxn id="11" idx="0"/>
            </p:cNvCxnSpPr>
            <p:nvPr/>
          </p:nvCxnSpPr>
          <p:spPr bwMode="auto">
            <a:xfrm>
              <a:off x="2780928" y="5652120"/>
              <a:ext cx="62150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1038"/>
            <p:cNvCxnSpPr>
              <a:cxnSpLocks noChangeShapeType="1"/>
              <a:stCxn id="11" idx="4"/>
              <a:endCxn id="8" idx="1"/>
            </p:cNvCxnSpPr>
            <p:nvPr/>
          </p:nvCxnSpPr>
          <p:spPr bwMode="auto">
            <a:xfrm>
              <a:off x="3402435" y="6102177"/>
              <a:ext cx="621506" cy="107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1039"/>
            <p:cNvCxnSpPr>
              <a:cxnSpLocks noChangeShapeType="1"/>
              <a:stCxn id="13" idx="5"/>
              <a:endCxn id="12" idx="0"/>
            </p:cNvCxnSpPr>
            <p:nvPr/>
          </p:nvCxnSpPr>
          <p:spPr bwMode="auto">
            <a:xfrm>
              <a:off x="5009778" y="6909420"/>
              <a:ext cx="564356" cy="1643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" name="Text Box 1040"/>
          <p:cNvSpPr txBox="1">
            <a:spLocks noChangeArrowheads="1"/>
          </p:cNvSpPr>
          <p:nvPr/>
        </p:nvSpPr>
        <p:spPr bwMode="auto">
          <a:xfrm>
            <a:off x="6015076" y="3490958"/>
            <a:ext cx="403225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8000"/>
                </a:solidFill>
                <a:ea typeface="SimSun" pitchFamily="2" charset="-122"/>
              </a:rPr>
              <a:t>A linked list with high overhead</a:t>
            </a:r>
            <a:endParaRPr lang="en-US" altLang="zh-CN" dirty="0">
              <a:solidFill>
                <a:srgbClr val="008000"/>
              </a:solidFill>
              <a:ea typeface="SimSun" pitchFamily="2" charset="-122"/>
            </a:endParaRPr>
          </a:p>
          <a:p>
            <a:r>
              <a:rPr lang="en-US" altLang="zh-CN" dirty="0">
                <a:solidFill>
                  <a:srgbClr val="008000"/>
                </a:solidFill>
                <a:ea typeface="SimSun" pitchFamily="2" charset="-122"/>
              </a:rPr>
              <a:t>and few </a:t>
            </a:r>
            <a:r>
              <a:rPr lang="en-US" altLang="zh-CN" dirty="0">
                <a:solidFill>
                  <a:srgbClr val="008000"/>
                </a:solidFill>
              </a:rPr>
              <a:t>redeeming</a:t>
            </a:r>
            <a:r>
              <a:rPr lang="en-US" altLang="zh-CN" dirty="0" smtClean="0">
                <a:solidFill>
                  <a:srgbClr val="008000"/>
                </a:solidFill>
                <a:ea typeface="SimSun" pitchFamily="2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SimSun" pitchFamily="2" charset="-122"/>
              </a:rPr>
              <a:t>characteristics</a:t>
            </a:r>
            <a:endParaRPr lang="en-US" altLang="zh-CN" dirty="0">
              <a:solidFill>
                <a:srgbClr val="008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50CC6E-98C8-4E74-92D0-2D27952C0AD3}" type="slidenum">
              <a:rPr lang="en-US" altLang="zh-CN" sz="790"/>
            </a:fld>
            <a:endParaRPr lang="en-US" altLang="zh-CN" sz="79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Maximum depth vs node count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1120" y="1894205"/>
            <a:ext cx="9749155" cy="4351020"/>
          </a:xfrm>
        </p:spPr>
        <p:txBody>
          <a:bodyPr/>
          <a:lstStyle/>
          <a:p>
            <a:r>
              <a:rPr lang="en-US" altLang="zh-CN" sz="2800" dirty="0" smtClean="0">
                <a:solidFill>
                  <a:srgbClr val="FF0000"/>
                </a:solidFill>
                <a:ea typeface="SimSun" pitchFamily="2" charset="-122"/>
              </a:rPr>
              <a:t>Goal</a:t>
            </a:r>
            <a:r>
              <a:rPr lang="en-US" altLang="zh-CN" sz="2800" dirty="0" smtClean="0">
                <a:ea typeface="SimSun" pitchFamily="2" charset="-122"/>
              </a:rPr>
              <a:t>: Would like to keep depth at around </a:t>
            </a:r>
            <a:r>
              <a:rPr lang="en-US" altLang="zh-CN" sz="2800" dirty="0" err="1" smtClean="0">
                <a:ea typeface="SimSun" pitchFamily="2" charset="-122"/>
              </a:rPr>
              <a:t>logN</a:t>
            </a:r>
            <a:r>
              <a:rPr lang="en-US" altLang="zh-CN" sz="2800" dirty="0" smtClean="0">
                <a:ea typeface="SimSun" pitchFamily="2" charset="-122"/>
              </a:rPr>
              <a:t> to get better performance than linked list for operations like Find</a:t>
            </a:r>
            <a:endParaRPr lang="en-US" altLang="zh-CN" sz="2800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A71F2A-765C-4B7E-8348-8DE07AA1C67C}" type="slidenum">
              <a:rPr lang="en-US" altLang="zh-CN" sz="790"/>
            </a:fld>
            <a:endParaRPr lang="en-US" altLang="zh-CN" sz="790"/>
          </a:p>
        </p:txBody>
      </p:sp>
      <p:sp>
        <p:nvSpPr>
          <p:cNvPr id="2" name="矩形 1"/>
          <p:cNvSpPr/>
          <p:nvPr/>
        </p:nvSpPr>
        <p:spPr>
          <a:xfrm>
            <a:off x="2834005" y="1734820"/>
            <a:ext cx="6756400" cy="4092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E&gt; class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public: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E&amp;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 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//return the node’s value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virtual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setElement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E&amp;) = 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//set the node’s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altLang="zh-CN" sz="2000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sz="2000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the node’s left child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void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setLeft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 = 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//set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left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virtual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//return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right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virtual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setRight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 = 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//set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right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bool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isLeaf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 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//check if a node is a leaf or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endParaRPr lang="en-US" altLang="zh-CN" sz="2000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/>
        </p:nvSpPr>
        <p:spPr>
          <a:xfrm>
            <a:off x="609600" y="17430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ea typeface="SimSun" pitchFamily="2" charset="-122"/>
                <a:sym typeface="+mn-ea"/>
              </a:rPr>
              <a:t>Binary Tree</a:t>
            </a:r>
            <a:endParaRPr lang="en-US" altLang="zh-CN" dirty="0" smtClean="0">
              <a:ea typeface="SimSun" pitchFamily="2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2484755"/>
            <a:ext cx="1864360" cy="2159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405" y="2717800"/>
            <a:ext cx="2097405" cy="1142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4AA214-2CFA-4C74-9923-6FC5F959F7E6}" type="slidenum">
              <a:rPr lang="en-US" altLang="zh-CN" sz="790"/>
            </a:fld>
            <a:endParaRPr lang="en-US" altLang="zh-CN" sz="79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Traversing Binary Trees</a:t>
            </a:r>
            <a:endParaRPr lang="en-US" altLang="zh-CN" smtClean="0">
              <a:ea typeface="SimSun" pitchFamily="2" charset="-122"/>
            </a:endParaRP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8770" y="1896745"/>
            <a:ext cx="9014460" cy="3495040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>
                <a:ea typeface="SimSun" pitchFamily="2" charset="-122"/>
              </a:rPr>
              <a:t>The definitions of the traversals are recursive definitions. For example: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en-US" altLang="zh-CN" sz="2000" dirty="0">
                <a:ea typeface="SimSun" pitchFamily="2" charset="-122"/>
              </a:rPr>
              <a:t>Visit the root</a:t>
            </a:r>
            <a:endParaRPr lang="en-US" altLang="zh-CN" sz="2000" dirty="0">
              <a:ea typeface="SimSun" pitchFamily="2" charset="-122"/>
            </a:endParaRPr>
          </a:p>
          <a:p>
            <a:pPr lvl="1"/>
            <a:r>
              <a:rPr lang="en-US" altLang="zh-CN" sz="2000" dirty="0">
                <a:ea typeface="SimSun" pitchFamily="2" charset="-122"/>
              </a:rPr>
              <a:t>Visit the left subtree (i.e., visit the tree whose root is the left child) and do this recursively</a:t>
            </a:r>
            <a:endParaRPr lang="en-US" altLang="zh-CN" sz="2000" dirty="0">
              <a:ea typeface="SimSun" pitchFamily="2" charset="-122"/>
            </a:endParaRPr>
          </a:p>
          <a:p>
            <a:pPr lvl="1"/>
            <a:r>
              <a:rPr lang="en-US" altLang="zh-CN" sz="2000" dirty="0">
                <a:ea typeface="SimSun" pitchFamily="2" charset="-122"/>
              </a:rPr>
              <a:t>Visit the right subtree (i.e., visit the tree whose root is the right child) and do this recursively</a:t>
            </a:r>
            <a:endParaRPr lang="en-US" altLang="zh-CN" sz="2000" dirty="0">
              <a:ea typeface="SimSun" pitchFamily="2" charset="-122"/>
            </a:endParaRPr>
          </a:p>
          <a:p>
            <a:endParaRPr lang="en-US" altLang="zh-CN" sz="2400" dirty="0" smtClean="0">
              <a:ea typeface="SimSun" pitchFamily="2" charset="-122"/>
            </a:endParaRPr>
          </a:p>
          <a:p>
            <a:r>
              <a:rPr lang="en-US" altLang="zh-CN" sz="2400" dirty="0" smtClean="0">
                <a:ea typeface="SimSun" pitchFamily="2" charset="-122"/>
              </a:rPr>
              <a:t>Traversal </a:t>
            </a:r>
            <a:r>
              <a:rPr lang="en-US" altLang="zh-CN" sz="2400" dirty="0">
                <a:ea typeface="SimSun" pitchFamily="2" charset="-122"/>
              </a:rPr>
              <a:t>definitions can be extended to general (non-binary) trees</a:t>
            </a:r>
            <a:endParaRPr lang="en-US" altLang="zh-CN" sz="2400" dirty="0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C47542-928C-4E26-BFAD-9DBD6174F32A}" type="slidenum">
              <a:rPr lang="en-US" altLang="zh-CN" sz="790"/>
            </a:fld>
            <a:endParaRPr lang="en-US" altLang="zh-CN" sz="790"/>
          </a:p>
        </p:txBody>
      </p:sp>
      <p:sp>
        <p:nvSpPr>
          <p:cNvPr id="2048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Traversing Binary Trees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04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9337675" cy="362331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Preorder</a:t>
            </a:r>
            <a:r>
              <a:rPr lang="en-US" altLang="zh-CN" sz="2400" dirty="0">
                <a:ea typeface="SimSun" pitchFamily="2" charset="-122"/>
              </a:rPr>
              <a:t>: Node, then Children (starting with the left) recursively </a:t>
            </a:r>
            <a:endParaRPr lang="en-US" altLang="zh-CN" sz="2400" dirty="0" smtClean="0">
              <a:ea typeface="SimSun" pitchFamily="2" charset="-122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ea typeface="SimSun" pitchFamily="2" charset="-122"/>
              </a:rPr>
              <a:t>+ </a:t>
            </a:r>
            <a:r>
              <a:rPr lang="en-US" altLang="zh-CN" sz="2000" dirty="0">
                <a:ea typeface="SimSun" pitchFamily="2" charset="-122"/>
              </a:rPr>
              <a:t>* + A B C D</a:t>
            </a:r>
            <a:endParaRPr lang="en-US" altLang="zh-CN" sz="2000" dirty="0">
              <a:ea typeface="SimSun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 smtClean="0">
              <a:solidFill>
                <a:srgbClr val="FF0000"/>
              </a:solidFill>
              <a:ea typeface="SimSun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solidFill>
                <a:srgbClr val="FF0000"/>
              </a:solidFill>
              <a:ea typeface="SimSun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 err="1" smtClean="0">
                <a:solidFill>
                  <a:srgbClr val="FF0000"/>
                </a:solidFill>
                <a:ea typeface="SimSun" pitchFamily="2" charset="-122"/>
              </a:rPr>
              <a:t>Inorder</a:t>
            </a:r>
            <a:r>
              <a:rPr lang="en-US" altLang="zh-CN" sz="2400" dirty="0">
                <a:ea typeface="SimSun" pitchFamily="2" charset="-122"/>
              </a:rPr>
              <a:t>: Left child recursively, Node, Right child </a:t>
            </a:r>
            <a:r>
              <a:rPr lang="en-US" altLang="zh-CN" sz="2400" dirty="0" smtClean="0">
                <a:ea typeface="SimSun" pitchFamily="2" charset="-122"/>
              </a:rPr>
              <a:t>recursively</a:t>
            </a:r>
            <a:endParaRPr lang="en-US" altLang="zh-CN" sz="2400" dirty="0" smtClean="0">
              <a:ea typeface="SimSun" pitchFamily="2" charset="-122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SimSun" pitchFamily="2" charset="-122"/>
              </a:rPr>
              <a:t>A + B * C + </a:t>
            </a:r>
            <a:r>
              <a:rPr lang="en-US" altLang="zh-CN" sz="2000" dirty="0" smtClean="0">
                <a:ea typeface="SimSun" pitchFamily="2" charset="-122"/>
              </a:rPr>
              <a:t>D</a:t>
            </a:r>
            <a:endParaRPr lang="en-US" altLang="zh-CN" sz="2000" dirty="0" smtClean="0">
              <a:ea typeface="SimSun" pitchFamily="2" charset="-122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rgbClr val="FF0000"/>
                </a:solidFill>
                <a:ea typeface="SimSun" pitchFamily="2" charset="-122"/>
              </a:rPr>
              <a:t>Postorder</a:t>
            </a:r>
            <a:r>
              <a:rPr lang="en-US" altLang="zh-CN" sz="2400" dirty="0">
                <a:ea typeface="SimSun" pitchFamily="2" charset="-122"/>
              </a:rPr>
              <a:t>: Children recursively, then </a:t>
            </a:r>
            <a:r>
              <a:rPr lang="en-US" altLang="zh-CN" sz="2400" dirty="0" smtClean="0">
                <a:ea typeface="SimSun" pitchFamily="2" charset="-122"/>
              </a:rPr>
              <a:t>Node</a:t>
            </a:r>
            <a:endParaRPr lang="en-US" altLang="zh-CN" sz="2400" dirty="0" smtClean="0">
              <a:ea typeface="SimSun" pitchFamily="2" charset="-122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ea typeface="SimSun" pitchFamily="2" charset="-122"/>
              </a:rPr>
              <a:t>A </a:t>
            </a:r>
            <a:r>
              <a:rPr lang="en-US" altLang="zh-CN" sz="2000" dirty="0">
                <a:ea typeface="SimSun" pitchFamily="2" charset="-122"/>
              </a:rPr>
              <a:t>B + C * D +</a:t>
            </a:r>
            <a:endParaRPr lang="en-US" altLang="zh-CN" sz="2000" dirty="0">
              <a:ea typeface="SimSun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95360" y="2320290"/>
            <a:ext cx="2987040" cy="2486025"/>
            <a:chOff x="3945934" y="2987824"/>
            <a:chExt cx="2238170" cy="2077284"/>
          </a:xfrm>
        </p:grpSpPr>
        <p:grpSp>
          <p:nvGrpSpPr>
            <p:cNvPr id="5" name="组合 4"/>
            <p:cNvGrpSpPr/>
            <p:nvPr/>
          </p:nvGrpSpPr>
          <p:grpSpPr>
            <a:xfrm>
              <a:off x="3945934" y="4663325"/>
              <a:ext cx="398814" cy="401176"/>
              <a:chOff x="4437112" y="4859980"/>
              <a:chExt cx="398814" cy="401176"/>
            </a:xfrm>
          </p:grpSpPr>
          <p:sp>
            <p:nvSpPr>
              <p:cNvPr id="20487" name="Oval 1029"/>
              <p:cNvSpPr>
                <a:spLocks noChangeArrowheads="1"/>
              </p:cNvSpPr>
              <p:nvPr/>
            </p:nvSpPr>
            <p:spPr bwMode="auto">
              <a:xfrm>
                <a:off x="4437112" y="4859980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SimSun" pitchFamily="2" charset="-122"/>
                </a:endParaRPr>
              </a:p>
            </p:txBody>
          </p:sp>
          <p:sp>
            <p:nvSpPr>
              <p:cNvPr id="20491" name="Text Box 1038"/>
              <p:cNvSpPr txBox="1">
                <a:spLocks noChangeArrowheads="1"/>
              </p:cNvSpPr>
              <p:nvPr/>
            </p:nvSpPr>
            <p:spPr bwMode="auto">
              <a:xfrm>
                <a:off x="4464947" y="4859980"/>
                <a:ext cx="353117" cy="3846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400" dirty="0">
                    <a:latin typeface="Times New Roman" panose="02020603050405020304" pitchFamily="18" charset="0"/>
                    <a:ea typeface="SimSun" pitchFamily="2" charset="-122"/>
                  </a:rPr>
                  <a:t>A</a:t>
                </a:r>
                <a:endParaRPr lang="en-US" altLang="zh-CN" sz="2400" dirty="0">
                  <a:latin typeface="Times New Roman" panose="02020603050405020304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869160" y="3557393"/>
              <a:ext cx="413147" cy="445106"/>
              <a:chOff x="5101801" y="3589588"/>
              <a:chExt cx="413147" cy="445106"/>
            </a:xfrm>
          </p:grpSpPr>
          <p:sp>
            <p:nvSpPr>
              <p:cNvPr id="20488" name="Oval 1030"/>
              <p:cNvSpPr>
                <a:spLocks noChangeArrowheads="1"/>
              </p:cNvSpPr>
              <p:nvPr/>
            </p:nvSpPr>
            <p:spPr bwMode="auto">
              <a:xfrm>
                <a:off x="5101801" y="3589588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SimSun" pitchFamily="2" charset="-122"/>
                </a:endParaRPr>
              </a:p>
            </p:txBody>
          </p:sp>
          <p:sp>
            <p:nvSpPr>
              <p:cNvPr id="20492" name="Text Box 1039"/>
              <p:cNvSpPr txBox="1">
                <a:spLocks noChangeArrowheads="1"/>
              </p:cNvSpPr>
              <p:nvPr/>
            </p:nvSpPr>
            <p:spPr bwMode="auto">
              <a:xfrm>
                <a:off x="5161831" y="3650012"/>
                <a:ext cx="353117" cy="3846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400" dirty="0">
                    <a:latin typeface="Times New Roman" panose="02020603050405020304" pitchFamily="18" charset="0"/>
                    <a:ea typeface="SimSun" pitchFamily="2" charset="-122"/>
                  </a:rPr>
                  <a:t>*</a:t>
                </a:r>
                <a:endParaRPr lang="en-US" altLang="zh-CN" sz="2400" dirty="0">
                  <a:latin typeface="Times New Roman" panose="02020603050405020304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47359" y="4663932"/>
              <a:ext cx="398814" cy="401176"/>
              <a:chOff x="5101801" y="4859980"/>
              <a:chExt cx="398814" cy="401176"/>
            </a:xfrm>
          </p:grpSpPr>
          <p:sp>
            <p:nvSpPr>
              <p:cNvPr id="20489" name="Oval 1031"/>
              <p:cNvSpPr>
                <a:spLocks noChangeArrowheads="1"/>
              </p:cNvSpPr>
              <p:nvPr/>
            </p:nvSpPr>
            <p:spPr bwMode="auto">
              <a:xfrm>
                <a:off x="5101801" y="4859980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SimSun" pitchFamily="2" charset="-122"/>
                </a:endParaRPr>
              </a:p>
            </p:txBody>
          </p:sp>
          <p:sp>
            <p:nvSpPr>
              <p:cNvPr id="20493" name="Text Box 1040"/>
              <p:cNvSpPr txBox="1">
                <a:spLocks noChangeArrowheads="1"/>
              </p:cNvSpPr>
              <p:nvPr/>
            </p:nvSpPr>
            <p:spPr bwMode="auto">
              <a:xfrm>
                <a:off x="5146874" y="4872858"/>
                <a:ext cx="353117" cy="3846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400" dirty="0">
                    <a:latin typeface="Times New Roman" panose="02020603050405020304" pitchFamily="18" charset="0"/>
                    <a:ea typeface="SimSun" pitchFamily="2" charset="-122"/>
                  </a:rPr>
                  <a:t>B</a:t>
                </a:r>
                <a:endParaRPr lang="en-US" altLang="zh-CN" sz="2400" dirty="0">
                  <a:latin typeface="Times New Roman" panose="02020603050405020304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381312" y="4126808"/>
              <a:ext cx="398814" cy="401176"/>
              <a:chOff x="5434146" y="4191353"/>
              <a:chExt cx="398814" cy="401176"/>
            </a:xfrm>
          </p:grpSpPr>
          <p:sp>
            <p:nvSpPr>
              <p:cNvPr id="20494" name="Oval 1042"/>
              <p:cNvSpPr>
                <a:spLocks noChangeArrowheads="1"/>
              </p:cNvSpPr>
              <p:nvPr/>
            </p:nvSpPr>
            <p:spPr bwMode="auto">
              <a:xfrm>
                <a:off x="5434146" y="4191353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SimSun" pitchFamily="2" charset="-122"/>
                </a:endParaRPr>
              </a:p>
            </p:txBody>
          </p:sp>
          <p:sp>
            <p:nvSpPr>
              <p:cNvPr id="20496" name="Text Box 1046"/>
              <p:cNvSpPr txBox="1">
                <a:spLocks noChangeArrowheads="1"/>
              </p:cNvSpPr>
              <p:nvPr/>
            </p:nvSpPr>
            <p:spPr bwMode="auto">
              <a:xfrm>
                <a:off x="5479219" y="4204231"/>
                <a:ext cx="353117" cy="3846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400" dirty="0">
                    <a:latin typeface="Times New Roman" panose="02020603050405020304" pitchFamily="18" charset="0"/>
                    <a:ea typeface="SimSun" pitchFamily="2" charset="-122"/>
                  </a:rPr>
                  <a:t>C</a:t>
                </a:r>
                <a:endParaRPr lang="en-US" altLang="zh-CN" sz="2400" dirty="0">
                  <a:latin typeface="Times New Roman" panose="02020603050405020304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85290" y="3567687"/>
              <a:ext cx="398814" cy="401176"/>
              <a:chOff x="5766490" y="3589588"/>
              <a:chExt cx="398814" cy="401176"/>
            </a:xfrm>
          </p:grpSpPr>
          <p:sp>
            <p:nvSpPr>
              <p:cNvPr id="20495" name="Oval 1043"/>
              <p:cNvSpPr>
                <a:spLocks noChangeArrowheads="1"/>
              </p:cNvSpPr>
              <p:nvPr/>
            </p:nvSpPr>
            <p:spPr bwMode="auto">
              <a:xfrm>
                <a:off x="5766490" y="3589588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SimSun" pitchFamily="2" charset="-122"/>
                </a:endParaRPr>
              </a:p>
            </p:txBody>
          </p:sp>
          <p:sp>
            <p:nvSpPr>
              <p:cNvPr id="20497" name="Text Box 1047"/>
              <p:cNvSpPr txBox="1">
                <a:spLocks noChangeArrowheads="1"/>
              </p:cNvSpPr>
              <p:nvPr/>
            </p:nvSpPr>
            <p:spPr bwMode="auto">
              <a:xfrm>
                <a:off x="5798685" y="3602466"/>
                <a:ext cx="353117" cy="3846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400" dirty="0">
                    <a:latin typeface="Times New Roman" panose="02020603050405020304" pitchFamily="18" charset="0"/>
                    <a:ea typeface="SimSun" pitchFamily="2" charset="-122"/>
                  </a:rPr>
                  <a:t>D</a:t>
                </a:r>
                <a:endParaRPr lang="en-US" altLang="zh-CN" sz="2400" dirty="0">
                  <a:latin typeface="Times New Roman" panose="02020603050405020304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4365104" y="4133513"/>
              <a:ext cx="398814" cy="401176"/>
              <a:chOff x="4769457" y="4258215"/>
              <a:chExt cx="398814" cy="401176"/>
            </a:xfrm>
          </p:grpSpPr>
          <p:sp>
            <p:nvSpPr>
              <p:cNvPr id="20490" name="Oval 1032"/>
              <p:cNvSpPr>
                <a:spLocks noChangeArrowheads="1"/>
              </p:cNvSpPr>
              <p:nvPr/>
            </p:nvSpPr>
            <p:spPr bwMode="auto">
              <a:xfrm>
                <a:off x="4769457" y="4258215"/>
                <a:ext cx="398814" cy="40117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SimSun" pitchFamily="2" charset="-122"/>
                </a:endParaRPr>
              </a:p>
            </p:txBody>
          </p:sp>
          <p:sp>
            <p:nvSpPr>
              <p:cNvPr id="20498" name="Text Box 1049"/>
              <p:cNvSpPr txBox="1">
                <a:spLocks noChangeArrowheads="1"/>
              </p:cNvSpPr>
              <p:nvPr/>
            </p:nvSpPr>
            <p:spPr bwMode="auto">
              <a:xfrm>
                <a:off x="4835926" y="4316166"/>
                <a:ext cx="265875" cy="333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ea typeface="SimSun" pitchFamily="2" charset="-122"/>
                  </a:rPr>
                  <a:t>+</a:t>
                </a:r>
                <a:endParaRPr lang="en-US" altLang="zh-CN" dirty="0">
                  <a:ea typeface="SimSun" pitchFamily="2" charset="-122"/>
                </a:endParaRPr>
              </a:p>
            </p:txBody>
          </p:sp>
        </p:grpSp>
        <p:sp>
          <p:nvSpPr>
            <p:cNvPr id="20499" name="Line 1050"/>
            <p:cNvSpPr>
              <a:spLocks noChangeShapeType="1"/>
            </p:cNvSpPr>
            <p:nvPr/>
          </p:nvSpPr>
          <p:spPr bwMode="auto">
            <a:xfrm flipH="1">
              <a:off x="4290309" y="4492235"/>
              <a:ext cx="132938" cy="200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0" name="Line 1051"/>
            <p:cNvSpPr>
              <a:spLocks noChangeShapeType="1"/>
            </p:cNvSpPr>
            <p:nvPr/>
          </p:nvSpPr>
          <p:spPr bwMode="auto">
            <a:xfrm>
              <a:off x="4725144" y="4481996"/>
              <a:ext cx="176615" cy="2340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1" name="Line 1052"/>
            <p:cNvSpPr>
              <a:spLocks noChangeShapeType="1"/>
            </p:cNvSpPr>
            <p:nvPr/>
          </p:nvSpPr>
          <p:spPr bwMode="auto">
            <a:xfrm flipH="1">
              <a:off x="4702988" y="3917462"/>
              <a:ext cx="213842" cy="2416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2" name="Line 1055"/>
            <p:cNvSpPr>
              <a:spLocks noChangeShapeType="1"/>
            </p:cNvSpPr>
            <p:nvPr/>
          </p:nvSpPr>
          <p:spPr bwMode="auto">
            <a:xfrm>
              <a:off x="5239356" y="3907803"/>
              <a:ext cx="212651" cy="251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3" name="Oval 1056"/>
            <p:cNvSpPr>
              <a:spLocks noChangeArrowheads="1"/>
            </p:cNvSpPr>
            <p:nvPr/>
          </p:nvSpPr>
          <p:spPr bwMode="auto">
            <a:xfrm>
              <a:off x="5301208" y="2987824"/>
              <a:ext cx="398814" cy="40117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SimSun" pitchFamily="2" charset="-122"/>
              </a:endParaRPr>
            </a:p>
          </p:txBody>
        </p:sp>
        <p:sp>
          <p:nvSpPr>
            <p:cNvPr id="20504" name="Line 1057"/>
            <p:cNvSpPr>
              <a:spLocks noChangeShapeType="1"/>
            </p:cNvSpPr>
            <p:nvPr/>
          </p:nvSpPr>
          <p:spPr bwMode="auto">
            <a:xfrm flipH="1">
              <a:off x="5168270" y="3350366"/>
              <a:ext cx="204946" cy="239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0505" name="Text Box 1060"/>
            <p:cNvSpPr txBox="1">
              <a:spLocks noChangeArrowheads="1"/>
            </p:cNvSpPr>
            <p:nvPr/>
          </p:nvSpPr>
          <p:spPr bwMode="auto">
            <a:xfrm>
              <a:off x="5367325" y="3026725"/>
              <a:ext cx="226995" cy="333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ea typeface="SimSun" pitchFamily="2" charset="-122"/>
                </a:rPr>
                <a:t>+</a:t>
              </a:r>
              <a:endParaRPr lang="en-US" altLang="zh-CN" dirty="0">
                <a:ea typeface="SimSun" pitchFamily="2" charset="-122"/>
              </a:endParaRPr>
            </a:p>
          </p:txBody>
        </p:sp>
        <p:sp>
          <p:nvSpPr>
            <p:cNvPr id="20506" name="Line 1061"/>
            <p:cNvSpPr>
              <a:spLocks noChangeShapeType="1"/>
            </p:cNvSpPr>
            <p:nvPr/>
          </p:nvSpPr>
          <p:spPr bwMode="auto">
            <a:xfrm>
              <a:off x="5633553" y="3322138"/>
              <a:ext cx="238179" cy="267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C47542-928C-4E26-BFAD-9DBD6174F32A}" type="slidenum">
              <a:rPr lang="en-US" altLang="zh-CN" sz="790"/>
            </a:fld>
            <a:endParaRPr lang="en-US" altLang="zh-CN" sz="790"/>
          </a:p>
        </p:txBody>
      </p:sp>
      <p:sp>
        <p:nvSpPr>
          <p:cNvPr id="2048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Traversing Binary Trees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00070" y="1956435"/>
            <a:ext cx="640715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//Implementing preorder traversal as a 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endParaRPr lang="en-US" altLang="zh-CN" sz="2400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function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E&gt;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&lt;E&gt;* root){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(root == NULL) return;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//Empty subtree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visit(root); 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//Perform desired action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(root-&gt;left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(root-&gt;right());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Traversing Binary Trees</a:t>
            </a:r>
            <a:endParaRPr lang="zh-CN" altLang="en-US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442085" y="1568450"/>
            <a:ext cx="9754235" cy="4526280"/>
          </a:xfrm>
        </p:spPr>
        <p:txBody>
          <a:bodyPr/>
          <a:lstStyle/>
          <a:p>
            <a:r>
              <a:rPr lang="en-US" altLang="zh-CN" dirty="0"/>
              <a:t>Given two traversal enumerations, can you draw a unique binary tree?</a:t>
            </a:r>
            <a:endParaRPr lang="en-US" altLang="zh-CN" dirty="0"/>
          </a:p>
          <a:p>
            <a:pPr lvl="1"/>
            <a:r>
              <a:rPr lang="en-US" altLang="zh-CN" sz="2400" dirty="0"/>
              <a:t>Ex1: </a:t>
            </a:r>
            <a:endParaRPr lang="en-US" altLang="zh-CN" sz="2400" dirty="0"/>
          </a:p>
          <a:p>
            <a:pPr lvl="2"/>
            <a:r>
              <a:rPr lang="en-US" altLang="zh-CN" sz="2000" dirty="0"/>
              <a:t>preorder: </a:t>
            </a:r>
            <a:r>
              <a:rPr lang="en-US" altLang="zh-CN" sz="2000" b="1" dirty="0">
                <a:solidFill>
                  <a:srgbClr val="FF0000"/>
                </a:solidFill>
              </a:rPr>
              <a:t>G</a:t>
            </a:r>
            <a:r>
              <a:rPr lang="en-US" altLang="zh-CN" sz="2000" dirty="0"/>
              <a:t> H I J </a:t>
            </a:r>
            <a:endParaRPr lang="en-US" altLang="zh-CN" sz="2000" dirty="0"/>
          </a:p>
          <a:p>
            <a:pPr lvl="2"/>
            <a:r>
              <a:rPr lang="en-US" altLang="zh-CN" sz="2000" dirty="0" err="1"/>
              <a:t>inorder</a:t>
            </a:r>
            <a:r>
              <a:rPr lang="en-US" altLang="zh-CN" sz="2000" dirty="0"/>
              <a:t>: I H </a:t>
            </a:r>
            <a:r>
              <a:rPr lang="en-US" altLang="zh-CN" sz="2000" b="1" dirty="0">
                <a:solidFill>
                  <a:srgbClr val="FF0000"/>
                </a:solidFill>
              </a:rPr>
              <a:t>G</a:t>
            </a:r>
            <a:r>
              <a:rPr lang="en-US" altLang="zh-CN" sz="2000" dirty="0"/>
              <a:t> J</a:t>
            </a:r>
            <a:endParaRPr lang="en-US" altLang="zh-CN" sz="2000" dirty="0"/>
          </a:p>
          <a:p>
            <a:pPr lvl="1"/>
            <a:endParaRPr lang="en-US" altLang="zh-CN" sz="1350" dirty="0" smtClean="0"/>
          </a:p>
          <a:p>
            <a:pPr lvl="1"/>
            <a:endParaRPr lang="en-US" altLang="zh-CN" sz="1350" dirty="0"/>
          </a:p>
          <a:p>
            <a:pPr lvl="1"/>
            <a:r>
              <a:rPr lang="en-US" altLang="zh-CN" sz="2400" dirty="0"/>
              <a:t>Ex2: </a:t>
            </a:r>
            <a:endParaRPr lang="en-US" altLang="zh-CN" sz="2400" dirty="0"/>
          </a:p>
          <a:p>
            <a:pPr lvl="2"/>
            <a:r>
              <a:rPr lang="en-US" altLang="zh-CN" sz="2000" dirty="0" err="1"/>
              <a:t>Postorder</a:t>
            </a:r>
            <a:r>
              <a:rPr lang="en-US" altLang="zh-CN" sz="2000" dirty="0"/>
              <a:t>: D E C B H G F </a:t>
            </a:r>
            <a:r>
              <a:rPr lang="en-US" altLang="zh-CN" sz="2000" b="1" dirty="0">
                <a:solidFill>
                  <a:srgbClr val="FF0000"/>
                </a:solidFill>
              </a:rPr>
              <a:t>A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2"/>
            <a:r>
              <a:rPr lang="en-US" altLang="zh-CN" sz="2000" dirty="0" err="1"/>
              <a:t>Inorder</a:t>
            </a:r>
            <a:r>
              <a:rPr lang="en-US" altLang="zh-CN" sz="2000" dirty="0"/>
              <a:t>: B D C E </a:t>
            </a:r>
            <a:r>
              <a:rPr lang="en-US" altLang="zh-CN" sz="2000" b="1" dirty="0">
                <a:solidFill>
                  <a:srgbClr val="FF0000"/>
                </a:solidFill>
              </a:rPr>
              <a:t>A</a:t>
            </a:r>
            <a:r>
              <a:rPr lang="en-US" altLang="zh-CN" sz="2000" dirty="0"/>
              <a:t> F H G</a:t>
            </a:r>
            <a:endParaRPr lang="en-US" altLang="zh-CN" sz="2000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E92EFC3E-3066-48CC-BBFD-1E522C1D0630}" type="slidenum">
              <a:rPr lang="en-US" altLang="zh-CN" sz="1050" smtClean="0"/>
            </a:fld>
            <a:endParaRPr lang="en-US" altLang="zh-CN" sz="1050" smtClean="0"/>
          </a:p>
        </p:txBody>
      </p:sp>
      <p:grpSp>
        <p:nvGrpSpPr>
          <p:cNvPr id="2" name="组合 1"/>
          <p:cNvGrpSpPr/>
          <p:nvPr/>
        </p:nvGrpSpPr>
        <p:grpSpPr>
          <a:xfrm>
            <a:off x="7521575" y="2375535"/>
            <a:ext cx="1692275" cy="1295400"/>
            <a:chOff x="3953186" y="3224369"/>
            <a:chExt cx="1780069" cy="1316831"/>
          </a:xfrm>
        </p:grpSpPr>
        <p:sp>
          <p:nvSpPr>
            <p:cNvPr id="5" name="Oval 4"/>
            <p:cNvSpPr/>
            <p:nvPr/>
          </p:nvSpPr>
          <p:spPr bwMode="auto">
            <a:xfrm>
              <a:off x="4882848" y="3224369"/>
              <a:ext cx="395625" cy="37742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G</a:t>
              </a:r>
              <a:endParaRPr lang="zh-CN" alt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4414202" y="3656566"/>
              <a:ext cx="395625" cy="3774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chemeClr val="tx1"/>
                  </a:solidFill>
                </a:rPr>
                <a:t>H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953186" y="4163771"/>
              <a:ext cx="395624" cy="3774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I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5339504" y="3656566"/>
              <a:ext cx="393751" cy="36790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J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/>
            <p:cNvCxnSpPr>
              <a:stCxn id="5" idx="3"/>
              <a:endCxn id="6" idx="7"/>
            </p:cNvCxnSpPr>
            <p:nvPr/>
          </p:nvCxnSpPr>
          <p:spPr bwMode="auto">
            <a:xfrm flipH="1">
              <a:off x="4752063" y="3547028"/>
              <a:ext cx="189638" cy="16430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5" idx="5"/>
              <a:endCxn id="8" idx="1"/>
            </p:cNvCxnSpPr>
            <p:nvPr/>
          </p:nvCxnSpPr>
          <p:spPr bwMode="auto">
            <a:xfrm>
              <a:off x="5220709" y="3547028"/>
              <a:ext cx="176560" cy="15478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6" idx="3"/>
              <a:endCxn id="7" idx="7"/>
            </p:cNvCxnSpPr>
            <p:nvPr/>
          </p:nvCxnSpPr>
          <p:spPr bwMode="auto">
            <a:xfrm flipH="1">
              <a:off x="4291047" y="3979225"/>
              <a:ext cx="180919" cy="2393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536" name="Group 89"/>
          <p:cNvGrpSpPr/>
          <p:nvPr/>
        </p:nvGrpSpPr>
        <p:grpSpPr bwMode="auto">
          <a:xfrm>
            <a:off x="7501890" y="3920490"/>
            <a:ext cx="2045335" cy="2174240"/>
            <a:chOff x="5580112" y="2375059"/>
            <a:chExt cx="3176419" cy="2779052"/>
          </a:xfrm>
        </p:grpSpPr>
        <p:sp>
          <p:nvSpPr>
            <p:cNvPr id="24" name="Oval 23"/>
            <p:cNvSpPr/>
            <p:nvPr/>
          </p:nvSpPr>
          <p:spPr>
            <a:xfrm>
              <a:off x="6789723" y="2375059"/>
              <a:ext cx="576232" cy="42876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rgbClr val="FF0000"/>
                  </a:solidFill>
                </a:rPr>
                <a:t>A</a:t>
              </a:r>
              <a:endParaRPr lang="zh-CN" alt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5916644" y="2941987"/>
              <a:ext cx="574644" cy="39700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B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6318261" y="3859868"/>
              <a:ext cx="576231" cy="42559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C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7604067" y="2932459"/>
              <a:ext cx="576231" cy="41765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F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/>
            <p:cNvCxnSpPr>
              <a:stCxn id="24" idx="3"/>
              <a:endCxn id="25" idx="7"/>
            </p:cNvCxnSpPr>
            <p:nvPr/>
          </p:nvCxnSpPr>
          <p:spPr>
            <a:xfrm flipH="1">
              <a:off x="6407156" y="2730779"/>
              <a:ext cx="466700" cy="269965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Straight Connector 28"/>
            <p:cNvCxnSpPr>
              <a:stCxn id="24" idx="5"/>
              <a:endCxn id="27" idx="1"/>
            </p:cNvCxnSpPr>
            <p:nvPr/>
          </p:nvCxnSpPr>
          <p:spPr>
            <a:xfrm>
              <a:off x="7281821" y="2730779"/>
              <a:ext cx="406378" cy="263613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/>
            <p:cNvCxnSpPr>
              <a:stCxn id="25" idx="4"/>
              <a:endCxn id="26" idx="0"/>
            </p:cNvCxnSpPr>
            <p:nvPr/>
          </p:nvCxnSpPr>
          <p:spPr>
            <a:xfrm>
              <a:off x="6203967" y="3338994"/>
              <a:ext cx="401616" cy="520874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5580112" y="4725342"/>
              <a:ext cx="576232" cy="4033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D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6923066" y="4745988"/>
              <a:ext cx="576232" cy="40812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E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Connector 38"/>
            <p:cNvCxnSpPr>
              <a:stCxn id="26" idx="3"/>
              <a:endCxn id="37" idx="7"/>
            </p:cNvCxnSpPr>
            <p:nvPr/>
          </p:nvCxnSpPr>
          <p:spPr>
            <a:xfrm flipH="1">
              <a:off x="6072211" y="4223526"/>
              <a:ext cx="330182" cy="504993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41"/>
            <p:cNvCxnSpPr>
              <a:stCxn id="26" idx="5"/>
              <a:endCxn id="38" idx="1"/>
            </p:cNvCxnSpPr>
            <p:nvPr/>
          </p:nvCxnSpPr>
          <p:spPr>
            <a:xfrm>
              <a:off x="6810360" y="4223526"/>
              <a:ext cx="196840" cy="582807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8180299" y="3858279"/>
              <a:ext cx="576232" cy="41606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G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7661214" y="4725343"/>
              <a:ext cx="576231" cy="4049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CN" sz="1500" b="1" dirty="0">
                  <a:solidFill>
                    <a:schemeClr val="tx1"/>
                  </a:solidFill>
                </a:rPr>
                <a:t>H</a:t>
              </a: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9" name="Straight Connector 78"/>
            <p:cNvCxnSpPr>
              <a:stCxn id="66" idx="7"/>
              <a:endCxn id="50" idx="4"/>
            </p:cNvCxnSpPr>
            <p:nvPr/>
          </p:nvCxnSpPr>
          <p:spPr>
            <a:xfrm flipV="1">
              <a:off x="8153313" y="4274343"/>
              <a:ext cx="315895" cy="509758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Straight Connector 79"/>
            <p:cNvCxnSpPr>
              <a:stCxn id="27" idx="5"/>
              <a:endCxn id="50" idx="0"/>
            </p:cNvCxnSpPr>
            <p:nvPr/>
          </p:nvCxnSpPr>
          <p:spPr>
            <a:xfrm>
              <a:off x="8096166" y="3288177"/>
              <a:ext cx="373042" cy="570102"/>
            </a:xfrm>
            <a:prstGeom prst="lin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D2D62B-AA81-47A6-AB9C-1E77B8A5E023}" type="slidenum">
              <a:rPr lang="en-US" altLang="zh-CN" sz="790"/>
            </a:fld>
            <a:endParaRPr lang="en-US" altLang="zh-CN" sz="79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Binary Search Trees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6365" y="1363345"/>
            <a:ext cx="8529320" cy="45434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Binary search trees are binary trees in which 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all values in the node’s </a:t>
            </a:r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left</a:t>
            </a:r>
            <a:r>
              <a:rPr lang="en-US" altLang="zh-CN" dirty="0">
                <a:ea typeface="SimSun" pitchFamily="2" charset="-122"/>
              </a:rPr>
              <a:t> subtree are less than node value</a:t>
            </a:r>
            <a:endParaRPr lang="en-US" altLang="zh-CN" dirty="0">
              <a:ea typeface="SimSun" pitchFamily="2" charset="-122"/>
            </a:endParaRPr>
          </a:p>
          <a:p>
            <a:pPr lvl="1"/>
            <a:r>
              <a:rPr lang="en-US" altLang="zh-CN" dirty="0">
                <a:ea typeface="SimSun" pitchFamily="2" charset="-122"/>
                <a:sym typeface="Symbol" panose="05050102010706020507" pitchFamily="18" charset="2"/>
              </a:rPr>
              <a:t>all values in the node’s </a:t>
            </a:r>
            <a:r>
              <a:rPr lang="en-US" altLang="zh-CN" dirty="0">
                <a:solidFill>
                  <a:srgbClr val="0000FF"/>
                </a:solidFill>
                <a:ea typeface="SimSun" pitchFamily="2" charset="-122"/>
                <a:sym typeface="Symbol" panose="05050102010706020507" pitchFamily="18" charset="2"/>
              </a:rPr>
              <a:t>right</a:t>
            </a:r>
            <a:r>
              <a:rPr lang="en-US" altLang="zh-CN" dirty="0">
                <a:ea typeface="SimSun" pitchFamily="2" charset="-122"/>
                <a:sym typeface="Symbol" panose="05050102010706020507" pitchFamily="18" charset="2"/>
              </a:rPr>
              <a:t> subtree are greater </a:t>
            </a:r>
            <a:r>
              <a:rPr lang="en-US" altLang="zh-CN" dirty="0">
                <a:sym typeface="Symbol" panose="05050102010706020507" pitchFamily="18" charset="2"/>
              </a:rPr>
              <a:t>than </a:t>
            </a:r>
            <a:r>
              <a:rPr lang="en-US" altLang="zh-CN" dirty="0" smtClean="0">
                <a:sym typeface="Symbol" panose="05050102010706020507" pitchFamily="18" charset="2"/>
              </a:rPr>
              <a:t>value (</a:t>
            </a:r>
            <a:r>
              <a:rPr lang="en-US" altLang="zh-CN" dirty="0">
                <a:solidFill>
                  <a:srgbClr val="008000"/>
                </a:solidFill>
                <a:sym typeface="Symbol" panose="05050102010706020507" pitchFamily="18" charset="2"/>
              </a:rPr>
              <a:t>not </a:t>
            </a:r>
            <a:r>
              <a:rPr lang="en-US" altLang="zh-CN" dirty="0">
                <a:solidFill>
                  <a:srgbClr val="008000"/>
                </a:solidFill>
              </a:rPr>
              <a:t>less </a:t>
            </a:r>
            <a:r>
              <a:rPr lang="en-US" altLang="zh-CN" dirty="0" smtClean="0">
                <a:solidFill>
                  <a:srgbClr val="008000"/>
                </a:solidFill>
              </a:rPr>
              <a:t>than</a:t>
            </a:r>
            <a:r>
              <a:rPr lang="en-US" altLang="zh-CN" dirty="0" smtClean="0">
                <a:sym typeface="Symbol" panose="05050102010706020507" pitchFamily="18" charset="2"/>
              </a:rPr>
              <a:t>) </a:t>
            </a:r>
            <a:r>
              <a:rPr lang="en-US" altLang="zh-CN" dirty="0">
                <a:sym typeface="Symbol" panose="05050102010706020507" pitchFamily="18" charset="2"/>
              </a:rPr>
              <a:t>node</a:t>
            </a:r>
            <a:endParaRPr lang="en-US" altLang="zh-CN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SimSun" pitchFamily="2" charset="-122"/>
              </a:rPr>
              <a:t>Operations</a:t>
            </a:r>
            <a:r>
              <a:rPr lang="en-US" altLang="zh-CN" dirty="0">
                <a:ea typeface="SimSun" pitchFamily="2" charset="-122"/>
              </a:rPr>
              <a:t>: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find/contains, f</a:t>
            </a:r>
            <a:r>
              <a:rPr lang="en-US" altLang="zh-CN" dirty="0" err="1">
                <a:ea typeface="SimSun" pitchFamily="2" charset="-122"/>
              </a:rPr>
              <a:t>indMin</a:t>
            </a:r>
            <a:r>
              <a:rPr lang="en-US" altLang="zh-CN" dirty="0">
                <a:ea typeface="SimSun" pitchFamily="2" charset="-122"/>
              </a:rPr>
              <a:t>, f</a:t>
            </a:r>
            <a:r>
              <a:rPr lang="en-US" altLang="zh-CN" dirty="0" err="1">
                <a:ea typeface="SimSun" pitchFamily="2" charset="-122"/>
              </a:rPr>
              <a:t>indMax</a:t>
            </a:r>
            <a:r>
              <a:rPr lang="en-US" altLang="zh-CN" dirty="0">
                <a:ea typeface="SimSun" pitchFamily="2" charset="-122"/>
              </a:rPr>
              <a:t>, insert, </a:t>
            </a:r>
            <a:r>
              <a:rPr lang="en-US" altLang="zh-CN" dirty="0">
                <a:ea typeface="SimSun" pitchFamily="2" charset="-122"/>
              </a:rPr>
              <a:t>delete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1350" dirty="0"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925685" y="2286000"/>
            <a:ext cx="1885315" cy="2947670"/>
            <a:chOff x="4972050" y="3624263"/>
            <a:chExt cx="1768317" cy="2789634"/>
          </a:xfrm>
        </p:grpSpPr>
        <p:sp>
          <p:nvSpPr>
            <p:cNvPr id="21511" name="Oval 4"/>
            <p:cNvSpPr>
              <a:spLocks noChangeArrowheads="1"/>
            </p:cNvSpPr>
            <p:nvPr/>
          </p:nvSpPr>
          <p:spPr bwMode="auto">
            <a:xfrm>
              <a:off x="5269706" y="36242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1512" name="Oval 5"/>
            <p:cNvSpPr>
              <a:spLocks noChangeArrowheads="1"/>
            </p:cNvSpPr>
            <p:nvPr/>
          </p:nvSpPr>
          <p:spPr bwMode="auto">
            <a:xfrm>
              <a:off x="49720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1513" name="Oval 6"/>
            <p:cNvSpPr>
              <a:spLocks noChangeArrowheads="1"/>
            </p:cNvSpPr>
            <p:nvPr/>
          </p:nvSpPr>
          <p:spPr bwMode="auto">
            <a:xfrm>
              <a:off x="56578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1514" name="Oval 7"/>
            <p:cNvSpPr>
              <a:spLocks noChangeArrowheads="1"/>
            </p:cNvSpPr>
            <p:nvPr/>
          </p:nvSpPr>
          <p:spPr bwMode="auto">
            <a:xfrm>
              <a:off x="53149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1515" name="Oval 8"/>
            <p:cNvSpPr>
              <a:spLocks noChangeArrowheads="1"/>
            </p:cNvSpPr>
            <p:nvPr/>
          </p:nvSpPr>
          <p:spPr bwMode="auto">
            <a:xfrm>
              <a:off x="60007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1516" name="Line 9"/>
            <p:cNvSpPr>
              <a:spLocks noChangeShapeType="1"/>
            </p:cNvSpPr>
            <p:nvPr/>
          </p:nvSpPr>
          <p:spPr bwMode="auto">
            <a:xfrm flipH="1">
              <a:off x="5157192" y="3956447"/>
              <a:ext cx="226814" cy="4180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17" name="Line 10"/>
            <p:cNvSpPr>
              <a:spLocks noChangeShapeType="1"/>
            </p:cNvSpPr>
            <p:nvPr/>
          </p:nvSpPr>
          <p:spPr bwMode="auto">
            <a:xfrm>
              <a:off x="5498307" y="3945732"/>
              <a:ext cx="273844" cy="454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18" name="Line 11"/>
            <p:cNvSpPr>
              <a:spLocks noChangeShapeType="1"/>
            </p:cNvSpPr>
            <p:nvPr/>
          </p:nvSpPr>
          <p:spPr bwMode="auto">
            <a:xfrm flipH="1">
              <a:off x="5486400" y="471011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19" name="Line 12"/>
            <p:cNvSpPr>
              <a:spLocks noChangeShapeType="1"/>
            </p:cNvSpPr>
            <p:nvPr/>
          </p:nvSpPr>
          <p:spPr bwMode="auto">
            <a:xfrm>
              <a:off x="5829300" y="471011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20" name="Text Box 13"/>
            <p:cNvSpPr txBox="1">
              <a:spLocks noChangeArrowheads="1"/>
            </p:cNvSpPr>
            <p:nvPr/>
          </p:nvSpPr>
          <p:spPr bwMode="auto">
            <a:xfrm>
              <a:off x="5297091" y="3625850"/>
              <a:ext cx="303609" cy="31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21521" name="Text Box 14"/>
            <p:cNvSpPr txBox="1">
              <a:spLocks noChangeArrowheads="1"/>
            </p:cNvSpPr>
            <p:nvPr/>
          </p:nvSpPr>
          <p:spPr bwMode="auto">
            <a:xfrm>
              <a:off x="5000625" y="4380707"/>
              <a:ext cx="303610" cy="31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5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21522" name="Text Box 15"/>
            <p:cNvSpPr txBox="1">
              <a:spLocks noChangeArrowheads="1"/>
            </p:cNvSpPr>
            <p:nvPr/>
          </p:nvSpPr>
          <p:spPr bwMode="auto">
            <a:xfrm>
              <a:off x="5281216" y="5231547"/>
              <a:ext cx="406001" cy="31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10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21523" name="Oval 16"/>
            <p:cNvSpPr>
              <a:spLocks noChangeArrowheads="1"/>
            </p:cNvSpPr>
            <p:nvPr/>
          </p:nvSpPr>
          <p:spPr bwMode="auto">
            <a:xfrm>
              <a:off x="56673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1524" name="Oval 17"/>
            <p:cNvSpPr>
              <a:spLocks noChangeArrowheads="1"/>
            </p:cNvSpPr>
            <p:nvPr/>
          </p:nvSpPr>
          <p:spPr bwMode="auto">
            <a:xfrm>
              <a:off x="63531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1525" name="Line 18"/>
            <p:cNvSpPr>
              <a:spLocks noChangeShapeType="1"/>
            </p:cNvSpPr>
            <p:nvPr/>
          </p:nvSpPr>
          <p:spPr bwMode="auto">
            <a:xfrm flipH="1">
              <a:off x="5838825" y="555664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26" name="Line 19"/>
            <p:cNvSpPr>
              <a:spLocks noChangeShapeType="1"/>
            </p:cNvSpPr>
            <p:nvPr/>
          </p:nvSpPr>
          <p:spPr bwMode="auto">
            <a:xfrm>
              <a:off x="6181725" y="555664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1527" name="Text Box 20"/>
            <p:cNvSpPr txBox="1">
              <a:spLocks noChangeArrowheads="1"/>
            </p:cNvSpPr>
            <p:nvPr/>
          </p:nvSpPr>
          <p:spPr bwMode="auto">
            <a:xfrm>
              <a:off x="5650707" y="6086873"/>
              <a:ext cx="442589" cy="31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SimSun" pitchFamily="2" charset="-122"/>
                </a:rPr>
                <a:t>96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21528" name="Text Box 21"/>
            <p:cNvSpPr txBox="1">
              <a:spLocks noChangeArrowheads="1"/>
            </p:cNvSpPr>
            <p:nvPr/>
          </p:nvSpPr>
          <p:spPr bwMode="auto">
            <a:xfrm>
              <a:off x="6336745" y="6087190"/>
              <a:ext cx="403622" cy="31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99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21529" name="Text Box 22"/>
            <p:cNvSpPr txBox="1">
              <a:spLocks noChangeArrowheads="1"/>
            </p:cNvSpPr>
            <p:nvPr/>
          </p:nvSpPr>
          <p:spPr bwMode="auto">
            <a:xfrm>
              <a:off x="5641111" y="4376818"/>
              <a:ext cx="519113" cy="31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94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21530" name="Text Box 23"/>
            <p:cNvSpPr txBox="1">
              <a:spLocks noChangeArrowheads="1"/>
            </p:cNvSpPr>
            <p:nvPr/>
          </p:nvSpPr>
          <p:spPr bwMode="auto">
            <a:xfrm>
              <a:off x="5990035" y="5246053"/>
              <a:ext cx="519113" cy="31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97</a:t>
              </a:r>
              <a:endParaRPr lang="en-US" altLang="zh-CN" sz="1600" dirty="0">
                <a:ea typeface="SimSun" pitchFamily="2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2741295" y="6009640"/>
            <a:ext cx="7094220" cy="46037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C0000"/>
                </a:solidFill>
              </a:rPr>
              <a:t>What happens when we traverse a BST </a:t>
            </a:r>
            <a:r>
              <a:rPr lang="en-US" altLang="zh-CN" sz="2400" dirty="0" smtClean="0">
                <a:solidFill>
                  <a:srgbClr val="CC0000"/>
                </a:solidFill>
              </a:rPr>
              <a:t>in </a:t>
            </a:r>
            <a:r>
              <a:rPr lang="en-US" altLang="zh-CN" sz="2400" dirty="0" err="1">
                <a:solidFill>
                  <a:srgbClr val="CC0000"/>
                </a:solidFill>
              </a:rPr>
              <a:t>inorder</a:t>
            </a:r>
            <a:r>
              <a:rPr lang="en-US" altLang="zh-CN" sz="2400" dirty="0">
                <a:solidFill>
                  <a:srgbClr val="CC0000"/>
                </a:solidFill>
              </a:rPr>
              <a:t>?</a:t>
            </a:r>
            <a:endParaRPr lang="en-US" altLang="zh-CN" sz="2400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6225" y="1417955"/>
            <a:ext cx="2111375" cy="1143000"/>
          </a:xfrm>
          <a:prstGeom prst="rect">
            <a:avLst/>
          </a:prstGeom>
        </p:spPr>
      </p:pic>
      <p:sp>
        <p:nvSpPr>
          <p:cNvPr id="2355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A71F2A-765C-4B7E-8348-8DE07AA1C67C}" type="slidenum">
              <a:rPr lang="en-US" altLang="zh-CN" sz="790"/>
            </a:fld>
            <a:endParaRPr lang="en-US" altLang="zh-CN" sz="790"/>
          </a:p>
        </p:txBody>
      </p:sp>
      <p:grpSp>
        <p:nvGrpSpPr>
          <p:cNvPr id="60" name="组合 59"/>
          <p:cNvGrpSpPr/>
          <p:nvPr/>
        </p:nvGrpSpPr>
        <p:grpSpPr>
          <a:xfrm>
            <a:off x="2543810" y="2052955"/>
            <a:ext cx="2472053" cy="3510950"/>
            <a:chOff x="4972050" y="3624263"/>
            <a:chExt cx="1798812" cy="2789634"/>
          </a:xfrm>
        </p:grpSpPr>
        <p:sp>
          <p:nvSpPr>
            <p:cNvPr id="61" name="Oval 4"/>
            <p:cNvSpPr>
              <a:spLocks noChangeArrowheads="1"/>
            </p:cNvSpPr>
            <p:nvPr/>
          </p:nvSpPr>
          <p:spPr bwMode="auto">
            <a:xfrm>
              <a:off x="5269706" y="36242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62" name="Oval 5"/>
            <p:cNvSpPr>
              <a:spLocks noChangeArrowheads="1"/>
            </p:cNvSpPr>
            <p:nvPr/>
          </p:nvSpPr>
          <p:spPr bwMode="auto">
            <a:xfrm>
              <a:off x="49720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63" name="Oval 6"/>
            <p:cNvSpPr>
              <a:spLocks noChangeArrowheads="1"/>
            </p:cNvSpPr>
            <p:nvPr/>
          </p:nvSpPr>
          <p:spPr bwMode="auto">
            <a:xfrm>
              <a:off x="5657850" y="436721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64" name="Oval 7"/>
            <p:cNvSpPr>
              <a:spLocks noChangeArrowheads="1"/>
            </p:cNvSpPr>
            <p:nvPr/>
          </p:nvSpPr>
          <p:spPr bwMode="auto">
            <a:xfrm>
              <a:off x="53149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65" name="Oval 8"/>
            <p:cNvSpPr>
              <a:spLocks noChangeArrowheads="1"/>
            </p:cNvSpPr>
            <p:nvPr/>
          </p:nvSpPr>
          <p:spPr bwMode="auto">
            <a:xfrm>
              <a:off x="6000750" y="522446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 flipH="1">
              <a:off x="5157192" y="3956447"/>
              <a:ext cx="226814" cy="4180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7" name="Line 10"/>
            <p:cNvSpPr>
              <a:spLocks noChangeShapeType="1"/>
            </p:cNvSpPr>
            <p:nvPr/>
          </p:nvSpPr>
          <p:spPr bwMode="auto">
            <a:xfrm>
              <a:off x="5498307" y="3945732"/>
              <a:ext cx="273844" cy="4548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 flipH="1">
              <a:off x="5486400" y="471011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69" name="Line 12"/>
            <p:cNvSpPr>
              <a:spLocks noChangeShapeType="1"/>
            </p:cNvSpPr>
            <p:nvPr/>
          </p:nvSpPr>
          <p:spPr bwMode="auto">
            <a:xfrm>
              <a:off x="5829300" y="471011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0" name="Text Box 13"/>
            <p:cNvSpPr txBox="1">
              <a:spLocks noChangeArrowheads="1"/>
            </p:cNvSpPr>
            <p:nvPr/>
          </p:nvSpPr>
          <p:spPr bwMode="auto">
            <a:xfrm>
              <a:off x="5327586" y="3636950"/>
              <a:ext cx="303609" cy="292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SimSun" pitchFamily="2" charset="-122"/>
                </a:rPr>
                <a:t>9</a:t>
              </a:r>
              <a:endParaRPr lang="en-US" altLang="zh-CN" sz="1800" dirty="0">
                <a:ea typeface="SimSun" pitchFamily="2" charset="-122"/>
              </a:endParaRPr>
            </a:p>
          </p:txBody>
        </p:sp>
        <p:sp>
          <p:nvSpPr>
            <p:cNvPr id="71" name="Text Box 14"/>
            <p:cNvSpPr txBox="1">
              <a:spLocks noChangeArrowheads="1"/>
            </p:cNvSpPr>
            <p:nvPr/>
          </p:nvSpPr>
          <p:spPr bwMode="auto">
            <a:xfrm>
              <a:off x="5031120" y="4380707"/>
              <a:ext cx="303610" cy="292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SimSun" pitchFamily="2" charset="-122"/>
                </a:rPr>
                <a:t>5</a:t>
              </a:r>
              <a:endParaRPr lang="en-US" altLang="zh-CN" sz="1800" dirty="0">
                <a:ea typeface="SimSun" pitchFamily="2" charset="-122"/>
              </a:endParaRPr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5313559" y="5248197"/>
              <a:ext cx="406001" cy="292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SimSun" pitchFamily="2" charset="-122"/>
                </a:rPr>
                <a:t>10</a:t>
              </a:r>
              <a:endParaRPr lang="en-US" altLang="zh-CN" sz="1800" dirty="0">
                <a:ea typeface="SimSun" pitchFamily="2" charset="-122"/>
              </a:endParaRPr>
            </a:p>
          </p:txBody>
        </p:sp>
        <p:sp>
          <p:nvSpPr>
            <p:cNvPr id="73" name="Oval 16"/>
            <p:cNvSpPr>
              <a:spLocks noChangeArrowheads="1"/>
            </p:cNvSpPr>
            <p:nvPr/>
          </p:nvSpPr>
          <p:spPr bwMode="auto">
            <a:xfrm>
              <a:off x="56673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74" name="Oval 17"/>
            <p:cNvSpPr>
              <a:spLocks noChangeArrowheads="1"/>
            </p:cNvSpPr>
            <p:nvPr/>
          </p:nvSpPr>
          <p:spPr bwMode="auto">
            <a:xfrm>
              <a:off x="6353175" y="607099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SimSun" pitchFamily="2" charset="-122"/>
              </a:endParaRPr>
            </a:p>
          </p:txBody>
        </p:sp>
        <p:sp>
          <p:nvSpPr>
            <p:cNvPr id="75" name="Line 18"/>
            <p:cNvSpPr>
              <a:spLocks noChangeShapeType="1"/>
            </p:cNvSpPr>
            <p:nvPr/>
          </p:nvSpPr>
          <p:spPr bwMode="auto">
            <a:xfrm flipH="1">
              <a:off x="5838825" y="555664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6181725" y="555664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77" name="Text Box 20"/>
            <p:cNvSpPr txBox="1">
              <a:spLocks noChangeArrowheads="1"/>
            </p:cNvSpPr>
            <p:nvPr/>
          </p:nvSpPr>
          <p:spPr bwMode="auto">
            <a:xfrm>
              <a:off x="5671037" y="6086873"/>
              <a:ext cx="442589" cy="292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SimSun" pitchFamily="2" charset="-122"/>
                </a:rPr>
                <a:t>96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78" name="Text Box 21"/>
            <p:cNvSpPr txBox="1">
              <a:spLocks noChangeArrowheads="1"/>
            </p:cNvSpPr>
            <p:nvPr/>
          </p:nvSpPr>
          <p:spPr bwMode="auto">
            <a:xfrm>
              <a:off x="6367240" y="6087190"/>
              <a:ext cx="403622" cy="292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SimSun" pitchFamily="2" charset="-122"/>
                </a:rPr>
                <a:t>99</a:t>
              </a:r>
              <a:endParaRPr lang="en-US" altLang="zh-CN" sz="1800" dirty="0">
                <a:ea typeface="SimSun" pitchFamily="2" charset="-122"/>
              </a:endParaRPr>
            </a:p>
          </p:txBody>
        </p:sp>
        <p:sp>
          <p:nvSpPr>
            <p:cNvPr id="79" name="Text Box 22"/>
            <p:cNvSpPr txBox="1">
              <a:spLocks noChangeArrowheads="1"/>
            </p:cNvSpPr>
            <p:nvPr/>
          </p:nvSpPr>
          <p:spPr bwMode="auto">
            <a:xfrm>
              <a:off x="5665137" y="4385395"/>
              <a:ext cx="519113" cy="292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SimSun" pitchFamily="2" charset="-122"/>
                </a:rPr>
                <a:t>94</a:t>
              </a:r>
              <a:endParaRPr lang="en-US" altLang="zh-CN" sz="1800" dirty="0">
                <a:ea typeface="SimSun" pitchFamily="2" charset="-122"/>
              </a:endParaRP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6020530" y="5246053"/>
              <a:ext cx="519113" cy="292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ea typeface="SimSun" pitchFamily="2" charset="-122"/>
                </a:rPr>
                <a:t>97</a:t>
              </a:r>
              <a:endParaRPr lang="en-US" altLang="zh-CN" sz="1800" dirty="0">
                <a:ea typeface="SimSun" pitchFamily="2" charset="-122"/>
              </a:endParaRPr>
            </a:p>
          </p:txBody>
        </p:sp>
      </p:grpSp>
      <p:sp>
        <p:nvSpPr>
          <p:cNvPr id="22530" name="Title 1"/>
          <p:cNvSpPr>
            <a:spLocks noGrp="1"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Binary Search Trees</a:t>
            </a:r>
            <a:endParaRPr lang="zh-CN" alt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055" y="2570480"/>
            <a:ext cx="3344545" cy="3769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C77DC3-24A9-4357-B9F8-65E15DB46648}" type="slidenum">
              <a:rPr lang="en-US" altLang="zh-CN" sz="790"/>
            </a:fld>
            <a:endParaRPr lang="en-US" altLang="zh-CN" sz="790"/>
          </a:p>
        </p:txBody>
      </p:sp>
      <p:sp>
        <p:nvSpPr>
          <p:cNvPr id="24582" name="Text Box 1027"/>
          <p:cNvSpPr txBox="1">
            <a:spLocks noChangeArrowheads="1"/>
          </p:cNvSpPr>
          <p:nvPr/>
        </p:nvSpPr>
        <p:spPr bwMode="auto">
          <a:xfrm>
            <a:off x="4595813" y="2700338"/>
            <a:ext cx="309880" cy="26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125">
              <a:ea typeface="SimSun" pitchFamily="2" charset="-122"/>
            </a:endParaRPr>
          </a:p>
        </p:txBody>
      </p:sp>
      <p:sp>
        <p:nvSpPr>
          <p:cNvPr id="24583" name="Text Box 1028"/>
          <p:cNvSpPr txBox="1">
            <a:spLocks noChangeArrowheads="1"/>
          </p:cNvSpPr>
          <p:nvPr/>
        </p:nvSpPr>
        <p:spPr bwMode="auto">
          <a:xfrm>
            <a:off x="2896235" y="1754505"/>
            <a:ext cx="8164195" cy="415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test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 item is in a subtree.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is item to search for.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is the node that roots the subtree.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 find(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Comparable &amp; x,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*t )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t ==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return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else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 x &lt; t-&gt;element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return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x, t-&gt;left );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else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 t-&gt;element &lt; x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return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x, t-&gt;right );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else return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true;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Match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400" dirty="0" smtClean="0">
              <a:latin typeface="Times New Roman" panose="02020603050405020304" pitchFamily="18" charset="0"/>
              <a:ea typeface="SimSun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30" name="Title 1"/>
          <p:cNvSpPr>
            <a:spLocks noGrp="1"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dirty="0"/>
              <a:t>find/</a:t>
            </a:r>
            <a:r>
              <a:rPr lang="en-US" altLang="zh-CN" dirty="0"/>
              <a:t>contains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0E638C-FA15-41B9-8BAB-09E42E5E9544}" type="slidenum">
              <a:rPr lang="en-US" altLang="zh-CN" sz="790"/>
            </a:fld>
            <a:endParaRPr lang="en-US" altLang="zh-CN" sz="790"/>
          </a:p>
        </p:txBody>
      </p:sp>
      <p:sp>
        <p:nvSpPr>
          <p:cNvPr id="2560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err="1" smtClean="0">
                <a:ea typeface="SimSun" pitchFamily="2" charset="-122"/>
              </a:rPr>
              <a:t>findMin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560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SimSun" pitchFamily="2" charset="-122"/>
              </a:rPr>
              <a:t>Design recursive f</a:t>
            </a:r>
            <a:r>
              <a:rPr lang="en-US" altLang="zh-CN" dirty="0" err="1" smtClean="0">
                <a:ea typeface="SimSun" pitchFamily="2" charset="-122"/>
              </a:rPr>
              <a:t>indMin</a:t>
            </a:r>
            <a:r>
              <a:rPr lang="en-US" altLang="zh-CN" dirty="0" smtClean="0">
                <a:ea typeface="SimSun" pitchFamily="2" charset="-122"/>
              </a:rPr>
              <a:t> operation that returns the smallest element in a binary search tree.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80080" y="2931160"/>
            <a:ext cx="613981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find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item in a subtree t.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node containing the smallest item.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findMin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*t )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t ==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return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root is empty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t-&gt;left ==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return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0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//left child is empty 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findMin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t-&gt;left 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F12AF4-EC55-4DB2-9D40-C85D8C9D8A42}" type="slidenum">
              <a:rPr lang="en-US" altLang="zh-CN" sz="790"/>
            </a:fld>
            <a:endParaRPr lang="en-US" altLang="zh-CN" sz="79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ea typeface="SimSun" pitchFamily="2" charset="-122"/>
              </a:rPr>
              <a:t>insert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85060" y="1174115"/>
            <a:ext cx="6995795" cy="2850515"/>
          </a:xfrm>
        </p:spPr>
        <p:txBody>
          <a:bodyPr vert="horz" lIns="68580" tIns="34290" rIns="68580" bIns="34290" rtlCol="0"/>
          <a:lstStyle/>
          <a:p>
            <a:r>
              <a:rPr lang="en-US" altLang="zh-CN" sz="2000" dirty="0">
                <a:ea typeface="SimSun" pitchFamily="2" charset="-122"/>
              </a:rPr>
              <a:t>Challenge: how to preserve the BST property without making major changes to the structure of the </a:t>
            </a:r>
            <a:r>
              <a:rPr lang="en-US" altLang="zh-CN" sz="2000" dirty="0" smtClean="0">
                <a:ea typeface="SimSun" pitchFamily="2" charset="-122"/>
              </a:rPr>
              <a:t>tree</a:t>
            </a:r>
            <a:endParaRPr lang="en-US" altLang="zh-CN" sz="2000" dirty="0" smtClean="0">
              <a:ea typeface="SimSun" pitchFamily="2" charset="-122"/>
            </a:endParaRPr>
          </a:p>
          <a:p>
            <a:pPr lvl="1"/>
            <a:r>
              <a:rPr lang="en-US" altLang="zh-CN" sz="1800" dirty="0" smtClean="0">
                <a:ea typeface="SimSun" pitchFamily="2" charset="-122"/>
              </a:rPr>
              <a:t>Do </a:t>
            </a:r>
            <a:r>
              <a:rPr lang="en-US" altLang="zh-CN" sz="1800" dirty="0">
                <a:ea typeface="SimSun" pitchFamily="2" charset="-122"/>
              </a:rPr>
              <a:t>a “</a:t>
            </a:r>
            <a:r>
              <a:rPr lang="en-US" altLang="zh-CN" sz="1800" dirty="0">
                <a:ea typeface="SimSun" pitchFamily="2" charset="-122"/>
              </a:rPr>
              <a:t>find” operation for X</a:t>
            </a:r>
            <a:endParaRPr lang="en-US" altLang="zh-CN" sz="1800" dirty="0">
              <a:ea typeface="SimSun" pitchFamily="2" charset="-122"/>
            </a:endParaRPr>
          </a:p>
          <a:p>
            <a:pPr lvl="1"/>
            <a:r>
              <a:rPr lang="en-US" altLang="zh-CN" sz="1800" dirty="0"/>
              <a:t>If X is found </a:t>
            </a:r>
            <a:r>
              <a:rPr lang="en-US" altLang="zh-CN" sz="1800" dirty="0">
                <a:sym typeface="Wingdings" panose="05000000000000000000" pitchFamily="2" charset="2"/>
              </a:rPr>
              <a:t> do nothing (or update s</a:t>
            </a:r>
            <a:r>
              <a:rPr lang="en-US" altLang="zh-CN" sz="1800" dirty="0">
                <a:sym typeface="Wingdings" panose="05000000000000000000" pitchFamily="2" charset="2"/>
              </a:rPr>
              <a:t>omething)</a:t>
            </a:r>
            <a:endParaRPr lang="en-US" altLang="zh-CN" sz="1800" dirty="0">
              <a:sym typeface="Wingdings" panose="05000000000000000000" pitchFamily="2" charset="2"/>
            </a:endParaRPr>
          </a:p>
          <a:p>
            <a:pPr lvl="1"/>
            <a:r>
              <a:rPr lang="en-US" altLang="zh-CN" sz="1800" dirty="0">
                <a:sym typeface="Wingdings" panose="05000000000000000000" pitchFamily="2" charset="2"/>
              </a:rPr>
              <a:t>Else, “</a:t>
            </a:r>
            <a:r>
              <a:rPr lang="en-US" altLang="zh-CN" sz="1800" dirty="0">
                <a:sym typeface="Wingdings" panose="05000000000000000000" pitchFamily="2" charset="2"/>
              </a:rPr>
              <a:t>find” stops at a NULL pointer</a:t>
            </a:r>
            <a:endParaRPr lang="en-US" altLang="zh-CN" sz="1800" dirty="0">
              <a:sym typeface="Wingdings" panose="05000000000000000000" pitchFamily="2" charset="2"/>
            </a:endParaRPr>
          </a:p>
          <a:p>
            <a:pPr lvl="1"/>
            <a:r>
              <a:rPr lang="en-US" altLang="zh-CN" sz="1800" dirty="0">
                <a:sym typeface="Wingdings" panose="05000000000000000000" pitchFamily="2" charset="2"/>
              </a:rPr>
              <a:t>Insert Node with X there</a:t>
            </a:r>
            <a:endParaRPr lang="en-US" altLang="zh-CN" sz="1800" dirty="0">
              <a:sym typeface="Wingdings" panose="05000000000000000000" pitchFamily="2" charset="2"/>
            </a:endParaRPr>
          </a:p>
          <a:p>
            <a:endParaRPr lang="en-US" altLang="zh-CN" sz="2000" dirty="0" smtClean="0">
              <a:ea typeface="SimSun" pitchFamily="2" charset="-122"/>
            </a:endParaRPr>
          </a:p>
          <a:p>
            <a:r>
              <a:rPr lang="en-US" altLang="zh-CN" sz="2000" dirty="0" smtClean="0">
                <a:ea typeface="SimSun" pitchFamily="2" charset="-122"/>
              </a:rPr>
              <a:t>Example</a:t>
            </a:r>
            <a:r>
              <a:rPr lang="en-US" altLang="zh-CN" sz="2000" dirty="0">
                <a:ea typeface="SimSun" pitchFamily="2" charset="-122"/>
              </a:rPr>
              <a:t>: Insert 95</a:t>
            </a:r>
            <a:endParaRPr lang="en-US" altLang="zh-CN" sz="2000" dirty="0">
              <a:ea typeface="SimSun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69130" y="4401183"/>
            <a:ext cx="1591310" cy="1984377"/>
            <a:chOff x="1412776" y="5881241"/>
            <a:chExt cx="1464486" cy="2046684"/>
          </a:xfrm>
        </p:grpSpPr>
        <p:sp>
          <p:nvSpPr>
            <p:cNvPr id="26631" name="Oval 4"/>
            <p:cNvSpPr>
              <a:spLocks noChangeArrowheads="1"/>
            </p:cNvSpPr>
            <p:nvPr/>
          </p:nvSpPr>
          <p:spPr bwMode="auto">
            <a:xfrm>
              <a:off x="1764011" y="588124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6632" name="Oval 5"/>
            <p:cNvSpPr>
              <a:spLocks noChangeArrowheads="1"/>
            </p:cNvSpPr>
            <p:nvPr/>
          </p:nvSpPr>
          <p:spPr bwMode="auto">
            <a:xfrm>
              <a:off x="14211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6633" name="Oval 6"/>
            <p:cNvSpPr>
              <a:spLocks noChangeArrowheads="1"/>
            </p:cNvSpPr>
            <p:nvPr/>
          </p:nvSpPr>
          <p:spPr bwMode="auto">
            <a:xfrm>
              <a:off x="21069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6634" name="Line 7"/>
            <p:cNvSpPr>
              <a:spLocks noChangeShapeType="1"/>
            </p:cNvSpPr>
            <p:nvPr/>
          </p:nvSpPr>
          <p:spPr bwMode="auto">
            <a:xfrm flipH="1">
              <a:off x="1592561" y="6224141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5" name="Line 8"/>
            <p:cNvSpPr>
              <a:spLocks noChangeShapeType="1"/>
            </p:cNvSpPr>
            <p:nvPr/>
          </p:nvSpPr>
          <p:spPr bwMode="auto">
            <a:xfrm>
              <a:off x="1935461" y="6224141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6" name="Text Box 9"/>
            <p:cNvSpPr txBox="1">
              <a:spLocks noChangeArrowheads="1"/>
            </p:cNvSpPr>
            <p:nvPr/>
          </p:nvSpPr>
          <p:spPr bwMode="auto">
            <a:xfrm>
              <a:off x="1412776" y="6775409"/>
              <a:ext cx="422672" cy="273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10</a:t>
              </a:r>
              <a:endParaRPr lang="en-US" altLang="zh-CN" sz="1125">
                <a:ea typeface="SimSun" pitchFamily="2" charset="-122"/>
              </a:endParaRPr>
            </a:p>
          </p:txBody>
        </p:sp>
        <p:sp>
          <p:nvSpPr>
            <p:cNvPr id="26637" name="Oval 10"/>
            <p:cNvSpPr>
              <a:spLocks noChangeArrowheads="1"/>
            </p:cNvSpPr>
            <p:nvPr/>
          </p:nvSpPr>
          <p:spPr bwMode="auto">
            <a:xfrm>
              <a:off x="17735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6638" name="Oval 11"/>
            <p:cNvSpPr>
              <a:spLocks noChangeArrowheads="1"/>
            </p:cNvSpPr>
            <p:nvPr/>
          </p:nvSpPr>
          <p:spPr bwMode="auto">
            <a:xfrm>
              <a:off x="24593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6639" name="Line 12"/>
            <p:cNvSpPr>
              <a:spLocks noChangeShapeType="1"/>
            </p:cNvSpPr>
            <p:nvPr/>
          </p:nvSpPr>
          <p:spPr bwMode="auto">
            <a:xfrm flipH="1">
              <a:off x="1944986" y="7070675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0" name="Line 13"/>
            <p:cNvSpPr>
              <a:spLocks noChangeShapeType="1"/>
            </p:cNvSpPr>
            <p:nvPr/>
          </p:nvSpPr>
          <p:spPr bwMode="auto">
            <a:xfrm>
              <a:off x="2287886" y="7070675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1" name="Text Box 14"/>
            <p:cNvSpPr txBox="1">
              <a:spLocks noChangeArrowheads="1"/>
            </p:cNvSpPr>
            <p:nvPr/>
          </p:nvSpPr>
          <p:spPr bwMode="auto">
            <a:xfrm>
              <a:off x="1780243" y="7614798"/>
              <a:ext cx="592931" cy="273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96</a:t>
              </a:r>
              <a:endParaRPr lang="en-US" altLang="zh-CN" sz="1125">
                <a:ea typeface="SimSun" pitchFamily="2" charset="-122"/>
              </a:endParaRPr>
            </a:p>
          </p:txBody>
        </p:sp>
        <p:sp>
          <p:nvSpPr>
            <p:cNvPr id="26642" name="Text Box 15"/>
            <p:cNvSpPr txBox="1">
              <a:spLocks noChangeArrowheads="1"/>
            </p:cNvSpPr>
            <p:nvPr/>
          </p:nvSpPr>
          <p:spPr bwMode="auto">
            <a:xfrm>
              <a:off x="2473640" y="7621523"/>
              <a:ext cx="403622" cy="273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99</a:t>
              </a:r>
              <a:endParaRPr lang="en-US" altLang="zh-CN" sz="1125">
                <a:ea typeface="SimSun" pitchFamily="2" charset="-122"/>
              </a:endParaRPr>
            </a:p>
          </p:txBody>
        </p:sp>
        <p:sp>
          <p:nvSpPr>
            <p:cNvPr id="26643" name="Text Box 16"/>
            <p:cNvSpPr txBox="1">
              <a:spLocks noChangeArrowheads="1"/>
            </p:cNvSpPr>
            <p:nvPr/>
          </p:nvSpPr>
          <p:spPr bwMode="auto">
            <a:xfrm>
              <a:off x="1775480" y="5907441"/>
              <a:ext cx="519113" cy="273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94</a:t>
              </a:r>
              <a:endParaRPr lang="en-US" altLang="zh-CN" sz="1125">
                <a:ea typeface="SimSun" pitchFamily="2" charset="-122"/>
              </a:endParaRPr>
            </a:p>
          </p:txBody>
        </p:sp>
        <p:sp>
          <p:nvSpPr>
            <p:cNvPr id="26644" name="Text Box 17"/>
            <p:cNvSpPr txBox="1">
              <a:spLocks noChangeArrowheads="1"/>
            </p:cNvSpPr>
            <p:nvPr/>
          </p:nvSpPr>
          <p:spPr bwMode="auto">
            <a:xfrm>
              <a:off x="2131259" y="6771838"/>
              <a:ext cx="519113" cy="273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 dirty="0">
                  <a:ea typeface="SimSun" pitchFamily="2" charset="-122"/>
                </a:rPr>
                <a:t>97</a:t>
              </a:r>
              <a:endParaRPr lang="en-US" altLang="zh-CN" sz="1125" dirty="0">
                <a:ea typeface="SimSun" pitchFamily="2" charset="-122"/>
              </a:endParaRPr>
            </a:p>
          </p:txBody>
        </p:sp>
      </p:grpSp>
      <p:sp>
        <p:nvSpPr>
          <p:cNvPr id="26645" name="Line 18"/>
          <p:cNvSpPr>
            <a:spLocks noChangeShapeType="1"/>
          </p:cNvSpPr>
          <p:nvPr/>
        </p:nvSpPr>
        <p:spPr bwMode="auto">
          <a:xfrm>
            <a:off x="6158075" y="5298106"/>
            <a:ext cx="2661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26646" name="Text Box 19"/>
          <p:cNvSpPr txBox="1">
            <a:spLocks noChangeArrowheads="1"/>
          </p:cNvSpPr>
          <p:nvPr/>
        </p:nvSpPr>
        <p:spPr bwMode="auto">
          <a:xfrm>
            <a:off x="6503652" y="5113599"/>
            <a:ext cx="2971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Times New Roman" panose="02020603050405020304" pitchFamily="18" charset="0"/>
                <a:ea typeface="SimSun" pitchFamily="2" charset="-122"/>
              </a:rPr>
              <a:t>?</a:t>
            </a:r>
            <a:endParaRPr lang="en-US" altLang="zh-CN" sz="1800" b="1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285355" y="4036060"/>
            <a:ext cx="1452245" cy="2445553"/>
            <a:chOff x="4389363" y="5549593"/>
            <a:chExt cx="1447051" cy="2900363"/>
          </a:xfrm>
        </p:grpSpPr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4754136" y="554959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6" name="Oval 21"/>
            <p:cNvSpPr>
              <a:spLocks noChangeArrowheads="1"/>
            </p:cNvSpPr>
            <p:nvPr/>
          </p:nvSpPr>
          <p:spPr bwMode="auto">
            <a:xfrm>
              <a:off x="44112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7" name="Oval 22"/>
            <p:cNvSpPr>
              <a:spLocks noChangeArrowheads="1"/>
            </p:cNvSpPr>
            <p:nvPr/>
          </p:nvSpPr>
          <p:spPr bwMode="auto">
            <a:xfrm>
              <a:off x="50970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>
              <a:off x="4582686" y="589249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4925586" y="589249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4402812" y="6421845"/>
              <a:ext cx="408384" cy="314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 dirty="0">
                  <a:ea typeface="SimSun" pitchFamily="2" charset="-122"/>
                </a:rPr>
                <a:t>10</a:t>
              </a:r>
              <a:endParaRPr lang="en-US" altLang="zh-CN" sz="1125" dirty="0">
                <a:ea typeface="SimSun" pitchFamily="2" charset="-122"/>
              </a:endParaRPr>
            </a:p>
          </p:txBody>
        </p:sp>
        <p:sp>
          <p:nvSpPr>
            <p:cNvPr id="31" name="Oval 26"/>
            <p:cNvSpPr>
              <a:spLocks noChangeArrowheads="1"/>
            </p:cNvSpPr>
            <p:nvPr/>
          </p:nvSpPr>
          <p:spPr bwMode="auto">
            <a:xfrm>
              <a:off x="47636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32" name="Oval 27"/>
            <p:cNvSpPr>
              <a:spLocks noChangeArrowheads="1"/>
            </p:cNvSpPr>
            <p:nvPr/>
          </p:nvSpPr>
          <p:spPr bwMode="auto">
            <a:xfrm>
              <a:off x="54494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H="1">
              <a:off x="4935111" y="673902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5278011" y="673902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4767223" y="7264173"/>
              <a:ext cx="416718" cy="314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 dirty="0">
                  <a:ea typeface="SimSun" pitchFamily="2" charset="-122"/>
                </a:rPr>
                <a:t>96</a:t>
              </a:r>
              <a:endParaRPr lang="en-US" altLang="zh-CN" sz="1125" dirty="0">
                <a:ea typeface="SimSun" pitchFamily="2" charset="-122"/>
              </a:endParaRP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5432792" y="7261712"/>
              <a:ext cx="403622" cy="314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>
                  <a:ea typeface="SimSun" pitchFamily="2" charset="-122"/>
                </a:rPr>
                <a:t>99</a:t>
              </a:r>
              <a:endParaRPr lang="en-US" altLang="zh-CN" sz="1125">
                <a:ea typeface="SimSun" pitchFamily="2" charset="-122"/>
              </a:endParaRP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4749805" y="5571878"/>
              <a:ext cx="519113" cy="314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 dirty="0">
                  <a:ea typeface="SimSun" pitchFamily="2" charset="-122"/>
                </a:rPr>
                <a:t>94</a:t>
              </a:r>
              <a:endParaRPr lang="en-US" altLang="zh-CN" sz="1125" dirty="0">
                <a:ea typeface="SimSun" pitchFamily="2" charset="-122"/>
              </a:endParaRPr>
            </a:p>
          </p:txBody>
        </p:sp>
        <p:sp>
          <p:nvSpPr>
            <p:cNvPr id="38" name="Text Box 33"/>
            <p:cNvSpPr txBox="1">
              <a:spLocks noChangeArrowheads="1"/>
            </p:cNvSpPr>
            <p:nvPr/>
          </p:nvSpPr>
          <p:spPr bwMode="auto">
            <a:xfrm>
              <a:off x="5098975" y="6418274"/>
              <a:ext cx="519113" cy="314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 dirty="0">
                  <a:ea typeface="SimSun" pitchFamily="2" charset="-122"/>
                </a:rPr>
                <a:t>97</a:t>
              </a:r>
              <a:endParaRPr lang="en-US" altLang="zh-CN" sz="1125" dirty="0">
                <a:ea typeface="SimSun" pitchFamily="2" charset="-122"/>
              </a:endParaRPr>
            </a:p>
          </p:txBody>
        </p:sp>
        <p:sp>
          <p:nvSpPr>
            <p:cNvPr id="39" name="Oval 34"/>
            <p:cNvSpPr>
              <a:spLocks noChangeArrowheads="1"/>
            </p:cNvSpPr>
            <p:nvPr/>
          </p:nvSpPr>
          <p:spPr bwMode="auto">
            <a:xfrm>
              <a:off x="4393377" y="8107056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SimSun" pitchFamily="2" charset="-122"/>
              </a:endParaRPr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flipH="1">
              <a:off x="4564827" y="7592706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4389363" y="8125574"/>
              <a:ext cx="409178" cy="314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125" dirty="0">
                  <a:solidFill>
                    <a:srgbClr val="FF0000"/>
                  </a:solidFill>
                  <a:ea typeface="SimSun" pitchFamily="2" charset="-122"/>
                </a:rPr>
                <a:t>95</a:t>
              </a:r>
              <a:endParaRPr lang="en-US" altLang="zh-CN" sz="1125" dirty="0">
                <a:solidFill>
                  <a:srgbClr val="FF0000"/>
                </a:solidFill>
                <a:ea typeface="SimSun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5" grpId="0" bldLvl="0" animBg="1"/>
      <p:bldP spid="26646" grpId="0" bldLvl="0" animBg="1"/>
      <p:bldP spid="26646" grpId="1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F12AF4-EC55-4DB2-9D40-C85D8C9D8A42}" type="slidenum">
              <a:rPr lang="en-US" altLang="zh-CN" sz="790"/>
            </a:fld>
            <a:endParaRPr lang="en-US" altLang="zh-CN" sz="79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ea typeface="SimSun" pitchFamily="2" charset="-122"/>
                <a:sym typeface="+mn-ea"/>
              </a:rPr>
              <a:t>insert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4045" y="1343660"/>
            <a:ext cx="6957060" cy="1303020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en-US" altLang="zh-CN" dirty="0" smtClean="0">
                <a:ea typeface="SimSun" pitchFamily="2" charset="-122"/>
              </a:rPr>
              <a:t>How to handle </a:t>
            </a:r>
            <a:r>
              <a:rPr lang="en-US" altLang="zh-CN" dirty="0" smtClean="0"/>
              <a:t>duplicates?</a:t>
            </a:r>
            <a:endParaRPr lang="en-US" altLang="zh-CN" dirty="0" smtClean="0">
              <a:ea typeface="SimSun" pitchFamily="2" charset="-122"/>
            </a:endParaRPr>
          </a:p>
          <a:p>
            <a:r>
              <a:rPr lang="en-US" altLang="zh-CN" dirty="0" smtClean="0">
                <a:ea typeface="SimSun" pitchFamily="2" charset="-122"/>
              </a:rPr>
              <a:t>Example</a:t>
            </a:r>
            <a:r>
              <a:rPr lang="en-US" altLang="zh-CN" dirty="0">
                <a:ea typeface="SimSun" pitchFamily="2" charset="-122"/>
              </a:rPr>
              <a:t>: Insert </a:t>
            </a:r>
            <a:r>
              <a:rPr lang="en-US" altLang="zh-CN" dirty="0" smtClean="0">
                <a:ea typeface="SimSun" pitchFamily="2" charset="-122"/>
              </a:rPr>
              <a:t>97</a:t>
            </a:r>
            <a:endParaRPr lang="en-US" altLang="zh-CN" dirty="0">
              <a:ea typeface="SimSun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857625" y="2626995"/>
            <a:ext cx="1594485" cy="2075831"/>
            <a:chOff x="1412776" y="5868144"/>
            <a:chExt cx="1433513" cy="2059797"/>
          </a:xfrm>
        </p:grpSpPr>
        <p:sp>
          <p:nvSpPr>
            <p:cNvPr id="26631" name="Oval 4"/>
            <p:cNvSpPr>
              <a:spLocks noChangeArrowheads="1"/>
            </p:cNvSpPr>
            <p:nvPr/>
          </p:nvSpPr>
          <p:spPr bwMode="auto">
            <a:xfrm>
              <a:off x="1764011" y="588124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6632" name="Oval 5"/>
            <p:cNvSpPr>
              <a:spLocks noChangeArrowheads="1"/>
            </p:cNvSpPr>
            <p:nvPr/>
          </p:nvSpPr>
          <p:spPr bwMode="auto">
            <a:xfrm>
              <a:off x="14211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6633" name="Oval 6"/>
            <p:cNvSpPr>
              <a:spLocks noChangeArrowheads="1"/>
            </p:cNvSpPr>
            <p:nvPr/>
          </p:nvSpPr>
          <p:spPr bwMode="auto">
            <a:xfrm>
              <a:off x="2106911" y="6738491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6634" name="Line 7"/>
            <p:cNvSpPr>
              <a:spLocks noChangeShapeType="1"/>
            </p:cNvSpPr>
            <p:nvPr/>
          </p:nvSpPr>
          <p:spPr bwMode="auto">
            <a:xfrm flipH="1">
              <a:off x="1592561" y="6224141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5" name="Line 8"/>
            <p:cNvSpPr>
              <a:spLocks noChangeShapeType="1"/>
            </p:cNvSpPr>
            <p:nvPr/>
          </p:nvSpPr>
          <p:spPr bwMode="auto">
            <a:xfrm>
              <a:off x="1935461" y="6224141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36" name="Text Box 9"/>
            <p:cNvSpPr txBox="1">
              <a:spLocks noChangeArrowheads="1"/>
            </p:cNvSpPr>
            <p:nvPr/>
          </p:nvSpPr>
          <p:spPr bwMode="auto">
            <a:xfrm>
              <a:off x="1412776" y="6723013"/>
              <a:ext cx="422672" cy="334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SimSun" pitchFamily="2" charset="-122"/>
                </a:rPr>
                <a:t>10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26637" name="Oval 10"/>
            <p:cNvSpPr>
              <a:spLocks noChangeArrowheads="1"/>
            </p:cNvSpPr>
            <p:nvPr/>
          </p:nvSpPr>
          <p:spPr bwMode="auto">
            <a:xfrm>
              <a:off x="17735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6638" name="Oval 11"/>
            <p:cNvSpPr>
              <a:spLocks noChangeArrowheads="1"/>
            </p:cNvSpPr>
            <p:nvPr/>
          </p:nvSpPr>
          <p:spPr bwMode="auto">
            <a:xfrm>
              <a:off x="2459336" y="7585025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26639" name="Line 12"/>
            <p:cNvSpPr>
              <a:spLocks noChangeShapeType="1"/>
            </p:cNvSpPr>
            <p:nvPr/>
          </p:nvSpPr>
          <p:spPr bwMode="auto">
            <a:xfrm flipH="1">
              <a:off x="1944986" y="7070675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0" name="Line 13"/>
            <p:cNvSpPr>
              <a:spLocks noChangeShapeType="1"/>
            </p:cNvSpPr>
            <p:nvPr/>
          </p:nvSpPr>
          <p:spPr bwMode="auto">
            <a:xfrm>
              <a:off x="2287886" y="7070675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26641" name="Text Box 14"/>
            <p:cNvSpPr txBox="1">
              <a:spLocks noChangeArrowheads="1"/>
            </p:cNvSpPr>
            <p:nvPr/>
          </p:nvSpPr>
          <p:spPr bwMode="auto">
            <a:xfrm>
              <a:off x="1756867" y="7575501"/>
              <a:ext cx="592931" cy="334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SimSun" pitchFamily="2" charset="-122"/>
                </a:rPr>
                <a:t>96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26642" name="Text Box 15"/>
            <p:cNvSpPr txBox="1">
              <a:spLocks noChangeArrowheads="1"/>
            </p:cNvSpPr>
            <p:nvPr/>
          </p:nvSpPr>
          <p:spPr bwMode="auto">
            <a:xfrm>
              <a:off x="2442667" y="7593360"/>
              <a:ext cx="403622" cy="334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SimSun" pitchFamily="2" charset="-122"/>
                </a:rPr>
                <a:t>99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26643" name="Text Box 16"/>
            <p:cNvSpPr txBox="1">
              <a:spLocks noChangeArrowheads="1"/>
            </p:cNvSpPr>
            <p:nvPr/>
          </p:nvSpPr>
          <p:spPr bwMode="auto">
            <a:xfrm>
              <a:off x="1752104" y="5868144"/>
              <a:ext cx="519113" cy="334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SimSun" pitchFamily="2" charset="-122"/>
                </a:rPr>
                <a:t>94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26644" name="Text Box 17"/>
            <p:cNvSpPr txBox="1">
              <a:spLocks noChangeArrowheads="1"/>
            </p:cNvSpPr>
            <p:nvPr/>
          </p:nvSpPr>
          <p:spPr bwMode="auto">
            <a:xfrm>
              <a:off x="2096195" y="6719442"/>
              <a:ext cx="519113" cy="334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97</a:t>
              </a:r>
              <a:endParaRPr lang="en-US" altLang="zh-CN" sz="1600" dirty="0">
                <a:ea typeface="SimSun" pitchFamily="2" charset="-122"/>
              </a:endParaRPr>
            </a:p>
          </p:txBody>
        </p:sp>
      </p:grpSp>
      <p:sp>
        <p:nvSpPr>
          <p:cNvPr id="26645" name="Line 18"/>
          <p:cNvSpPr>
            <a:spLocks noChangeShapeType="1"/>
          </p:cNvSpPr>
          <p:nvPr/>
        </p:nvSpPr>
        <p:spPr bwMode="auto">
          <a:xfrm>
            <a:off x="5609946" y="3570704"/>
            <a:ext cx="26610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26646" name="Text Box 19"/>
          <p:cNvSpPr txBox="1">
            <a:spLocks noChangeArrowheads="1"/>
          </p:cNvSpPr>
          <p:nvPr/>
        </p:nvSpPr>
        <p:spPr bwMode="auto">
          <a:xfrm>
            <a:off x="5926949" y="3404611"/>
            <a:ext cx="2971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 dirty="0">
                <a:latin typeface="Times New Roman" panose="02020603050405020304" pitchFamily="18" charset="0"/>
                <a:ea typeface="SimSun" pitchFamily="2" charset="-122"/>
              </a:rPr>
              <a:t>?</a:t>
            </a:r>
            <a:endParaRPr lang="en-US" altLang="zh-CN" sz="1800" b="1" dirty="0">
              <a:latin typeface="Times New Roman" panose="02020603050405020304" pitchFamily="18" charset="0"/>
              <a:ea typeface="SimSun" pitchFamily="2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699250" y="2341880"/>
            <a:ext cx="1592580" cy="2708729"/>
            <a:chOff x="4377502" y="5549593"/>
            <a:chExt cx="1458912" cy="2943623"/>
          </a:xfrm>
        </p:grpSpPr>
        <p:sp>
          <p:nvSpPr>
            <p:cNvPr id="43" name="Oval 20"/>
            <p:cNvSpPr>
              <a:spLocks noChangeArrowheads="1"/>
            </p:cNvSpPr>
            <p:nvPr/>
          </p:nvSpPr>
          <p:spPr bwMode="auto">
            <a:xfrm>
              <a:off x="4754136" y="554959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44" name="Oval 21"/>
            <p:cNvSpPr>
              <a:spLocks noChangeArrowheads="1"/>
            </p:cNvSpPr>
            <p:nvPr/>
          </p:nvSpPr>
          <p:spPr bwMode="auto">
            <a:xfrm>
              <a:off x="44112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5097036" y="640684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46" name="Line 23"/>
            <p:cNvSpPr>
              <a:spLocks noChangeShapeType="1"/>
            </p:cNvSpPr>
            <p:nvPr/>
          </p:nvSpPr>
          <p:spPr bwMode="auto">
            <a:xfrm flipH="1">
              <a:off x="4582686" y="5892493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7" name="Line 24"/>
            <p:cNvSpPr>
              <a:spLocks noChangeShapeType="1"/>
            </p:cNvSpPr>
            <p:nvPr/>
          </p:nvSpPr>
          <p:spPr bwMode="auto">
            <a:xfrm>
              <a:off x="4925586" y="5892493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4377502" y="6421845"/>
              <a:ext cx="408384" cy="366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10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49" name="Oval 26"/>
            <p:cNvSpPr>
              <a:spLocks noChangeArrowheads="1"/>
            </p:cNvSpPr>
            <p:nvPr/>
          </p:nvSpPr>
          <p:spPr bwMode="auto">
            <a:xfrm>
              <a:off x="47636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50" name="Oval 27"/>
            <p:cNvSpPr>
              <a:spLocks noChangeArrowheads="1"/>
            </p:cNvSpPr>
            <p:nvPr/>
          </p:nvSpPr>
          <p:spPr bwMode="auto">
            <a:xfrm>
              <a:off x="5449461" y="7253377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51" name="Line 28"/>
            <p:cNvSpPr>
              <a:spLocks noChangeShapeType="1"/>
            </p:cNvSpPr>
            <p:nvPr/>
          </p:nvSpPr>
          <p:spPr bwMode="auto">
            <a:xfrm flipH="1">
              <a:off x="4935111" y="6739027"/>
              <a:ext cx="34290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2" name="Line 29"/>
            <p:cNvSpPr>
              <a:spLocks noChangeShapeType="1"/>
            </p:cNvSpPr>
            <p:nvPr/>
          </p:nvSpPr>
          <p:spPr bwMode="auto">
            <a:xfrm>
              <a:off x="5278011" y="6739027"/>
              <a:ext cx="285750" cy="514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3" name="Text Box 30"/>
            <p:cNvSpPr txBox="1">
              <a:spLocks noChangeArrowheads="1"/>
            </p:cNvSpPr>
            <p:nvPr/>
          </p:nvSpPr>
          <p:spPr bwMode="auto">
            <a:xfrm>
              <a:off x="4741913" y="7264173"/>
              <a:ext cx="416718" cy="366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96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54" name="Text Box 31"/>
            <p:cNvSpPr txBox="1">
              <a:spLocks noChangeArrowheads="1"/>
            </p:cNvSpPr>
            <p:nvPr/>
          </p:nvSpPr>
          <p:spPr bwMode="auto">
            <a:xfrm>
              <a:off x="5432792" y="7261712"/>
              <a:ext cx="403622" cy="366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SimSun" pitchFamily="2" charset="-122"/>
                </a:rPr>
                <a:t>99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55" name="Text Box 32"/>
            <p:cNvSpPr txBox="1">
              <a:spLocks noChangeArrowheads="1"/>
            </p:cNvSpPr>
            <p:nvPr/>
          </p:nvSpPr>
          <p:spPr bwMode="auto">
            <a:xfrm>
              <a:off x="4737150" y="5556816"/>
              <a:ext cx="519113" cy="366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94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56" name="Text Box 33"/>
            <p:cNvSpPr txBox="1">
              <a:spLocks noChangeArrowheads="1"/>
            </p:cNvSpPr>
            <p:nvPr/>
          </p:nvSpPr>
          <p:spPr bwMode="auto">
            <a:xfrm>
              <a:off x="5086320" y="6418274"/>
              <a:ext cx="519113" cy="366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ea typeface="SimSun" pitchFamily="2" charset="-122"/>
                </a:rPr>
                <a:t>97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57" name="Oval 34"/>
            <p:cNvSpPr>
              <a:spLocks noChangeArrowheads="1"/>
            </p:cNvSpPr>
            <p:nvPr/>
          </p:nvSpPr>
          <p:spPr bwMode="auto">
            <a:xfrm>
              <a:off x="5106561" y="8116923"/>
              <a:ext cx="342900" cy="342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  <p:sp>
          <p:nvSpPr>
            <p:cNvPr id="58" name="Line 35"/>
            <p:cNvSpPr>
              <a:spLocks noChangeShapeType="1"/>
            </p:cNvSpPr>
            <p:nvPr/>
          </p:nvSpPr>
          <p:spPr bwMode="auto">
            <a:xfrm flipH="1">
              <a:off x="5256263" y="7574130"/>
              <a:ext cx="307498" cy="541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59" name="Text Box 36"/>
            <p:cNvSpPr txBox="1">
              <a:spLocks noChangeArrowheads="1"/>
            </p:cNvSpPr>
            <p:nvPr/>
          </p:nvSpPr>
          <p:spPr bwMode="auto">
            <a:xfrm>
              <a:off x="5089401" y="8126791"/>
              <a:ext cx="409178" cy="366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 smtClean="0">
                  <a:solidFill>
                    <a:srgbClr val="FF0000"/>
                  </a:solidFill>
                  <a:ea typeface="SimSun" pitchFamily="2" charset="-122"/>
                </a:rPr>
                <a:t>97</a:t>
              </a:r>
              <a:endParaRPr lang="en-US" altLang="zh-CN" sz="1600" dirty="0" smtClean="0">
                <a:solidFill>
                  <a:srgbClr val="FF0000"/>
                </a:solidFill>
                <a:ea typeface="SimSun" pitchFamily="2" charset="-122"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2643505" y="5429250"/>
            <a:ext cx="5600065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new node and insert it into the tree. or,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eeping an extra field in the node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 indicating the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occurrence, etc.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5" grpId="0" bldLvl="0" animBg="1"/>
      <p:bldP spid="26646" grpId="0" bldLvl="0" animBg="1"/>
      <p:bldP spid="26646" grpId="1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E8EB82-61C7-4DBA-8929-85766DDA432F}" type="slidenum">
              <a:rPr lang="en-US" altLang="zh-CN" sz="790"/>
            </a:fld>
            <a:endParaRPr lang="en-US" altLang="zh-CN" sz="790"/>
          </a:p>
        </p:txBody>
      </p:sp>
      <p:sp>
        <p:nvSpPr>
          <p:cNvPr id="28678" name="Text Box 1029"/>
          <p:cNvSpPr txBox="1">
            <a:spLocks noChangeArrowheads="1"/>
          </p:cNvSpPr>
          <p:nvPr/>
        </p:nvSpPr>
        <p:spPr bwMode="auto">
          <a:xfrm>
            <a:off x="3649265" y="1211347"/>
            <a:ext cx="4459493" cy="479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/**</a:t>
            </a:r>
            <a:endParaRPr lang="en-US" altLang="zh-CN" sz="1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 </a:t>
            </a:r>
            <a:r>
              <a:rPr lang="en-US" altLang="zh-CN" sz="1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method to insert into a subtree.</a:t>
            </a:r>
            <a:endParaRPr lang="en-US" altLang="zh-CN" sz="1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x is the item to insert.</a:t>
            </a:r>
            <a:endParaRPr lang="en-US" altLang="zh-CN" sz="1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 </a:t>
            </a:r>
            <a:r>
              <a:rPr lang="en-US" altLang="zh-CN" sz="1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is the node that roots the subtree.</a:t>
            </a:r>
            <a:endParaRPr lang="en-US" altLang="zh-CN" sz="1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 </a:t>
            </a:r>
            <a:r>
              <a:rPr lang="en-US" altLang="zh-CN" sz="1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the new root of the subtree.</a:t>
            </a:r>
            <a:endParaRPr lang="en-US" altLang="zh-CN" sz="1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*/</a:t>
            </a:r>
            <a:endParaRPr lang="en-US" altLang="zh-CN" sz="1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insert(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Comparable &amp; x,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&amp; t 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if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t ==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t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new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BinaryNode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x,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else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 x &lt; t-&gt;element )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insert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x, t-&gt;left );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else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 t-&gt;element &lt; x )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insert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x, t-&gt;right );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else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;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Duplicate; do nothing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dirty="0" smtClean="0">
                <a:ea typeface="SimSun" pitchFamily="2" charset="-122"/>
                <a:sym typeface="+mn-ea"/>
              </a:rPr>
              <a:t>insert</a:t>
            </a:r>
            <a:endParaRPr lang="en-US" altLang="zh-CN" dirty="0" smtClean="0"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68450"/>
            <a:ext cx="10972800" cy="156337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The shape of a BST depends on the order in which elements are inserted.</a:t>
            </a:r>
            <a:endParaRPr lang="en-US" altLang="zh-CN" sz="2400" dirty="0"/>
          </a:p>
          <a:p>
            <a:pPr lvl="1"/>
            <a:r>
              <a:rPr lang="en-US" altLang="zh-CN" sz="2000" dirty="0"/>
              <a:t>Left BST: 37, 24, 42, 7, 2, 40, 42, 32, 120</a:t>
            </a:r>
            <a:endParaRPr lang="en-US" altLang="zh-CN" sz="2000" dirty="0"/>
          </a:p>
          <a:p>
            <a:pPr lvl="1"/>
            <a:r>
              <a:rPr lang="en-US" altLang="zh-CN" sz="2000" dirty="0"/>
              <a:t>Right BST: 120, 42, 42, 7, 2, 32, 37, 24, </a:t>
            </a:r>
            <a:r>
              <a:rPr lang="en-US" altLang="zh-CN" sz="2000" dirty="0" smtClean="0"/>
              <a:t>40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  <p:sp>
        <p:nvSpPr>
          <p:cNvPr id="6758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6C793E7C-C946-462A-8782-E7150FA0EBC6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4" name="矩形 3"/>
          <p:cNvSpPr/>
          <p:nvPr/>
        </p:nvSpPr>
        <p:spPr>
          <a:xfrm>
            <a:off x="3112135" y="6245225"/>
            <a:ext cx="48374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What if nodes are inserted in a sorted order?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ea typeface="SimSun" pitchFamily="2" charset="-122"/>
                <a:sym typeface="+mn-ea"/>
              </a:rPr>
              <a:t>insert</a:t>
            </a:r>
            <a:endParaRPr lang="en-US" altLang="zh-CN" dirty="0" smtClean="0">
              <a:ea typeface="SimSun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0" y="3131820"/>
            <a:ext cx="3949065" cy="2738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905" y="2640330"/>
            <a:ext cx="3032125" cy="335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671D8C-24DA-4DF7-A438-57282308BF46}" type="slidenum">
              <a:rPr lang="en-US" altLang="zh-CN" sz="790"/>
            </a:fld>
            <a:endParaRPr lang="en-US" altLang="zh-CN" sz="79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+mn-ea"/>
              </a:rPr>
              <a:t>remove(delete)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2720" y="1497965"/>
            <a:ext cx="5417820" cy="4526280"/>
          </a:xfrm>
        </p:spPr>
        <p:txBody>
          <a:bodyPr/>
          <a:lstStyle/>
          <a:p>
            <a:r>
              <a:rPr lang="en-US" altLang="zh-CN" sz="2400">
                <a:ea typeface="SimSun" pitchFamily="2" charset="-122"/>
              </a:rPr>
              <a:t>Delete is a bit trickier…Why?</a:t>
            </a:r>
            <a:endParaRPr lang="en-US" altLang="zh-CN" sz="2400">
              <a:ea typeface="SimSun" pitchFamily="2" charset="-122"/>
            </a:endParaRPr>
          </a:p>
          <a:p>
            <a:r>
              <a:rPr lang="en-US" altLang="zh-CN" sz="2400">
                <a:ea typeface="SimSun" pitchFamily="2" charset="-122"/>
              </a:rPr>
              <a:t>Suppose you want to delete 10</a:t>
            </a:r>
            <a:endParaRPr lang="en-US" altLang="zh-CN" sz="2400">
              <a:ea typeface="SimSun" pitchFamily="2" charset="-122"/>
            </a:endParaRPr>
          </a:p>
          <a:p>
            <a:r>
              <a:rPr lang="en-US" altLang="zh-CN" sz="2400">
                <a:ea typeface="SimSun" pitchFamily="2" charset="-122"/>
              </a:rPr>
              <a:t>Strategy:</a:t>
            </a:r>
            <a:endParaRPr lang="en-US" altLang="zh-CN" sz="2400">
              <a:ea typeface="SimSun" pitchFamily="2" charset="-122"/>
            </a:endParaRPr>
          </a:p>
          <a:p>
            <a:pPr lvl="1"/>
            <a:r>
              <a:rPr lang="en-US" altLang="zh-CN" sz="2000">
                <a:ea typeface="SimSun" pitchFamily="2" charset="-122"/>
              </a:rPr>
              <a:t>Find 10</a:t>
            </a:r>
            <a:endParaRPr lang="en-US" altLang="zh-CN" sz="2000">
              <a:ea typeface="SimSun" pitchFamily="2" charset="-122"/>
            </a:endParaRPr>
          </a:p>
          <a:p>
            <a:pPr lvl="1"/>
            <a:r>
              <a:rPr lang="en-US" altLang="zh-CN" sz="2000">
                <a:ea typeface="SimSun" pitchFamily="2" charset="-122"/>
              </a:rPr>
              <a:t>Delete the node containing 10</a:t>
            </a:r>
            <a:endParaRPr lang="en-US" altLang="zh-CN" sz="2000">
              <a:ea typeface="SimSun" pitchFamily="2" charset="-122"/>
            </a:endParaRPr>
          </a:p>
          <a:p>
            <a:r>
              <a:rPr lang="en-US" altLang="zh-CN" sz="2400">
                <a:ea typeface="SimSun" pitchFamily="2" charset="-122"/>
              </a:rPr>
              <a:t>Problem: When you delete a node,</a:t>
            </a:r>
            <a:endParaRPr lang="en-US" altLang="zh-CN" sz="2400">
              <a:ea typeface="SimSun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ea typeface="SimSun" pitchFamily="2" charset="-122"/>
              </a:rPr>
              <a:t>	what do you replace it by?</a:t>
            </a:r>
            <a:endParaRPr lang="en-US" altLang="zh-CN" sz="2400">
              <a:ea typeface="SimSun" pitchFamily="2" charset="-122"/>
            </a:endParaRPr>
          </a:p>
          <a:p>
            <a:endParaRPr lang="en-US" altLang="zh-CN" sz="2400">
              <a:ea typeface="SimSun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0540" y="1417955"/>
            <a:ext cx="2708910" cy="41998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540C90-BE95-4426-B647-43579041CE8E}" type="slidenum">
              <a:rPr lang="en-US" altLang="zh-CN" sz="790"/>
            </a:fld>
            <a:endParaRPr lang="en-US" altLang="zh-CN" sz="79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+mn-ea"/>
              </a:rPr>
              <a:t>remove(delete)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6235" y="1505585"/>
            <a:ext cx="6587490" cy="3919855"/>
          </a:xfrm>
        </p:spPr>
        <p:txBody>
          <a:bodyPr>
            <a:noAutofit/>
          </a:bodyPr>
          <a:lstStyle/>
          <a:p>
            <a:pPr marL="342900" indent="-342900"/>
            <a:r>
              <a:rPr lang="en-US" altLang="zh-CN" sz="2800" dirty="0">
                <a:ea typeface="SimSun" pitchFamily="2" charset="-122"/>
              </a:rPr>
              <a:t>Problem: When you delete a node,</a:t>
            </a:r>
            <a:endParaRPr lang="en-US" altLang="zh-CN" sz="2800" dirty="0">
              <a:ea typeface="SimSun" pitchFamily="2" charset="-122"/>
            </a:endParaRP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2800" dirty="0">
                <a:ea typeface="SimSun" pitchFamily="2" charset="-122"/>
              </a:rPr>
              <a:t>	what do you replace it by?</a:t>
            </a:r>
            <a:endParaRPr lang="en-US" altLang="zh-CN" sz="2800" dirty="0">
              <a:ea typeface="SimSun" pitchFamily="2" charset="-122"/>
            </a:endParaRPr>
          </a:p>
          <a:p>
            <a:pPr marL="342900" indent="-342900"/>
            <a:r>
              <a:rPr lang="en-US" altLang="zh-CN" sz="2800" dirty="0">
                <a:ea typeface="SimSun" pitchFamily="2" charset="-122"/>
              </a:rPr>
              <a:t> Solution:</a:t>
            </a:r>
            <a:endParaRPr lang="en-US" altLang="zh-CN" sz="2800" dirty="0">
              <a:ea typeface="SimSun" pitchFamily="2" charset="-122"/>
            </a:endParaRPr>
          </a:p>
          <a:p>
            <a:pPr marL="628650" lvl="1" indent="-285750"/>
            <a:r>
              <a:rPr lang="en-US" altLang="zh-CN" sz="2400" dirty="0">
                <a:ea typeface="SimSun" pitchFamily="2" charset="-122"/>
              </a:rPr>
              <a:t>If it has no children, by NULL</a:t>
            </a:r>
            <a:endParaRPr lang="en-US" altLang="zh-CN" sz="2400" dirty="0">
              <a:ea typeface="SimSun" pitchFamily="2" charset="-122"/>
            </a:endParaRPr>
          </a:p>
          <a:p>
            <a:pPr marL="628650" lvl="1" indent="-285750"/>
            <a:r>
              <a:rPr lang="en-US" altLang="zh-CN" sz="2400" dirty="0">
                <a:ea typeface="SimSun" pitchFamily="2" charset="-122"/>
              </a:rPr>
              <a:t>If it has 1 child, by that child</a:t>
            </a:r>
            <a:endParaRPr lang="en-US" altLang="zh-CN" sz="2400" dirty="0">
              <a:ea typeface="SimSun" pitchFamily="2" charset="-122"/>
            </a:endParaRPr>
          </a:p>
          <a:p>
            <a:pPr marL="628650" lvl="1" indent="-285750"/>
            <a:r>
              <a:rPr lang="en-US" altLang="zh-CN" sz="2400" dirty="0">
                <a:solidFill>
                  <a:srgbClr val="008000"/>
                </a:solidFill>
                <a:ea typeface="SimSun" pitchFamily="2" charset="-122"/>
              </a:rPr>
              <a:t>If it has 2 children, by the node with</a:t>
            </a:r>
            <a:br>
              <a:rPr lang="en-US" altLang="zh-CN" sz="2400" dirty="0">
                <a:solidFill>
                  <a:srgbClr val="008000"/>
                </a:solidFill>
                <a:ea typeface="SimSun" pitchFamily="2" charset="-122"/>
              </a:rPr>
            </a:br>
            <a:r>
              <a:rPr lang="en-US" altLang="zh-CN" sz="2400" dirty="0">
                <a:solidFill>
                  <a:srgbClr val="008000"/>
                </a:solidFill>
                <a:ea typeface="SimSun" pitchFamily="2" charset="-122"/>
              </a:rPr>
              <a:t>the smallest value in its right subtree</a:t>
            </a:r>
            <a:br>
              <a:rPr lang="en-US" altLang="zh-CN" sz="2400" dirty="0">
                <a:solidFill>
                  <a:srgbClr val="008000"/>
                </a:solidFill>
                <a:ea typeface="SimSun" pitchFamily="2" charset="-122"/>
              </a:rPr>
            </a:br>
            <a:r>
              <a:rPr lang="en-US" altLang="zh-CN" sz="2400" dirty="0">
                <a:solidFill>
                  <a:srgbClr val="008000"/>
                </a:solidFill>
                <a:ea typeface="SimSun" pitchFamily="2" charset="-122"/>
              </a:rPr>
              <a:t>(the successor of the node)</a:t>
            </a:r>
            <a:endParaRPr lang="en-US" altLang="zh-CN" sz="2400" dirty="0">
              <a:solidFill>
                <a:srgbClr val="008000"/>
              </a:solidFill>
              <a:ea typeface="SimSun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725" y="1124585"/>
            <a:ext cx="3034030" cy="47034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2A2220-FDCE-4523-A3CC-68978F46C142}" type="slidenum">
              <a:rPr lang="en-US" altLang="zh-CN" sz="790"/>
            </a:fld>
            <a:endParaRPr lang="en-US" altLang="zh-CN" sz="79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+mn-ea"/>
              </a:rPr>
              <a:t>remove(delete)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32775" name="Text Box 44"/>
          <p:cNvSpPr txBox="1">
            <a:spLocks noChangeArrowheads="1"/>
          </p:cNvSpPr>
          <p:nvPr/>
        </p:nvSpPr>
        <p:spPr bwMode="auto">
          <a:xfrm>
            <a:off x="1605915" y="3447158"/>
            <a:ext cx="15220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Find</a:t>
            </a:r>
            <a:r>
              <a:rPr lang="en-US" altLang="zh-CN" dirty="0">
                <a:solidFill>
                  <a:schemeClr val="accent2"/>
                </a:solidFill>
                <a:ea typeface="SimSun" pitchFamily="2" charset="-122"/>
              </a:rPr>
              <a:t> </a:t>
            </a:r>
            <a:r>
              <a:rPr lang="en-US" altLang="zh-CN" dirty="0">
                <a:ea typeface="SimSun" pitchFamily="2" charset="-122"/>
              </a:rPr>
              <a:t>5 node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32776" name="Text Box 45"/>
          <p:cNvSpPr txBox="1">
            <a:spLocks noChangeArrowheads="1"/>
          </p:cNvSpPr>
          <p:nvPr/>
        </p:nvSpPr>
        <p:spPr bwMode="auto">
          <a:xfrm>
            <a:off x="7942580" y="3779520"/>
            <a:ext cx="339725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SimSun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 Free </a:t>
            </a:r>
            <a:r>
              <a:rPr lang="en-US" altLang="zh-CN" dirty="0">
                <a:ea typeface="SimSun" pitchFamily="2" charset="-122"/>
              </a:rPr>
              <a:t>the 5 node and NULL the pointer to it</a:t>
            </a:r>
            <a:endParaRPr lang="en-US" altLang="zh-CN" dirty="0">
              <a:ea typeface="SimSun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133090" y="2599690"/>
            <a:ext cx="1707515" cy="3220720"/>
            <a:chOff x="1590675" y="3486150"/>
            <a:chExt cx="1445419" cy="3153966"/>
          </a:xfrm>
        </p:grpSpPr>
        <p:sp>
          <p:nvSpPr>
            <p:cNvPr id="32777" name="Oval 46"/>
            <p:cNvSpPr>
              <a:spLocks noChangeArrowheads="1"/>
            </p:cNvSpPr>
            <p:nvPr/>
          </p:nvSpPr>
          <p:spPr bwMode="auto">
            <a:xfrm>
              <a:off x="2282429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78" name="Oval 47"/>
            <p:cNvSpPr>
              <a:spLocks noChangeArrowheads="1"/>
            </p:cNvSpPr>
            <p:nvPr/>
          </p:nvSpPr>
          <p:spPr bwMode="auto">
            <a:xfrm>
              <a:off x="19395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10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79" name="Oval 48"/>
            <p:cNvSpPr>
              <a:spLocks noChangeArrowheads="1"/>
            </p:cNvSpPr>
            <p:nvPr/>
          </p:nvSpPr>
          <p:spPr bwMode="auto">
            <a:xfrm>
              <a:off x="26253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97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80" name="Oval 49"/>
            <p:cNvSpPr>
              <a:spLocks noChangeArrowheads="1"/>
            </p:cNvSpPr>
            <p:nvPr/>
          </p:nvSpPr>
          <p:spPr bwMode="auto">
            <a:xfrm>
              <a:off x="15906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5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81" name="Oval 50"/>
            <p:cNvSpPr>
              <a:spLocks noChangeArrowheads="1"/>
            </p:cNvSpPr>
            <p:nvPr/>
          </p:nvSpPr>
          <p:spPr bwMode="auto">
            <a:xfrm>
              <a:off x="22764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24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82" name="Oval 51"/>
            <p:cNvSpPr>
              <a:spLocks noChangeArrowheads="1"/>
            </p:cNvSpPr>
            <p:nvPr/>
          </p:nvSpPr>
          <p:spPr bwMode="auto">
            <a:xfrm>
              <a:off x="1912144" y="560070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11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83" name="Oval 52"/>
            <p:cNvSpPr>
              <a:spLocks noChangeArrowheads="1"/>
            </p:cNvSpPr>
            <p:nvPr/>
          </p:nvSpPr>
          <p:spPr bwMode="auto">
            <a:xfrm>
              <a:off x="2397919" y="62293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17</a:t>
              </a:r>
              <a:endParaRPr lang="en-US" altLang="zh-CN" sz="1600">
                <a:ea typeface="SimSun" pitchFamily="2" charset="-122"/>
              </a:endParaRPr>
            </a:p>
          </p:txBody>
        </p:sp>
        <p:cxnSp>
          <p:nvCxnSpPr>
            <p:cNvPr id="32784" name="AutoShape 53"/>
            <p:cNvCxnSpPr>
              <a:cxnSpLocks noChangeShapeType="1"/>
              <a:stCxn id="32777" idx="3"/>
              <a:endCxn id="32778" idx="0"/>
            </p:cNvCxnSpPr>
            <p:nvPr/>
          </p:nvCxnSpPr>
          <p:spPr bwMode="auto">
            <a:xfrm flipH="1">
              <a:off x="2145507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5" name="AutoShape 54"/>
            <p:cNvCxnSpPr>
              <a:cxnSpLocks noChangeShapeType="1"/>
              <a:stCxn id="32777" idx="5"/>
              <a:endCxn id="32779" idx="0"/>
            </p:cNvCxnSpPr>
            <p:nvPr/>
          </p:nvCxnSpPr>
          <p:spPr bwMode="auto">
            <a:xfrm>
              <a:off x="2632472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6" name="AutoShape 55"/>
            <p:cNvCxnSpPr>
              <a:cxnSpLocks noChangeShapeType="1"/>
              <a:stCxn id="32778" idx="5"/>
              <a:endCxn id="32781" idx="0"/>
            </p:cNvCxnSpPr>
            <p:nvPr/>
          </p:nvCxnSpPr>
          <p:spPr bwMode="auto">
            <a:xfrm>
              <a:off x="2289573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7" name="AutoShape 56"/>
            <p:cNvCxnSpPr>
              <a:cxnSpLocks noChangeShapeType="1"/>
              <a:stCxn id="32778" idx="3"/>
              <a:endCxn id="32780" idx="0"/>
            </p:cNvCxnSpPr>
            <p:nvPr/>
          </p:nvCxnSpPr>
          <p:spPr bwMode="auto">
            <a:xfrm flipH="1">
              <a:off x="1796653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8" name="AutoShape 57"/>
            <p:cNvCxnSpPr>
              <a:cxnSpLocks noChangeShapeType="1"/>
              <a:stCxn id="32781" idx="3"/>
              <a:endCxn id="32782" idx="0"/>
            </p:cNvCxnSpPr>
            <p:nvPr/>
          </p:nvCxnSpPr>
          <p:spPr bwMode="auto">
            <a:xfrm flipH="1">
              <a:off x="2118122" y="5207794"/>
              <a:ext cx="219075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9" name="AutoShape 58"/>
            <p:cNvCxnSpPr>
              <a:cxnSpLocks noChangeShapeType="1"/>
              <a:stCxn id="32782" idx="5"/>
              <a:endCxn id="32783" idx="0"/>
            </p:cNvCxnSpPr>
            <p:nvPr/>
          </p:nvCxnSpPr>
          <p:spPr bwMode="auto">
            <a:xfrm>
              <a:off x="2262188" y="5950744"/>
              <a:ext cx="341710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790" name="Oval 72"/>
          <p:cNvSpPr>
            <a:spLocks noChangeArrowheads="1"/>
          </p:cNvSpPr>
          <p:nvPr/>
        </p:nvSpPr>
        <p:spPr bwMode="auto">
          <a:xfrm>
            <a:off x="3074988" y="3982403"/>
            <a:ext cx="600075" cy="4714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73320" y="2445385"/>
            <a:ext cx="2609215" cy="3375025"/>
            <a:chOff x="3167063" y="3486150"/>
            <a:chExt cx="2014537" cy="3153966"/>
          </a:xfrm>
        </p:grpSpPr>
        <p:sp>
          <p:nvSpPr>
            <p:cNvPr id="32774" name="Line 23"/>
            <p:cNvSpPr>
              <a:spLocks noChangeShapeType="1"/>
            </p:cNvSpPr>
            <p:nvPr/>
          </p:nvSpPr>
          <p:spPr bwMode="auto">
            <a:xfrm>
              <a:off x="3167063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2791" name="Oval 77"/>
            <p:cNvSpPr>
              <a:spLocks noChangeArrowheads="1"/>
            </p:cNvSpPr>
            <p:nvPr/>
          </p:nvSpPr>
          <p:spPr bwMode="auto">
            <a:xfrm>
              <a:off x="4427935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92" name="Oval 78"/>
            <p:cNvSpPr>
              <a:spLocks noChangeArrowheads="1"/>
            </p:cNvSpPr>
            <p:nvPr/>
          </p:nvSpPr>
          <p:spPr bwMode="auto">
            <a:xfrm>
              <a:off x="40850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10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93" name="Oval 79"/>
            <p:cNvSpPr>
              <a:spLocks noChangeArrowheads="1"/>
            </p:cNvSpPr>
            <p:nvPr/>
          </p:nvSpPr>
          <p:spPr bwMode="auto">
            <a:xfrm>
              <a:off x="47708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97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94" name="Oval 80"/>
            <p:cNvSpPr>
              <a:spLocks noChangeArrowheads="1"/>
            </p:cNvSpPr>
            <p:nvPr/>
          </p:nvSpPr>
          <p:spPr bwMode="auto">
            <a:xfrm>
              <a:off x="37361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5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95" name="Oval 81"/>
            <p:cNvSpPr>
              <a:spLocks noChangeArrowheads="1"/>
            </p:cNvSpPr>
            <p:nvPr/>
          </p:nvSpPr>
          <p:spPr bwMode="auto">
            <a:xfrm>
              <a:off x="44219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24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96" name="Oval 82"/>
            <p:cNvSpPr>
              <a:spLocks noChangeArrowheads="1"/>
            </p:cNvSpPr>
            <p:nvPr/>
          </p:nvSpPr>
          <p:spPr bwMode="auto">
            <a:xfrm>
              <a:off x="4075510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11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2797" name="Oval 83"/>
            <p:cNvSpPr>
              <a:spLocks noChangeArrowheads="1"/>
            </p:cNvSpPr>
            <p:nvPr/>
          </p:nvSpPr>
          <p:spPr bwMode="auto">
            <a:xfrm>
              <a:off x="4561285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17</a:t>
              </a:r>
              <a:endParaRPr lang="en-US" altLang="zh-CN" sz="1600">
                <a:ea typeface="SimSun" pitchFamily="2" charset="-122"/>
              </a:endParaRPr>
            </a:p>
          </p:txBody>
        </p:sp>
        <p:cxnSp>
          <p:nvCxnSpPr>
            <p:cNvPr id="32798" name="AutoShape 84"/>
            <p:cNvCxnSpPr>
              <a:cxnSpLocks noChangeShapeType="1"/>
              <a:stCxn id="32791" idx="3"/>
              <a:endCxn id="32792" idx="0"/>
            </p:cNvCxnSpPr>
            <p:nvPr/>
          </p:nvCxnSpPr>
          <p:spPr bwMode="auto">
            <a:xfrm flipH="1">
              <a:off x="4291013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99" name="AutoShape 85"/>
            <p:cNvCxnSpPr>
              <a:cxnSpLocks noChangeShapeType="1"/>
              <a:stCxn id="32791" idx="5"/>
              <a:endCxn id="32793" idx="0"/>
            </p:cNvCxnSpPr>
            <p:nvPr/>
          </p:nvCxnSpPr>
          <p:spPr bwMode="auto">
            <a:xfrm>
              <a:off x="4777979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0" name="AutoShape 86"/>
            <p:cNvCxnSpPr>
              <a:cxnSpLocks noChangeShapeType="1"/>
              <a:stCxn id="32792" idx="5"/>
              <a:endCxn id="32795" idx="0"/>
            </p:cNvCxnSpPr>
            <p:nvPr/>
          </p:nvCxnSpPr>
          <p:spPr bwMode="auto">
            <a:xfrm>
              <a:off x="4435079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1" name="AutoShape 87"/>
            <p:cNvCxnSpPr>
              <a:cxnSpLocks noChangeShapeType="1"/>
              <a:stCxn id="32806" idx="7"/>
              <a:endCxn id="32794" idx="0"/>
            </p:cNvCxnSpPr>
            <p:nvPr/>
          </p:nvCxnSpPr>
          <p:spPr bwMode="auto">
            <a:xfrm flipH="1">
              <a:off x="3942160" y="4466035"/>
              <a:ext cx="221456" cy="3917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2" name="AutoShape 88"/>
            <p:cNvCxnSpPr>
              <a:cxnSpLocks noChangeShapeType="1"/>
              <a:stCxn id="32795" idx="3"/>
              <a:endCxn id="32796" idx="0"/>
            </p:cNvCxnSpPr>
            <p:nvPr/>
          </p:nvCxnSpPr>
          <p:spPr bwMode="auto">
            <a:xfrm flipH="1">
              <a:off x="4281488" y="5207794"/>
              <a:ext cx="201216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3" name="AutoShape 89"/>
            <p:cNvCxnSpPr>
              <a:cxnSpLocks noChangeShapeType="1"/>
              <a:stCxn id="32796" idx="5"/>
              <a:endCxn id="32797" idx="0"/>
            </p:cNvCxnSpPr>
            <p:nvPr/>
          </p:nvCxnSpPr>
          <p:spPr bwMode="auto">
            <a:xfrm>
              <a:off x="4425554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804" name="Line 97"/>
            <p:cNvSpPr>
              <a:spLocks noChangeShapeType="1"/>
            </p:cNvSpPr>
            <p:nvPr/>
          </p:nvSpPr>
          <p:spPr bwMode="auto">
            <a:xfrm>
              <a:off x="3657600" y="4800600"/>
              <a:ext cx="571500" cy="5143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2805" name="Line 98"/>
            <p:cNvSpPr>
              <a:spLocks noChangeShapeType="1"/>
            </p:cNvSpPr>
            <p:nvPr/>
          </p:nvSpPr>
          <p:spPr bwMode="auto">
            <a:xfrm flipH="1">
              <a:off x="3657600" y="4800600"/>
              <a:ext cx="571500" cy="5715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2806" name="Oval 99"/>
            <p:cNvSpPr>
              <a:spLocks noChangeArrowheads="1"/>
            </p:cNvSpPr>
            <p:nvPr/>
          </p:nvSpPr>
          <p:spPr bwMode="auto">
            <a:xfrm>
              <a:off x="4114800" y="4457700"/>
              <a:ext cx="57150" cy="5715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SimSun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876920" y="1372185"/>
            <a:ext cx="43129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no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bldLvl="0" animBg="1"/>
      <p:bldP spid="32776" grpId="0" bldLvl="0" animBg="1"/>
      <p:bldP spid="32790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E36518-954C-4AAF-B9B0-E3EAF593AE27}" type="slidenum">
              <a:rPr lang="en-US" altLang="zh-CN" sz="790"/>
            </a:fld>
            <a:endParaRPr lang="en-US" altLang="zh-CN" sz="79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+mn-ea"/>
              </a:rPr>
              <a:t>remove(delete)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33799" name="Text Box 4"/>
          <p:cNvSpPr txBox="1">
            <a:spLocks noChangeArrowheads="1"/>
          </p:cNvSpPr>
          <p:nvPr/>
        </p:nvSpPr>
        <p:spPr bwMode="auto">
          <a:xfrm>
            <a:off x="1938570" y="3924079"/>
            <a:ext cx="166306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Find</a:t>
            </a:r>
            <a:r>
              <a:rPr lang="en-US" altLang="zh-CN" dirty="0">
                <a:solidFill>
                  <a:schemeClr val="accent2"/>
                </a:solidFill>
                <a:ea typeface="SimSun" pitchFamily="2" charset="-122"/>
              </a:rPr>
              <a:t> </a:t>
            </a:r>
            <a:r>
              <a:rPr lang="en-US" altLang="zh-CN" dirty="0">
                <a:ea typeface="SimSun" pitchFamily="2" charset="-122"/>
              </a:rPr>
              <a:t>24 node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33800" name="Text Box 5"/>
          <p:cNvSpPr txBox="1">
            <a:spLocks noChangeArrowheads="1"/>
          </p:cNvSpPr>
          <p:nvPr/>
        </p:nvSpPr>
        <p:spPr bwMode="auto">
          <a:xfrm>
            <a:off x="8136890" y="3616960"/>
            <a:ext cx="393573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SimSun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 Free </a:t>
            </a:r>
            <a:r>
              <a:rPr lang="en-US" altLang="zh-CN" dirty="0">
                <a:ea typeface="SimSun" pitchFamily="2" charset="-122"/>
              </a:rPr>
              <a:t>the 24 node and </a:t>
            </a:r>
            <a:r>
              <a:rPr lang="en-US" altLang="zh-CN" dirty="0">
                <a:solidFill>
                  <a:srgbClr val="FF0000"/>
                </a:solidFill>
                <a:ea typeface="SimSun" pitchFamily="2" charset="-122"/>
              </a:rPr>
              <a:t>replace</a:t>
            </a:r>
            <a:r>
              <a:rPr lang="en-US" altLang="zh-CN" dirty="0">
                <a:ea typeface="SimSun" pitchFamily="2" charset="-122"/>
              </a:rPr>
              <a:t> the pointer to it </a:t>
            </a:r>
            <a:r>
              <a:rPr lang="en-US" altLang="zh-CN" dirty="0" smtClean="0">
                <a:ea typeface="SimSun" pitchFamily="2" charset="-122"/>
              </a:rPr>
              <a:t>with a </a:t>
            </a:r>
            <a:r>
              <a:rPr lang="en-US" altLang="zh-CN" dirty="0">
                <a:ea typeface="SimSun" pitchFamily="2" charset="-122"/>
              </a:rPr>
              <a:t>pointer to </a:t>
            </a:r>
            <a:r>
              <a:rPr lang="en-US" altLang="zh-CN" dirty="0" smtClean="0">
                <a:ea typeface="SimSun" pitchFamily="2" charset="-122"/>
              </a:rPr>
              <a:t>its child</a:t>
            </a:r>
            <a:endParaRPr lang="en-US" altLang="zh-CN" dirty="0" smtClean="0"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39515" y="2614930"/>
            <a:ext cx="1706245" cy="3399155"/>
            <a:chOff x="1116806" y="3486150"/>
            <a:chExt cx="1445419" cy="3153966"/>
          </a:xfrm>
        </p:grpSpPr>
        <p:sp>
          <p:nvSpPr>
            <p:cNvPr id="33801" name="Oval 6"/>
            <p:cNvSpPr>
              <a:spLocks noChangeArrowheads="1"/>
            </p:cNvSpPr>
            <p:nvPr/>
          </p:nvSpPr>
          <p:spPr bwMode="auto">
            <a:xfrm>
              <a:off x="1808560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94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02" name="Oval 7"/>
            <p:cNvSpPr>
              <a:spLocks noChangeArrowheads="1"/>
            </p:cNvSpPr>
            <p:nvPr/>
          </p:nvSpPr>
          <p:spPr bwMode="auto">
            <a:xfrm>
              <a:off x="1465660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10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03" name="Oval 8"/>
            <p:cNvSpPr>
              <a:spLocks noChangeArrowheads="1"/>
            </p:cNvSpPr>
            <p:nvPr/>
          </p:nvSpPr>
          <p:spPr bwMode="auto">
            <a:xfrm>
              <a:off x="2151460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dirty="0">
                  <a:ea typeface="SimSun" pitchFamily="2" charset="-122"/>
                </a:rPr>
                <a:t>97</a:t>
              </a:r>
              <a:endParaRPr lang="en-US" altLang="zh-CN" sz="1800" dirty="0">
                <a:ea typeface="SimSun" pitchFamily="2" charset="-122"/>
              </a:endParaRPr>
            </a:p>
          </p:txBody>
        </p:sp>
        <p:sp>
          <p:nvSpPr>
            <p:cNvPr id="33804" name="Oval 9"/>
            <p:cNvSpPr>
              <a:spLocks noChangeArrowheads="1"/>
            </p:cNvSpPr>
            <p:nvPr/>
          </p:nvSpPr>
          <p:spPr bwMode="auto">
            <a:xfrm>
              <a:off x="1116806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5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05" name="Oval 10"/>
            <p:cNvSpPr>
              <a:spLocks noChangeArrowheads="1"/>
            </p:cNvSpPr>
            <p:nvPr/>
          </p:nvSpPr>
          <p:spPr bwMode="auto">
            <a:xfrm>
              <a:off x="1802606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24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06" name="Oval 11"/>
            <p:cNvSpPr>
              <a:spLocks noChangeArrowheads="1"/>
            </p:cNvSpPr>
            <p:nvPr/>
          </p:nvSpPr>
          <p:spPr bwMode="auto">
            <a:xfrm>
              <a:off x="1438275" y="560070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11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07" name="Oval 12"/>
            <p:cNvSpPr>
              <a:spLocks noChangeArrowheads="1"/>
            </p:cNvSpPr>
            <p:nvPr/>
          </p:nvSpPr>
          <p:spPr bwMode="auto">
            <a:xfrm>
              <a:off x="1924050" y="62293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17</a:t>
              </a:r>
              <a:endParaRPr lang="en-US" altLang="zh-CN" sz="1800">
                <a:ea typeface="SimSun" pitchFamily="2" charset="-122"/>
              </a:endParaRPr>
            </a:p>
          </p:txBody>
        </p:sp>
        <p:cxnSp>
          <p:nvCxnSpPr>
            <p:cNvPr id="33808" name="AutoShape 13"/>
            <p:cNvCxnSpPr>
              <a:cxnSpLocks noChangeShapeType="1"/>
              <a:stCxn id="33801" idx="3"/>
              <a:endCxn id="33802" idx="0"/>
            </p:cNvCxnSpPr>
            <p:nvPr/>
          </p:nvCxnSpPr>
          <p:spPr bwMode="auto">
            <a:xfrm flipH="1">
              <a:off x="1671638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09" name="AutoShape 14"/>
            <p:cNvCxnSpPr>
              <a:cxnSpLocks noChangeShapeType="1"/>
              <a:stCxn id="33801" idx="5"/>
              <a:endCxn id="33803" idx="0"/>
            </p:cNvCxnSpPr>
            <p:nvPr/>
          </p:nvCxnSpPr>
          <p:spPr bwMode="auto">
            <a:xfrm>
              <a:off x="2158604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0" name="AutoShape 15"/>
            <p:cNvCxnSpPr>
              <a:cxnSpLocks noChangeShapeType="1"/>
              <a:stCxn id="33802" idx="5"/>
              <a:endCxn id="33805" idx="0"/>
            </p:cNvCxnSpPr>
            <p:nvPr/>
          </p:nvCxnSpPr>
          <p:spPr bwMode="auto">
            <a:xfrm>
              <a:off x="1815704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1" name="AutoShape 16"/>
            <p:cNvCxnSpPr>
              <a:cxnSpLocks noChangeShapeType="1"/>
              <a:stCxn id="33802" idx="3"/>
              <a:endCxn id="33804" idx="0"/>
            </p:cNvCxnSpPr>
            <p:nvPr/>
          </p:nvCxnSpPr>
          <p:spPr bwMode="auto">
            <a:xfrm flipH="1">
              <a:off x="1322785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2" name="AutoShape 17"/>
            <p:cNvCxnSpPr>
              <a:cxnSpLocks noChangeShapeType="1"/>
              <a:stCxn id="33805" idx="3"/>
              <a:endCxn id="33806" idx="0"/>
            </p:cNvCxnSpPr>
            <p:nvPr/>
          </p:nvCxnSpPr>
          <p:spPr bwMode="auto">
            <a:xfrm flipH="1">
              <a:off x="1644254" y="5207794"/>
              <a:ext cx="219075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3" name="AutoShape 18"/>
            <p:cNvCxnSpPr>
              <a:cxnSpLocks noChangeShapeType="1"/>
              <a:stCxn id="33806" idx="5"/>
              <a:endCxn id="33807" idx="0"/>
            </p:cNvCxnSpPr>
            <p:nvPr/>
          </p:nvCxnSpPr>
          <p:spPr bwMode="auto">
            <a:xfrm>
              <a:off x="1788319" y="5950744"/>
              <a:ext cx="341710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3814" name="Oval 19"/>
          <p:cNvSpPr>
            <a:spLocks noChangeArrowheads="1"/>
          </p:cNvSpPr>
          <p:nvPr/>
        </p:nvSpPr>
        <p:spPr bwMode="auto">
          <a:xfrm>
            <a:off x="4491553" y="4055428"/>
            <a:ext cx="600075" cy="4714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79060" y="2538730"/>
            <a:ext cx="2523490" cy="3475355"/>
            <a:chOff x="2819401" y="3486150"/>
            <a:chExt cx="2069306" cy="3153966"/>
          </a:xfrm>
        </p:grpSpPr>
        <p:sp>
          <p:nvSpPr>
            <p:cNvPr id="33798" name="Line 3"/>
            <p:cNvSpPr>
              <a:spLocks noChangeShapeType="1"/>
            </p:cNvSpPr>
            <p:nvPr/>
          </p:nvSpPr>
          <p:spPr bwMode="auto">
            <a:xfrm>
              <a:off x="2819401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3815" name="Oval 22"/>
            <p:cNvSpPr>
              <a:spLocks noChangeArrowheads="1"/>
            </p:cNvSpPr>
            <p:nvPr/>
          </p:nvSpPr>
          <p:spPr bwMode="auto">
            <a:xfrm>
              <a:off x="4135042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94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16" name="Oval 23"/>
            <p:cNvSpPr>
              <a:spLocks noChangeArrowheads="1"/>
            </p:cNvSpPr>
            <p:nvPr/>
          </p:nvSpPr>
          <p:spPr bwMode="auto">
            <a:xfrm>
              <a:off x="3792142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10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17" name="Oval 24"/>
            <p:cNvSpPr>
              <a:spLocks noChangeArrowheads="1"/>
            </p:cNvSpPr>
            <p:nvPr/>
          </p:nvSpPr>
          <p:spPr bwMode="auto">
            <a:xfrm>
              <a:off x="4477942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97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18" name="Oval 25"/>
            <p:cNvSpPr>
              <a:spLocks noChangeArrowheads="1"/>
            </p:cNvSpPr>
            <p:nvPr/>
          </p:nvSpPr>
          <p:spPr bwMode="auto">
            <a:xfrm>
              <a:off x="3443288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5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19" name="Oval 26"/>
            <p:cNvSpPr>
              <a:spLocks noChangeArrowheads="1"/>
            </p:cNvSpPr>
            <p:nvPr/>
          </p:nvSpPr>
          <p:spPr bwMode="auto">
            <a:xfrm>
              <a:off x="4363642" y="48577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24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20" name="Oval 27"/>
            <p:cNvSpPr>
              <a:spLocks noChangeArrowheads="1"/>
            </p:cNvSpPr>
            <p:nvPr/>
          </p:nvSpPr>
          <p:spPr bwMode="auto">
            <a:xfrm>
              <a:off x="3935017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11</a:t>
              </a:r>
              <a:endParaRPr lang="en-US" altLang="zh-CN" sz="1800">
                <a:ea typeface="SimSun" pitchFamily="2" charset="-122"/>
              </a:endParaRPr>
            </a:p>
          </p:txBody>
        </p:sp>
        <p:sp>
          <p:nvSpPr>
            <p:cNvPr id="33821" name="Oval 28"/>
            <p:cNvSpPr>
              <a:spLocks noChangeArrowheads="1"/>
            </p:cNvSpPr>
            <p:nvPr/>
          </p:nvSpPr>
          <p:spPr bwMode="auto">
            <a:xfrm>
              <a:off x="4420792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SimSun" pitchFamily="2" charset="-122"/>
                </a:rPr>
                <a:t>17</a:t>
              </a:r>
              <a:endParaRPr lang="en-US" altLang="zh-CN" sz="1800">
                <a:ea typeface="SimSun" pitchFamily="2" charset="-122"/>
              </a:endParaRPr>
            </a:p>
          </p:txBody>
        </p:sp>
        <p:cxnSp>
          <p:nvCxnSpPr>
            <p:cNvPr id="33822" name="AutoShape 29"/>
            <p:cNvCxnSpPr>
              <a:cxnSpLocks noChangeShapeType="1"/>
              <a:stCxn id="33815" idx="3"/>
              <a:endCxn id="33816" idx="0"/>
            </p:cNvCxnSpPr>
            <p:nvPr/>
          </p:nvCxnSpPr>
          <p:spPr bwMode="auto">
            <a:xfrm flipH="1">
              <a:off x="3998119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3" name="AutoShape 30"/>
            <p:cNvCxnSpPr>
              <a:cxnSpLocks noChangeShapeType="1"/>
              <a:stCxn id="33815" idx="5"/>
              <a:endCxn id="33817" idx="0"/>
            </p:cNvCxnSpPr>
            <p:nvPr/>
          </p:nvCxnSpPr>
          <p:spPr bwMode="auto">
            <a:xfrm>
              <a:off x="4485085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4" name="AutoShape 31"/>
            <p:cNvCxnSpPr>
              <a:cxnSpLocks noChangeShapeType="1"/>
              <a:stCxn id="33816" idx="5"/>
              <a:endCxn id="33819" idx="0"/>
            </p:cNvCxnSpPr>
            <p:nvPr/>
          </p:nvCxnSpPr>
          <p:spPr bwMode="auto">
            <a:xfrm>
              <a:off x="4142185" y="4464844"/>
              <a:ext cx="427434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5" name="AutoShape 32"/>
            <p:cNvCxnSpPr>
              <a:cxnSpLocks noChangeShapeType="1"/>
              <a:stCxn id="33816" idx="3"/>
              <a:endCxn id="33818" idx="0"/>
            </p:cNvCxnSpPr>
            <p:nvPr/>
          </p:nvCxnSpPr>
          <p:spPr bwMode="auto">
            <a:xfrm flipH="1">
              <a:off x="3649266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6" name="AutoShape 33"/>
            <p:cNvCxnSpPr>
              <a:cxnSpLocks noChangeShapeType="1"/>
              <a:stCxn id="33819" idx="3"/>
              <a:endCxn id="33820" idx="0"/>
            </p:cNvCxnSpPr>
            <p:nvPr/>
          </p:nvCxnSpPr>
          <p:spPr bwMode="auto">
            <a:xfrm flipH="1">
              <a:off x="4140994" y="5207794"/>
              <a:ext cx="283369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7" name="AutoShape 34"/>
            <p:cNvCxnSpPr>
              <a:cxnSpLocks noChangeShapeType="1"/>
              <a:stCxn id="33820" idx="5"/>
              <a:endCxn id="33821" idx="0"/>
            </p:cNvCxnSpPr>
            <p:nvPr/>
          </p:nvCxnSpPr>
          <p:spPr bwMode="auto">
            <a:xfrm>
              <a:off x="4285060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828" name="Line 36"/>
            <p:cNvSpPr>
              <a:spLocks noChangeShapeType="1"/>
            </p:cNvSpPr>
            <p:nvPr/>
          </p:nvSpPr>
          <p:spPr bwMode="auto">
            <a:xfrm>
              <a:off x="4374356" y="485775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3829" name="Line 37"/>
            <p:cNvSpPr>
              <a:spLocks noChangeShapeType="1"/>
            </p:cNvSpPr>
            <p:nvPr/>
          </p:nvSpPr>
          <p:spPr bwMode="auto">
            <a:xfrm flipH="1">
              <a:off x="4374356" y="485775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cxnSp>
          <p:nvCxnSpPr>
            <p:cNvPr id="33830" name="AutoShape 38"/>
            <p:cNvCxnSpPr>
              <a:cxnSpLocks noChangeShapeType="1"/>
              <a:stCxn id="33816" idx="5"/>
              <a:endCxn id="33820" idx="0"/>
            </p:cNvCxnSpPr>
            <p:nvPr/>
          </p:nvCxnSpPr>
          <p:spPr bwMode="auto">
            <a:xfrm flipH="1">
              <a:off x="4140994" y="4464844"/>
              <a:ext cx="1191" cy="1135856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矩形 1"/>
          <p:cNvSpPr/>
          <p:nvPr/>
        </p:nvSpPr>
        <p:spPr>
          <a:xfrm>
            <a:off x="3876920" y="1372185"/>
            <a:ext cx="4471035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one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bldLvl="0" animBg="1"/>
      <p:bldP spid="33800" grpId="0" bldLvl="0" animBg="1"/>
      <p:bldP spid="3381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FF0278-A9CC-455B-8BAC-35362F452008}" type="slidenum">
              <a:rPr lang="en-US" altLang="zh-CN" sz="790"/>
            </a:fld>
            <a:endParaRPr lang="en-US" altLang="zh-CN" sz="79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+mn-ea"/>
              </a:rPr>
              <a:t>remove(delete)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34823" name="Text Box 4"/>
          <p:cNvSpPr txBox="1">
            <a:spLocks noChangeArrowheads="1"/>
          </p:cNvSpPr>
          <p:nvPr/>
        </p:nvSpPr>
        <p:spPr bwMode="auto">
          <a:xfrm>
            <a:off x="2099310" y="5307330"/>
            <a:ext cx="292481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Find</a:t>
            </a:r>
            <a:r>
              <a:rPr lang="en-US" altLang="zh-CN" dirty="0">
                <a:ea typeface="SimSun" pitchFamily="2" charset="-122"/>
              </a:rPr>
              <a:t> 10, </a:t>
            </a:r>
            <a:r>
              <a:rPr lang="en-US" altLang="zh-CN" dirty="0">
                <a:solidFill>
                  <a:srgbClr val="FF0000"/>
                </a:solidFill>
                <a:ea typeface="SimSun" pitchFamily="2" charset="-122"/>
              </a:rPr>
              <a:t>Copy </a:t>
            </a:r>
            <a:r>
              <a:rPr lang="en-US" altLang="zh-CN" dirty="0">
                <a:ea typeface="SimSun" pitchFamily="2" charset="-122"/>
              </a:rPr>
              <a:t>the smallest value </a:t>
            </a:r>
            <a:r>
              <a:rPr lang="en-US" altLang="zh-CN" dirty="0" smtClean="0">
                <a:ea typeface="SimSun" pitchFamily="2" charset="-122"/>
              </a:rPr>
              <a:t>in right </a:t>
            </a:r>
            <a:r>
              <a:rPr lang="en-US" altLang="zh-CN" dirty="0">
                <a:ea typeface="SimSun" pitchFamily="2" charset="-122"/>
              </a:rPr>
              <a:t>subtree into the node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34824" name="Text Box 5"/>
          <p:cNvSpPr txBox="1">
            <a:spLocks noChangeArrowheads="1"/>
          </p:cNvSpPr>
          <p:nvPr/>
        </p:nvSpPr>
        <p:spPr bwMode="auto">
          <a:xfrm>
            <a:off x="6339205" y="5365115"/>
            <a:ext cx="424434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SimSun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 (recursively</a:t>
            </a:r>
            <a:r>
              <a:rPr lang="en-US" altLang="zh-CN" dirty="0" smtClean="0">
                <a:solidFill>
                  <a:srgbClr val="0000FF"/>
                </a:solidFill>
                <a:ea typeface="SimSun" pitchFamily="2" charset="-122"/>
              </a:rPr>
              <a:t>) Delete </a:t>
            </a:r>
            <a:r>
              <a:rPr lang="en-US" altLang="zh-CN" dirty="0">
                <a:ea typeface="SimSun" pitchFamily="2" charset="-122"/>
              </a:rPr>
              <a:t>node with </a:t>
            </a:r>
            <a:r>
              <a:rPr lang="en-US" altLang="zh-CN" dirty="0" smtClean="0">
                <a:ea typeface="SimSun" pitchFamily="2" charset="-122"/>
              </a:rPr>
              <a:t>smallest </a:t>
            </a:r>
            <a:r>
              <a:rPr lang="en-US" altLang="zh-CN" dirty="0">
                <a:ea typeface="SimSun" pitchFamily="2" charset="-122"/>
              </a:rPr>
              <a:t>value in right subtree Note:  it </a:t>
            </a:r>
            <a:r>
              <a:rPr lang="en-US" altLang="zh-CN" dirty="0" smtClean="0">
                <a:ea typeface="SimSun" pitchFamily="2" charset="-122"/>
              </a:rPr>
              <a:t>cannot have </a:t>
            </a:r>
            <a:r>
              <a:rPr lang="en-US" altLang="zh-CN" dirty="0">
                <a:ea typeface="SimSun" pitchFamily="2" charset="-122"/>
              </a:rPr>
              <a:t>two </a:t>
            </a:r>
            <a:r>
              <a:rPr lang="en-US" altLang="zh-CN" dirty="0" smtClean="0">
                <a:ea typeface="SimSun" pitchFamily="2" charset="-122"/>
              </a:rPr>
              <a:t>children (</a:t>
            </a:r>
            <a:r>
              <a:rPr lang="en-US" altLang="zh-CN" dirty="0">
                <a:ea typeface="SimSun" pitchFamily="2" charset="-122"/>
              </a:rPr>
              <a:t>why?)</a:t>
            </a:r>
            <a:endParaRPr lang="en-US" altLang="zh-CN" dirty="0">
              <a:ea typeface="SimSun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24935" y="1894205"/>
            <a:ext cx="1876425" cy="3377565"/>
            <a:chOff x="1590675" y="3486150"/>
            <a:chExt cx="1445419" cy="3153966"/>
          </a:xfrm>
        </p:grpSpPr>
        <p:sp>
          <p:nvSpPr>
            <p:cNvPr id="34825" name="Oval 6"/>
            <p:cNvSpPr>
              <a:spLocks noChangeArrowheads="1"/>
            </p:cNvSpPr>
            <p:nvPr/>
          </p:nvSpPr>
          <p:spPr bwMode="auto">
            <a:xfrm>
              <a:off x="2282429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26" name="Oval 7"/>
            <p:cNvSpPr>
              <a:spLocks noChangeArrowheads="1"/>
            </p:cNvSpPr>
            <p:nvPr/>
          </p:nvSpPr>
          <p:spPr bwMode="auto">
            <a:xfrm>
              <a:off x="19395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10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27" name="Oval 8"/>
            <p:cNvSpPr>
              <a:spLocks noChangeArrowheads="1"/>
            </p:cNvSpPr>
            <p:nvPr/>
          </p:nvSpPr>
          <p:spPr bwMode="auto">
            <a:xfrm>
              <a:off x="2625329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97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28" name="Oval 9"/>
            <p:cNvSpPr>
              <a:spLocks noChangeArrowheads="1"/>
            </p:cNvSpPr>
            <p:nvPr/>
          </p:nvSpPr>
          <p:spPr bwMode="auto">
            <a:xfrm>
              <a:off x="15906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5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29" name="Oval 10"/>
            <p:cNvSpPr>
              <a:spLocks noChangeArrowheads="1"/>
            </p:cNvSpPr>
            <p:nvPr/>
          </p:nvSpPr>
          <p:spPr bwMode="auto">
            <a:xfrm>
              <a:off x="2276475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24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30" name="Oval 11"/>
            <p:cNvSpPr>
              <a:spLocks noChangeArrowheads="1"/>
            </p:cNvSpPr>
            <p:nvPr/>
          </p:nvSpPr>
          <p:spPr bwMode="auto">
            <a:xfrm>
              <a:off x="1912144" y="560070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11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31" name="Oval 12"/>
            <p:cNvSpPr>
              <a:spLocks noChangeArrowheads="1"/>
            </p:cNvSpPr>
            <p:nvPr/>
          </p:nvSpPr>
          <p:spPr bwMode="auto">
            <a:xfrm>
              <a:off x="2397919" y="62293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17</a:t>
              </a:r>
              <a:endParaRPr lang="en-US" altLang="zh-CN" sz="1600">
                <a:ea typeface="SimSun" pitchFamily="2" charset="-122"/>
              </a:endParaRPr>
            </a:p>
          </p:txBody>
        </p:sp>
        <p:cxnSp>
          <p:nvCxnSpPr>
            <p:cNvPr id="34832" name="AutoShape 13"/>
            <p:cNvCxnSpPr>
              <a:cxnSpLocks noChangeShapeType="1"/>
              <a:stCxn id="34825" idx="3"/>
              <a:endCxn id="34826" idx="0"/>
            </p:cNvCxnSpPr>
            <p:nvPr/>
          </p:nvCxnSpPr>
          <p:spPr bwMode="auto">
            <a:xfrm flipH="1">
              <a:off x="2145507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3" name="AutoShape 14"/>
            <p:cNvCxnSpPr>
              <a:cxnSpLocks noChangeShapeType="1"/>
              <a:stCxn id="34825" idx="5"/>
              <a:endCxn id="34827" idx="0"/>
            </p:cNvCxnSpPr>
            <p:nvPr/>
          </p:nvCxnSpPr>
          <p:spPr bwMode="auto">
            <a:xfrm>
              <a:off x="2632472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4" name="AutoShape 15"/>
            <p:cNvCxnSpPr>
              <a:cxnSpLocks noChangeShapeType="1"/>
              <a:stCxn id="34826" idx="5"/>
              <a:endCxn id="34829" idx="0"/>
            </p:cNvCxnSpPr>
            <p:nvPr/>
          </p:nvCxnSpPr>
          <p:spPr bwMode="auto">
            <a:xfrm>
              <a:off x="2289573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5" name="AutoShape 16"/>
            <p:cNvCxnSpPr>
              <a:cxnSpLocks noChangeShapeType="1"/>
              <a:stCxn id="34826" idx="3"/>
              <a:endCxn id="34828" idx="0"/>
            </p:cNvCxnSpPr>
            <p:nvPr/>
          </p:nvCxnSpPr>
          <p:spPr bwMode="auto">
            <a:xfrm flipH="1">
              <a:off x="1796653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6" name="AutoShape 17"/>
            <p:cNvCxnSpPr>
              <a:cxnSpLocks noChangeShapeType="1"/>
              <a:stCxn id="34829" idx="3"/>
              <a:endCxn id="34830" idx="0"/>
            </p:cNvCxnSpPr>
            <p:nvPr/>
          </p:nvCxnSpPr>
          <p:spPr bwMode="auto">
            <a:xfrm flipH="1">
              <a:off x="2118122" y="5207794"/>
              <a:ext cx="219075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37" name="AutoShape 18"/>
            <p:cNvCxnSpPr>
              <a:cxnSpLocks noChangeShapeType="1"/>
              <a:stCxn id="34830" idx="5"/>
              <a:endCxn id="34831" idx="0"/>
            </p:cNvCxnSpPr>
            <p:nvPr/>
          </p:nvCxnSpPr>
          <p:spPr bwMode="auto">
            <a:xfrm>
              <a:off x="2262188" y="5950744"/>
              <a:ext cx="341710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838" name="Oval 19"/>
          <p:cNvSpPr>
            <a:spLocks noChangeArrowheads="1"/>
          </p:cNvSpPr>
          <p:nvPr/>
        </p:nvSpPr>
        <p:spPr bwMode="auto">
          <a:xfrm>
            <a:off x="4344353" y="2540635"/>
            <a:ext cx="600075" cy="4714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34839" name="Oval 20"/>
          <p:cNvSpPr>
            <a:spLocks noChangeArrowheads="1"/>
          </p:cNvSpPr>
          <p:nvPr/>
        </p:nvSpPr>
        <p:spPr bwMode="auto">
          <a:xfrm>
            <a:off x="4311015" y="4135120"/>
            <a:ext cx="600075" cy="4762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cxnSp>
        <p:nvCxnSpPr>
          <p:cNvPr id="34840" name="AutoShape 21"/>
          <p:cNvCxnSpPr>
            <a:cxnSpLocks noChangeShapeType="1"/>
            <a:stCxn id="34839" idx="0"/>
            <a:endCxn id="34838" idx="4"/>
          </p:cNvCxnSpPr>
          <p:nvPr/>
        </p:nvCxnSpPr>
        <p:spPr bwMode="auto">
          <a:xfrm flipV="1">
            <a:off x="4611371" y="3012202"/>
            <a:ext cx="33655" cy="112268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" name="组合 2"/>
          <p:cNvGrpSpPr/>
          <p:nvPr/>
        </p:nvGrpSpPr>
        <p:grpSpPr>
          <a:xfrm>
            <a:off x="5886450" y="1893570"/>
            <a:ext cx="2569210" cy="3413760"/>
            <a:chOff x="3167063" y="3486150"/>
            <a:chExt cx="2014537" cy="3153966"/>
          </a:xfrm>
        </p:grpSpPr>
        <p:sp>
          <p:nvSpPr>
            <p:cNvPr id="34822" name="Line 3"/>
            <p:cNvSpPr>
              <a:spLocks noChangeShapeType="1"/>
            </p:cNvSpPr>
            <p:nvPr/>
          </p:nvSpPr>
          <p:spPr bwMode="auto">
            <a:xfrm>
              <a:off x="3167063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4841" name="Oval 22"/>
            <p:cNvSpPr>
              <a:spLocks noChangeArrowheads="1"/>
            </p:cNvSpPr>
            <p:nvPr/>
          </p:nvSpPr>
          <p:spPr bwMode="auto">
            <a:xfrm>
              <a:off x="4427935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2" name="Oval 23"/>
            <p:cNvSpPr>
              <a:spLocks noChangeArrowheads="1"/>
            </p:cNvSpPr>
            <p:nvPr/>
          </p:nvSpPr>
          <p:spPr bwMode="auto">
            <a:xfrm>
              <a:off x="40850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FF0000"/>
                  </a:solidFill>
                  <a:ea typeface="SimSun" pitchFamily="2" charset="-122"/>
                </a:rPr>
                <a:t>11</a:t>
              </a:r>
              <a:endParaRPr lang="en-US" altLang="zh-CN" sz="1600" b="1">
                <a:solidFill>
                  <a:srgbClr val="FF0000"/>
                </a:solidFill>
                <a:ea typeface="SimSun" pitchFamily="2" charset="-122"/>
              </a:endParaRPr>
            </a:p>
          </p:txBody>
        </p:sp>
        <p:sp>
          <p:nvSpPr>
            <p:cNvPr id="34843" name="Oval 24"/>
            <p:cNvSpPr>
              <a:spLocks noChangeArrowheads="1"/>
            </p:cNvSpPr>
            <p:nvPr/>
          </p:nvSpPr>
          <p:spPr bwMode="auto">
            <a:xfrm>
              <a:off x="47708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97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4" name="Oval 25"/>
            <p:cNvSpPr>
              <a:spLocks noChangeArrowheads="1"/>
            </p:cNvSpPr>
            <p:nvPr/>
          </p:nvSpPr>
          <p:spPr bwMode="auto">
            <a:xfrm>
              <a:off x="37361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5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5" name="Oval 26"/>
            <p:cNvSpPr>
              <a:spLocks noChangeArrowheads="1"/>
            </p:cNvSpPr>
            <p:nvPr/>
          </p:nvSpPr>
          <p:spPr bwMode="auto">
            <a:xfrm>
              <a:off x="44219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dirty="0">
                  <a:ea typeface="SimSun" pitchFamily="2" charset="-122"/>
                </a:rPr>
                <a:t>24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34846" name="Oval 27"/>
            <p:cNvSpPr>
              <a:spLocks noChangeArrowheads="1"/>
            </p:cNvSpPr>
            <p:nvPr/>
          </p:nvSpPr>
          <p:spPr bwMode="auto">
            <a:xfrm>
              <a:off x="4075510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11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7" name="Oval 28"/>
            <p:cNvSpPr>
              <a:spLocks noChangeArrowheads="1"/>
            </p:cNvSpPr>
            <p:nvPr/>
          </p:nvSpPr>
          <p:spPr bwMode="auto">
            <a:xfrm>
              <a:off x="4561285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17</a:t>
              </a:r>
              <a:endParaRPr lang="en-US" altLang="zh-CN" sz="1600">
                <a:ea typeface="SimSun" pitchFamily="2" charset="-122"/>
              </a:endParaRPr>
            </a:p>
          </p:txBody>
        </p:sp>
        <p:cxnSp>
          <p:nvCxnSpPr>
            <p:cNvPr id="34848" name="AutoShape 29"/>
            <p:cNvCxnSpPr>
              <a:cxnSpLocks noChangeShapeType="1"/>
              <a:stCxn id="34841" idx="3"/>
              <a:endCxn id="34842" idx="0"/>
            </p:cNvCxnSpPr>
            <p:nvPr/>
          </p:nvCxnSpPr>
          <p:spPr bwMode="auto">
            <a:xfrm flipH="1">
              <a:off x="4291013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49" name="AutoShape 30"/>
            <p:cNvCxnSpPr>
              <a:cxnSpLocks noChangeShapeType="1"/>
              <a:stCxn id="34841" idx="5"/>
              <a:endCxn id="34843" idx="0"/>
            </p:cNvCxnSpPr>
            <p:nvPr/>
          </p:nvCxnSpPr>
          <p:spPr bwMode="auto">
            <a:xfrm>
              <a:off x="4777979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0" name="AutoShape 31"/>
            <p:cNvCxnSpPr>
              <a:cxnSpLocks noChangeShapeType="1"/>
              <a:stCxn id="34842" idx="5"/>
              <a:endCxn id="34845" idx="0"/>
            </p:cNvCxnSpPr>
            <p:nvPr/>
          </p:nvCxnSpPr>
          <p:spPr bwMode="auto">
            <a:xfrm>
              <a:off x="4435079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1" name="AutoShape 32"/>
            <p:cNvCxnSpPr>
              <a:cxnSpLocks noChangeShapeType="1"/>
              <a:stCxn id="34842" idx="3"/>
              <a:endCxn id="34844" idx="0"/>
            </p:cNvCxnSpPr>
            <p:nvPr/>
          </p:nvCxnSpPr>
          <p:spPr bwMode="auto">
            <a:xfrm flipH="1">
              <a:off x="3942160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2" name="AutoShape 33"/>
            <p:cNvCxnSpPr>
              <a:cxnSpLocks noChangeShapeType="1"/>
              <a:stCxn id="34845" idx="3"/>
              <a:endCxn id="34846" idx="0"/>
            </p:cNvCxnSpPr>
            <p:nvPr/>
          </p:nvCxnSpPr>
          <p:spPr bwMode="auto">
            <a:xfrm flipH="1">
              <a:off x="4281488" y="5207794"/>
              <a:ext cx="201216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3" name="AutoShape 34"/>
            <p:cNvCxnSpPr>
              <a:cxnSpLocks noChangeShapeType="1"/>
              <a:stCxn id="34846" idx="5"/>
              <a:endCxn id="34847" idx="0"/>
            </p:cNvCxnSpPr>
            <p:nvPr/>
          </p:nvCxnSpPr>
          <p:spPr bwMode="auto">
            <a:xfrm>
              <a:off x="4425554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854" name="Oval 35"/>
          <p:cNvSpPr>
            <a:spLocks noChangeArrowheads="1"/>
          </p:cNvSpPr>
          <p:nvPr/>
        </p:nvSpPr>
        <p:spPr bwMode="auto">
          <a:xfrm>
            <a:off x="7007860" y="4165600"/>
            <a:ext cx="600075" cy="471488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  <p:sp>
        <p:nvSpPr>
          <p:cNvPr id="42" name="Line 3"/>
          <p:cNvSpPr>
            <a:spLocks noChangeShapeType="1"/>
          </p:cNvSpPr>
          <p:nvPr/>
        </p:nvSpPr>
        <p:spPr bwMode="auto">
          <a:xfrm>
            <a:off x="8375015" y="3635375"/>
            <a:ext cx="435610" cy="25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4" name="矩形 1"/>
          <p:cNvSpPr/>
          <p:nvPr/>
        </p:nvSpPr>
        <p:spPr>
          <a:xfrm>
            <a:off x="3876920" y="1372185"/>
            <a:ext cx="449072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two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 bldLvl="0" animBg="1"/>
      <p:bldP spid="34838" grpId="0" bldLvl="0" animBg="1"/>
      <p:bldP spid="34839" grpId="0" bldLvl="0" animBg="1"/>
      <p:bldP spid="34854" grpId="0" bldLvl="0" animBg="1"/>
      <p:bldP spid="42" grpId="0" bldLvl="0" animBg="1"/>
      <p:bldP spid="34824" grpId="0" animBg="1"/>
      <p:bldP spid="34824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70FA47-BE97-4E68-8FC9-F0C9D65EF43B}" type="slidenum">
              <a:rPr lang="en-US" altLang="zh-CN" sz="790"/>
            </a:fld>
            <a:endParaRPr lang="en-US" altLang="zh-CN" sz="79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+mn-ea"/>
              </a:rPr>
              <a:t>remove(delete)</a:t>
            </a:r>
            <a:endParaRPr lang="en-US" altLang="zh-CN" dirty="0" smtClean="0">
              <a:solidFill>
                <a:srgbClr val="FF0000"/>
              </a:solidFill>
              <a:ea typeface="SimSun" pitchFamily="2" charset="-122"/>
            </a:endParaRPr>
          </a:p>
        </p:txBody>
      </p:sp>
      <p:sp>
        <p:nvSpPr>
          <p:cNvPr id="35847" name="Text Box 4"/>
          <p:cNvSpPr txBox="1">
            <a:spLocks noChangeArrowheads="1"/>
          </p:cNvSpPr>
          <p:nvPr/>
        </p:nvSpPr>
        <p:spPr bwMode="auto">
          <a:xfrm>
            <a:off x="3629660" y="5697855"/>
            <a:ext cx="153733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Remember </a:t>
            </a:r>
            <a:r>
              <a:rPr lang="en-US" altLang="zh-CN" dirty="0">
                <a:ea typeface="SimSun" pitchFamily="2" charset="-122"/>
              </a:rPr>
              <a:t>11 node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35848" name="Text Box 5"/>
          <p:cNvSpPr txBox="1">
            <a:spLocks noChangeArrowheads="1"/>
          </p:cNvSpPr>
          <p:nvPr/>
        </p:nvSpPr>
        <p:spPr bwMode="auto">
          <a:xfrm>
            <a:off x="6882745" y="5372956"/>
            <a:ext cx="2468018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SimSun" pitchFamily="2" charset="-122"/>
              </a:rPr>
              <a:t>Then</a:t>
            </a:r>
            <a:r>
              <a:rPr lang="en-US" altLang="zh-CN" dirty="0">
                <a:solidFill>
                  <a:srgbClr val="0000FF"/>
                </a:solidFill>
                <a:ea typeface="SimSun" pitchFamily="2" charset="-122"/>
              </a:rPr>
              <a:t> </a:t>
            </a:r>
            <a:r>
              <a:rPr lang="en-US" altLang="zh-CN" dirty="0" smtClean="0">
                <a:solidFill>
                  <a:srgbClr val="0000FF"/>
                </a:solidFill>
                <a:ea typeface="SimSun" pitchFamily="2" charset="-122"/>
              </a:rPr>
              <a:t>Free </a:t>
            </a:r>
            <a:r>
              <a:rPr lang="en-US" altLang="zh-CN" dirty="0" smtClean="0">
                <a:ea typeface="SimSun" pitchFamily="2" charset="-122"/>
              </a:rPr>
              <a:t>the </a:t>
            </a:r>
            <a:r>
              <a:rPr lang="en-US" altLang="zh-CN" dirty="0">
                <a:ea typeface="SimSun" pitchFamily="2" charset="-122"/>
              </a:rPr>
              <a:t>11 node and </a:t>
            </a:r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</a:rPr>
              <a:t>replace </a:t>
            </a:r>
            <a:r>
              <a:rPr lang="en-US" altLang="zh-CN" dirty="0" smtClean="0">
                <a:ea typeface="SimSun" pitchFamily="2" charset="-122"/>
              </a:rPr>
              <a:t>the pointer </a:t>
            </a:r>
            <a:r>
              <a:rPr lang="en-US" altLang="zh-CN" dirty="0">
                <a:ea typeface="SimSun" pitchFamily="2" charset="-122"/>
              </a:rPr>
              <a:t>to it </a:t>
            </a:r>
            <a:r>
              <a:rPr lang="en-US" altLang="zh-CN" dirty="0" smtClean="0">
                <a:ea typeface="SimSun" pitchFamily="2" charset="-122"/>
              </a:rPr>
              <a:t>with a </a:t>
            </a:r>
            <a:r>
              <a:rPr lang="en-US" altLang="zh-CN" dirty="0">
                <a:ea typeface="SimSun" pitchFamily="2" charset="-122"/>
              </a:rPr>
              <a:t>pointer to </a:t>
            </a:r>
            <a:r>
              <a:rPr lang="en-US" altLang="zh-CN" dirty="0" smtClean="0">
                <a:ea typeface="SimSun" pitchFamily="2" charset="-122"/>
              </a:rPr>
              <a:t>its child</a:t>
            </a:r>
            <a:endParaRPr lang="en-US" altLang="zh-CN" dirty="0" smtClean="0">
              <a:ea typeface="SimSun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626735" y="1863725"/>
            <a:ext cx="2764790" cy="3297555"/>
            <a:chOff x="2902744" y="3486150"/>
            <a:chExt cx="2069306" cy="3153966"/>
          </a:xfrm>
        </p:grpSpPr>
        <p:sp>
          <p:nvSpPr>
            <p:cNvPr id="35846" name="Line 3"/>
            <p:cNvSpPr>
              <a:spLocks noChangeShapeType="1"/>
            </p:cNvSpPr>
            <p:nvPr/>
          </p:nvSpPr>
          <p:spPr bwMode="auto">
            <a:xfrm>
              <a:off x="2902744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5863" name="Oval 20"/>
            <p:cNvSpPr>
              <a:spLocks noChangeArrowheads="1"/>
            </p:cNvSpPr>
            <p:nvPr/>
          </p:nvSpPr>
          <p:spPr bwMode="auto">
            <a:xfrm>
              <a:off x="4218385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5864" name="Oval 21"/>
            <p:cNvSpPr>
              <a:spLocks noChangeArrowheads="1"/>
            </p:cNvSpPr>
            <p:nvPr/>
          </p:nvSpPr>
          <p:spPr bwMode="auto">
            <a:xfrm>
              <a:off x="387548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11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5865" name="Oval 22"/>
            <p:cNvSpPr>
              <a:spLocks noChangeArrowheads="1"/>
            </p:cNvSpPr>
            <p:nvPr/>
          </p:nvSpPr>
          <p:spPr bwMode="auto">
            <a:xfrm>
              <a:off x="456128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97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5866" name="Oval 23"/>
            <p:cNvSpPr>
              <a:spLocks noChangeArrowheads="1"/>
            </p:cNvSpPr>
            <p:nvPr/>
          </p:nvSpPr>
          <p:spPr bwMode="auto">
            <a:xfrm>
              <a:off x="352663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5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5867" name="Oval 24"/>
            <p:cNvSpPr>
              <a:spLocks noChangeArrowheads="1"/>
            </p:cNvSpPr>
            <p:nvPr/>
          </p:nvSpPr>
          <p:spPr bwMode="auto">
            <a:xfrm>
              <a:off x="4332685" y="48577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24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5868" name="Oval 25"/>
            <p:cNvSpPr>
              <a:spLocks noChangeArrowheads="1"/>
            </p:cNvSpPr>
            <p:nvPr/>
          </p:nvSpPr>
          <p:spPr bwMode="auto">
            <a:xfrm>
              <a:off x="3732610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11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5869" name="Oval 26"/>
            <p:cNvSpPr>
              <a:spLocks noChangeArrowheads="1"/>
            </p:cNvSpPr>
            <p:nvPr/>
          </p:nvSpPr>
          <p:spPr bwMode="auto">
            <a:xfrm>
              <a:off x="4332924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17</a:t>
              </a:r>
              <a:endParaRPr lang="en-US" altLang="zh-CN" sz="1600">
                <a:ea typeface="SimSun" pitchFamily="2" charset="-122"/>
              </a:endParaRPr>
            </a:p>
          </p:txBody>
        </p:sp>
        <p:cxnSp>
          <p:nvCxnSpPr>
            <p:cNvPr id="35870" name="AutoShape 27"/>
            <p:cNvCxnSpPr>
              <a:cxnSpLocks noChangeShapeType="1"/>
              <a:stCxn id="35863" idx="3"/>
              <a:endCxn id="35864" idx="0"/>
            </p:cNvCxnSpPr>
            <p:nvPr/>
          </p:nvCxnSpPr>
          <p:spPr bwMode="auto">
            <a:xfrm flipH="1">
              <a:off x="4081463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1" name="AutoShape 28"/>
            <p:cNvCxnSpPr>
              <a:cxnSpLocks noChangeShapeType="1"/>
              <a:stCxn id="35863" idx="5"/>
              <a:endCxn id="35865" idx="0"/>
            </p:cNvCxnSpPr>
            <p:nvPr/>
          </p:nvCxnSpPr>
          <p:spPr bwMode="auto">
            <a:xfrm>
              <a:off x="4568429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2" name="AutoShape 29"/>
            <p:cNvCxnSpPr>
              <a:cxnSpLocks noChangeShapeType="1"/>
              <a:stCxn id="35864" idx="5"/>
              <a:endCxn id="35867" idx="0"/>
            </p:cNvCxnSpPr>
            <p:nvPr/>
          </p:nvCxnSpPr>
          <p:spPr bwMode="auto">
            <a:xfrm>
              <a:off x="4225529" y="4464844"/>
              <a:ext cx="313134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3" name="AutoShape 30"/>
            <p:cNvCxnSpPr>
              <a:cxnSpLocks noChangeShapeType="1"/>
              <a:stCxn id="35864" idx="3"/>
              <a:endCxn id="35866" idx="0"/>
            </p:cNvCxnSpPr>
            <p:nvPr/>
          </p:nvCxnSpPr>
          <p:spPr bwMode="auto">
            <a:xfrm flipH="1">
              <a:off x="3732610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4" name="AutoShape 31"/>
            <p:cNvCxnSpPr>
              <a:cxnSpLocks noChangeShapeType="1"/>
              <a:stCxn id="35867" idx="3"/>
              <a:endCxn id="35868" idx="0"/>
            </p:cNvCxnSpPr>
            <p:nvPr/>
          </p:nvCxnSpPr>
          <p:spPr bwMode="auto">
            <a:xfrm flipH="1">
              <a:off x="3938588" y="5207794"/>
              <a:ext cx="454819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75" name="AutoShape 32"/>
            <p:cNvCxnSpPr>
              <a:cxnSpLocks noChangeShapeType="1"/>
              <a:stCxn id="35868" idx="5"/>
              <a:endCxn id="35869" idx="0"/>
            </p:cNvCxnSpPr>
            <p:nvPr/>
          </p:nvCxnSpPr>
          <p:spPr bwMode="auto">
            <a:xfrm>
              <a:off x="4082654" y="5951351"/>
              <a:ext cx="455304" cy="278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876" name="Line 33"/>
            <p:cNvSpPr>
              <a:spLocks noChangeShapeType="1"/>
            </p:cNvSpPr>
            <p:nvPr/>
          </p:nvSpPr>
          <p:spPr bwMode="auto">
            <a:xfrm>
              <a:off x="3714750" y="560070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35877" name="Line 34"/>
            <p:cNvSpPr>
              <a:spLocks noChangeShapeType="1"/>
            </p:cNvSpPr>
            <p:nvPr/>
          </p:nvSpPr>
          <p:spPr bwMode="auto">
            <a:xfrm flipH="1">
              <a:off x="3714750" y="5600700"/>
              <a:ext cx="400050" cy="40005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cxnSp>
          <p:nvCxnSpPr>
            <p:cNvPr id="35878" name="AutoShape 35"/>
            <p:cNvCxnSpPr>
              <a:cxnSpLocks noChangeShapeType="1"/>
              <a:stCxn id="35867" idx="4"/>
              <a:endCxn id="35869" idx="0"/>
            </p:cNvCxnSpPr>
            <p:nvPr/>
          </p:nvCxnSpPr>
          <p:spPr bwMode="auto">
            <a:xfrm>
              <a:off x="4538133" y="5268113"/>
              <a:ext cx="0" cy="961434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矩形 1"/>
          <p:cNvSpPr/>
          <p:nvPr/>
        </p:nvSpPr>
        <p:spPr>
          <a:xfrm>
            <a:off x="2531990" y="1372185"/>
            <a:ext cx="660527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Delete node with two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r>
              <a:rPr lang="zh-CN" altLang="en-US" sz="2800" dirty="0">
                <a:latin typeface="Times New Roman" panose="02020603050405020304" pitchFamily="18" charset="0"/>
                <a:ea typeface="SimSun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SimSun" charset="0"/>
                <a:cs typeface="Times New Roman" panose="02020603050405020304" pitchFamily="18" charset="0"/>
              </a:rPr>
              <a:t>continued</a:t>
            </a:r>
            <a:r>
              <a:rPr lang="zh-CN" altLang="en-US" sz="2800" dirty="0">
                <a:latin typeface="Times New Roman" panose="02020603050405020304" pitchFamily="18" charset="0"/>
                <a:ea typeface="SimSun" charset="0"/>
                <a:cs typeface="Times New Roman" panose="02020603050405020304" pitchFamily="18" charset="0"/>
              </a:rPr>
              <a:t>）</a:t>
            </a:r>
            <a:endParaRPr lang="zh-CN" altLang="en-US" sz="2800" dirty="0">
              <a:latin typeface="Times New Roman" panose="02020603050405020304" pitchFamily="18" charset="0"/>
              <a:ea typeface="SimSun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2"/>
          <p:cNvGrpSpPr/>
          <p:nvPr/>
        </p:nvGrpSpPr>
        <p:grpSpPr>
          <a:xfrm>
            <a:off x="3042920" y="1863725"/>
            <a:ext cx="2569210" cy="3413760"/>
            <a:chOff x="3167063" y="3486150"/>
            <a:chExt cx="2014537" cy="3153966"/>
          </a:xfrm>
        </p:grpSpPr>
        <p:sp>
          <p:nvSpPr>
            <p:cNvPr id="34822" name="Line 3"/>
            <p:cNvSpPr>
              <a:spLocks noChangeShapeType="1"/>
            </p:cNvSpPr>
            <p:nvPr/>
          </p:nvSpPr>
          <p:spPr bwMode="auto">
            <a:xfrm>
              <a:off x="3167063" y="5105400"/>
              <a:ext cx="3548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4841" name="Oval 22"/>
            <p:cNvSpPr>
              <a:spLocks noChangeArrowheads="1"/>
            </p:cNvSpPr>
            <p:nvPr/>
          </p:nvSpPr>
          <p:spPr bwMode="auto">
            <a:xfrm>
              <a:off x="4427935" y="34861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94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2" name="Oval 23"/>
            <p:cNvSpPr>
              <a:spLocks noChangeArrowheads="1"/>
            </p:cNvSpPr>
            <p:nvPr/>
          </p:nvSpPr>
          <p:spPr bwMode="auto">
            <a:xfrm>
              <a:off x="40850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FF0000"/>
                  </a:solidFill>
                  <a:ea typeface="SimSun" pitchFamily="2" charset="-122"/>
                </a:rPr>
                <a:t>11</a:t>
              </a:r>
              <a:endParaRPr lang="en-US" altLang="zh-CN" sz="1600" b="1">
                <a:solidFill>
                  <a:srgbClr val="FF0000"/>
                </a:solidFill>
                <a:ea typeface="SimSun" pitchFamily="2" charset="-122"/>
              </a:endParaRPr>
            </a:p>
          </p:txBody>
        </p:sp>
        <p:sp>
          <p:nvSpPr>
            <p:cNvPr id="34843" name="Oval 24"/>
            <p:cNvSpPr>
              <a:spLocks noChangeArrowheads="1"/>
            </p:cNvSpPr>
            <p:nvPr/>
          </p:nvSpPr>
          <p:spPr bwMode="auto">
            <a:xfrm>
              <a:off x="4770835" y="41148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97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4" name="Oval 25"/>
            <p:cNvSpPr>
              <a:spLocks noChangeArrowheads="1"/>
            </p:cNvSpPr>
            <p:nvPr/>
          </p:nvSpPr>
          <p:spPr bwMode="auto">
            <a:xfrm>
              <a:off x="37361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5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5" name="Oval 26"/>
            <p:cNvSpPr>
              <a:spLocks noChangeArrowheads="1"/>
            </p:cNvSpPr>
            <p:nvPr/>
          </p:nvSpPr>
          <p:spPr bwMode="auto">
            <a:xfrm>
              <a:off x="4421981" y="4857750"/>
              <a:ext cx="410766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 dirty="0">
                  <a:ea typeface="SimSun" pitchFamily="2" charset="-122"/>
                </a:rPr>
                <a:t>24</a:t>
              </a:r>
              <a:endParaRPr lang="en-US" altLang="zh-CN" sz="1600" dirty="0">
                <a:ea typeface="SimSun" pitchFamily="2" charset="-122"/>
              </a:endParaRPr>
            </a:p>
          </p:txBody>
        </p:sp>
        <p:sp>
          <p:nvSpPr>
            <p:cNvPr id="34846" name="Oval 27"/>
            <p:cNvSpPr>
              <a:spLocks noChangeArrowheads="1"/>
            </p:cNvSpPr>
            <p:nvPr/>
          </p:nvSpPr>
          <p:spPr bwMode="auto">
            <a:xfrm>
              <a:off x="4075510" y="560070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11</a:t>
              </a:r>
              <a:endParaRPr lang="en-US" altLang="zh-CN" sz="1600">
                <a:ea typeface="SimSun" pitchFamily="2" charset="-122"/>
              </a:endParaRPr>
            </a:p>
          </p:txBody>
        </p:sp>
        <p:sp>
          <p:nvSpPr>
            <p:cNvPr id="34847" name="Oval 28"/>
            <p:cNvSpPr>
              <a:spLocks noChangeArrowheads="1"/>
            </p:cNvSpPr>
            <p:nvPr/>
          </p:nvSpPr>
          <p:spPr bwMode="auto">
            <a:xfrm>
              <a:off x="4561285" y="6229350"/>
              <a:ext cx="410765" cy="41076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600">
                  <a:ea typeface="SimSun" pitchFamily="2" charset="-122"/>
                </a:rPr>
                <a:t>17</a:t>
              </a:r>
              <a:endParaRPr lang="en-US" altLang="zh-CN" sz="1600">
                <a:ea typeface="SimSun" pitchFamily="2" charset="-122"/>
              </a:endParaRPr>
            </a:p>
          </p:txBody>
        </p:sp>
        <p:cxnSp>
          <p:nvCxnSpPr>
            <p:cNvPr id="34848" name="AutoShape 29"/>
            <p:cNvCxnSpPr>
              <a:cxnSpLocks noChangeShapeType="1"/>
              <a:stCxn id="34841" idx="3"/>
              <a:endCxn id="34842" idx="0"/>
            </p:cNvCxnSpPr>
            <p:nvPr/>
          </p:nvCxnSpPr>
          <p:spPr bwMode="auto">
            <a:xfrm flipH="1">
              <a:off x="4291013" y="3836194"/>
              <a:ext cx="19764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49" name="AutoShape 30"/>
            <p:cNvCxnSpPr>
              <a:cxnSpLocks noChangeShapeType="1"/>
              <a:stCxn id="34841" idx="5"/>
              <a:endCxn id="34843" idx="0"/>
            </p:cNvCxnSpPr>
            <p:nvPr/>
          </p:nvCxnSpPr>
          <p:spPr bwMode="auto">
            <a:xfrm>
              <a:off x="4777979" y="3836194"/>
              <a:ext cx="198834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0" name="AutoShape 31"/>
            <p:cNvCxnSpPr>
              <a:cxnSpLocks noChangeShapeType="1"/>
              <a:stCxn id="34842" idx="5"/>
              <a:endCxn id="34845" idx="0"/>
            </p:cNvCxnSpPr>
            <p:nvPr/>
          </p:nvCxnSpPr>
          <p:spPr bwMode="auto">
            <a:xfrm>
              <a:off x="4435079" y="4464844"/>
              <a:ext cx="192881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1" name="AutoShape 32"/>
            <p:cNvCxnSpPr>
              <a:cxnSpLocks noChangeShapeType="1"/>
              <a:stCxn id="34842" idx="3"/>
              <a:endCxn id="34844" idx="0"/>
            </p:cNvCxnSpPr>
            <p:nvPr/>
          </p:nvCxnSpPr>
          <p:spPr bwMode="auto">
            <a:xfrm flipH="1">
              <a:off x="3942160" y="4464844"/>
              <a:ext cx="203597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2" name="AutoShape 33"/>
            <p:cNvCxnSpPr>
              <a:cxnSpLocks noChangeShapeType="1"/>
              <a:stCxn id="34845" idx="3"/>
              <a:endCxn id="34846" idx="0"/>
            </p:cNvCxnSpPr>
            <p:nvPr/>
          </p:nvCxnSpPr>
          <p:spPr bwMode="auto">
            <a:xfrm flipH="1">
              <a:off x="4281488" y="5207794"/>
              <a:ext cx="201216" cy="3929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853" name="AutoShape 34"/>
            <p:cNvCxnSpPr>
              <a:cxnSpLocks noChangeShapeType="1"/>
              <a:stCxn id="34846" idx="5"/>
              <a:endCxn id="34847" idx="0"/>
            </p:cNvCxnSpPr>
            <p:nvPr/>
          </p:nvCxnSpPr>
          <p:spPr bwMode="auto">
            <a:xfrm>
              <a:off x="4425554" y="5950744"/>
              <a:ext cx="341709" cy="2786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854" name="Oval 35"/>
          <p:cNvSpPr>
            <a:spLocks noChangeArrowheads="1"/>
          </p:cNvSpPr>
          <p:nvPr/>
        </p:nvSpPr>
        <p:spPr bwMode="auto">
          <a:xfrm>
            <a:off x="4163695" y="4140200"/>
            <a:ext cx="600075" cy="471488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125">
              <a:ea typeface="SimSun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8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0AD119-562C-4C14-B9ED-D9F9323A5897}" type="slidenum">
              <a:rPr lang="en-US" altLang="zh-CN" sz="790"/>
            </a:fld>
            <a:endParaRPr lang="en-US" altLang="zh-CN" sz="79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>
                <a:solidFill>
                  <a:srgbClr val="FF0000"/>
                </a:solidFill>
                <a:ea typeface="SimSun" pitchFamily="2" charset="-122"/>
                <a:sym typeface="+mn-ea"/>
              </a:rPr>
              <a:t>remove(delete)</a:t>
            </a:r>
            <a:endParaRPr lang="en-US" altLang="zh-CN" dirty="0" smtClean="0">
              <a:ea typeface="SimSun" pitchFamily="2" charset="-122"/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2570" y="224155"/>
            <a:ext cx="6975475" cy="6583045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altLang="zh-CN" sz="1700" dirty="0">
                <a:solidFill>
                  <a:srgbClr val="008000"/>
                </a:solidFill>
              </a:rPr>
              <a:t>/**</a:t>
            </a:r>
            <a:endParaRPr lang="en-US" altLang="zh-CN" sz="1700" dirty="0">
              <a:solidFill>
                <a:srgbClr val="008000"/>
              </a:solidFill>
            </a:endParaRPr>
          </a:p>
          <a:p>
            <a:pPr>
              <a:buFontTx/>
              <a:buNone/>
            </a:pPr>
            <a:r>
              <a:rPr lang="en-US" altLang="zh-CN" sz="1700" dirty="0" smtClean="0">
                <a:solidFill>
                  <a:srgbClr val="008000"/>
                </a:solidFill>
              </a:rPr>
              <a:t>* remove </a:t>
            </a:r>
            <a:r>
              <a:rPr lang="en-US" altLang="zh-CN" sz="1700" dirty="0">
                <a:solidFill>
                  <a:srgbClr val="008000"/>
                </a:solidFill>
              </a:rPr>
              <a:t>from a subtree</a:t>
            </a:r>
            <a:r>
              <a:rPr lang="en-US" altLang="zh-CN" sz="1700" dirty="0" smtClean="0">
                <a:solidFill>
                  <a:srgbClr val="008000"/>
                </a:solidFill>
              </a:rPr>
              <a:t>. Textbook page 140</a:t>
            </a:r>
            <a:endParaRPr lang="en-US" altLang="zh-CN" sz="1700" dirty="0">
              <a:solidFill>
                <a:srgbClr val="008000"/>
              </a:solidFill>
            </a:endParaRPr>
          </a:p>
          <a:p>
            <a:pPr>
              <a:buFontTx/>
              <a:buNone/>
            </a:pPr>
            <a:r>
              <a:rPr lang="en-US" altLang="zh-CN" sz="1700" dirty="0" smtClean="0">
                <a:solidFill>
                  <a:srgbClr val="008000"/>
                </a:solidFill>
              </a:rPr>
              <a:t>* </a:t>
            </a:r>
            <a:r>
              <a:rPr lang="en-US" altLang="zh-CN" sz="1700" dirty="0">
                <a:solidFill>
                  <a:srgbClr val="008000"/>
                </a:solidFill>
              </a:rPr>
              <a:t>x is the item to remove</a:t>
            </a:r>
            <a:r>
              <a:rPr lang="en-US" altLang="zh-CN" sz="1700" dirty="0" smtClean="0">
                <a:solidFill>
                  <a:srgbClr val="008000"/>
                </a:solidFill>
              </a:rPr>
              <a:t>.  </a:t>
            </a:r>
            <a:r>
              <a:rPr lang="en-US" altLang="zh-CN" sz="1700" dirty="0">
                <a:solidFill>
                  <a:srgbClr val="008000"/>
                </a:solidFill>
              </a:rPr>
              <a:t>t is the node that roots the subtree.</a:t>
            </a:r>
            <a:endParaRPr lang="en-US" altLang="zh-CN" sz="1700" dirty="0">
              <a:solidFill>
                <a:srgbClr val="008000"/>
              </a:solidFill>
            </a:endParaRPr>
          </a:p>
          <a:p>
            <a:pPr>
              <a:buFontTx/>
              <a:buNone/>
            </a:pPr>
            <a:r>
              <a:rPr lang="en-US" altLang="zh-CN" sz="1700" dirty="0" smtClean="0">
                <a:solidFill>
                  <a:srgbClr val="008000"/>
                </a:solidFill>
              </a:rPr>
              <a:t>* </a:t>
            </a:r>
            <a:r>
              <a:rPr lang="en-US" altLang="zh-CN" sz="1700" dirty="0">
                <a:solidFill>
                  <a:srgbClr val="008000"/>
                </a:solidFill>
              </a:rPr>
              <a:t>Set the new root of the subtree.</a:t>
            </a:r>
            <a:endParaRPr lang="en-US" altLang="zh-CN" sz="1700" dirty="0">
              <a:solidFill>
                <a:srgbClr val="008000"/>
              </a:solidFill>
            </a:endParaRPr>
          </a:p>
          <a:p>
            <a:pPr>
              <a:buFontTx/>
              <a:buNone/>
            </a:pPr>
            <a:r>
              <a:rPr lang="en-US" altLang="zh-CN" sz="1700" dirty="0" smtClean="0">
                <a:solidFill>
                  <a:srgbClr val="008000"/>
                </a:solidFill>
              </a:rPr>
              <a:t>*/</a:t>
            </a:r>
            <a:endParaRPr lang="en-US" altLang="zh-CN" sz="1700" dirty="0">
              <a:solidFill>
                <a:srgbClr val="008000"/>
              </a:solidFill>
            </a:endParaRPr>
          </a:p>
          <a:p>
            <a:pPr>
              <a:buFontTx/>
              <a:buNone/>
            </a:pPr>
            <a:r>
              <a:rPr lang="en-US" altLang="zh-CN" sz="1700" dirty="0" smtClean="0"/>
              <a:t>void </a:t>
            </a:r>
            <a:r>
              <a:rPr lang="en-US" altLang="zh-CN" sz="1700" dirty="0"/>
              <a:t>remove( </a:t>
            </a:r>
            <a:r>
              <a:rPr lang="en-US" altLang="zh-CN" sz="1700" dirty="0" err="1"/>
              <a:t>const</a:t>
            </a:r>
            <a:r>
              <a:rPr lang="en-US" altLang="zh-CN" sz="1700" dirty="0"/>
              <a:t> Comparable &amp; x, </a:t>
            </a:r>
            <a:r>
              <a:rPr lang="en-US" altLang="zh-CN" sz="1700" dirty="0" err="1"/>
              <a:t>BinaryNode</a:t>
            </a:r>
            <a:r>
              <a:rPr lang="en-US" altLang="zh-CN" sz="1700" dirty="0"/>
              <a:t> * &amp; t </a:t>
            </a:r>
            <a:r>
              <a:rPr lang="en-US" altLang="zh-CN" sz="1700" dirty="0" smtClean="0"/>
              <a:t>){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if</a:t>
            </a:r>
            <a:r>
              <a:rPr lang="en-US" altLang="zh-CN" sz="1700" dirty="0"/>
              <a:t>( t == </a:t>
            </a:r>
            <a:r>
              <a:rPr lang="en-US" altLang="zh-CN" sz="1700" dirty="0" err="1"/>
              <a:t>nullptr</a:t>
            </a:r>
            <a:r>
              <a:rPr lang="en-US" altLang="zh-CN" sz="1700" dirty="0"/>
              <a:t> </a:t>
            </a:r>
            <a:r>
              <a:rPr lang="en-US" altLang="zh-CN" sz="1700" dirty="0" smtClean="0"/>
              <a:t>) </a:t>
            </a:r>
            <a:r>
              <a:rPr lang="en-US" altLang="zh-CN" sz="1700" dirty="0"/>
              <a:t>return; // Item not found; do nothing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</a:t>
            </a:r>
            <a:r>
              <a:rPr lang="en-US" altLang="zh-CN" sz="1700" dirty="0"/>
              <a:t>if( x &lt; t-&gt;element </a:t>
            </a:r>
            <a:r>
              <a:rPr lang="en-US" altLang="zh-CN" sz="1700" dirty="0" smtClean="0"/>
              <a:t>) remove</a:t>
            </a:r>
            <a:r>
              <a:rPr lang="en-US" altLang="zh-CN" sz="1700" dirty="0"/>
              <a:t>( x, t-&gt;left );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else </a:t>
            </a:r>
            <a:r>
              <a:rPr lang="en-US" altLang="zh-CN" sz="1700" dirty="0"/>
              <a:t>if( t-&gt;element &lt; x </a:t>
            </a:r>
            <a:r>
              <a:rPr lang="en-US" altLang="zh-CN" sz="1700" dirty="0" smtClean="0"/>
              <a:t>) remove</a:t>
            </a:r>
            <a:r>
              <a:rPr lang="en-US" altLang="zh-CN" sz="1700" dirty="0"/>
              <a:t>( x, t-&gt;right );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else </a:t>
            </a:r>
            <a:r>
              <a:rPr lang="en-US" altLang="zh-CN" sz="1700" dirty="0"/>
              <a:t>if( t-&gt;left != </a:t>
            </a:r>
            <a:r>
              <a:rPr lang="en-US" altLang="zh-CN" sz="1700" dirty="0" err="1"/>
              <a:t>nullptr</a:t>
            </a:r>
            <a:r>
              <a:rPr lang="en-US" altLang="zh-CN" sz="1700" dirty="0"/>
              <a:t> &amp;&amp; t-&gt;right != </a:t>
            </a:r>
            <a:r>
              <a:rPr lang="en-US" altLang="zh-CN" sz="1700" dirty="0" err="1"/>
              <a:t>nullptr</a:t>
            </a:r>
            <a:r>
              <a:rPr lang="en-US" altLang="zh-CN" sz="1700" dirty="0"/>
              <a:t> </a:t>
            </a:r>
            <a:r>
              <a:rPr lang="en-US" altLang="zh-CN" sz="1700" dirty="0" smtClean="0"/>
              <a:t>){// </a:t>
            </a:r>
            <a:r>
              <a:rPr lang="en-US" altLang="zh-CN" sz="1700" dirty="0"/>
              <a:t>Two children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   t-</a:t>
            </a:r>
            <a:r>
              <a:rPr lang="en-US" altLang="zh-CN" sz="1700" dirty="0"/>
              <a:t>&gt;element = </a:t>
            </a:r>
            <a:r>
              <a:rPr lang="en-US" altLang="zh-CN" sz="1700" dirty="0" err="1">
                <a:solidFill>
                  <a:srgbClr val="FF0000"/>
                </a:solidFill>
              </a:rPr>
              <a:t>findMin</a:t>
            </a:r>
            <a:r>
              <a:rPr lang="en-US" altLang="zh-CN" sz="1700" dirty="0"/>
              <a:t>( t-&gt;right )-&gt;element;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   </a:t>
            </a:r>
            <a:r>
              <a:rPr lang="en-US" altLang="zh-CN" sz="1700" dirty="0"/>
              <a:t>remove( t-&gt;element, t-&gt;right );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}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else{ 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   </a:t>
            </a:r>
            <a:r>
              <a:rPr lang="en-US" altLang="zh-CN" sz="1700" dirty="0" err="1" smtClean="0"/>
              <a:t>BinaryNode</a:t>
            </a:r>
            <a:r>
              <a:rPr lang="en-US" altLang="zh-CN" sz="1700" dirty="0" smtClean="0"/>
              <a:t> </a:t>
            </a:r>
            <a:r>
              <a:rPr lang="en-US" altLang="zh-CN" sz="1700" dirty="0"/>
              <a:t>*</a:t>
            </a:r>
            <a:r>
              <a:rPr lang="en-US" altLang="zh-CN" sz="1700" dirty="0" err="1"/>
              <a:t>oldNode</a:t>
            </a:r>
            <a:r>
              <a:rPr lang="en-US" altLang="zh-CN" sz="1700" dirty="0"/>
              <a:t> = t;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   t </a:t>
            </a:r>
            <a:r>
              <a:rPr lang="en-US" altLang="zh-CN" sz="1700" dirty="0"/>
              <a:t>= ( t-&gt;left != </a:t>
            </a:r>
            <a:r>
              <a:rPr lang="en-US" altLang="zh-CN" sz="1700" dirty="0" err="1"/>
              <a:t>nullptr</a:t>
            </a:r>
            <a:r>
              <a:rPr lang="en-US" altLang="zh-CN" sz="1700" dirty="0"/>
              <a:t> ) ? t-&gt;left : t-&gt;right;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   delete </a:t>
            </a:r>
            <a:r>
              <a:rPr lang="en-US" altLang="zh-CN" sz="1700" dirty="0" err="1"/>
              <a:t>oldNode</a:t>
            </a:r>
            <a:r>
              <a:rPr lang="en-US" altLang="zh-CN" sz="1700" dirty="0"/>
              <a:t>;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   }</a:t>
            </a:r>
            <a:endParaRPr lang="en-US" altLang="zh-CN" sz="1700" dirty="0"/>
          </a:p>
          <a:p>
            <a:pPr>
              <a:buFontTx/>
              <a:buNone/>
            </a:pPr>
            <a:r>
              <a:rPr lang="en-US" altLang="zh-CN" sz="1700" dirty="0" smtClean="0"/>
              <a:t>}</a:t>
            </a:r>
            <a:endParaRPr lang="en-US" altLang="zh-CN" sz="17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of </a:t>
            </a:r>
            <a:r>
              <a:rPr lang="en-US" altLang="zh-CN" dirty="0" smtClean="0"/>
              <a:t> BST</a:t>
            </a:r>
            <a:endParaRPr lang="zh-CN" altLang="en-US" dirty="0" smtClean="0"/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Cost of </a:t>
            </a:r>
            <a:r>
              <a:rPr lang="en-US" altLang="zh-CN" sz="2400" dirty="0" smtClean="0"/>
              <a:t>finding</a:t>
            </a:r>
            <a:r>
              <a:rPr lang="en-US" altLang="zh-CN" sz="2400" dirty="0"/>
              <a:t>, insertion, and removal (one node) is the depth of the deepest node in the tree</a:t>
            </a:r>
            <a:endParaRPr lang="en-US" altLang="zh-CN" sz="2400" dirty="0"/>
          </a:p>
          <a:p>
            <a:pPr lvl="1"/>
            <a:r>
              <a:rPr lang="en-US" altLang="zh-CN" sz="2000" dirty="0"/>
              <a:t>Balanced BST in average case: </a:t>
            </a:r>
            <a:r>
              <a:rPr lang="el-GR" altLang="zh-CN" sz="2000" dirty="0"/>
              <a:t>Θ</a:t>
            </a:r>
            <a:r>
              <a:rPr lang="en-US" altLang="zh-CN" sz="2000" dirty="0"/>
              <a:t>(log n)</a:t>
            </a:r>
            <a:endParaRPr lang="en-US" altLang="zh-CN" sz="2000" dirty="0"/>
          </a:p>
          <a:p>
            <a:pPr lvl="1"/>
            <a:r>
              <a:rPr lang="en-US" altLang="zh-CN" sz="2000" dirty="0"/>
              <a:t>Unbalanced BST in worst case: </a:t>
            </a:r>
            <a:r>
              <a:rPr lang="el-GR" altLang="zh-CN" sz="2000" dirty="0"/>
              <a:t>Θ</a:t>
            </a:r>
            <a:r>
              <a:rPr lang="en-US" altLang="zh-CN" sz="2000" dirty="0"/>
              <a:t>(n)</a:t>
            </a:r>
            <a:endParaRPr lang="en-US" altLang="zh-CN" sz="2000" dirty="0"/>
          </a:p>
          <a:p>
            <a:pPr lvl="1"/>
            <a:r>
              <a:rPr lang="en-US" altLang="zh-CN" sz="2000" dirty="0"/>
              <a:t>D</a:t>
            </a:r>
            <a:r>
              <a:rPr lang="en-US" altLang="zh-CN" sz="2000" dirty="0">
                <a:sym typeface="+mn-ea"/>
              </a:rPr>
              <a:t>esirable to keep BSTs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balanced, </a:t>
            </a:r>
            <a:r>
              <a:rPr lang="en-US" altLang="zh-CN" sz="2000" dirty="0">
                <a:sym typeface="+mn-ea"/>
              </a:rPr>
              <a:t>that is, with least possible height</a:t>
            </a:r>
            <a:endParaRPr lang="en-US" altLang="zh-CN" sz="2000" dirty="0"/>
          </a:p>
          <a:p>
            <a:r>
              <a:rPr lang="en-US" altLang="zh-CN" sz="2400" dirty="0"/>
              <a:t>Traverse cost: </a:t>
            </a:r>
            <a:r>
              <a:rPr lang="el-GR" altLang="zh-CN" sz="2400" dirty="0"/>
              <a:t>Θ</a:t>
            </a:r>
            <a:r>
              <a:rPr lang="en-US" altLang="zh-CN" sz="2400" dirty="0"/>
              <a:t>(n)</a:t>
            </a:r>
            <a:endParaRPr lang="en-US" altLang="zh-CN" sz="2400" dirty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defRPr>
            </a:lvl9pPr>
          </a:lstStyle>
          <a:p>
            <a:fld id="{8E68F3F1-2453-4D98-BAE9-DF7FFBCCFB78}" type="slidenum">
              <a:rPr lang="en-US" altLang="zh-CN" sz="1050" smtClean="0"/>
            </a:fld>
            <a:endParaRPr lang="en-US" altLang="zh-CN" sz="1050" smtClean="0"/>
          </a:p>
        </p:txBody>
      </p:sp>
      <p:sp>
        <p:nvSpPr>
          <p:cNvPr id="2" name="矩形 1"/>
          <p:cNvSpPr/>
          <p:nvPr/>
        </p:nvSpPr>
        <p:spPr>
          <a:xfrm>
            <a:off x="1781810" y="4445635"/>
            <a:ext cx="8945880" cy="52197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It is preferable for a BST to be as shallow as possible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Homework 3-1</a:t>
            </a:r>
            <a:endParaRPr lang="en-US" altLang="zh-CN" dirty="0" smtClean="0"/>
          </a:p>
          <a:p>
            <a:pPr lvl="1"/>
            <a:r>
              <a:rPr lang="en-US" altLang="zh-CN" smtClean="0"/>
              <a:t> Textbook </a:t>
            </a:r>
            <a:r>
              <a:rPr lang="en-US" altLang="zh-CN" dirty="0" smtClean="0"/>
              <a:t>Exercises 4.2</a:t>
            </a:r>
            <a:r>
              <a:rPr lang="en-US" altLang="zh-CN" smtClean="0"/>
              <a:t>,  4.5, 4.9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1050" smtClean="0"/>
            </a:fld>
            <a:endParaRPr lang="zh-CN" alt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8871</Words>
  <Application>WPS Writer</Application>
  <PresentationFormat>Widescreen</PresentationFormat>
  <Paragraphs>761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5" baseType="lpstr">
      <vt:lpstr>Arial</vt:lpstr>
      <vt:lpstr>SimSun</vt:lpstr>
      <vt:lpstr>Wingdings</vt:lpstr>
      <vt:lpstr>Times New Roman</vt:lpstr>
      <vt:lpstr>宋体-简</vt:lpstr>
      <vt:lpstr>Symbol</vt:lpstr>
      <vt:lpstr>SimSun</vt:lpstr>
      <vt:lpstr>Microsoft YaHei</vt:lpstr>
      <vt:lpstr>汉仪旗黑</vt:lpstr>
      <vt:lpstr>Arial Unicode MS</vt:lpstr>
      <vt:lpstr>Calibri</vt:lpstr>
      <vt:lpstr>Helvetica Neue</vt:lpstr>
      <vt:lpstr>SimSun</vt:lpstr>
      <vt:lpstr>SimSun</vt:lpstr>
      <vt:lpstr>Kingsoft Sign</vt:lpstr>
      <vt:lpstr>1_Default Design</vt:lpstr>
      <vt:lpstr>Equation.3</vt:lpstr>
      <vt:lpstr>Data Structures</vt:lpstr>
      <vt:lpstr>Chapter 4-1</vt:lpstr>
      <vt:lpstr>Content</vt:lpstr>
      <vt:lpstr>Why Do We Need Trees?</vt:lpstr>
      <vt:lpstr>Tree Definition and Jargon</vt:lpstr>
      <vt:lpstr>More Tree Jargon</vt:lpstr>
      <vt:lpstr>Tree Trivia</vt:lpstr>
      <vt:lpstr>Paths</vt:lpstr>
      <vt:lpstr>Implementation of Trees</vt:lpstr>
      <vt:lpstr>Arbitrary Branching</vt:lpstr>
      <vt:lpstr>PowerPoint 演示文稿</vt:lpstr>
      <vt:lpstr>Binary Trees</vt:lpstr>
      <vt:lpstr>Binary Trees</vt:lpstr>
      <vt:lpstr>Minimum depth vs node count</vt:lpstr>
      <vt:lpstr>Maximum depth vs node count</vt:lpstr>
      <vt:lpstr>Maximum depth vs node count</vt:lpstr>
      <vt:lpstr>PowerPoint 演示文稿</vt:lpstr>
      <vt:lpstr>Traversing Binary Trees</vt:lpstr>
      <vt:lpstr>Traversing Binary Trees</vt:lpstr>
      <vt:lpstr>Traversing Binary Trees</vt:lpstr>
      <vt:lpstr>Traversing Binary Trees</vt:lpstr>
      <vt:lpstr>Binary Search Trees</vt:lpstr>
      <vt:lpstr>PowerPoint 演示文稿</vt:lpstr>
      <vt:lpstr>PowerPoint 演示文稿</vt:lpstr>
      <vt:lpstr>findMin</vt:lpstr>
      <vt:lpstr>insert</vt:lpstr>
      <vt:lpstr>insert</vt:lpstr>
      <vt:lpstr>PowerPoint 演示文稿</vt:lpstr>
      <vt:lpstr>insert</vt:lpstr>
      <vt:lpstr>remove(delete)</vt:lpstr>
      <vt:lpstr>remove(delete)</vt:lpstr>
      <vt:lpstr>remove(delete)</vt:lpstr>
      <vt:lpstr>remove(delete)</vt:lpstr>
      <vt:lpstr>remove(delete)</vt:lpstr>
      <vt:lpstr>remove(delete)</vt:lpstr>
      <vt:lpstr>remove(delete)</vt:lpstr>
      <vt:lpstr>Analysis of  BST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jiexin</dc:creator>
  <cp:lastModifiedBy>JXWang</cp:lastModifiedBy>
  <cp:revision>121</cp:revision>
  <dcterms:created xsi:type="dcterms:W3CDTF">2023-09-15T07:12:39Z</dcterms:created>
  <dcterms:modified xsi:type="dcterms:W3CDTF">2023-09-15T07:12:39Z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