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4"/>
  </p:handoutMasterIdLst>
  <p:sldIdLst>
    <p:sldId id="303" r:id="rId3"/>
    <p:sldId id="275" r:id="rId5"/>
    <p:sldId id="365" r:id="rId6"/>
    <p:sldId id="371" r:id="rId7"/>
    <p:sldId id="372" r:id="rId8"/>
    <p:sldId id="428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429" r:id="rId22"/>
    <p:sldId id="385" r:id="rId23"/>
    <p:sldId id="386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400" r:id="rId38"/>
    <p:sldId id="401" r:id="rId39"/>
    <p:sldId id="402" r:id="rId40"/>
    <p:sldId id="403" r:id="rId41"/>
    <p:sldId id="404" r:id="rId42"/>
    <p:sldId id="405" r:id="rId43"/>
    <p:sldId id="406" r:id="rId44"/>
    <p:sldId id="407" r:id="rId45"/>
    <p:sldId id="408" r:id="rId46"/>
    <p:sldId id="486" r:id="rId47"/>
    <p:sldId id="487" r:id="rId48"/>
    <p:sldId id="488" r:id="rId49"/>
    <p:sldId id="489" r:id="rId50"/>
    <p:sldId id="490" r:id="rId51"/>
    <p:sldId id="491" r:id="rId52"/>
    <p:sldId id="492" r:id="rId53"/>
    <p:sldId id="493" r:id="rId54"/>
    <p:sldId id="494" r:id="rId55"/>
    <p:sldId id="495" r:id="rId56"/>
    <p:sldId id="496" r:id="rId57"/>
    <p:sldId id="497" r:id="rId58"/>
    <p:sldId id="498" r:id="rId59"/>
    <p:sldId id="499" r:id="rId60"/>
    <p:sldId id="500" r:id="rId61"/>
    <p:sldId id="501" r:id="rId62"/>
    <p:sldId id="502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-A230" initials="P" lastIdx="1" clrIdx="0"/>
  <p:cmAuthor id="2" name="jiexin" initials="j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commentAuthors" Target="commentAuthors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handoutMaster" Target="handoutMasters/handoutMaster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pPr marL="0" lvl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 dirty="0" smtClean="0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pPr marL="0" lvl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pPr marL="0" lvl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pPr marL="0" lvl="1"/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 smtClean="0">
              <a:solidFill>
                <a:srgbClr val="CC0000"/>
              </a:solidFill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 err="1" smtClean="0">
              <a:solidFill>
                <a:srgbClr val="99009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 smtClean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 err="1">
              <a:sym typeface="+mn-ea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5.emf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5.emf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emf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6395" y="897255"/>
            <a:ext cx="9144000" cy="1924050"/>
          </a:xfrm>
        </p:spPr>
        <p:txBody>
          <a:bodyPr/>
          <a:p>
            <a:r>
              <a:rPr lang="en-US" altLang="zh-CN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Structures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52140"/>
            <a:ext cx="9144000" cy="2526030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sz="32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sz="32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sz="32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p>
            <a:r>
              <a:rPr lang="en-US"/>
              <a:t>Chapter 3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 sz="3600" dirty="0">
                <a:sym typeface="+mn-ea"/>
              </a:rPr>
              <a:t>Lists, Stacks and Queues</a:t>
            </a:r>
            <a:endParaRPr lang="en-US" sz="36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Content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List</a:t>
            </a:r>
            <a:endParaRPr lang="en-US" altLang="zh-CN" dirty="0" smtClean="0"/>
          </a:p>
          <a:p>
            <a:r>
              <a:rPr lang="en-US" altLang="zh-CN" dirty="0" smtClean="0">
                <a:sym typeface="+mn-ea"/>
              </a:rPr>
              <a:t>Stack</a:t>
            </a:r>
            <a:endParaRPr lang="en-US" altLang="zh-CN" dirty="0" smtClean="0"/>
          </a:p>
          <a:p>
            <a:r>
              <a:rPr lang="en-US" altLang="zh-CN" dirty="0" smtClean="0">
                <a:sym typeface="+mn-ea"/>
              </a:rPr>
              <a:t>Queue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5095" y="1968500"/>
            <a:ext cx="4321810" cy="1263650"/>
          </a:xfrm>
        </p:spPr>
        <p:txBody>
          <a:bodyPr>
            <a:normAutofit/>
          </a:bodyPr>
          <a:lstStyle/>
          <a:p>
            <a:r>
              <a:rPr lang="en-US" altLang="zh-CN" sz="6600" dirty="0" smtClean="0"/>
              <a:t>List</a:t>
            </a:r>
            <a:endParaRPr lang="en-US" altLang="zh-CN" sz="6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965" y="3120390"/>
            <a:ext cx="3259455" cy="2444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What is List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A list is a </a:t>
            </a:r>
            <a:r>
              <a:rPr lang="en-US" altLang="zh-CN" sz="2800" dirty="0">
                <a:solidFill>
                  <a:srgbClr val="FF0000"/>
                </a:solidFill>
              </a:rPr>
              <a:t>finite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0000"/>
                </a:solidFill>
              </a:rPr>
              <a:t>ordered sequence </a:t>
            </a:r>
            <a:r>
              <a:rPr lang="en-US" altLang="zh-CN" sz="2800" dirty="0"/>
              <a:t>of data items called elements</a:t>
            </a:r>
            <a:r>
              <a:rPr lang="en-US" altLang="zh-CN" sz="2800" dirty="0" smtClean="0"/>
              <a:t>.</a:t>
            </a:r>
            <a:endParaRPr lang="en-US" altLang="zh-CN" sz="2800" dirty="0" smtClean="0"/>
          </a:p>
          <a:p>
            <a:pPr lvl="1"/>
            <a:endParaRPr lang="en-US" altLang="zh-CN" sz="375" dirty="0" smtClean="0"/>
          </a:p>
          <a:p>
            <a:pPr lvl="1"/>
            <a:r>
              <a:rPr lang="en-US" altLang="zh-CN" sz="2400" dirty="0" smtClean="0"/>
              <a:t>Notation</a:t>
            </a:r>
            <a:r>
              <a:rPr lang="en-US" altLang="zh-CN" sz="2400" dirty="0"/>
              <a:t>: &lt;a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, 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…, a</a:t>
            </a:r>
            <a:r>
              <a:rPr lang="en-US" altLang="zh-CN" sz="2400" baseline="-25000" dirty="0"/>
              <a:t>n-1</a:t>
            </a:r>
            <a:r>
              <a:rPr lang="en-US" altLang="zh-CN" sz="2400" dirty="0"/>
              <a:t>&gt;</a:t>
            </a:r>
            <a:endParaRPr lang="en-US" altLang="zh-CN" sz="2400" dirty="0"/>
          </a:p>
          <a:p>
            <a:pPr lvl="1"/>
            <a:endParaRPr lang="en-US" altLang="zh-CN" sz="375" dirty="0"/>
          </a:p>
          <a:p>
            <a:pPr lvl="1"/>
            <a:r>
              <a:rPr lang="en-US" altLang="zh-CN" sz="2400" dirty="0"/>
              <a:t>Each element has a </a:t>
            </a:r>
            <a:r>
              <a:rPr lang="en-US" altLang="zh-CN" sz="2400" dirty="0">
                <a:solidFill>
                  <a:srgbClr val="FF0000"/>
                </a:solidFill>
              </a:rPr>
              <a:t>position</a:t>
            </a:r>
            <a:r>
              <a:rPr lang="en-US" altLang="zh-CN" sz="2400" dirty="0"/>
              <a:t> in the list</a:t>
            </a:r>
            <a:r>
              <a:rPr lang="en-US" altLang="zh-CN" sz="2400" dirty="0" smtClean="0"/>
              <a:t>.</a:t>
            </a:r>
            <a:endParaRPr lang="en-US" altLang="zh-CN" sz="2400" dirty="0" smtClean="0"/>
          </a:p>
          <a:p>
            <a:pPr lvl="1"/>
            <a:endParaRPr lang="en-US" altLang="zh-CN" sz="440" dirty="0"/>
          </a:p>
          <a:p>
            <a:pPr lvl="1"/>
            <a:r>
              <a:rPr lang="en-US" altLang="zh-CN" sz="2400" dirty="0"/>
              <a:t>Each element may be of arbitrary </a:t>
            </a:r>
            <a:r>
              <a:rPr lang="en-US" altLang="zh-CN" sz="2400" dirty="0" smtClean="0"/>
              <a:t>type, </a:t>
            </a:r>
            <a:r>
              <a:rPr lang="en-US" altLang="zh-CN" sz="2400" dirty="0"/>
              <a:t>but all are of the same </a:t>
            </a:r>
            <a:r>
              <a:rPr lang="en-US" altLang="zh-CN" sz="2400" dirty="0" smtClean="0"/>
              <a:t>type</a:t>
            </a:r>
            <a:endParaRPr lang="en-US" altLang="zh-CN" sz="2400" dirty="0" smtClean="0"/>
          </a:p>
          <a:p>
            <a:pPr lvl="1"/>
            <a:endParaRPr lang="en-US" altLang="zh-CN" sz="440" dirty="0"/>
          </a:p>
          <a:p>
            <a:pPr lvl="1"/>
            <a:r>
              <a:rPr lang="en-US" altLang="zh-CN" sz="2400" dirty="0"/>
              <a:t>The length of a list is the number of elements currently </a:t>
            </a:r>
            <a:r>
              <a:rPr lang="en-US" altLang="zh-CN" sz="2400" dirty="0" smtClean="0"/>
              <a:t>stored</a:t>
            </a:r>
            <a:endParaRPr lang="en-US" altLang="zh-CN" sz="2400" dirty="0" smtClean="0"/>
          </a:p>
          <a:p>
            <a:pPr lvl="2"/>
            <a:r>
              <a:rPr lang="en-US" altLang="zh-CN" sz="2000" dirty="0"/>
              <a:t>An </a:t>
            </a:r>
            <a:r>
              <a:rPr lang="en-US" altLang="zh-CN" sz="2000" dirty="0">
                <a:solidFill>
                  <a:srgbClr val="CC0000"/>
                </a:solidFill>
              </a:rPr>
              <a:t>empty list </a:t>
            </a:r>
            <a:r>
              <a:rPr lang="en-US" altLang="zh-CN" sz="2000" dirty="0"/>
              <a:t>contains no </a:t>
            </a:r>
            <a:r>
              <a:rPr lang="en-US" altLang="zh-CN" sz="2000" dirty="0" smtClean="0"/>
              <a:t>elements</a:t>
            </a:r>
            <a:endParaRPr lang="en-US" altLang="zh-CN" sz="2000" dirty="0" smtClean="0"/>
          </a:p>
          <a:p>
            <a:pPr lvl="2"/>
            <a:endParaRPr lang="en-US" altLang="zh-CN" sz="440" dirty="0"/>
          </a:p>
          <a:p>
            <a:pPr lvl="1"/>
            <a:r>
              <a:rPr lang="en-US" altLang="zh-CN" sz="2400" dirty="0"/>
              <a:t>The beginning and the end of the list are, respectively, called the </a:t>
            </a:r>
            <a:r>
              <a:rPr lang="en-US" altLang="zh-CN" sz="2400" dirty="0">
                <a:solidFill>
                  <a:srgbClr val="008000"/>
                </a:solidFill>
              </a:rPr>
              <a:t>head</a:t>
            </a:r>
            <a:r>
              <a:rPr lang="en-US" altLang="zh-CN" sz="2400" dirty="0"/>
              <a:t> and the </a:t>
            </a:r>
            <a:r>
              <a:rPr lang="en-US" altLang="zh-CN" sz="2400" dirty="0" smtClean="0">
                <a:solidFill>
                  <a:srgbClr val="008000"/>
                </a:solidFill>
              </a:rPr>
              <a:t>tail</a:t>
            </a:r>
            <a:endParaRPr lang="en-US" altLang="zh-CN" sz="2400" dirty="0" smtClean="0">
              <a:solidFill>
                <a:srgbClr val="008000"/>
              </a:solidFill>
            </a:endParaRPr>
          </a:p>
          <a:p>
            <a:pPr lvl="1"/>
            <a:endParaRPr lang="en-US" altLang="zh-CN" sz="440" dirty="0">
              <a:solidFill>
                <a:srgbClr val="008000"/>
              </a:solidFill>
            </a:endParaRPr>
          </a:p>
          <a:p>
            <a:pPr lvl="1"/>
            <a:r>
              <a:rPr lang="en-US" altLang="zh-CN" sz="2400" dirty="0"/>
              <a:t>Common List operations are:</a:t>
            </a:r>
            <a:endParaRPr lang="en-US" altLang="zh-CN" sz="2400" dirty="0"/>
          </a:p>
          <a:p>
            <a:pPr lvl="2"/>
            <a:r>
              <a:rPr lang="en-US" altLang="zh-CN" sz="2000" dirty="0" smtClean="0"/>
              <a:t>insert</a:t>
            </a:r>
            <a:r>
              <a:rPr lang="en-US" altLang="zh-CN" sz="2000" dirty="0"/>
              <a:t>, </a:t>
            </a:r>
            <a:r>
              <a:rPr lang="en-US" altLang="zh-CN" sz="2000" dirty="0" smtClean="0"/>
              <a:t>append, delete/remove, find, </a:t>
            </a:r>
            <a:r>
              <a:rPr lang="en-US" altLang="zh-CN" sz="2000" dirty="0" err="1" smtClean="0"/>
              <a:t>isEmpty</a:t>
            </a:r>
            <a:r>
              <a:rPr lang="en-US" altLang="zh-CN" sz="2000" dirty="0"/>
              <a:t>, </a:t>
            </a:r>
            <a:r>
              <a:rPr lang="en-US" altLang="zh-CN" sz="2000" dirty="0" err="1" smtClean="0">
                <a:sym typeface="+mn-ea"/>
              </a:rPr>
              <a:t>currPos</a:t>
            </a:r>
            <a:r>
              <a:rPr lang="en-US" altLang="zh-CN" sz="2000" dirty="0">
                <a:sym typeface="+mn-ea"/>
              </a:rPr>
              <a:t>, </a:t>
            </a:r>
            <a:r>
              <a:rPr lang="en-US" altLang="zh-CN" sz="2000" dirty="0" err="1" smtClean="0"/>
              <a:t>prev</a:t>
            </a:r>
            <a:r>
              <a:rPr lang="en-US" altLang="zh-CN" sz="2000" dirty="0" smtClean="0"/>
              <a:t>, next, </a:t>
            </a:r>
            <a:r>
              <a:rPr lang="en-US" altLang="zh-CN" sz="2000" dirty="0" err="1"/>
              <a:t>moveToPos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moveToStart</a:t>
            </a:r>
            <a:r>
              <a:rPr lang="en-US" altLang="zh-CN" sz="2000" dirty="0"/>
              <a:t>, </a:t>
            </a:r>
            <a:r>
              <a:rPr lang="en-US" altLang="zh-CN" sz="2000" dirty="0" smtClean="0"/>
              <a:t>length, </a:t>
            </a:r>
            <a:r>
              <a:rPr lang="en-US" altLang="zh-CN" sz="2000" dirty="0" err="1" smtClean="0"/>
              <a:t>etc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lvl="1"/>
            <a:endParaRPr lang="en-US" altLang="zh-CN" sz="2400" dirty="0" smtClean="0"/>
          </a:p>
          <a:p>
            <a:pPr lvl="1"/>
            <a:endParaRPr lang="en-US" altLang="zh-CN" sz="2400" dirty="0"/>
          </a:p>
          <a:p>
            <a:endParaRPr lang="en-US" altLang="zh-CN" sz="2800" dirty="0"/>
          </a:p>
          <a:p>
            <a:endParaRPr lang="en-US" altLang="zh-CN" sz="2800" dirty="0" smtClean="0"/>
          </a:p>
          <a:p>
            <a:endParaRPr lang="en-US" altLang="zh-CN" sz="2800" dirty="0"/>
          </a:p>
          <a:p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9F7EE10-1D8A-4DF4-8EB3-C1D00618FA23}" type="slidenum">
              <a:rPr lang="zh-CN" altLang="en-US" sz="1050" smtClean="0"/>
            </a:fld>
            <a:endParaRPr lang="zh-CN" altLang="en-US" sz="105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 ADT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823595" y="1271270"/>
            <a:ext cx="5070475" cy="558673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 smtClean="0">
                <a:ea typeface="宋体" pitchFamily="2" charset="-122"/>
              </a:rPr>
              <a:t>// List ADT (</a:t>
            </a:r>
            <a:r>
              <a:rPr lang="en-US" altLang="zh-CN" sz="1600" dirty="0" smtClean="0">
                <a:ea typeface="宋体" pitchFamily="2" charset="-122"/>
                <a:sym typeface="+mn-ea"/>
              </a:rPr>
              <a:t>abstract class in C++</a:t>
            </a:r>
            <a:r>
              <a:rPr lang="en-US" altLang="zh-CN" sz="1600" dirty="0" smtClean="0">
                <a:ea typeface="宋体" pitchFamily="2" charset="-122"/>
              </a:rPr>
              <a:t>)</a:t>
            </a:r>
            <a:endParaRPr lang="en-US" altLang="zh-CN" sz="16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宋体" pitchFamily="2" charset="-122"/>
              </a:rPr>
              <a:t>template </a:t>
            </a:r>
            <a:r>
              <a:rPr lang="en-US" altLang="zh-CN" sz="1600" dirty="0">
                <a:ea typeface="宋体" pitchFamily="2" charset="-122"/>
              </a:rPr>
              <a:t>&lt;</a:t>
            </a:r>
            <a:r>
              <a:rPr lang="en-US" altLang="zh-CN" sz="1600" dirty="0" err="1">
                <a:ea typeface="宋体" pitchFamily="2" charset="-122"/>
              </a:rPr>
              <a:t>typename</a:t>
            </a:r>
            <a:r>
              <a:rPr lang="en-US" altLang="zh-CN" sz="1600" dirty="0">
                <a:ea typeface="宋体" pitchFamily="2" charset="-122"/>
              </a:rPr>
              <a:t> E&gt; class List {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public:</a:t>
            </a:r>
            <a:endParaRPr lang="en-US" altLang="zh-CN" sz="16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    List</a:t>
            </a:r>
            <a:r>
              <a:rPr lang="en-US" altLang="zh-CN" sz="1600" dirty="0">
                <a:ea typeface="宋体" pitchFamily="2" charset="-122"/>
              </a:rPr>
              <a:t>() {}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宋体" pitchFamily="2" charset="-122"/>
              </a:rPr>
              <a:t>      virtual </a:t>
            </a:r>
            <a:r>
              <a:rPr lang="en-US" altLang="zh-CN" sz="1600" dirty="0">
                <a:ea typeface="宋体" pitchFamily="2" charset="-122"/>
              </a:rPr>
              <a:t>~List() {}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    virtual </a:t>
            </a:r>
            <a:r>
              <a:rPr lang="en-US" altLang="zh-CN" sz="1600" dirty="0">
                <a:ea typeface="宋体" pitchFamily="2" charset="-122"/>
              </a:rPr>
              <a:t>bool insert(</a:t>
            </a:r>
            <a:r>
              <a:rPr lang="en-US" altLang="zh-CN" sz="1600" dirty="0" err="1">
                <a:ea typeface="宋体" pitchFamily="2" charset="-122"/>
              </a:rPr>
              <a:t>const</a:t>
            </a:r>
            <a:r>
              <a:rPr lang="en-US" altLang="zh-CN" sz="1600" dirty="0">
                <a:ea typeface="宋体" pitchFamily="2" charset="-122"/>
              </a:rPr>
              <a:t> E&amp; item) = 0;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  <a:sym typeface="+mn-ea"/>
              </a:rPr>
              <a:t> </a:t>
            </a:r>
            <a:r>
              <a:rPr lang="en-US" altLang="zh-CN" sz="1600" dirty="0" smtClean="0">
                <a:ea typeface="宋体" pitchFamily="2" charset="-122"/>
                <a:sym typeface="+mn-ea"/>
              </a:rPr>
              <a:t>     //</a:t>
            </a:r>
            <a:r>
              <a:rPr lang="en-US" altLang="zh-CN" sz="1600" dirty="0">
                <a:ea typeface="宋体" pitchFamily="2" charset="-122"/>
              </a:rPr>
              <a:t>Append an element at the </a:t>
            </a:r>
            <a:r>
              <a:rPr lang="en-US" altLang="zh-CN" sz="1600" dirty="0">
                <a:ea typeface="宋体" pitchFamily="2" charset="-122"/>
              </a:rPr>
              <a:t>end.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  <a:sym typeface="+mn-ea"/>
              </a:rPr>
              <a:t> </a:t>
            </a:r>
            <a:r>
              <a:rPr lang="en-US" altLang="zh-CN" sz="1600" dirty="0" smtClean="0">
                <a:ea typeface="宋体" pitchFamily="2" charset="-122"/>
                <a:sym typeface="+mn-ea"/>
              </a:rPr>
              <a:t>     //</a:t>
            </a:r>
            <a:r>
              <a:rPr lang="en-US" altLang="zh-CN" sz="1600" dirty="0">
                <a:ea typeface="宋体" pitchFamily="2" charset="-122"/>
              </a:rPr>
              <a:t>Return true if successful, false if the list is full.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   </a:t>
            </a:r>
            <a:r>
              <a:rPr lang="en-US" altLang="zh-CN" sz="1600" dirty="0" smtClean="0">
                <a:ea typeface="宋体" pitchFamily="2" charset="-122"/>
              </a:rPr>
              <a:t>  virtual </a:t>
            </a:r>
            <a:r>
              <a:rPr lang="en-US" altLang="zh-CN" sz="1600" dirty="0">
                <a:ea typeface="宋体" pitchFamily="2" charset="-122"/>
              </a:rPr>
              <a:t>bool append(</a:t>
            </a:r>
            <a:r>
              <a:rPr lang="en-US" altLang="zh-CN" sz="1600" dirty="0" err="1">
                <a:ea typeface="宋体" pitchFamily="2" charset="-122"/>
              </a:rPr>
              <a:t>const</a:t>
            </a:r>
            <a:r>
              <a:rPr lang="en-US" altLang="zh-CN" sz="1600" dirty="0">
                <a:ea typeface="宋体" pitchFamily="2" charset="-122"/>
              </a:rPr>
              <a:t> E&amp; item) = 0;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   </a:t>
            </a:r>
            <a:r>
              <a:rPr lang="en-US" altLang="zh-CN" sz="1600" dirty="0" smtClean="0">
                <a:ea typeface="宋体" pitchFamily="2" charset="-122"/>
              </a:rPr>
              <a:t>  virtual </a:t>
            </a:r>
            <a:r>
              <a:rPr lang="en-US" altLang="zh-CN" sz="1600" dirty="0">
                <a:ea typeface="宋体" pitchFamily="2" charset="-122"/>
              </a:rPr>
              <a:t>bool remove(E&amp;) = 0;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    virtual </a:t>
            </a:r>
            <a:r>
              <a:rPr lang="en-US" altLang="zh-CN" sz="1600" dirty="0">
                <a:ea typeface="宋体" pitchFamily="2" charset="-122"/>
              </a:rPr>
              <a:t>void clear() = 0</a:t>
            </a:r>
            <a:r>
              <a:rPr lang="en-US" altLang="zh-CN" sz="1600" dirty="0" smtClean="0">
                <a:ea typeface="宋体" pitchFamily="2" charset="-122"/>
              </a:rPr>
              <a:t>;</a:t>
            </a:r>
            <a:endParaRPr lang="en-US" altLang="zh-CN" sz="16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/>
              <a:t>  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moveToStart</a:t>
            </a:r>
            <a:r>
              <a:rPr lang="en-US" altLang="zh-CN" sz="1600" dirty="0"/>
              <a:t>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moveToEnd</a:t>
            </a:r>
            <a:r>
              <a:rPr lang="en-US" altLang="zh-CN" sz="1600" dirty="0"/>
              <a:t>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prev</a:t>
            </a:r>
            <a:r>
              <a:rPr lang="en-US" altLang="zh-CN" sz="1600" dirty="0"/>
              <a:t>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  virtual </a:t>
            </a:r>
            <a:r>
              <a:rPr lang="en-US" altLang="zh-CN" sz="1600" dirty="0"/>
              <a:t>void next()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virtual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currPos</a:t>
            </a:r>
            <a:r>
              <a:rPr lang="en-US" altLang="zh-CN" sz="1600" dirty="0"/>
              <a:t>() </a:t>
            </a:r>
            <a:r>
              <a:rPr lang="en-US" altLang="zh-CN" sz="1600" dirty="0" err="1"/>
              <a:t>const</a:t>
            </a:r>
            <a:r>
              <a:rPr lang="en-US" altLang="zh-CN" sz="1600" dirty="0"/>
              <a:t> =0;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moveToPos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pos</a:t>
            </a:r>
            <a:r>
              <a:rPr lang="en-US" altLang="zh-CN" sz="1600" dirty="0"/>
              <a:t>) = 0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……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}</a:t>
            </a:r>
            <a:endParaRPr lang="en-US" altLang="zh-CN" sz="1600" dirty="0"/>
          </a:p>
          <a:p>
            <a:endParaRPr lang="en-US" altLang="zh-CN" sz="1600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9F7EE10-1D8A-4DF4-8EB3-C1D00618FA23}" type="slidenum">
              <a:rPr lang="zh-CN" altLang="en-US" sz="1050" smtClean="0"/>
            </a:fld>
            <a:endParaRPr lang="zh-CN" altLang="en-US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 ADT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823595" y="1271270"/>
            <a:ext cx="5070475" cy="558673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 smtClean="0">
                <a:ea typeface="宋体" pitchFamily="2" charset="-122"/>
              </a:rPr>
              <a:t>// List ADT (</a:t>
            </a:r>
            <a:r>
              <a:rPr lang="en-US" altLang="zh-CN" sz="1600" dirty="0" smtClean="0">
                <a:ea typeface="宋体" pitchFamily="2" charset="-122"/>
                <a:sym typeface="+mn-ea"/>
              </a:rPr>
              <a:t>abstract class in C++</a:t>
            </a:r>
            <a:r>
              <a:rPr lang="en-US" altLang="zh-CN" sz="1600" dirty="0" smtClean="0">
                <a:ea typeface="宋体" pitchFamily="2" charset="-122"/>
              </a:rPr>
              <a:t>)</a:t>
            </a:r>
            <a:endParaRPr lang="en-US" altLang="zh-CN" sz="16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宋体" pitchFamily="2" charset="-122"/>
              </a:rPr>
              <a:t>template </a:t>
            </a:r>
            <a:r>
              <a:rPr lang="en-US" altLang="zh-CN" sz="1600" dirty="0">
                <a:ea typeface="宋体" pitchFamily="2" charset="-122"/>
              </a:rPr>
              <a:t>&lt;</a:t>
            </a:r>
            <a:r>
              <a:rPr lang="en-US" altLang="zh-CN" sz="1600" dirty="0" err="1">
                <a:ea typeface="宋体" pitchFamily="2" charset="-122"/>
              </a:rPr>
              <a:t>typename</a:t>
            </a:r>
            <a:r>
              <a:rPr lang="en-US" altLang="zh-CN" sz="1600" dirty="0">
                <a:ea typeface="宋体" pitchFamily="2" charset="-122"/>
              </a:rPr>
              <a:t> E&gt; class List {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public:</a:t>
            </a:r>
            <a:endParaRPr lang="en-US" altLang="zh-CN" sz="16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    List</a:t>
            </a:r>
            <a:r>
              <a:rPr lang="en-US" altLang="zh-CN" sz="1600" dirty="0">
                <a:ea typeface="宋体" pitchFamily="2" charset="-122"/>
              </a:rPr>
              <a:t>() {}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宋体" pitchFamily="2" charset="-122"/>
              </a:rPr>
              <a:t>      virtual </a:t>
            </a:r>
            <a:r>
              <a:rPr lang="en-US" altLang="zh-CN" sz="1600" dirty="0">
                <a:ea typeface="宋体" pitchFamily="2" charset="-122"/>
              </a:rPr>
              <a:t>~List() {}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    virtual </a:t>
            </a:r>
            <a:r>
              <a:rPr lang="en-US" altLang="zh-CN" sz="1600" dirty="0">
                <a:ea typeface="宋体" pitchFamily="2" charset="-122"/>
              </a:rPr>
              <a:t>bool insert(</a:t>
            </a:r>
            <a:r>
              <a:rPr lang="en-US" altLang="zh-CN" sz="1600" dirty="0" err="1">
                <a:ea typeface="宋体" pitchFamily="2" charset="-122"/>
              </a:rPr>
              <a:t>const</a:t>
            </a:r>
            <a:r>
              <a:rPr lang="en-US" altLang="zh-CN" sz="1600" dirty="0">
                <a:ea typeface="宋体" pitchFamily="2" charset="-122"/>
              </a:rPr>
              <a:t> E&amp; item) = 0;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  <a:sym typeface="+mn-ea"/>
              </a:rPr>
              <a:t> </a:t>
            </a:r>
            <a:r>
              <a:rPr lang="en-US" altLang="zh-CN" sz="1600" dirty="0" smtClean="0">
                <a:ea typeface="宋体" pitchFamily="2" charset="-122"/>
                <a:sym typeface="+mn-ea"/>
              </a:rPr>
              <a:t>     //</a:t>
            </a:r>
            <a:r>
              <a:rPr lang="en-US" altLang="zh-CN" sz="1600" dirty="0">
                <a:ea typeface="宋体" pitchFamily="2" charset="-122"/>
              </a:rPr>
              <a:t>Append an element at the </a:t>
            </a:r>
            <a:r>
              <a:rPr lang="en-US" altLang="zh-CN" sz="1600" dirty="0">
                <a:ea typeface="宋体" pitchFamily="2" charset="-122"/>
              </a:rPr>
              <a:t>end.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  <a:sym typeface="+mn-ea"/>
              </a:rPr>
              <a:t> </a:t>
            </a:r>
            <a:r>
              <a:rPr lang="en-US" altLang="zh-CN" sz="1600" dirty="0" smtClean="0">
                <a:ea typeface="宋体" pitchFamily="2" charset="-122"/>
                <a:sym typeface="+mn-ea"/>
              </a:rPr>
              <a:t>     //</a:t>
            </a:r>
            <a:r>
              <a:rPr lang="en-US" altLang="zh-CN" sz="1600" dirty="0">
                <a:ea typeface="宋体" pitchFamily="2" charset="-122"/>
              </a:rPr>
              <a:t>Return true if successful, false if the list is full.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   </a:t>
            </a:r>
            <a:r>
              <a:rPr lang="en-US" altLang="zh-CN" sz="1600" dirty="0" smtClean="0">
                <a:ea typeface="宋体" pitchFamily="2" charset="-122"/>
              </a:rPr>
              <a:t>  virtual </a:t>
            </a:r>
            <a:r>
              <a:rPr lang="en-US" altLang="zh-CN" sz="1600" dirty="0">
                <a:ea typeface="宋体" pitchFamily="2" charset="-122"/>
              </a:rPr>
              <a:t>bool append(</a:t>
            </a:r>
            <a:r>
              <a:rPr lang="en-US" altLang="zh-CN" sz="1600" dirty="0" err="1">
                <a:ea typeface="宋体" pitchFamily="2" charset="-122"/>
              </a:rPr>
              <a:t>const</a:t>
            </a:r>
            <a:r>
              <a:rPr lang="en-US" altLang="zh-CN" sz="1600" dirty="0">
                <a:ea typeface="宋体" pitchFamily="2" charset="-122"/>
              </a:rPr>
              <a:t> E&amp; item) = 0;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   </a:t>
            </a:r>
            <a:r>
              <a:rPr lang="en-US" altLang="zh-CN" sz="1600" dirty="0" smtClean="0">
                <a:ea typeface="宋体" pitchFamily="2" charset="-122"/>
              </a:rPr>
              <a:t>  virtual </a:t>
            </a:r>
            <a:r>
              <a:rPr lang="en-US" altLang="zh-CN" sz="1600" dirty="0">
                <a:ea typeface="宋体" pitchFamily="2" charset="-122"/>
              </a:rPr>
              <a:t>bool remove(E&amp;) = 0;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    virtual </a:t>
            </a:r>
            <a:r>
              <a:rPr lang="en-US" altLang="zh-CN" sz="1600" dirty="0">
                <a:ea typeface="宋体" pitchFamily="2" charset="-122"/>
              </a:rPr>
              <a:t>void clear() = 0</a:t>
            </a:r>
            <a:r>
              <a:rPr lang="en-US" altLang="zh-CN" sz="1600" dirty="0" smtClean="0">
                <a:ea typeface="宋体" pitchFamily="2" charset="-122"/>
              </a:rPr>
              <a:t>;</a:t>
            </a:r>
            <a:endParaRPr lang="en-US" altLang="zh-CN" sz="16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/>
              <a:t>  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moveToStart</a:t>
            </a:r>
            <a:r>
              <a:rPr lang="en-US" altLang="zh-CN" sz="1600" dirty="0"/>
              <a:t>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moveToEnd</a:t>
            </a:r>
            <a:r>
              <a:rPr lang="en-US" altLang="zh-CN" sz="1600" dirty="0"/>
              <a:t>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prev</a:t>
            </a:r>
            <a:r>
              <a:rPr lang="en-US" altLang="zh-CN" sz="1600" dirty="0"/>
              <a:t>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  virtual </a:t>
            </a:r>
            <a:r>
              <a:rPr lang="en-US" altLang="zh-CN" sz="1600" dirty="0"/>
              <a:t>void next()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virtual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currPos</a:t>
            </a:r>
            <a:r>
              <a:rPr lang="en-US" altLang="zh-CN" sz="1600" dirty="0"/>
              <a:t>() </a:t>
            </a:r>
            <a:r>
              <a:rPr lang="en-US" altLang="zh-CN" sz="1600" dirty="0" err="1"/>
              <a:t>const</a:t>
            </a:r>
            <a:r>
              <a:rPr lang="en-US" altLang="zh-CN" sz="1600" dirty="0"/>
              <a:t> =0;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moveToPos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pos</a:t>
            </a:r>
            <a:r>
              <a:rPr lang="en-US" altLang="zh-CN" sz="1600" dirty="0"/>
              <a:t>) = 0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……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}</a:t>
            </a:r>
            <a:endParaRPr lang="en-US" altLang="zh-CN" sz="1600" dirty="0"/>
          </a:p>
          <a:p>
            <a:endParaRPr lang="en-US" altLang="zh-CN" sz="1600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9F7EE10-1D8A-4DF4-8EB3-C1D00618FA23}" type="slidenum">
              <a:rPr lang="zh-CN" altLang="en-US" sz="1050" smtClean="0"/>
            </a:fld>
            <a:endParaRPr lang="zh-CN" altLang="en-US" sz="1050" smtClean="0"/>
          </a:p>
        </p:txBody>
      </p:sp>
      <p:sp>
        <p:nvSpPr>
          <p:cNvPr id="5" name="Text Box 4"/>
          <p:cNvSpPr txBox="1"/>
          <p:nvPr/>
        </p:nvSpPr>
        <p:spPr>
          <a:xfrm>
            <a:off x="5894070" y="1271270"/>
            <a:ext cx="599757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The key design decision in this ADT:  the concept of a </a:t>
            </a:r>
            <a:r>
              <a:rPr lang="en-US" sz="2800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current position</a:t>
            </a:r>
            <a:r>
              <a:rPr lang="en-US" sz="2800"/>
              <a:t>.</a:t>
            </a:r>
            <a:endParaRPr lang="en-US" sz="2800"/>
          </a:p>
        </p:txBody>
      </p:sp>
      <p:sp>
        <p:nvSpPr>
          <p:cNvPr id="4" name="Text Box 3"/>
          <p:cNvSpPr txBox="1"/>
          <p:nvPr/>
        </p:nvSpPr>
        <p:spPr>
          <a:xfrm>
            <a:off x="7749540" y="2388235"/>
            <a:ext cx="24085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&lt;38,99,</a:t>
            </a:r>
            <a:r>
              <a:rPr lang="en-US" sz="2000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|</a:t>
            </a:r>
            <a:r>
              <a:rPr lang="en-US" sz="2000"/>
              <a:t>11,72&gt;</a:t>
            </a:r>
            <a:endParaRPr lang="en-US" sz="2000"/>
          </a:p>
        </p:txBody>
      </p:sp>
      <p:sp>
        <p:nvSpPr>
          <p:cNvPr id="7" name="Text Box 6"/>
          <p:cNvSpPr txBox="1"/>
          <p:nvPr/>
        </p:nvSpPr>
        <p:spPr>
          <a:xfrm>
            <a:off x="8268970" y="2794635"/>
            <a:ext cx="10591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olidFill>
                  <a:schemeClr val="accent6">
                    <a:lumMod val="75000"/>
                  </a:schemeClr>
                </a:solidFill>
                <a:sym typeface="+mn-ea"/>
              </a:rPr>
              <a:t>insert 50</a:t>
            </a:r>
            <a:endParaRPr lang="en-US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8859520" y="4418965"/>
            <a:ext cx="188595" cy="3632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696835" y="3591560"/>
            <a:ext cx="2703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&lt;38,99,</a:t>
            </a:r>
            <a:r>
              <a:rPr lang="en-US" sz="2000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|</a:t>
            </a:r>
            <a:r>
              <a:rPr lang="en-US" sz="2000"/>
              <a:t>50,11,72&gt;</a:t>
            </a:r>
            <a:endParaRPr lang="en-US" sz="2000"/>
          </a:p>
        </p:txBody>
      </p:sp>
      <p:sp>
        <p:nvSpPr>
          <p:cNvPr id="10" name="Text Box 9"/>
          <p:cNvSpPr txBox="1"/>
          <p:nvPr/>
        </p:nvSpPr>
        <p:spPr>
          <a:xfrm>
            <a:off x="8564245" y="4050665"/>
            <a:ext cx="7797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>
                <a:solidFill>
                  <a:schemeClr val="accent6">
                    <a:lumMod val="75000"/>
                  </a:schemeClr>
                </a:solidFill>
                <a:sym typeface="+mn-ea"/>
              </a:rPr>
              <a:t>prev()</a:t>
            </a:r>
            <a:endParaRPr lang="en-US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8798560" y="3201035"/>
            <a:ext cx="188595" cy="3632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7843520" y="4918710"/>
            <a:ext cx="2703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&lt;38,</a:t>
            </a:r>
            <a:r>
              <a:rPr lang="en-US" sz="2000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|</a:t>
            </a:r>
            <a:r>
              <a:rPr lang="en-US" sz="2000"/>
              <a:t>99,50,11,72&gt;</a:t>
            </a:r>
            <a:endParaRPr lang="en-US" sz="2000"/>
          </a:p>
        </p:txBody>
      </p:sp>
      <p:sp>
        <p:nvSpPr>
          <p:cNvPr id="13" name="Text Box 12"/>
          <p:cNvSpPr txBox="1"/>
          <p:nvPr/>
        </p:nvSpPr>
        <p:spPr>
          <a:xfrm>
            <a:off x="8424545" y="5306695"/>
            <a:ext cx="944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olidFill>
                  <a:schemeClr val="accent6">
                    <a:lumMod val="75000"/>
                  </a:schemeClr>
                </a:solidFill>
                <a:sym typeface="+mn-ea"/>
              </a:rPr>
              <a:t>remove</a:t>
            </a:r>
            <a:endParaRPr lang="en-US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8954135" y="5713095"/>
            <a:ext cx="188595" cy="3632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8174990" y="6199505"/>
            <a:ext cx="3188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&lt;38,</a:t>
            </a:r>
            <a:r>
              <a:rPr lang="en-US" sz="2000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|</a:t>
            </a:r>
            <a:r>
              <a:rPr lang="en-US" sz="2000"/>
              <a:t>50,11,72&gt;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4" grpId="0"/>
      <p:bldP spid="4" grpId="1"/>
      <p:bldP spid="7" grpId="0"/>
      <p:bldP spid="11" grpId="0" animBg="1"/>
      <p:bldP spid="7" grpId="1"/>
      <p:bldP spid="11" grpId="1" animBg="1"/>
      <p:bldP spid="9" grpId="0"/>
      <p:bldP spid="9" grpId="1"/>
      <p:bldP spid="10" grpId="0"/>
      <p:bldP spid="10" grpId="1"/>
      <p:bldP spid="8" grpId="0" animBg="1"/>
      <p:bldP spid="8" grpId="1" animBg="1"/>
      <p:bldP spid="12" grpId="0"/>
      <p:bldP spid="12" grpId="1"/>
      <p:bldP spid="13" grpId="0"/>
      <p:bldP spid="14" grpId="0" animBg="1"/>
      <p:bldP spid="13" grpId="1"/>
      <p:bldP spid="14" grpId="1" animBg="1"/>
      <p:bldP spid="15" grpId="0"/>
      <p:bldP spid="1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List Implementation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488950" y="1417955"/>
            <a:ext cx="10972800" cy="2630170"/>
          </a:xfrm>
        </p:spPr>
        <p:txBody>
          <a:bodyPr>
            <a:normAutofit/>
          </a:bodyPr>
          <a:lstStyle/>
          <a:p>
            <a:r>
              <a:rPr lang="en-US" altLang="zh-CN" dirty="0"/>
              <a:t>Two standard list implementations</a:t>
            </a:r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CC0000"/>
                </a:solidFill>
              </a:rPr>
              <a:t>Array-based lists</a:t>
            </a:r>
            <a:endParaRPr lang="en-US" altLang="zh-CN" dirty="0" smtClean="0">
              <a:solidFill>
                <a:srgbClr val="CC0000"/>
              </a:solidFill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Pointer-based lists (Linked lists)</a:t>
            </a:r>
            <a:endParaRPr lang="en-US" altLang="zh-CN" dirty="0">
              <a:solidFill>
                <a:srgbClr val="0000FF"/>
              </a:solidFill>
              <a:ea typeface="宋体" pitchFamily="2" charset="-122"/>
            </a:endParaRPr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9F7EE10-1D8A-4DF4-8EB3-C1D00618FA23}" type="slidenum">
              <a:rPr lang="zh-CN" altLang="en-US" sz="1050" smtClean="0"/>
            </a:fld>
            <a:endParaRPr lang="zh-CN" altLang="en-US" sz="1050" smtClean="0"/>
          </a:p>
        </p:txBody>
      </p:sp>
      <p:sp>
        <p:nvSpPr>
          <p:cNvPr id="4" name="内容占位符 4"/>
          <p:cNvSpPr>
            <a:spLocks noGrp="1"/>
          </p:cNvSpPr>
          <p:nvPr/>
        </p:nvSpPr>
        <p:spPr>
          <a:xfrm>
            <a:off x="7399655" y="1271270"/>
            <a:ext cx="4792345" cy="558673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smtClean="0">
                <a:ea typeface="宋体" pitchFamily="2" charset="-122"/>
              </a:rPr>
              <a:t>// List ADT (</a:t>
            </a:r>
            <a:r>
              <a:rPr lang="en-US" altLang="zh-CN" sz="1600" dirty="0" smtClean="0">
                <a:ea typeface="宋体" pitchFamily="2" charset="-122"/>
                <a:sym typeface="+mn-ea"/>
              </a:rPr>
              <a:t>abstract class in C++</a:t>
            </a:r>
            <a:r>
              <a:rPr lang="en-US" altLang="zh-CN" sz="1600" dirty="0" smtClean="0">
                <a:ea typeface="宋体" pitchFamily="2" charset="-122"/>
              </a:rPr>
              <a:t>)</a:t>
            </a:r>
            <a:endParaRPr lang="en-US" altLang="zh-CN" sz="16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宋体" pitchFamily="2" charset="-122"/>
              </a:rPr>
              <a:t>template </a:t>
            </a:r>
            <a:r>
              <a:rPr lang="en-US" altLang="zh-CN" sz="1600" dirty="0">
                <a:ea typeface="宋体" pitchFamily="2" charset="-122"/>
              </a:rPr>
              <a:t>&lt;</a:t>
            </a:r>
            <a:r>
              <a:rPr lang="en-US" altLang="zh-CN" sz="1600" dirty="0" err="1">
                <a:ea typeface="宋体" pitchFamily="2" charset="-122"/>
              </a:rPr>
              <a:t>typename</a:t>
            </a:r>
            <a:r>
              <a:rPr lang="en-US" altLang="zh-CN" sz="1600" dirty="0">
                <a:ea typeface="宋体" pitchFamily="2" charset="-122"/>
              </a:rPr>
              <a:t> E&gt; class List {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public:</a:t>
            </a:r>
            <a:endParaRPr lang="en-US" altLang="zh-CN" sz="16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    List</a:t>
            </a:r>
            <a:r>
              <a:rPr lang="en-US" altLang="zh-CN" sz="1600" dirty="0">
                <a:ea typeface="宋体" pitchFamily="2" charset="-122"/>
              </a:rPr>
              <a:t>() {}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ea typeface="宋体" pitchFamily="2" charset="-122"/>
              </a:rPr>
              <a:t>      virtual </a:t>
            </a:r>
            <a:r>
              <a:rPr lang="en-US" altLang="zh-CN" sz="1600" dirty="0">
                <a:ea typeface="宋体" pitchFamily="2" charset="-122"/>
              </a:rPr>
              <a:t>~List() {}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    virtual </a:t>
            </a:r>
            <a:r>
              <a:rPr lang="en-US" altLang="zh-CN" sz="1600" dirty="0">
                <a:ea typeface="宋体" pitchFamily="2" charset="-122"/>
              </a:rPr>
              <a:t>bool insert(</a:t>
            </a:r>
            <a:r>
              <a:rPr lang="en-US" altLang="zh-CN" sz="1600" dirty="0" err="1">
                <a:ea typeface="宋体" pitchFamily="2" charset="-122"/>
              </a:rPr>
              <a:t>const</a:t>
            </a:r>
            <a:r>
              <a:rPr lang="en-US" altLang="zh-CN" sz="1600" dirty="0">
                <a:ea typeface="宋体" pitchFamily="2" charset="-122"/>
              </a:rPr>
              <a:t> E&amp; item) = 0;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  <a:sym typeface="+mn-ea"/>
              </a:rPr>
              <a:t> </a:t>
            </a:r>
            <a:r>
              <a:rPr lang="en-US" altLang="zh-CN" sz="1600" dirty="0" smtClean="0">
                <a:ea typeface="宋体" pitchFamily="2" charset="-122"/>
                <a:sym typeface="+mn-ea"/>
              </a:rPr>
              <a:t>     //</a:t>
            </a:r>
            <a:r>
              <a:rPr lang="en-US" altLang="zh-CN" sz="1600" dirty="0">
                <a:ea typeface="宋体" pitchFamily="2" charset="-122"/>
              </a:rPr>
              <a:t>Append an element at the </a:t>
            </a:r>
            <a:r>
              <a:rPr lang="en-US" altLang="zh-CN" sz="1600" dirty="0">
                <a:ea typeface="宋体" pitchFamily="2" charset="-122"/>
              </a:rPr>
              <a:t>end.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  <a:sym typeface="+mn-ea"/>
              </a:rPr>
              <a:t> </a:t>
            </a:r>
            <a:r>
              <a:rPr lang="en-US" altLang="zh-CN" sz="1600" dirty="0" smtClean="0">
                <a:ea typeface="宋体" pitchFamily="2" charset="-122"/>
                <a:sym typeface="+mn-ea"/>
              </a:rPr>
              <a:t>     //</a:t>
            </a:r>
            <a:r>
              <a:rPr lang="en-US" altLang="zh-CN" sz="1600" dirty="0">
                <a:ea typeface="宋体" pitchFamily="2" charset="-122"/>
              </a:rPr>
              <a:t>Return true if successful, false if the list is full.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   </a:t>
            </a:r>
            <a:r>
              <a:rPr lang="en-US" altLang="zh-CN" sz="1600" dirty="0" smtClean="0">
                <a:ea typeface="宋体" pitchFamily="2" charset="-122"/>
              </a:rPr>
              <a:t>  virtual </a:t>
            </a:r>
            <a:r>
              <a:rPr lang="en-US" altLang="zh-CN" sz="1600" dirty="0">
                <a:ea typeface="宋体" pitchFamily="2" charset="-122"/>
              </a:rPr>
              <a:t>bool append(</a:t>
            </a:r>
            <a:r>
              <a:rPr lang="en-US" altLang="zh-CN" sz="1600" dirty="0" err="1">
                <a:ea typeface="宋体" pitchFamily="2" charset="-122"/>
              </a:rPr>
              <a:t>const</a:t>
            </a:r>
            <a:r>
              <a:rPr lang="en-US" altLang="zh-CN" sz="1600" dirty="0">
                <a:ea typeface="宋体" pitchFamily="2" charset="-122"/>
              </a:rPr>
              <a:t> E&amp; item) = 0;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   </a:t>
            </a:r>
            <a:r>
              <a:rPr lang="en-US" altLang="zh-CN" sz="1600" dirty="0" smtClean="0">
                <a:ea typeface="宋体" pitchFamily="2" charset="-122"/>
              </a:rPr>
              <a:t>  virtual </a:t>
            </a:r>
            <a:r>
              <a:rPr lang="en-US" altLang="zh-CN" sz="1600" dirty="0">
                <a:ea typeface="宋体" pitchFamily="2" charset="-122"/>
              </a:rPr>
              <a:t>bool remove(E&amp;) = 0;</a:t>
            </a:r>
            <a:endParaRPr lang="en-US" altLang="zh-CN" sz="16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dirty="0" smtClean="0">
                <a:ea typeface="宋体" pitchFamily="2" charset="-122"/>
              </a:rPr>
              <a:t>     virtual </a:t>
            </a:r>
            <a:r>
              <a:rPr lang="en-US" altLang="zh-CN" sz="1600" dirty="0">
                <a:ea typeface="宋体" pitchFamily="2" charset="-122"/>
              </a:rPr>
              <a:t>void clear() = 0</a:t>
            </a:r>
            <a:r>
              <a:rPr lang="en-US" altLang="zh-CN" sz="1600" dirty="0" smtClean="0">
                <a:ea typeface="宋体" pitchFamily="2" charset="-122"/>
              </a:rPr>
              <a:t>;</a:t>
            </a:r>
            <a:endParaRPr lang="en-US" altLang="zh-CN" sz="1600" dirty="0" smtClean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/>
              <a:t>  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moveToStart</a:t>
            </a:r>
            <a:r>
              <a:rPr lang="en-US" altLang="zh-CN" sz="1600" dirty="0"/>
              <a:t>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moveToEnd</a:t>
            </a:r>
            <a:r>
              <a:rPr lang="en-US" altLang="zh-CN" sz="1600" dirty="0"/>
              <a:t>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prev</a:t>
            </a:r>
            <a:r>
              <a:rPr lang="en-US" altLang="zh-CN" sz="1600" dirty="0"/>
              <a:t>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</a:t>
            </a:r>
            <a:r>
              <a:rPr lang="en-US" altLang="zh-CN" sz="1600" dirty="0" smtClean="0"/>
              <a:t>    virtual </a:t>
            </a:r>
            <a:r>
              <a:rPr lang="en-US" altLang="zh-CN" sz="1600" dirty="0"/>
              <a:t>void next() = 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virtual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currPos</a:t>
            </a:r>
            <a:r>
              <a:rPr lang="en-US" altLang="zh-CN" sz="1600" dirty="0"/>
              <a:t>() </a:t>
            </a:r>
            <a:r>
              <a:rPr lang="en-US" altLang="zh-CN" sz="1600" dirty="0" err="1"/>
              <a:t>const</a:t>
            </a:r>
            <a:r>
              <a:rPr lang="en-US" altLang="zh-CN" sz="1600" dirty="0"/>
              <a:t> =0;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virtual </a:t>
            </a:r>
            <a:r>
              <a:rPr lang="en-US" altLang="zh-CN" sz="1600" dirty="0"/>
              <a:t>void </a:t>
            </a:r>
            <a:r>
              <a:rPr lang="en-US" altLang="zh-CN" sz="1600" dirty="0" err="1"/>
              <a:t>moveToPos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pos</a:t>
            </a:r>
            <a:r>
              <a:rPr lang="en-US" altLang="zh-CN" sz="1600" dirty="0"/>
              <a:t>) = 0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……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}</a:t>
            </a:r>
            <a:endParaRPr lang="en-US" altLang="zh-CN" sz="1600" dirty="0"/>
          </a:p>
          <a:p>
            <a:endParaRPr lang="en-US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List: Array Implementation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856105" y="1398905"/>
            <a:ext cx="9944100" cy="3975735"/>
          </a:xfrm>
        </p:spPr>
        <p:txBody>
          <a:bodyPr wrap="square" numCol="1" anchor="t" anchorCtr="0" compatLnSpc="1">
            <a:noAutofit/>
          </a:bodyPr>
          <a:lstStyle/>
          <a:p>
            <a:r>
              <a:rPr lang="en-US" altLang="zh-CN" dirty="0" smtClean="0">
                <a:ea typeface="宋体" pitchFamily="2" charset="-122"/>
              </a:rPr>
              <a:t>Basic Idea</a:t>
            </a:r>
            <a:r>
              <a:rPr lang="en-US" altLang="zh-CN" sz="2100" dirty="0" smtClean="0">
                <a:ea typeface="宋体" pitchFamily="2" charset="-122"/>
              </a:rPr>
              <a:t>:</a:t>
            </a:r>
            <a:endParaRPr lang="en-US" altLang="zh-CN" sz="2100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Pre-allocate a big array </a:t>
            </a:r>
            <a:r>
              <a:rPr lang="en-US" altLang="zh-CN" b="1" dirty="0">
                <a:solidFill>
                  <a:srgbClr val="FFC000"/>
                </a:solidFill>
                <a:latin typeface="Courier New" panose="02070609020205090404" pitchFamily="49" charset="0"/>
                <a:ea typeface="宋体" pitchFamily="2" charset="-122"/>
                <a:sym typeface="+mn-ea"/>
              </a:rPr>
              <a:t>listArray</a:t>
            </a:r>
            <a:r>
              <a:rPr lang="en-US" altLang="zh-CN" b="1" dirty="0" smtClean="0">
                <a:latin typeface="Courier New" panose="02070609020205090404" pitchFamily="49" charset="0"/>
                <a:ea typeface="宋体" pitchFamily="2" charset="-122"/>
                <a:sym typeface="+mn-ea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of size </a:t>
            </a:r>
            <a:r>
              <a:rPr lang="en-US" altLang="zh-CN" b="1" dirty="0">
                <a:solidFill>
                  <a:srgbClr val="FFC000"/>
                </a:solidFill>
                <a:latin typeface="Courier New" panose="02070609020205090404" pitchFamily="49" charset="0"/>
                <a:ea typeface="宋体" pitchFamily="2" charset="-122"/>
              </a:rPr>
              <a:t>maxSize</a:t>
            </a:r>
            <a:endParaRPr lang="en-US" altLang="zh-CN" b="1" dirty="0">
              <a:latin typeface="Courier New" panose="02070609020205090404" pitchFamily="49" charset="0"/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Keep</a:t>
            </a:r>
            <a:r>
              <a:rPr lang="en-US" altLang="zh-CN" dirty="0" smtClean="0">
                <a:ea typeface="宋体" pitchFamily="2" charset="-122"/>
              </a:rPr>
              <a:t> track of current size using a variable </a:t>
            </a:r>
            <a:r>
              <a:rPr lang="en-US" altLang="zh-CN" b="1" dirty="0" smtClean="0">
                <a:solidFill>
                  <a:srgbClr val="FFC000"/>
                </a:solidFill>
                <a:latin typeface="Courier New" panose="02070609020205090404" pitchFamily="49" charset="0"/>
                <a:ea typeface="宋体" pitchFamily="2" charset="-122"/>
              </a:rPr>
              <a:t>listSize</a:t>
            </a:r>
            <a:endParaRPr lang="en-US" altLang="zh-CN" b="1" dirty="0" smtClean="0">
              <a:latin typeface="Courier New" panose="02070609020205090404" pitchFamily="49" charset="0"/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Keep track of current position using a variable </a:t>
            </a:r>
            <a:r>
              <a:rPr lang="en-US" altLang="zh-CN" b="1" dirty="0" err="1" smtClean="0">
                <a:solidFill>
                  <a:srgbClr val="FFC000"/>
                </a:solidFill>
                <a:latin typeface="Courier New" panose="02070609020205090404" pitchFamily="49" charset="0"/>
              </a:rPr>
              <a:t>curr_position</a:t>
            </a:r>
            <a:endParaRPr lang="en-US" altLang="zh-CN" b="1" dirty="0" err="1" smtClean="0">
              <a:solidFill>
                <a:srgbClr val="FFC000"/>
              </a:solidFill>
              <a:latin typeface="Courier New" panose="02070609020205090404" pitchFamily="49" charset="0"/>
            </a:endParaRPr>
          </a:p>
          <a:p>
            <a:pPr lvl="1"/>
            <a:endParaRPr lang="en-US" altLang="zh-CN" b="1" dirty="0" err="1" smtClean="0">
              <a:solidFill>
                <a:srgbClr val="FFC000"/>
              </a:solidFill>
              <a:latin typeface="Courier New" panose="02070609020205090404" pitchFamily="49" charset="0"/>
            </a:endParaRPr>
          </a:p>
          <a:p>
            <a:pPr lvl="1"/>
            <a:r>
              <a:rPr lang="en-US" altLang="zh-CN" i="1" u="sng" dirty="0" smtClean="0">
                <a:solidFill>
                  <a:srgbClr val="FF0000"/>
                </a:solidFill>
                <a:latin typeface="Arial Italic" panose="020B0604020202090204" charset="0"/>
                <a:ea typeface="宋体" pitchFamily="2" charset="-122"/>
                <a:cs typeface="Arial Italic" panose="020B0604020202090204" charset="0"/>
              </a:rPr>
              <a:t>Shift elements</a:t>
            </a:r>
            <a:r>
              <a:rPr lang="en-US" altLang="zh-CN" i="1" u="sng" dirty="0" smtClean="0">
                <a:latin typeface="Arial Italic" panose="020B0604020202090204" charset="0"/>
                <a:ea typeface="宋体" pitchFamily="2" charset="-122"/>
                <a:cs typeface="Arial Italic" panose="020B0604020202090204" charset="0"/>
              </a:rPr>
              <a:t> when you have to </a:t>
            </a:r>
            <a:r>
              <a:rPr lang="en-US" altLang="zh-CN" i="1" u="sng" dirty="0" smtClean="0">
                <a:solidFill>
                  <a:srgbClr val="0000FF"/>
                </a:solidFill>
                <a:latin typeface="Arial Italic" panose="020B0604020202090204" charset="0"/>
                <a:ea typeface="宋体" pitchFamily="2" charset="-122"/>
                <a:cs typeface="Arial Italic" panose="020B0604020202090204" charset="0"/>
              </a:rPr>
              <a:t>insert or remove</a:t>
            </a:r>
            <a:endParaRPr lang="en-US" altLang="zh-CN" i="1" u="sng" dirty="0" smtClean="0">
              <a:solidFill>
                <a:srgbClr val="0000FF"/>
              </a:solidFill>
              <a:latin typeface="Arial Italic" panose="020B0604020202090204" charset="0"/>
              <a:ea typeface="宋体" pitchFamily="2" charset="-122"/>
              <a:cs typeface="Arial Italic" panose="020B0604020202090204" charset="0"/>
            </a:endParaRPr>
          </a:p>
          <a:p>
            <a:pPr lvl="1"/>
            <a:endParaRPr lang="en-US" altLang="zh-CN" i="1" u="sng" dirty="0" smtClean="0">
              <a:solidFill>
                <a:srgbClr val="0000FF"/>
              </a:solidFill>
              <a:latin typeface="Arial Italic" panose="020B0604020202090204" charset="0"/>
              <a:ea typeface="宋体" pitchFamily="2" charset="-122"/>
              <a:cs typeface="Arial Italic" panose="020B0604020202090204" charset="0"/>
            </a:endParaRP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defRPr/>
            </a:pPr>
            <a:fld id="{2F35F393-5FBA-4147-90CE-5783CC8149EF}" type="slidenum">
              <a:rPr lang="en-US" altLang="zh-CN" sz="790">
                <a:latin typeface="Times New Roman" panose="02020603050405020304" pitchFamily="18" charset="0"/>
              </a:rPr>
            </a:fld>
            <a:endParaRPr lang="en-US" altLang="zh-CN" sz="790">
              <a:latin typeface="Times New Roman" panose="02020603050405020304" pitchFamily="18" charset="0"/>
            </a:endParaRPr>
          </a:p>
        </p:txBody>
      </p:sp>
      <p:grpSp>
        <p:nvGrpSpPr>
          <p:cNvPr id="11271" name="Group 37"/>
          <p:cNvGrpSpPr/>
          <p:nvPr/>
        </p:nvGrpSpPr>
        <p:grpSpPr bwMode="auto">
          <a:xfrm>
            <a:off x="2814320" y="5245735"/>
            <a:ext cx="7305675" cy="1143000"/>
            <a:chOff x="720" y="2976"/>
            <a:chExt cx="4705" cy="583"/>
          </a:xfrm>
        </p:grpSpPr>
        <p:sp>
          <p:nvSpPr>
            <p:cNvPr id="11272" name="Rectangle 5"/>
            <p:cNvSpPr>
              <a:spLocks noChangeArrowheads="1"/>
            </p:cNvSpPr>
            <p:nvPr/>
          </p:nvSpPr>
          <p:spPr bwMode="auto">
            <a:xfrm>
              <a:off x="4366" y="3241"/>
              <a:ext cx="1058" cy="31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73" name="Rectangle 6"/>
            <p:cNvSpPr>
              <a:spLocks noChangeArrowheads="1"/>
            </p:cNvSpPr>
            <p:nvPr/>
          </p:nvSpPr>
          <p:spPr bwMode="auto">
            <a:xfrm>
              <a:off x="3682" y="3241"/>
              <a:ext cx="684" cy="31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74" name="Rectangle 7"/>
            <p:cNvSpPr>
              <a:spLocks noChangeArrowheads="1"/>
            </p:cNvSpPr>
            <p:nvPr/>
          </p:nvSpPr>
          <p:spPr bwMode="auto">
            <a:xfrm>
              <a:off x="2958" y="3241"/>
              <a:ext cx="724" cy="3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A</a:t>
              </a:r>
              <a:r>
                <a:rPr lang="en-US" altLang="zh-CN" sz="1800" baseline="-25000">
                  <a:latin typeface="Arial" panose="020B0604020202090204" pitchFamily="34" charset="0"/>
                  <a:ea typeface="宋体" pitchFamily="2" charset="-122"/>
                </a:rPr>
                <a:t>N</a:t>
              </a:r>
              <a:endParaRPr lang="en-US" altLang="zh-CN" sz="1800" baseline="-250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75" name="Rectangle 8"/>
            <p:cNvSpPr>
              <a:spLocks noChangeArrowheads="1"/>
            </p:cNvSpPr>
            <p:nvPr/>
          </p:nvSpPr>
          <p:spPr bwMode="auto">
            <a:xfrm>
              <a:off x="2571" y="3241"/>
              <a:ext cx="387" cy="3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…</a:t>
              </a:r>
              <a:endParaRPr lang="en-US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76" name="Rectangle 9"/>
            <p:cNvSpPr>
              <a:spLocks noChangeArrowheads="1"/>
            </p:cNvSpPr>
            <p:nvPr/>
          </p:nvSpPr>
          <p:spPr bwMode="auto">
            <a:xfrm>
              <a:off x="2134" y="3241"/>
              <a:ext cx="437" cy="3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A</a:t>
              </a:r>
              <a:r>
                <a:rPr lang="en-US" altLang="zh-CN" sz="1800" baseline="-25000">
                  <a:latin typeface="Arial" panose="020B0604020202090204" pitchFamily="34" charset="0"/>
                  <a:ea typeface="宋体" pitchFamily="2" charset="-122"/>
                </a:rPr>
                <a:t>4</a:t>
              </a:r>
              <a:endParaRPr lang="en-US" altLang="zh-CN" sz="1800" baseline="-250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77" name="Rectangle 10"/>
            <p:cNvSpPr>
              <a:spLocks noChangeArrowheads="1"/>
            </p:cNvSpPr>
            <p:nvPr/>
          </p:nvSpPr>
          <p:spPr bwMode="auto">
            <a:xfrm>
              <a:off x="1618" y="3241"/>
              <a:ext cx="516" cy="3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A</a:t>
              </a:r>
              <a:r>
                <a:rPr lang="en-US" altLang="zh-CN" sz="1800" baseline="-25000">
                  <a:latin typeface="Arial" panose="020B0604020202090204" pitchFamily="34" charset="0"/>
                  <a:ea typeface="宋体" pitchFamily="2" charset="-122"/>
                </a:rPr>
                <a:t>3</a:t>
              </a:r>
              <a:endParaRPr lang="en-US" altLang="zh-CN" sz="1800" baseline="-250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78" name="Rectangle 11"/>
            <p:cNvSpPr>
              <a:spLocks noChangeArrowheads="1"/>
            </p:cNvSpPr>
            <p:nvPr/>
          </p:nvSpPr>
          <p:spPr bwMode="auto">
            <a:xfrm>
              <a:off x="1183" y="3241"/>
              <a:ext cx="435" cy="3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A</a:t>
              </a:r>
              <a:r>
                <a:rPr lang="en-US" altLang="zh-CN" sz="1800" baseline="-25000">
                  <a:latin typeface="Arial" panose="020B0604020202090204" pitchFamily="34" charset="0"/>
                  <a:ea typeface="宋体" pitchFamily="2" charset="-122"/>
                </a:rPr>
                <a:t>2</a:t>
              </a:r>
              <a:endParaRPr lang="en-US" altLang="zh-CN" sz="1800" baseline="-250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79" name="Rectangle 12"/>
            <p:cNvSpPr>
              <a:spLocks noChangeArrowheads="1"/>
            </p:cNvSpPr>
            <p:nvPr/>
          </p:nvSpPr>
          <p:spPr bwMode="auto">
            <a:xfrm>
              <a:off x="720" y="3241"/>
              <a:ext cx="463" cy="3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A</a:t>
              </a:r>
              <a:r>
                <a:rPr lang="en-US" altLang="zh-CN" sz="1800" baseline="-25000">
                  <a:latin typeface="Arial" panose="020B0604020202090204" pitchFamily="34" charset="0"/>
                  <a:ea typeface="宋体" pitchFamily="2" charset="-122"/>
                </a:rPr>
                <a:t>1</a:t>
              </a:r>
              <a:endParaRPr lang="en-US" altLang="zh-CN" sz="1800" baseline="-250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80" name="Rectangle 13"/>
            <p:cNvSpPr>
              <a:spLocks noChangeArrowheads="1"/>
            </p:cNvSpPr>
            <p:nvPr/>
          </p:nvSpPr>
          <p:spPr bwMode="auto">
            <a:xfrm>
              <a:off x="4366" y="2976"/>
              <a:ext cx="1058" cy="26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 dirty="0" smtClean="0">
                  <a:latin typeface="Arial" panose="020B0604020202090204" pitchFamily="34" charset="0"/>
                  <a:ea typeface="宋体" pitchFamily="2" charset="-122"/>
                  <a:sym typeface="+mn-ea"/>
                </a:rPr>
                <a:t>maxSize</a:t>
              </a:r>
              <a:endParaRPr lang="en-US" altLang="zh-CN" sz="1800" dirty="0" smtClean="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81" name="Rectangle 14"/>
            <p:cNvSpPr>
              <a:spLocks noChangeArrowheads="1"/>
            </p:cNvSpPr>
            <p:nvPr/>
          </p:nvSpPr>
          <p:spPr bwMode="auto">
            <a:xfrm>
              <a:off x="3682" y="2976"/>
              <a:ext cx="684" cy="26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endParaRPr lang="zh-CN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82" name="Rectangle 15"/>
            <p:cNvSpPr>
              <a:spLocks noChangeArrowheads="1"/>
            </p:cNvSpPr>
            <p:nvPr/>
          </p:nvSpPr>
          <p:spPr bwMode="auto">
            <a:xfrm>
              <a:off x="2958" y="2976"/>
              <a:ext cx="724" cy="2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list</a:t>
              </a: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Size-1</a:t>
              </a:r>
              <a:endParaRPr lang="en-US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83" name="Rectangle 16"/>
            <p:cNvSpPr>
              <a:spLocks noChangeArrowheads="1"/>
            </p:cNvSpPr>
            <p:nvPr/>
          </p:nvSpPr>
          <p:spPr bwMode="auto">
            <a:xfrm>
              <a:off x="2571" y="2976"/>
              <a:ext cx="387" cy="2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…</a:t>
              </a:r>
              <a:endParaRPr lang="en-US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84" name="Rectangle 17"/>
            <p:cNvSpPr>
              <a:spLocks noChangeArrowheads="1"/>
            </p:cNvSpPr>
            <p:nvPr/>
          </p:nvSpPr>
          <p:spPr bwMode="auto">
            <a:xfrm>
              <a:off x="2134" y="2976"/>
              <a:ext cx="437" cy="2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3</a:t>
              </a:r>
              <a:endParaRPr lang="en-US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85" name="Rectangle 18"/>
            <p:cNvSpPr>
              <a:spLocks noChangeArrowheads="1"/>
            </p:cNvSpPr>
            <p:nvPr/>
          </p:nvSpPr>
          <p:spPr bwMode="auto">
            <a:xfrm>
              <a:off x="1618" y="2976"/>
              <a:ext cx="516" cy="2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2</a:t>
              </a:r>
              <a:endParaRPr lang="en-US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86" name="Rectangle 19"/>
            <p:cNvSpPr>
              <a:spLocks noChangeArrowheads="1"/>
            </p:cNvSpPr>
            <p:nvPr/>
          </p:nvSpPr>
          <p:spPr bwMode="auto">
            <a:xfrm>
              <a:off x="1183" y="2976"/>
              <a:ext cx="435" cy="2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1</a:t>
              </a:r>
              <a:endParaRPr lang="en-US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87" name="Rectangle 20"/>
            <p:cNvSpPr>
              <a:spLocks noChangeArrowheads="1"/>
            </p:cNvSpPr>
            <p:nvPr/>
          </p:nvSpPr>
          <p:spPr bwMode="auto">
            <a:xfrm>
              <a:off x="720" y="2976"/>
              <a:ext cx="463" cy="2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90204" pitchFamily="34" charset="0"/>
                <a:buChar char="•"/>
                <a:defRPr sz="2100"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85725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500"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1300"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en-US" altLang="zh-CN" sz="1800">
                  <a:latin typeface="Arial" panose="020B0604020202090204" pitchFamily="34" charset="0"/>
                  <a:ea typeface="宋体" pitchFamily="2" charset="-122"/>
                </a:rPr>
                <a:t>0</a:t>
              </a:r>
              <a:endParaRPr lang="en-US" altLang="zh-CN" sz="1800">
                <a:latin typeface="Arial" panose="020B0604020202090204" pitchFamily="34" charset="0"/>
                <a:ea typeface="宋体" pitchFamily="2" charset="-122"/>
              </a:endParaRPr>
            </a:p>
          </p:txBody>
        </p:sp>
        <p:sp>
          <p:nvSpPr>
            <p:cNvPr id="11288" name="Line 21"/>
            <p:cNvSpPr>
              <a:spLocks noChangeShapeType="1"/>
            </p:cNvSpPr>
            <p:nvPr/>
          </p:nvSpPr>
          <p:spPr bwMode="auto">
            <a:xfrm>
              <a:off x="720" y="3264"/>
              <a:ext cx="47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89" name="Line 22"/>
            <p:cNvSpPr>
              <a:spLocks noChangeShapeType="1"/>
            </p:cNvSpPr>
            <p:nvPr/>
          </p:nvSpPr>
          <p:spPr bwMode="auto">
            <a:xfrm>
              <a:off x="720" y="2976"/>
              <a:ext cx="0" cy="5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0" name="Line 23"/>
            <p:cNvSpPr>
              <a:spLocks noChangeShapeType="1"/>
            </p:cNvSpPr>
            <p:nvPr/>
          </p:nvSpPr>
          <p:spPr bwMode="auto">
            <a:xfrm>
              <a:off x="1183" y="2976"/>
              <a:ext cx="0" cy="5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1" name="Line 24"/>
            <p:cNvSpPr>
              <a:spLocks noChangeShapeType="1"/>
            </p:cNvSpPr>
            <p:nvPr/>
          </p:nvSpPr>
          <p:spPr bwMode="auto">
            <a:xfrm>
              <a:off x="1618" y="2976"/>
              <a:ext cx="0" cy="5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2" name="Line 25"/>
            <p:cNvSpPr>
              <a:spLocks noChangeShapeType="1"/>
            </p:cNvSpPr>
            <p:nvPr/>
          </p:nvSpPr>
          <p:spPr bwMode="auto">
            <a:xfrm>
              <a:off x="2134" y="2976"/>
              <a:ext cx="0" cy="5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3" name="Line 26"/>
            <p:cNvSpPr>
              <a:spLocks noChangeShapeType="1"/>
            </p:cNvSpPr>
            <p:nvPr/>
          </p:nvSpPr>
          <p:spPr bwMode="auto">
            <a:xfrm>
              <a:off x="2571" y="2976"/>
              <a:ext cx="0" cy="5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4" name="Line 27"/>
            <p:cNvSpPr>
              <a:spLocks noChangeShapeType="1"/>
            </p:cNvSpPr>
            <p:nvPr/>
          </p:nvSpPr>
          <p:spPr bwMode="auto">
            <a:xfrm>
              <a:off x="2958" y="2976"/>
              <a:ext cx="0" cy="5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5" name="Line 28"/>
            <p:cNvSpPr>
              <a:spLocks noChangeShapeType="1"/>
            </p:cNvSpPr>
            <p:nvPr/>
          </p:nvSpPr>
          <p:spPr bwMode="auto">
            <a:xfrm>
              <a:off x="3682" y="2976"/>
              <a:ext cx="0" cy="5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6" name="Line 29"/>
            <p:cNvSpPr>
              <a:spLocks noChangeShapeType="1"/>
            </p:cNvSpPr>
            <p:nvPr/>
          </p:nvSpPr>
          <p:spPr bwMode="auto">
            <a:xfrm>
              <a:off x="4368" y="2976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7" name="Line 30"/>
            <p:cNvSpPr>
              <a:spLocks noChangeShapeType="1"/>
            </p:cNvSpPr>
            <p:nvPr/>
          </p:nvSpPr>
          <p:spPr bwMode="auto">
            <a:xfrm>
              <a:off x="5424" y="2976"/>
              <a:ext cx="1" cy="5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8" name="Line 31"/>
            <p:cNvSpPr>
              <a:spLocks noChangeShapeType="1"/>
            </p:cNvSpPr>
            <p:nvPr/>
          </p:nvSpPr>
          <p:spPr bwMode="auto">
            <a:xfrm>
              <a:off x="2134" y="2976"/>
              <a:ext cx="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99" name="Line 32"/>
            <p:cNvSpPr>
              <a:spLocks noChangeShapeType="1"/>
            </p:cNvSpPr>
            <p:nvPr/>
          </p:nvSpPr>
          <p:spPr bwMode="auto">
            <a:xfrm>
              <a:off x="720" y="2976"/>
              <a:ext cx="47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300" name="Line 34"/>
            <p:cNvSpPr>
              <a:spLocks noChangeShapeType="1"/>
            </p:cNvSpPr>
            <p:nvPr/>
          </p:nvSpPr>
          <p:spPr bwMode="auto">
            <a:xfrm>
              <a:off x="2958" y="3559"/>
              <a:ext cx="7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301" name="Line 35"/>
            <p:cNvSpPr>
              <a:spLocks noChangeShapeType="1"/>
            </p:cNvSpPr>
            <p:nvPr/>
          </p:nvSpPr>
          <p:spPr bwMode="auto">
            <a:xfrm flipV="1">
              <a:off x="720" y="3552"/>
              <a:ext cx="4704" cy="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灯片编号占位符 4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defRPr/>
            </a:pPr>
            <a:fld id="{92DD7085-AFF7-45DC-B64E-B694421A05FB}" type="slidenum">
              <a:rPr lang="en-US" altLang="zh-CN" sz="790">
                <a:latin typeface="Times New Roman" panose="02020603050405020304" pitchFamily="18" charset="0"/>
              </a:rPr>
            </a:fld>
            <a:endParaRPr lang="en-US" altLang="zh-CN" sz="790">
              <a:latin typeface="Times New Roman" panose="02020603050405020304" pitchFamily="18" charset="0"/>
            </a:endParaRPr>
          </a:p>
        </p:txBody>
      </p:sp>
      <p:sp>
        <p:nvSpPr>
          <p:cNvPr id="12294" name="Line 37"/>
          <p:cNvSpPr>
            <a:spLocks noChangeShapeType="1"/>
          </p:cNvSpPr>
          <p:nvPr/>
        </p:nvSpPr>
        <p:spPr bwMode="auto">
          <a:xfrm flipV="1">
            <a:off x="5177378" y="2090924"/>
            <a:ext cx="305991" cy="10358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295" name="Rectangle 39"/>
          <p:cNvSpPr>
            <a:spLocks noChangeArrowheads="1"/>
          </p:cNvSpPr>
          <p:nvPr/>
        </p:nvSpPr>
        <p:spPr bwMode="auto">
          <a:xfrm>
            <a:off x="7159769" y="2312380"/>
            <a:ext cx="944165" cy="283369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296" name="Rectangle 40"/>
          <p:cNvSpPr>
            <a:spLocks noChangeArrowheads="1"/>
          </p:cNvSpPr>
          <p:nvPr/>
        </p:nvSpPr>
        <p:spPr bwMode="auto">
          <a:xfrm>
            <a:off x="6217985" y="2312380"/>
            <a:ext cx="941785" cy="283369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297" name="Rectangle 41"/>
          <p:cNvSpPr>
            <a:spLocks noChangeArrowheads="1"/>
          </p:cNvSpPr>
          <p:nvPr/>
        </p:nvSpPr>
        <p:spPr bwMode="auto">
          <a:xfrm>
            <a:off x="5902469" y="2312380"/>
            <a:ext cx="315515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F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298" name="Rectangle 42"/>
          <p:cNvSpPr>
            <a:spLocks noChangeArrowheads="1"/>
          </p:cNvSpPr>
          <p:nvPr/>
        </p:nvSpPr>
        <p:spPr bwMode="auto">
          <a:xfrm>
            <a:off x="5555997" y="2312380"/>
            <a:ext cx="346472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E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299" name="Rectangle 43"/>
          <p:cNvSpPr>
            <a:spLocks noChangeArrowheads="1"/>
          </p:cNvSpPr>
          <p:nvPr/>
        </p:nvSpPr>
        <p:spPr bwMode="auto">
          <a:xfrm>
            <a:off x="5166663" y="2312380"/>
            <a:ext cx="389334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D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0" name="Rectangle 44"/>
          <p:cNvSpPr>
            <a:spLocks noChangeArrowheads="1"/>
          </p:cNvSpPr>
          <p:nvPr/>
        </p:nvSpPr>
        <p:spPr bwMode="auto">
          <a:xfrm>
            <a:off x="4704701" y="2312380"/>
            <a:ext cx="461963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C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1" name="Rectangle 45"/>
          <p:cNvSpPr>
            <a:spLocks noChangeArrowheads="1"/>
          </p:cNvSpPr>
          <p:nvPr/>
        </p:nvSpPr>
        <p:spPr bwMode="auto">
          <a:xfrm>
            <a:off x="4316557" y="2312380"/>
            <a:ext cx="389334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B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2" name="Rectangle 46"/>
          <p:cNvSpPr>
            <a:spLocks noChangeArrowheads="1"/>
          </p:cNvSpPr>
          <p:nvPr/>
        </p:nvSpPr>
        <p:spPr bwMode="auto">
          <a:xfrm>
            <a:off x="3903410" y="2312380"/>
            <a:ext cx="413147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A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3" name="Rectangle 47"/>
          <p:cNvSpPr>
            <a:spLocks noChangeArrowheads="1"/>
          </p:cNvSpPr>
          <p:nvPr/>
        </p:nvSpPr>
        <p:spPr bwMode="auto">
          <a:xfrm>
            <a:off x="7159769" y="2075445"/>
            <a:ext cx="944165" cy="236935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1200" dirty="0" smtClean="0">
                <a:latin typeface="Arial" panose="020B0604020202090204" pitchFamily="34" charset="0"/>
                <a:ea typeface="宋体" pitchFamily="2" charset="-122"/>
                <a:sym typeface="+mn-ea"/>
              </a:rPr>
              <a:t>maxSize</a:t>
            </a:r>
            <a:endParaRPr lang="en-US" altLang="zh-CN" sz="1200" dirty="0" smtClean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4" name="Rectangle 48"/>
          <p:cNvSpPr>
            <a:spLocks noChangeArrowheads="1"/>
          </p:cNvSpPr>
          <p:nvPr/>
        </p:nvSpPr>
        <p:spPr bwMode="auto">
          <a:xfrm>
            <a:off x="6217985" y="2075445"/>
            <a:ext cx="941785" cy="236935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5" name="Rectangle 49"/>
          <p:cNvSpPr>
            <a:spLocks noChangeArrowheads="1"/>
          </p:cNvSpPr>
          <p:nvPr/>
        </p:nvSpPr>
        <p:spPr bwMode="auto">
          <a:xfrm>
            <a:off x="5902469" y="2075445"/>
            <a:ext cx="315515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5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6" name="Rectangle 50"/>
          <p:cNvSpPr>
            <a:spLocks noChangeArrowheads="1"/>
          </p:cNvSpPr>
          <p:nvPr/>
        </p:nvSpPr>
        <p:spPr bwMode="auto">
          <a:xfrm>
            <a:off x="5555997" y="2075445"/>
            <a:ext cx="346472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4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7" name="Rectangle 51"/>
          <p:cNvSpPr>
            <a:spLocks noChangeArrowheads="1"/>
          </p:cNvSpPr>
          <p:nvPr/>
        </p:nvSpPr>
        <p:spPr bwMode="auto">
          <a:xfrm>
            <a:off x="5166663" y="2075445"/>
            <a:ext cx="389334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3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8" name="Rectangle 52"/>
          <p:cNvSpPr>
            <a:spLocks noChangeArrowheads="1"/>
          </p:cNvSpPr>
          <p:nvPr/>
        </p:nvSpPr>
        <p:spPr bwMode="auto">
          <a:xfrm>
            <a:off x="4704701" y="2075445"/>
            <a:ext cx="461963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2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09" name="Rectangle 53"/>
          <p:cNvSpPr>
            <a:spLocks noChangeArrowheads="1"/>
          </p:cNvSpPr>
          <p:nvPr/>
        </p:nvSpPr>
        <p:spPr bwMode="auto">
          <a:xfrm>
            <a:off x="4316557" y="2075445"/>
            <a:ext cx="389334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1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10" name="Rectangle 54"/>
          <p:cNvSpPr>
            <a:spLocks noChangeArrowheads="1"/>
          </p:cNvSpPr>
          <p:nvPr/>
        </p:nvSpPr>
        <p:spPr bwMode="auto">
          <a:xfrm>
            <a:off x="3903410" y="2075445"/>
            <a:ext cx="413147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0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11" name="Line 55"/>
          <p:cNvSpPr>
            <a:spLocks noChangeShapeType="1"/>
          </p:cNvSpPr>
          <p:nvPr/>
        </p:nvSpPr>
        <p:spPr bwMode="auto">
          <a:xfrm>
            <a:off x="3903410" y="2332620"/>
            <a:ext cx="4200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12" name="Line 56"/>
          <p:cNvSpPr>
            <a:spLocks noChangeShapeType="1"/>
          </p:cNvSpPr>
          <p:nvPr/>
        </p:nvSpPr>
        <p:spPr bwMode="auto">
          <a:xfrm>
            <a:off x="3903410" y="2075445"/>
            <a:ext cx="0" cy="52030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13" name="Line 57"/>
          <p:cNvSpPr>
            <a:spLocks noChangeShapeType="1"/>
          </p:cNvSpPr>
          <p:nvPr/>
        </p:nvSpPr>
        <p:spPr bwMode="auto">
          <a:xfrm>
            <a:off x="4316557" y="2075445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14" name="Line 58"/>
          <p:cNvSpPr>
            <a:spLocks noChangeShapeType="1"/>
          </p:cNvSpPr>
          <p:nvPr/>
        </p:nvSpPr>
        <p:spPr bwMode="auto">
          <a:xfrm>
            <a:off x="4704701" y="2075445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15" name="Line 59"/>
          <p:cNvSpPr>
            <a:spLocks noChangeShapeType="1"/>
          </p:cNvSpPr>
          <p:nvPr/>
        </p:nvSpPr>
        <p:spPr bwMode="auto">
          <a:xfrm>
            <a:off x="5166663" y="2075445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16" name="Line 60"/>
          <p:cNvSpPr>
            <a:spLocks noChangeShapeType="1"/>
          </p:cNvSpPr>
          <p:nvPr/>
        </p:nvSpPr>
        <p:spPr bwMode="auto">
          <a:xfrm>
            <a:off x="5555997" y="2075445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17" name="Line 61"/>
          <p:cNvSpPr>
            <a:spLocks noChangeShapeType="1"/>
          </p:cNvSpPr>
          <p:nvPr/>
        </p:nvSpPr>
        <p:spPr bwMode="auto">
          <a:xfrm>
            <a:off x="5902469" y="2075445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18" name="Line 62"/>
          <p:cNvSpPr>
            <a:spLocks noChangeShapeType="1"/>
          </p:cNvSpPr>
          <p:nvPr/>
        </p:nvSpPr>
        <p:spPr bwMode="auto">
          <a:xfrm>
            <a:off x="6217985" y="2075445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19" name="Line 63"/>
          <p:cNvSpPr>
            <a:spLocks noChangeShapeType="1"/>
          </p:cNvSpPr>
          <p:nvPr/>
        </p:nvSpPr>
        <p:spPr bwMode="auto">
          <a:xfrm>
            <a:off x="7160960" y="2075445"/>
            <a:ext cx="0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20" name="Line 64"/>
          <p:cNvSpPr>
            <a:spLocks noChangeShapeType="1"/>
          </p:cNvSpPr>
          <p:nvPr/>
        </p:nvSpPr>
        <p:spPr bwMode="auto">
          <a:xfrm>
            <a:off x="8103935" y="2075445"/>
            <a:ext cx="1191" cy="52030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21" name="Line 65"/>
          <p:cNvSpPr>
            <a:spLocks noChangeShapeType="1"/>
          </p:cNvSpPr>
          <p:nvPr/>
        </p:nvSpPr>
        <p:spPr bwMode="auto">
          <a:xfrm>
            <a:off x="5166663" y="2075445"/>
            <a:ext cx="38933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22" name="Line 66"/>
          <p:cNvSpPr>
            <a:spLocks noChangeShapeType="1"/>
          </p:cNvSpPr>
          <p:nvPr/>
        </p:nvSpPr>
        <p:spPr bwMode="auto">
          <a:xfrm>
            <a:off x="3903410" y="2075445"/>
            <a:ext cx="4200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23" name="Line 67"/>
          <p:cNvSpPr>
            <a:spLocks noChangeShapeType="1"/>
          </p:cNvSpPr>
          <p:nvPr/>
        </p:nvSpPr>
        <p:spPr bwMode="auto">
          <a:xfrm>
            <a:off x="5902469" y="2595749"/>
            <a:ext cx="64650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24" name="Line 68"/>
          <p:cNvSpPr>
            <a:spLocks noChangeShapeType="1"/>
          </p:cNvSpPr>
          <p:nvPr/>
        </p:nvSpPr>
        <p:spPr bwMode="auto">
          <a:xfrm flipV="1">
            <a:off x="3903410" y="2589795"/>
            <a:ext cx="4200525" cy="5954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25" name="AutoShape 70"/>
          <p:cNvSpPr>
            <a:spLocks noChangeArrowheads="1"/>
          </p:cNvSpPr>
          <p:nvPr/>
        </p:nvSpPr>
        <p:spPr bwMode="auto">
          <a:xfrm>
            <a:off x="4932110" y="1909949"/>
            <a:ext cx="128588" cy="12858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125">
              <a:ea typeface="宋体" pitchFamily="2" charset="-122"/>
            </a:endParaRPr>
          </a:p>
        </p:txBody>
      </p:sp>
      <p:sp>
        <p:nvSpPr>
          <p:cNvPr id="12326" name="Text Box 71"/>
          <p:cNvSpPr txBox="1">
            <a:spLocks noChangeArrowheads="1"/>
          </p:cNvSpPr>
          <p:nvPr/>
        </p:nvSpPr>
        <p:spPr bwMode="auto">
          <a:xfrm>
            <a:off x="4277981" y="1541648"/>
            <a:ext cx="24053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dirty="0" smtClean="0">
                <a:solidFill>
                  <a:srgbClr val="CC0000"/>
                </a:solidFill>
                <a:ea typeface="宋体" pitchFamily="2" charset="-122"/>
              </a:rPr>
              <a:t>insert </a:t>
            </a:r>
            <a:r>
              <a:rPr lang="en-US" altLang="zh-CN" sz="1800" dirty="0">
                <a:solidFill>
                  <a:srgbClr val="CC0000"/>
                </a:solidFill>
                <a:ea typeface="宋体" pitchFamily="2" charset="-122"/>
              </a:rPr>
              <a:t>Z in kth position</a:t>
            </a:r>
            <a:endParaRPr lang="en-US" altLang="zh-CN" sz="1800" dirty="0">
              <a:solidFill>
                <a:srgbClr val="CC0000"/>
              </a:solidFill>
              <a:ea typeface="宋体" pitchFamily="2" charset="-122"/>
            </a:endParaRPr>
          </a:p>
        </p:txBody>
      </p:sp>
      <p:sp>
        <p:nvSpPr>
          <p:cNvPr id="12327" name="Line 105"/>
          <p:cNvSpPr>
            <a:spLocks noChangeShapeType="1"/>
          </p:cNvSpPr>
          <p:nvPr/>
        </p:nvSpPr>
        <p:spPr bwMode="auto">
          <a:xfrm>
            <a:off x="6560885" y="2075445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28" name="Line 106"/>
          <p:cNvSpPr>
            <a:spLocks noChangeShapeType="1"/>
          </p:cNvSpPr>
          <p:nvPr/>
        </p:nvSpPr>
        <p:spPr bwMode="auto">
          <a:xfrm flipV="1">
            <a:off x="5177378" y="3123921"/>
            <a:ext cx="305991" cy="10358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29" name="Rectangle 107"/>
          <p:cNvSpPr>
            <a:spLocks noChangeArrowheads="1"/>
          </p:cNvSpPr>
          <p:nvPr/>
        </p:nvSpPr>
        <p:spPr bwMode="auto">
          <a:xfrm>
            <a:off x="7159769" y="3345377"/>
            <a:ext cx="944165" cy="283369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0" name="Rectangle 108"/>
          <p:cNvSpPr>
            <a:spLocks noChangeArrowheads="1"/>
          </p:cNvSpPr>
          <p:nvPr/>
        </p:nvSpPr>
        <p:spPr bwMode="auto">
          <a:xfrm>
            <a:off x="6560885" y="3345377"/>
            <a:ext cx="598885" cy="283369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1" name="Rectangle 109"/>
          <p:cNvSpPr>
            <a:spLocks noChangeArrowheads="1"/>
          </p:cNvSpPr>
          <p:nvPr/>
        </p:nvSpPr>
        <p:spPr bwMode="auto">
          <a:xfrm>
            <a:off x="5902469" y="3345377"/>
            <a:ext cx="315515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E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2" name="Rectangle 110"/>
          <p:cNvSpPr>
            <a:spLocks noChangeArrowheads="1"/>
          </p:cNvSpPr>
          <p:nvPr/>
        </p:nvSpPr>
        <p:spPr bwMode="auto">
          <a:xfrm>
            <a:off x="5555997" y="3345377"/>
            <a:ext cx="346472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D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3" name="Rectangle 111"/>
          <p:cNvSpPr>
            <a:spLocks noChangeArrowheads="1"/>
          </p:cNvSpPr>
          <p:nvPr/>
        </p:nvSpPr>
        <p:spPr bwMode="auto">
          <a:xfrm>
            <a:off x="5166663" y="3345377"/>
            <a:ext cx="389334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C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4" name="Rectangle 112"/>
          <p:cNvSpPr>
            <a:spLocks noChangeArrowheads="1"/>
          </p:cNvSpPr>
          <p:nvPr/>
        </p:nvSpPr>
        <p:spPr bwMode="auto">
          <a:xfrm>
            <a:off x="4704701" y="3345377"/>
            <a:ext cx="461963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Z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5" name="Rectangle 113"/>
          <p:cNvSpPr>
            <a:spLocks noChangeArrowheads="1"/>
          </p:cNvSpPr>
          <p:nvPr/>
        </p:nvSpPr>
        <p:spPr bwMode="auto">
          <a:xfrm>
            <a:off x="4316557" y="3345377"/>
            <a:ext cx="389334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B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6" name="Rectangle 114"/>
          <p:cNvSpPr>
            <a:spLocks noChangeArrowheads="1"/>
          </p:cNvSpPr>
          <p:nvPr/>
        </p:nvSpPr>
        <p:spPr bwMode="auto">
          <a:xfrm>
            <a:off x="3903410" y="3345377"/>
            <a:ext cx="413147" cy="28336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A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7" name="Rectangle 115"/>
          <p:cNvSpPr>
            <a:spLocks noChangeArrowheads="1"/>
          </p:cNvSpPr>
          <p:nvPr/>
        </p:nvSpPr>
        <p:spPr bwMode="auto">
          <a:xfrm>
            <a:off x="7159769" y="3108443"/>
            <a:ext cx="944165" cy="236935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1200" dirty="0" smtClean="0">
                <a:latin typeface="Arial" panose="020B0604020202090204" pitchFamily="34" charset="0"/>
                <a:ea typeface="宋体" pitchFamily="2" charset="-122"/>
                <a:sym typeface="+mn-ea"/>
              </a:rPr>
              <a:t>maxSize</a:t>
            </a:r>
            <a:endParaRPr lang="en-US" altLang="zh-CN" sz="1200" dirty="0" smtClean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8" name="Rectangle 116"/>
          <p:cNvSpPr>
            <a:spLocks noChangeArrowheads="1"/>
          </p:cNvSpPr>
          <p:nvPr/>
        </p:nvSpPr>
        <p:spPr bwMode="auto">
          <a:xfrm>
            <a:off x="6560885" y="3108443"/>
            <a:ext cx="598885" cy="236935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39" name="Rectangle 117"/>
          <p:cNvSpPr>
            <a:spLocks noChangeArrowheads="1"/>
          </p:cNvSpPr>
          <p:nvPr/>
        </p:nvSpPr>
        <p:spPr bwMode="auto">
          <a:xfrm>
            <a:off x="5902469" y="3108443"/>
            <a:ext cx="315515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5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40" name="Rectangle 118"/>
          <p:cNvSpPr>
            <a:spLocks noChangeArrowheads="1"/>
          </p:cNvSpPr>
          <p:nvPr/>
        </p:nvSpPr>
        <p:spPr bwMode="auto">
          <a:xfrm>
            <a:off x="5555997" y="3108443"/>
            <a:ext cx="346472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4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41" name="Rectangle 119"/>
          <p:cNvSpPr>
            <a:spLocks noChangeArrowheads="1"/>
          </p:cNvSpPr>
          <p:nvPr/>
        </p:nvSpPr>
        <p:spPr bwMode="auto">
          <a:xfrm>
            <a:off x="5166663" y="3108443"/>
            <a:ext cx="389334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3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42" name="Rectangle 120"/>
          <p:cNvSpPr>
            <a:spLocks noChangeArrowheads="1"/>
          </p:cNvSpPr>
          <p:nvPr/>
        </p:nvSpPr>
        <p:spPr bwMode="auto">
          <a:xfrm>
            <a:off x="4704701" y="3108443"/>
            <a:ext cx="461963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2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43" name="Rectangle 121"/>
          <p:cNvSpPr>
            <a:spLocks noChangeArrowheads="1"/>
          </p:cNvSpPr>
          <p:nvPr/>
        </p:nvSpPr>
        <p:spPr bwMode="auto">
          <a:xfrm>
            <a:off x="4316557" y="3108443"/>
            <a:ext cx="389334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1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44" name="Rectangle 122"/>
          <p:cNvSpPr>
            <a:spLocks noChangeArrowheads="1"/>
          </p:cNvSpPr>
          <p:nvPr/>
        </p:nvSpPr>
        <p:spPr bwMode="auto">
          <a:xfrm>
            <a:off x="3903410" y="3108443"/>
            <a:ext cx="413147" cy="23693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0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45" name="Line 124"/>
          <p:cNvSpPr>
            <a:spLocks noChangeShapeType="1"/>
          </p:cNvSpPr>
          <p:nvPr/>
        </p:nvSpPr>
        <p:spPr bwMode="auto">
          <a:xfrm>
            <a:off x="3903410" y="3108443"/>
            <a:ext cx="0" cy="52030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46" name="Line 125"/>
          <p:cNvSpPr>
            <a:spLocks noChangeShapeType="1"/>
          </p:cNvSpPr>
          <p:nvPr/>
        </p:nvSpPr>
        <p:spPr bwMode="auto">
          <a:xfrm>
            <a:off x="4316557" y="3108443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47" name="Line 126"/>
          <p:cNvSpPr>
            <a:spLocks noChangeShapeType="1"/>
          </p:cNvSpPr>
          <p:nvPr/>
        </p:nvSpPr>
        <p:spPr bwMode="auto">
          <a:xfrm>
            <a:off x="4704701" y="3108443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48" name="Line 127"/>
          <p:cNvSpPr>
            <a:spLocks noChangeShapeType="1"/>
          </p:cNvSpPr>
          <p:nvPr/>
        </p:nvSpPr>
        <p:spPr bwMode="auto">
          <a:xfrm>
            <a:off x="5166663" y="3108443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49" name="Line 128"/>
          <p:cNvSpPr>
            <a:spLocks noChangeShapeType="1"/>
          </p:cNvSpPr>
          <p:nvPr/>
        </p:nvSpPr>
        <p:spPr bwMode="auto">
          <a:xfrm>
            <a:off x="5555997" y="3108443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50" name="Line 129"/>
          <p:cNvSpPr>
            <a:spLocks noChangeShapeType="1"/>
          </p:cNvSpPr>
          <p:nvPr/>
        </p:nvSpPr>
        <p:spPr bwMode="auto">
          <a:xfrm>
            <a:off x="5902469" y="3108443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51" name="Line 131"/>
          <p:cNvSpPr>
            <a:spLocks noChangeShapeType="1"/>
          </p:cNvSpPr>
          <p:nvPr/>
        </p:nvSpPr>
        <p:spPr bwMode="auto">
          <a:xfrm>
            <a:off x="7160960" y="3108443"/>
            <a:ext cx="0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52" name="Line 132"/>
          <p:cNvSpPr>
            <a:spLocks noChangeShapeType="1"/>
          </p:cNvSpPr>
          <p:nvPr/>
        </p:nvSpPr>
        <p:spPr bwMode="auto">
          <a:xfrm>
            <a:off x="8103935" y="3108443"/>
            <a:ext cx="1191" cy="52030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53" name="Line 133"/>
          <p:cNvSpPr>
            <a:spLocks noChangeShapeType="1"/>
          </p:cNvSpPr>
          <p:nvPr/>
        </p:nvSpPr>
        <p:spPr bwMode="auto">
          <a:xfrm>
            <a:off x="5166663" y="3108443"/>
            <a:ext cx="38933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54" name="Line 135"/>
          <p:cNvSpPr>
            <a:spLocks noChangeShapeType="1"/>
          </p:cNvSpPr>
          <p:nvPr/>
        </p:nvSpPr>
        <p:spPr bwMode="auto">
          <a:xfrm>
            <a:off x="5902469" y="3628746"/>
            <a:ext cx="64650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55" name="AutoShape 137"/>
          <p:cNvSpPr>
            <a:spLocks noChangeArrowheads="1"/>
          </p:cNvSpPr>
          <p:nvPr/>
        </p:nvSpPr>
        <p:spPr bwMode="auto">
          <a:xfrm>
            <a:off x="4932110" y="2942946"/>
            <a:ext cx="128588" cy="12858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400">
              <a:ea typeface="宋体" pitchFamily="2" charset="-122"/>
            </a:endParaRPr>
          </a:p>
        </p:txBody>
      </p:sp>
      <p:sp>
        <p:nvSpPr>
          <p:cNvPr id="12356" name="Line 138"/>
          <p:cNvSpPr>
            <a:spLocks noChangeShapeType="1"/>
          </p:cNvSpPr>
          <p:nvPr/>
        </p:nvSpPr>
        <p:spPr bwMode="auto">
          <a:xfrm>
            <a:off x="6560885" y="3108443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57" name="Rectangle 139"/>
          <p:cNvSpPr>
            <a:spLocks noChangeArrowheads="1"/>
          </p:cNvSpPr>
          <p:nvPr/>
        </p:nvSpPr>
        <p:spPr bwMode="auto">
          <a:xfrm>
            <a:off x="6216794" y="3365618"/>
            <a:ext cx="342900" cy="2571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F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58" name="Rectangle 140"/>
          <p:cNvSpPr>
            <a:spLocks noChangeArrowheads="1"/>
          </p:cNvSpPr>
          <p:nvPr/>
        </p:nvSpPr>
        <p:spPr bwMode="auto">
          <a:xfrm>
            <a:off x="6216794" y="3108443"/>
            <a:ext cx="342900" cy="2571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zh-CN" sz="1400">
                <a:latin typeface="Arial" panose="020B0604020202090204" pitchFamily="34" charset="0"/>
                <a:ea typeface="宋体" pitchFamily="2" charset="-122"/>
              </a:rPr>
              <a:t>6</a:t>
            </a:r>
            <a:endParaRPr lang="en-US" altLang="zh-CN" sz="14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2359" name="Line 134"/>
          <p:cNvSpPr>
            <a:spLocks noChangeShapeType="1"/>
          </p:cNvSpPr>
          <p:nvPr/>
        </p:nvSpPr>
        <p:spPr bwMode="auto">
          <a:xfrm>
            <a:off x="3903410" y="3108443"/>
            <a:ext cx="4200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60" name="Line 130"/>
          <p:cNvSpPr>
            <a:spLocks noChangeShapeType="1"/>
          </p:cNvSpPr>
          <p:nvPr/>
        </p:nvSpPr>
        <p:spPr bwMode="auto">
          <a:xfrm>
            <a:off x="6216794" y="3108443"/>
            <a:ext cx="0" cy="5203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61" name="Line 123"/>
          <p:cNvSpPr>
            <a:spLocks noChangeShapeType="1"/>
          </p:cNvSpPr>
          <p:nvPr/>
        </p:nvSpPr>
        <p:spPr bwMode="auto">
          <a:xfrm>
            <a:off x="3903410" y="3365618"/>
            <a:ext cx="4200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62" name="Line 136"/>
          <p:cNvSpPr>
            <a:spLocks noChangeShapeType="1"/>
          </p:cNvSpPr>
          <p:nvPr/>
        </p:nvSpPr>
        <p:spPr bwMode="auto">
          <a:xfrm flipV="1">
            <a:off x="3903410" y="3622793"/>
            <a:ext cx="4200525" cy="5954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63" name="AutoShape 141"/>
          <p:cNvSpPr>
            <a:spLocks noChangeArrowheads="1"/>
          </p:cNvSpPr>
          <p:nvPr/>
        </p:nvSpPr>
        <p:spPr bwMode="auto">
          <a:xfrm>
            <a:off x="5660772" y="2675520"/>
            <a:ext cx="171450" cy="342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sz="1125">
              <a:ea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03625" y="3929086"/>
            <a:ext cx="353885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Running time for N elements?</a:t>
            </a:r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83230" y="4328160"/>
            <a:ext cx="648462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zh-CN" dirty="0">
                <a:solidFill>
                  <a:srgbClr val="008000"/>
                </a:solidFill>
              </a:rPr>
              <a:t>On average, must move half the elements to make room – assuming insertions at positions are equally likely</a:t>
            </a:r>
            <a:endParaRPr lang="en-US" altLang="zh-CN" dirty="0">
              <a:solidFill>
                <a:srgbClr val="008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83230" y="4973320"/>
            <a:ext cx="676084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C0000"/>
                </a:solidFill>
              </a:rPr>
              <a:t>Worst case is insert at position 0.  Must move all N items one position before the insert</a:t>
            </a:r>
            <a:endParaRPr lang="en-US" altLang="zh-CN" dirty="0">
              <a:solidFill>
                <a:srgbClr val="CC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12310" y="5618480"/>
            <a:ext cx="316738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This is </a:t>
            </a:r>
            <a:r>
              <a:rPr lang="el-GR" altLang="zh-CN" dirty="0">
                <a:solidFill>
                  <a:srgbClr val="FF0000"/>
                </a:solidFill>
                <a:sym typeface="+mn-ea"/>
              </a:rPr>
              <a:t>Θ</a:t>
            </a:r>
            <a:r>
              <a:rPr lang="en-US" altLang="zh-CN" dirty="0">
                <a:solidFill>
                  <a:srgbClr val="FF0000"/>
                </a:solidFill>
              </a:rPr>
              <a:t>(N) running </a:t>
            </a:r>
            <a:r>
              <a:rPr lang="en-US" altLang="zh-CN" dirty="0" smtClean="0">
                <a:solidFill>
                  <a:srgbClr val="FF0000"/>
                </a:solidFill>
              </a:rPr>
              <a:t>time. 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83230" y="6111240"/>
            <a:ext cx="163131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Best case?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85780" y="5249987"/>
            <a:ext cx="10591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  <a:ea typeface="宋体" pitchFamily="2" charset="-122"/>
              </a:rPr>
              <a:t>Quickly?</a:t>
            </a:r>
            <a:endParaRPr lang="en-US" altLang="zh-CN" dirty="0">
              <a:solidFill>
                <a:srgbClr val="990099"/>
              </a:solidFill>
              <a:ea typeface="宋体" pitchFamily="2" charset="-122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ea typeface="宋体" pitchFamily="2" charset="-122"/>
              </a:rPr>
              <a:t>List: Array Implementation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9" name="矩形 6"/>
          <p:cNvSpPr/>
          <p:nvPr/>
        </p:nvSpPr>
        <p:spPr>
          <a:xfrm>
            <a:off x="4612005" y="6353175"/>
            <a:ext cx="9442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l-GR" altLang="zh-CN" dirty="0">
                <a:solidFill>
                  <a:srgbClr val="FF0000"/>
                </a:solidFill>
              </a:rPr>
              <a:t>Θ</a:t>
            </a:r>
            <a:r>
              <a:rPr lang="en-US" altLang="zh-CN" dirty="0">
                <a:solidFill>
                  <a:srgbClr val="FF0000"/>
                </a:solidFill>
              </a:rPr>
              <a:t>(1)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 6"/>
          <p:cNvSpPr/>
          <p:nvPr/>
        </p:nvSpPr>
        <p:spPr>
          <a:xfrm>
            <a:off x="8523605" y="4605020"/>
            <a:ext cx="9442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l-GR" altLang="zh-CN" dirty="0">
                <a:solidFill>
                  <a:srgbClr val="FF0000"/>
                </a:solidFill>
              </a:rPr>
              <a:t>Θ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>
                <a:solidFill>
                  <a:srgbClr val="FF0000"/>
                </a:solidFill>
              </a:rPr>
              <a:t>N)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3" grpId="1"/>
      <p:bldP spid="6" grpId="0"/>
      <p:bldP spid="6" grpId="1"/>
      <p:bldP spid="9" grpId="0"/>
      <p:bldP spid="9" grpId="1"/>
      <p:bldP spid="10" grpId="0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List: </a:t>
            </a:r>
            <a:r>
              <a:rPr lang="en-US" altLang="zh-CN" dirty="0"/>
              <a:t>Array Implementation</a:t>
            </a:r>
            <a:endParaRPr lang="zh-CN" altLang="en-US" dirty="0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409190" y="1764030"/>
            <a:ext cx="7649210" cy="132715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insert</a:t>
            </a:r>
            <a:r>
              <a:rPr lang="en-US" altLang="zh-CN" dirty="0" smtClean="0"/>
              <a:t> the element at position </a:t>
            </a:r>
            <a:r>
              <a:rPr lang="en-US" altLang="zh-CN" dirty="0" err="1" smtClean="0"/>
              <a:t>curr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Shift left n-i-1 elements toward the tail </a:t>
            </a:r>
            <a:endParaRPr lang="en-US" altLang="zh-CN" sz="790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EF163A8-F4A2-4371-8360-1A5B1D61D940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" name="矩形 1"/>
          <p:cNvSpPr/>
          <p:nvPr/>
        </p:nvSpPr>
        <p:spPr>
          <a:xfrm>
            <a:off x="3887957" y="3198022"/>
            <a:ext cx="4692320" cy="27922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insert element at the 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current </a:t>
            </a:r>
            <a:r>
              <a:rPr lang="en-US" altLang="zh-CN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position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insert(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E&amp; it) 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dirty="0" smtClean="0">
              <a:solidFill>
                <a:srgbClr val="99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Assert(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listSize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maxSize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“Exceed capacity”);</a:t>
            </a:r>
            <a:endParaRPr lang="en-US" altLang="zh-CN" dirty="0">
              <a:solidFill>
                <a:srgbClr val="99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Elements up </a:t>
            </a:r>
            <a:endParaRPr lang="en-US" altLang="zh-CN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for(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listSize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--)</a:t>
            </a:r>
            <a:endParaRPr lang="en-US" altLang="zh-CN" dirty="0">
              <a:solidFill>
                <a:srgbClr val="99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listArray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listArray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[i-1]; </a:t>
            </a:r>
            <a:endParaRPr lang="en-US" altLang="zh-CN" dirty="0">
              <a:solidFill>
                <a:srgbClr val="99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listArray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it;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insert the element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listSize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 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increment list size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dirty="0" smtClean="0">
              <a:solidFill>
                <a:srgbClr val="99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List: </a:t>
            </a:r>
            <a:r>
              <a:rPr lang="en-US" altLang="zh-CN" dirty="0"/>
              <a:t>Array Implementation</a:t>
            </a:r>
            <a:endParaRPr lang="zh-CN" altLang="en-US" dirty="0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1891030" y="1552575"/>
            <a:ext cx="8146415" cy="67945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remove</a:t>
            </a:r>
            <a:r>
              <a:rPr lang="en-US" altLang="zh-CN" dirty="0" smtClean="0"/>
              <a:t> the element at position </a:t>
            </a:r>
            <a:r>
              <a:rPr lang="en-US" altLang="zh-CN" dirty="0" err="1" smtClean="0"/>
              <a:t>curr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Shift left n-i-1 elements toward the head </a:t>
            </a:r>
            <a:endParaRPr lang="en-US" altLang="zh-CN" sz="790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EF163A8-F4A2-4371-8360-1A5B1D61D940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" name="矩形 1"/>
          <p:cNvSpPr/>
          <p:nvPr/>
        </p:nvSpPr>
        <p:spPr>
          <a:xfrm>
            <a:off x="3256280" y="2715895"/>
            <a:ext cx="5323840" cy="316801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 Remove and return the current element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 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remove() {</a:t>
            </a:r>
            <a:endParaRPr lang="en-US" altLang="zh-CN" dirty="0">
              <a:solidFill>
                <a:srgbClr val="990099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Assert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&gt;=0)&amp;&amp;(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listSize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), “no element);</a:t>
            </a:r>
            <a:endParaRPr lang="en-US" altLang="zh-CN" dirty="0">
              <a:solidFill>
                <a:srgbClr val="990099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E 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it = 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listArray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 Copy the element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for(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&lt;listSize-1; 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++)</a:t>
            </a:r>
            <a:endParaRPr lang="en-US" altLang="zh-CN" dirty="0">
              <a:solidFill>
                <a:srgbClr val="990099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Shift them down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listArray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] = </a:t>
            </a:r>
            <a:r>
              <a:rPr lang="en-US" altLang="zh-CN" dirty="0" err="1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listArray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[i+1];</a:t>
            </a:r>
            <a:endParaRPr lang="en-US" altLang="zh-CN" dirty="0">
              <a:solidFill>
                <a:srgbClr val="990099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dirty="0" err="1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listSize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-;   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 Decrement size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return 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it;</a:t>
            </a:r>
            <a:endParaRPr lang="en-US" altLang="zh-CN" dirty="0">
              <a:solidFill>
                <a:srgbClr val="990099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}</a:t>
            </a:r>
            <a:endParaRPr lang="en-US" altLang="zh-CN" dirty="0" smtClean="0">
              <a:solidFill>
                <a:srgbClr val="990099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77415" y="5991225"/>
            <a:ext cx="84213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Time cost – Θ(1) for best case; Θ(n) for worst- and average cases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List: </a:t>
            </a:r>
            <a:r>
              <a:rPr lang="en-US" altLang="zh-CN" dirty="0"/>
              <a:t>Array Implementation</a:t>
            </a:r>
            <a:endParaRPr lang="zh-CN" altLang="en-US" dirty="0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609600" y="2921000"/>
            <a:ext cx="3656330" cy="67945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Other operations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endParaRPr lang="en-US" altLang="zh-CN" sz="490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EF163A8-F4A2-4371-8360-1A5B1D61D940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" name="矩形 1"/>
          <p:cNvSpPr/>
          <p:nvPr/>
        </p:nvSpPr>
        <p:spPr>
          <a:xfrm>
            <a:off x="4639310" y="1829435"/>
            <a:ext cx="5470525" cy="4241165"/>
          </a:xfrm>
          <a:prstGeom prst="rect">
            <a:avLst/>
          </a:prstGeom>
        </p:spPr>
        <p:txBody>
          <a:bodyPr vert="horz" lIns="68580" tIns="34290" rIns="68580" bIns="34290" rtlCol="0"/>
          <a:lstStyle/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moveToPos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Assert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&gt;=0)&amp;&amp;(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listSize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“out of range);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moveToStart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position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moveToEnd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listSize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at 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altLang="zh-CN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if(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!=0)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--; 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next() { if(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listSize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 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Length()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 return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listSize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currPos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return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05835" y="6353175"/>
            <a:ext cx="571246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Time cost – Θ(1) for </a:t>
            </a:r>
            <a:r>
              <a:rPr lang="en-US" altLang="zh-CN" dirty="0" smtClean="0">
                <a:solidFill>
                  <a:srgbClr val="FF0000"/>
                </a:solidFill>
              </a:rPr>
              <a:t>best, worst- </a:t>
            </a:r>
            <a:r>
              <a:rPr lang="en-US" altLang="zh-CN" dirty="0">
                <a:solidFill>
                  <a:srgbClr val="FF0000"/>
                </a:solidFill>
              </a:rPr>
              <a:t>and average cases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List: </a:t>
            </a:r>
            <a:r>
              <a:rPr lang="en-US" altLang="zh-CN" dirty="0"/>
              <a:t>Array Implementation</a:t>
            </a:r>
            <a:endParaRPr lang="zh-CN" altLang="en-US" dirty="0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3723111" y="1764973"/>
            <a:ext cx="4745236" cy="679313"/>
          </a:xfrm>
        </p:spPr>
        <p:txBody>
          <a:bodyPr>
            <a:normAutofit fontScale="7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Search for a value K in the </a:t>
            </a:r>
            <a:r>
              <a:rPr lang="en-US" altLang="zh-CN" dirty="0" smtClean="0">
                <a:solidFill>
                  <a:srgbClr val="FF0000"/>
                </a:solidFill>
              </a:rPr>
              <a:t>list</a:t>
            </a:r>
            <a:endParaRPr lang="en-US" altLang="zh-CN" sz="790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EF163A8-F4A2-4371-8360-1A5B1D61D940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" name="矩形 1"/>
          <p:cNvSpPr/>
          <p:nvPr/>
        </p:nvSpPr>
        <p:spPr>
          <a:xfrm>
            <a:off x="3282315" y="2230755"/>
            <a:ext cx="5956300" cy="279209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//Return true if K is in list,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otherwise,false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find(List&lt;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&gt;&amp; L,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K) 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for(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L.moveToStart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L.currPos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L.Length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L.next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 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it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getValue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  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//return value of </a:t>
            </a:r>
            <a:r>
              <a:rPr lang="en-US" altLang="zh-CN" dirty="0" err="1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element 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 (K == it) return true; 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Found it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}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return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false;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found</a:t>
            </a:r>
            <a:endParaRPr lang="en-US" altLang="zh-CN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2"/>
          <p:cNvSpPr/>
          <p:nvPr/>
        </p:nvSpPr>
        <p:spPr>
          <a:xfrm>
            <a:off x="2379345" y="5346065"/>
            <a:ext cx="8421370" cy="3987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3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Time cost – Θ(1) for best case; Θ(n) for worst- and average cases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7" name="Up Arrow 6"/>
          <p:cNvSpPr/>
          <p:nvPr/>
        </p:nvSpPr>
        <p:spPr>
          <a:xfrm>
            <a:off x="5624195" y="5848985"/>
            <a:ext cx="282575" cy="37655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697095" y="6303010"/>
            <a:ext cx="2447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insert</a:t>
            </a:r>
            <a:r>
              <a:rPr lang="zh-CN" altLang="en-US">
                <a:ea typeface="宋体" charset="0"/>
              </a:rPr>
              <a:t>，</a:t>
            </a:r>
            <a:r>
              <a:rPr lang="en-US" altLang="zh-CN">
                <a:ea typeface="宋体" charset="0"/>
              </a:rPr>
              <a:t>remove</a:t>
            </a:r>
            <a:r>
              <a:rPr lang="zh-CN" altLang="en-US">
                <a:ea typeface="宋体" charset="0"/>
              </a:rPr>
              <a:t>，</a:t>
            </a:r>
            <a:r>
              <a:rPr lang="en-US" altLang="zh-CN">
                <a:ea typeface="宋体" charset="0"/>
              </a:rPr>
              <a:t>find</a:t>
            </a:r>
            <a:endParaRPr lang="en-US" altLang="zh-CN"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7" grpId="1" animBg="1"/>
      <p:bldP spid="8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List: </a:t>
            </a:r>
            <a:r>
              <a:rPr lang="en-US" altLang="zh-CN" dirty="0"/>
              <a:t>Array Implementation</a:t>
            </a:r>
            <a:endParaRPr lang="zh-CN" altLang="en-US" dirty="0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038985" y="2006600"/>
            <a:ext cx="8509635" cy="3109595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C++ STL – Vector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 </a:t>
            </a:r>
            <a:r>
              <a:rPr lang="en-US" altLang="zh-CN" dirty="0" err="1" smtClean="0"/>
              <a:t>growable</a:t>
            </a:r>
            <a:r>
              <a:rPr lang="en-US" altLang="zh-CN" dirty="0" smtClean="0"/>
              <a:t> array </a:t>
            </a:r>
            <a:r>
              <a:rPr lang="en-US" altLang="zh-CN" dirty="0"/>
              <a:t>implementation of the List </a:t>
            </a:r>
            <a:r>
              <a:rPr lang="en-US" altLang="zh-CN" dirty="0" smtClean="0"/>
              <a:t>ADT</a:t>
            </a:r>
            <a:endParaRPr lang="en-US" altLang="zh-CN" dirty="0" smtClean="0"/>
          </a:p>
          <a:p>
            <a:pPr lvl="2"/>
            <a:r>
              <a:rPr lang="en-US" altLang="zh-CN" sz="2200" dirty="0"/>
              <a:t>How to provide a grow-able array implementation of the List ADT</a:t>
            </a:r>
            <a:endParaRPr lang="en-US" altLang="zh-CN" sz="2200" dirty="0" smtClean="0"/>
          </a:p>
          <a:p>
            <a:pPr lvl="1"/>
            <a:endParaRPr lang="en-US" altLang="zh-CN" dirty="0"/>
          </a:p>
          <a:p>
            <a:pPr lvl="1"/>
            <a:r>
              <a:rPr lang="en-US" altLang="zh-CN" dirty="0" smtClean="0"/>
              <a:t>Textbook section 3.3</a:t>
            </a:r>
            <a:r>
              <a:rPr lang="zh-CN" altLang="en-US" dirty="0" smtClean="0">
                <a:ea typeface="宋体" charset="0"/>
              </a:rPr>
              <a:t>，</a:t>
            </a:r>
            <a:r>
              <a:rPr lang="en-US" altLang="zh-CN" dirty="0" smtClean="0">
                <a:ea typeface="宋体" charset="0"/>
              </a:rPr>
              <a:t>3.4</a:t>
            </a:r>
            <a:r>
              <a:rPr lang="en-US" altLang="zh-CN" dirty="0" smtClean="0"/>
              <a:t> vector &amp; Code </a:t>
            </a:r>
            <a:r>
              <a:rPr lang="en-US" altLang="zh-CN" dirty="0" err="1" smtClean="0"/>
              <a:t>vector.h</a:t>
            </a:r>
            <a:r>
              <a:rPr lang="en-US" altLang="zh-CN" dirty="0" smtClean="0"/>
              <a:t> and TestVector</a:t>
            </a:r>
            <a:r>
              <a:rPr lang="en-US" altLang="zh-CN" dirty="0"/>
              <a:t>.</a:t>
            </a:r>
            <a:r>
              <a:rPr lang="en-US" altLang="zh-CN" dirty="0" smtClean="0"/>
              <a:t>cpp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sz="490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EF163A8-F4A2-4371-8360-1A5B1D61D940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190115" y="36449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67360" y="1542415"/>
            <a:ext cx="6093460" cy="4227195"/>
          </a:xfrm>
        </p:spPr>
        <p:txBody>
          <a:bodyPr>
            <a:normAutofit fontScale="70000"/>
          </a:bodyPr>
          <a:lstStyle/>
          <a:p>
            <a:r>
              <a:rPr lang="en-US" altLang="zh-CN" dirty="0" smtClean="0"/>
              <a:t>Linked list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008000"/>
                </a:solidFill>
              </a:rPr>
              <a:t>Use dynamic memory allocation which allocates memory for new list elements as </a:t>
            </a:r>
            <a:r>
              <a:rPr lang="en-US" altLang="zh-CN" dirty="0" smtClean="0">
                <a:solidFill>
                  <a:srgbClr val="008000"/>
                </a:solidFill>
              </a:rPr>
              <a:t>needed</a:t>
            </a:r>
            <a:endParaRPr lang="en-US" altLang="zh-CN" dirty="0" smtClean="0">
              <a:solidFill>
                <a:srgbClr val="008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en-US" altLang="zh-CN" dirty="0">
                <a:solidFill>
                  <a:srgbClr val="5252D4"/>
                </a:solidFill>
              </a:rPr>
              <a:t>A linked list is made up of a series of objects, called the </a:t>
            </a:r>
            <a:r>
              <a:rPr lang="en-US" altLang="zh-CN" b="1" dirty="0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nodes </a:t>
            </a:r>
            <a:r>
              <a:rPr lang="en-US" altLang="zh-CN" dirty="0">
                <a:solidFill>
                  <a:srgbClr val="5252D4"/>
                </a:solidFill>
              </a:rPr>
              <a:t>of the list. The nodes are linked using </a:t>
            </a:r>
            <a:r>
              <a:rPr lang="en-US" altLang="zh-CN" i="1" dirty="0" smtClean="0">
                <a:solidFill>
                  <a:srgbClr val="5252D4"/>
                </a:solidFill>
                <a:latin typeface="Arial Italic" panose="020B0604020202090204" charset="0"/>
                <a:cs typeface="Arial Italic" panose="020B0604020202090204" charset="0"/>
              </a:rPr>
              <a:t>pointers</a:t>
            </a:r>
            <a:r>
              <a:rPr lang="en-US" altLang="zh-CN" dirty="0" smtClean="0">
                <a:solidFill>
                  <a:srgbClr val="5252D4"/>
                </a:solidFill>
              </a:rPr>
              <a:t>.</a:t>
            </a:r>
            <a:endParaRPr lang="en-US" altLang="zh-CN" dirty="0" smtClean="0">
              <a:solidFill>
                <a:srgbClr val="5252D4"/>
              </a:solidFill>
            </a:endParaRPr>
          </a:p>
          <a:p>
            <a:pPr lvl="2"/>
            <a:r>
              <a:rPr lang="en-US" altLang="zh-CN" sz="2600" dirty="0" smtClean="0">
                <a:solidFill>
                  <a:srgbClr val="5252D4"/>
                </a:solidFill>
              </a:rPr>
              <a:t>Keep </a:t>
            </a:r>
            <a:r>
              <a:rPr lang="en-US" altLang="zh-CN" sz="2600" dirty="0">
                <a:solidFill>
                  <a:srgbClr val="5252D4"/>
                </a:solidFill>
              </a:rPr>
              <a:t>track of list by linking the nodes together</a:t>
            </a:r>
            <a:endParaRPr lang="en-US" altLang="zh-CN" sz="2600" dirty="0">
              <a:solidFill>
                <a:srgbClr val="5252D4"/>
              </a:solidFill>
            </a:endParaRPr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Change </a:t>
            </a:r>
            <a:r>
              <a:rPr lang="en-US" altLang="zh-CN" dirty="0"/>
              <a:t>links when you want to insert or delete</a:t>
            </a:r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sz="490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EF163A8-F4A2-4371-8360-1A5B1D61D940}" type="slidenum">
              <a:rPr lang="en-US" altLang="zh-CN" sz="1050" smtClean="0"/>
            </a:fld>
            <a:endParaRPr lang="en-US" altLang="zh-CN" sz="105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5385" y="2025015"/>
            <a:ext cx="5936615" cy="10013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985" y="3510915"/>
            <a:ext cx="5173345" cy="1765935"/>
          </a:xfrm>
          <a:prstGeom prst="rect">
            <a:avLst/>
          </a:prstGeom>
        </p:spPr>
      </p:pic>
      <p:pic>
        <p:nvPicPr>
          <p:cNvPr id="7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90" y="5706389"/>
            <a:ext cx="6066046" cy="9998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805430" y="1609090"/>
            <a:ext cx="5932170" cy="4862830"/>
          </a:xfrm>
        </p:spPr>
        <p:txBody>
          <a:bodyPr vert="horz" lIns="68580" tIns="34290" rIns="68580" bIns="34290" rtlCol="0"/>
          <a:lstStyle/>
          <a:p>
            <a:pPr marL="0">
              <a:buNone/>
            </a:pPr>
            <a:r>
              <a:rPr lang="en-US" altLang="zh-CN" sz="2000" dirty="0">
                <a:ea typeface="宋体" pitchFamily="2" charset="-122"/>
              </a:rPr>
              <a:t>// An implementation of a simple 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>
                <a:ea typeface="宋体" pitchFamily="2" charset="-122"/>
              </a:rPr>
              <a:t>// singly-linked list 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node</a:t>
            </a:r>
            <a:endParaRPr lang="en-US" altLang="zh-CN" sz="2000" dirty="0">
              <a:solidFill>
                <a:srgbClr val="FF0000"/>
              </a:solidFill>
              <a:ea typeface="宋体" pitchFamily="2" charset="-122"/>
            </a:endParaRPr>
          </a:p>
          <a:p>
            <a:pPr marL="0">
              <a:buNone/>
            </a:pP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>
                <a:ea typeface="宋体" pitchFamily="2" charset="-122"/>
              </a:rPr>
              <a:t>template &lt;</a:t>
            </a:r>
            <a:r>
              <a:rPr lang="en-US" altLang="zh-CN" sz="2000" dirty="0" err="1">
                <a:ea typeface="宋体" pitchFamily="2" charset="-122"/>
              </a:rPr>
              <a:t>typename</a:t>
            </a:r>
            <a:r>
              <a:rPr lang="en-US" altLang="zh-CN" sz="2000" dirty="0">
                <a:ea typeface="宋体" pitchFamily="2" charset="-122"/>
              </a:rPr>
              <a:t> E&gt; class Link {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    public</a:t>
            </a:r>
            <a:r>
              <a:rPr lang="en-US" altLang="zh-CN" sz="2000" dirty="0">
                <a:ea typeface="宋体" pitchFamily="2" charset="-122"/>
              </a:rPr>
              <a:t>: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    E </a:t>
            </a:r>
            <a:r>
              <a:rPr lang="en-US" altLang="zh-CN" sz="2000" dirty="0">
                <a:ea typeface="宋体" pitchFamily="2" charset="-122"/>
              </a:rPr>
              <a:t>element; </a:t>
            </a:r>
            <a:r>
              <a:rPr lang="en-US" altLang="zh-CN" sz="2000" dirty="0" smtClean="0">
                <a:ea typeface="宋体" pitchFamily="2" charset="-122"/>
              </a:rPr>
              <a:t> </a:t>
            </a:r>
            <a:r>
              <a:rPr lang="en-US" altLang="zh-CN" sz="2000" dirty="0" smtClean="0">
                <a:solidFill>
                  <a:srgbClr val="008000"/>
                </a:solidFill>
                <a:ea typeface="宋体" pitchFamily="2" charset="-122"/>
              </a:rPr>
              <a:t>//value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for this node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    Link </a:t>
            </a:r>
            <a:r>
              <a:rPr lang="en-US" altLang="zh-CN" sz="2000" dirty="0">
                <a:ea typeface="宋体" pitchFamily="2" charset="-122"/>
              </a:rPr>
              <a:t>*next;  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//Pointer to next node in list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>
                <a:ea typeface="宋体" pitchFamily="2" charset="-122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//Constructors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    Link(</a:t>
            </a:r>
            <a:r>
              <a:rPr lang="en-US" altLang="zh-CN" sz="2000" dirty="0" err="1" smtClean="0">
                <a:ea typeface="宋体" pitchFamily="2" charset="-122"/>
              </a:rPr>
              <a:t>const</a:t>
            </a:r>
            <a:r>
              <a:rPr lang="en-US" altLang="zh-CN" sz="2000" dirty="0" smtClean="0">
                <a:ea typeface="宋体" pitchFamily="2" charset="-122"/>
              </a:rPr>
              <a:t> </a:t>
            </a:r>
            <a:r>
              <a:rPr lang="en-US" altLang="zh-CN" sz="2000" dirty="0">
                <a:ea typeface="宋体" pitchFamily="2" charset="-122"/>
              </a:rPr>
              <a:t>E&amp; </a:t>
            </a:r>
            <a:r>
              <a:rPr lang="en-US" altLang="zh-CN" sz="2000" dirty="0" err="1">
                <a:ea typeface="宋体" pitchFamily="2" charset="-122"/>
              </a:rPr>
              <a:t>elemval</a:t>
            </a:r>
            <a:r>
              <a:rPr lang="en-US" altLang="zh-CN" sz="2000" dirty="0">
                <a:ea typeface="宋体" pitchFamily="2" charset="-122"/>
              </a:rPr>
              <a:t>, Link* </a:t>
            </a:r>
            <a:r>
              <a:rPr lang="en-US" altLang="zh-CN" sz="2000" dirty="0" err="1">
                <a:ea typeface="宋体" pitchFamily="2" charset="-122"/>
              </a:rPr>
              <a:t>nextval</a:t>
            </a:r>
            <a:r>
              <a:rPr lang="en-US" altLang="zh-CN" sz="2000" dirty="0">
                <a:ea typeface="宋体" pitchFamily="2" charset="-122"/>
              </a:rPr>
              <a:t> =NULL)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>
                <a:ea typeface="宋体" pitchFamily="2" charset="-122"/>
              </a:rPr>
              <a:t>    {element = </a:t>
            </a:r>
            <a:r>
              <a:rPr lang="en-US" altLang="zh-CN" sz="2000" dirty="0" err="1">
                <a:ea typeface="宋体" pitchFamily="2" charset="-122"/>
              </a:rPr>
              <a:t>elemval</a:t>
            </a:r>
            <a:r>
              <a:rPr lang="en-US" altLang="zh-CN" sz="2000" dirty="0">
                <a:ea typeface="宋体" pitchFamily="2" charset="-122"/>
              </a:rPr>
              <a:t>;  next = </a:t>
            </a:r>
            <a:r>
              <a:rPr lang="en-US" altLang="zh-CN" sz="2000" dirty="0" err="1">
                <a:ea typeface="宋体" pitchFamily="2" charset="-122"/>
              </a:rPr>
              <a:t>nextval</a:t>
            </a:r>
            <a:r>
              <a:rPr lang="en-US" altLang="zh-CN" sz="2000" dirty="0">
                <a:ea typeface="宋体" pitchFamily="2" charset="-122"/>
              </a:rPr>
              <a:t>; }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    Link(Link</a:t>
            </a:r>
            <a:r>
              <a:rPr lang="en-US" altLang="zh-CN" sz="2000" dirty="0">
                <a:ea typeface="宋体" pitchFamily="2" charset="-122"/>
              </a:rPr>
              <a:t>* </a:t>
            </a:r>
            <a:r>
              <a:rPr lang="en-US" altLang="zh-CN" sz="2000" dirty="0" err="1">
                <a:ea typeface="宋体" pitchFamily="2" charset="-122"/>
              </a:rPr>
              <a:t>nextval</a:t>
            </a:r>
            <a:r>
              <a:rPr lang="en-US" altLang="zh-CN" sz="2000" dirty="0">
                <a:ea typeface="宋体" pitchFamily="2" charset="-122"/>
              </a:rPr>
              <a:t> =NULL)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>
                <a:ea typeface="宋体" pitchFamily="2" charset="-122"/>
              </a:rPr>
              <a:t>    { next = </a:t>
            </a:r>
            <a:r>
              <a:rPr lang="en-US" altLang="zh-CN" sz="2000" dirty="0" err="1">
                <a:ea typeface="宋体" pitchFamily="2" charset="-122"/>
              </a:rPr>
              <a:t>nextval</a:t>
            </a:r>
            <a:r>
              <a:rPr lang="en-US" altLang="zh-CN" sz="2000" dirty="0">
                <a:ea typeface="宋体" pitchFamily="2" charset="-122"/>
              </a:rPr>
              <a:t>; }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};</a:t>
            </a:r>
            <a:endParaRPr lang="en-US" altLang="zh-CN" sz="2000" dirty="0" smtClean="0">
              <a:ea typeface="宋体" pitchFamily="2" charset="-122"/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EF163A8-F4A2-4371-8360-1A5B1D61D940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90115" y="36449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442700" cy="2947670"/>
          </a:xfrm>
        </p:spPr>
        <p:txBody>
          <a:bodyPr/>
          <a:lstStyle/>
          <a:p>
            <a:r>
              <a:rPr lang="en-US" altLang="zh-CN" dirty="0"/>
              <a:t>Keep track of the following four information </a:t>
            </a:r>
            <a:r>
              <a:rPr lang="en-US" altLang="zh-CN" dirty="0" smtClean="0"/>
              <a:t>in linked list</a:t>
            </a:r>
            <a:endParaRPr lang="en-US" altLang="zh-CN" sz="1575" dirty="0"/>
          </a:p>
          <a:p>
            <a:pPr lvl="1"/>
            <a:r>
              <a:rPr lang="en-US" altLang="zh-CN" b="1" dirty="0">
                <a:solidFill>
                  <a:srgbClr val="FFC000"/>
                </a:solidFill>
                <a:latin typeface="Courier New" panose="02070609020205090404" pitchFamily="49" charset="0"/>
                <a:ea typeface="宋体" pitchFamily="2" charset="-122"/>
              </a:rPr>
              <a:t>head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/>
              <a:t>pointer – for scanning the whole </a:t>
            </a:r>
            <a:r>
              <a:rPr lang="en-US" altLang="zh-CN" dirty="0" smtClean="0"/>
              <a:t>list </a:t>
            </a:r>
            <a:endParaRPr lang="en-US" altLang="zh-CN" dirty="0" smtClean="0"/>
          </a:p>
          <a:p>
            <a:pPr lvl="1"/>
            <a:endParaRPr lang="en-US" altLang="zh-CN" sz="450" dirty="0"/>
          </a:p>
          <a:p>
            <a:pPr lvl="1"/>
            <a:r>
              <a:rPr lang="en-US" altLang="zh-CN" b="1" dirty="0">
                <a:solidFill>
                  <a:srgbClr val="FFC000"/>
                </a:solidFill>
                <a:latin typeface="Courier New" panose="02070609020205090404" pitchFamily="49" charset="0"/>
                <a:ea typeface="宋体" pitchFamily="2" charset="-122"/>
              </a:rPr>
              <a:t>tail</a:t>
            </a:r>
            <a:r>
              <a:rPr lang="en-US" altLang="zh-CN" dirty="0"/>
              <a:t> pointer – to speed up “append” </a:t>
            </a:r>
            <a:r>
              <a:rPr lang="en-US" altLang="zh-CN" dirty="0" smtClean="0"/>
              <a:t>operation</a:t>
            </a:r>
            <a:endParaRPr lang="en-US" altLang="zh-CN" dirty="0" smtClean="0"/>
          </a:p>
          <a:p>
            <a:pPr lvl="1"/>
            <a:endParaRPr lang="en-US" altLang="zh-CN" sz="450" dirty="0"/>
          </a:p>
          <a:p>
            <a:pPr lvl="1"/>
            <a:r>
              <a:rPr lang="en-US" altLang="zh-CN" b="1" dirty="0">
                <a:solidFill>
                  <a:srgbClr val="FFC000"/>
                </a:solidFill>
                <a:latin typeface="Courier New" panose="02070609020205090404" pitchFamily="49" charset="0"/>
                <a:ea typeface="宋体" pitchFamily="2" charset="-122"/>
              </a:rPr>
              <a:t>curr</a:t>
            </a:r>
            <a:r>
              <a:rPr lang="en-US" altLang="zh-CN" dirty="0"/>
              <a:t> pointer – pointing to the current </a:t>
            </a:r>
            <a:r>
              <a:rPr lang="en-US" altLang="zh-CN" dirty="0" smtClean="0"/>
              <a:t>element </a:t>
            </a:r>
            <a:r>
              <a:rPr lang="en-US" altLang="zh-CN" dirty="0" smtClean="0">
                <a:solidFill>
                  <a:srgbClr val="FF0000"/>
                </a:solidFill>
                <a:ea typeface="宋体" charset="0"/>
              </a:rPr>
              <a:t>(</a:t>
            </a:r>
            <a:r>
              <a:rPr lang="en-US" altLang="zh-CN" dirty="0" smtClean="0">
                <a:solidFill>
                  <a:srgbClr val="FF0000"/>
                </a:solidFill>
                <a:ea typeface="宋体" charset="0"/>
              </a:rPr>
              <a:t>two design options)</a:t>
            </a:r>
            <a:endParaRPr lang="en-US" altLang="zh-CN" dirty="0" smtClean="0">
              <a:solidFill>
                <a:srgbClr val="FF0000"/>
              </a:solidFill>
              <a:ea typeface="宋体" charset="0"/>
            </a:endParaRPr>
          </a:p>
          <a:p>
            <a:pPr lvl="1"/>
            <a:r>
              <a:rPr lang="en-US" altLang="zh-CN" b="1" dirty="0">
                <a:solidFill>
                  <a:srgbClr val="FFC000"/>
                </a:solidFill>
                <a:latin typeface="Courier New" panose="02070609020205090404" pitchFamily="49" charset="0"/>
                <a:ea typeface="宋体" pitchFamily="2" charset="-122"/>
                <a:sym typeface="+mn-ea"/>
              </a:rPr>
              <a:t>cnt</a:t>
            </a:r>
            <a:r>
              <a:rPr lang="en-US" altLang="zh-CN" dirty="0">
                <a:sym typeface="+mn-ea"/>
              </a:rPr>
              <a:t> value – store the length of the list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sz="1350" dirty="0">
              <a:solidFill>
                <a:srgbClr val="FF0000"/>
              </a:solidFill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50935" y="6245225"/>
            <a:ext cx="28448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165E3000-10A7-4CA8-93C5-6FDFB203310B}" type="slidenum">
              <a:rPr lang="en-US" altLang="zh-CN" sz="1050" smtClean="0"/>
            </a:fld>
            <a:endParaRPr lang="en-US" altLang="zh-CN" sz="1050" smtClean="0"/>
          </a:p>
        </p:txBody>
      </p:sp>
      <p:pic>
        <p:nvPicPr>
          <p:cNvPr id="2560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610"/>
          <a:stretch>
            <a:fillRect/>
          </a:stretch>
        </p:blipFill>
        <p:spPr bwMode="auto">
          <a:xfrm>
            <a:off x="0" y="4844415"/>
            <a:ext cx="5668010" cy="1104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90115" y="36449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41930" y="5367020"/>
            <a:ext cx="0" cy="549275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5668010" y="5422265"/>
            <a:ext cx="551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latin typeface="Arial Bold" panose="020B0604020202090204" charset="0"/>
                <a:cs typeface="Arial Bold" panose="020B0604020202090204" charset="0"/>
              </a:rPr>
              <a:t>VS.</a:t>
            </a:r>
            <a:endParaRPr lang="en-US" altLang="en-US" sz="2000" b="1">
              <a:latin typeface="Arial Bold" panose="020B0604020202090204" charset="0"/>
              <a:ea typeface="宋体" charset="0"/>
              <a:cs typeface="Arial Bold" panose="020B0604020202090204" charset="0"/>
            </a:endParaRP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610"/>
          <a:stretch>
            <a:fillRect/>
          </a:stretch>
        </p:blipFill>
        <p:spPr bwMode="auto">
          <a:xfrm>
            <a:off x="6384290" y="4844415"/>
            <a:ext cx="5668010" cy="1104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Connector 13"/>
          <p:cNvCxnSpPr/>
          <p:nvPr/>
        </p:nvCxnSpPr>
        <p:spPr>
          <a:xfrm>
            <a:off x="9126220" y="5367020"/>
            <a:ext cx="0" cy="549275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800" y="4802505"/>
            <a:ext cx="538480" cy="56451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225" y="4873625"/>
            <a:ext cx="822960" cy="54864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4838065" y="6245225"/>
            <a:ext cx="2985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Which is better</a:t>
            </a:r>
            <a:r>
              <a:rPr lang="zh-CN" altLang="en-US" sz="2400">
                <a:ea typeface="宋体" charset="0"/>
              </a:rPr>
              <a:t>？</a:t>
            </a:r>
            <a:endParaRPr lang="zh-CN" altLang="en-US" sz="2400">
              <a:ea typeface="宋体" charset="0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5302250" y="4844415"/>
            <a:ext cx="6393180" cy="12979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" grpId="0" bldLvl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1325245"/>
          </a:xfrm>
        </p:spPr>
        <p:txBody>
          <a:bodyPr>
            <a:normAutofit/>
          </a:bodyPr>
          <a:lstStyle/>
          <a:p>
            <a:r>
              <a:rPr lang="en-US" altLang="zh-CN" dirty="0"/>
              <a:t>Insertion </a:t>
            </a:r>
            <a:endParaRPr lang="zh-CN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77940"/>
            <a:ext cx="28448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136B48C-98E1-42D9-844F-955AE9458A32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90115" y="36449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375" y="1699260"/>
            <a:ext cx="2105025" cy="34594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2100580"/>
            <a:ext cx="4928235" cy="1571625"/>
          </a:xfrm>
          <a:prstGeom prst="rect">
            <a:avLst/>
          </a:prstGeom>
        </p:spPr>
      </p:pic>
      <p:pic>
        <p:nvPicPr>
          <p:cNvPr id="1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760" y="3996055"/>
            <a:ext cx="5080000" cy="2576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/>
          <p:cNvCxnSpPr/>
          <p:nvPr/>
        </p:nvCxnSpPr>
        <p:spPr>
          <a:xfrm>
            <a:off x="5229860" y="5786120"/>
            <a:ext cx="0" cy="591820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740400" y="4404995"/>
            <a:ext cx="0" cy="591820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760" y="4996180"/>
            <a:ext cx="4533900" cy="8699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810" y="3869690"/>
            <a:ext cx="4533900" cy="6286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055" y="6381750"/>
            <a:ext cx="868045" cy="476250"/>
          </a:xfrm>
          <a:prstGeom prst="rect">
            <a:avLst/>
          </a:prstGeom>
        </p:spPr>
      </p:pic>
      <p:sp>
        <p:nvSpPr>
          <p:cNvPr id="18" name="Down Arrow 17"/>
          <p:cNvSpPr/>
          <p:nvPr/>
        </p:nvSpPr>
        <p:spPr>
          <a:xfrm>
            <a:off x="5645150" y="5153025"/>
            <a:ext cx="363220" cy="5111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286760" y="1879600"/>
            <a:ext cx="5190490" cy="1990090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" name="Straight Connector 1"/>
          <p:cNvCxnSpPr/>
          <p:nvPr/>
        </p:nvCxnSpPr>
        <p:spPr>
          <a:xfrm>
            <a:off x="5882005" y="2172335"/>
            <a:ext cx="0" cy="591820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609600" y="1599565"/>
            <a:ext cx="10972800" cy="4525963"/>
          </a:xfrm>
        </p:spPr>
        <p:txBody>
          <a:bodyPr>
            <a:normAutofit/>
          </a:bodyPr>
          <a:lstStyle/>
          <a:p>
            <a:r>
              <a:rPr lang="en-US" altLang="zh-CN" dirty="0"/>
              <a:t>Insertion </a:t>
            </a:r>
            <a:endParaRPr lang="en-US" altLang="zh-CN" dirty="0"/>
          </a:p>
          <a:p>
            <a:pPr lvl="1"/>
            <a:r>
              <a:rPr lang="en-US" altLang="zh-CN" dirty="0"/>
              <a:t>With </a:t>
            </a:r>
            <a:r>
              <a:rPr lang="en-US" altLang="zh-CN" i="1" dirty="0" err="1"/>
              <a:t>curr</a:t>
            </a:r>
            <a:r>
              <a:rPr lang="en-US" altLang="zh-CN" i="1" dirty="0"/>
              <a:t> </a:t>
            </a:r>
            <a:r>
              <a:rPr lang="en-US" altLang="zh-CN" dirty="0"/>
              <a:t>points to the node after the current position</a:t>
            </a:r>
            <a:endParaRPr lang="zh-CN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136B48C-98E1-42D9-844F-955AE9458A32}" type="slidenum">
              <a:rPr lang="en-US" altLang="zh-CN" sz="1050" smtClean="0"/>
            </a:fld>
            <a:endParaRPr lang="en-US" altLang="zh-CN" sz="1050" smtClean="0"/>
          </a:p>
        </p:txBody>
      </p:sp>
      <p:pic>
        <p:nvPicPr>
          <p:cNvPr id="26629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840" y="3124835"/>
            <a:ext cx="5916930" cy="3001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90115" y="36449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649345" y="5231130"/>
            <a:ext cx="0" cy="591820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246880" y="3606800"/>
            <a:ext cx="0" cy="591820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830" y="3606800"/>
            <a:ext cx="4472940" cy="1426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82670"/>
            <a:ext cx="3964940" cy="3295015"/>
          </a:xfrm>
          <a:prstGeom prst="rect">
            <a:avLst/>
          </a:prstGeom>
        </p:spPr>
      </p:pic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609600" y="1689735"/>
            <a:ext cx="10972800" cy="4525963"/>
          </a:xfrm>
        </p:spPr>
        <p:txBody>
          <a:bodyPr>
            <a:normAutofit/>
          </a:bodyPr>
          <a:lstStyle/>
          <a:p>
            <a:r>
              <a:rPr lang="en-US" altLang="zh-CN" dirty="0"/>
              <a:t>Insertion</a:t>
            </a:r>
            <a:endParaRPr lang="en-US" altLang="zh-CN" dirty="0"/>
          </a:p>
          <a:p>
            <a:pPr lvl="1"/>
            <a:r>
              <a:rPr lang="en-US" altLang="zh-CN" dirty="0"/>
              <a:t>With </a:t>
            </a:r>
            <a:r>
              <a:rPr lang="en-US" altLang="zh-CN" i="1" dirty="0" err="1"/>
              <a:t>curr</a:t>
            </a:r>
            <a:r>
              <a:rPr lang="en-US" altLang="zh-CN" dirty="0"/>
              <a:t> points to the node preceding the current position 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ea typeface="宋体" charset="0"/>
              </a:rPr>
              <a:t>better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）</a:t>
            </a:r>
            <a:endParaRPr lang="zh-CN" altLang="en-US" dirty="0">
              <a:solidFill>
                <a:srgbClr val="FF0000"/>
              </a:solidFill>
              <a:ea typeface="宋体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6C549F16-A015-4FD2-AA2C-1227CA464755}" type="slidenum">
              <a:rPr lang="en-US" altLang="zh-CN" sz="1050" smtClean="0"/>
            </a:fld>
            <a:endParaRPr lang="en-US" altLang="zh-CN" sz="1050" smtClean="0"/>
          </a:p>
        </p:txBody>
      </p:sp>
      <p:pic>
        <p:nvPicPr>
          <p:cNvPr id="27653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710" y="3018790"/>
            <a:ext cx="5834380" cy="2552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2" r="4697"/>
          <a:stretch>
            <a:fillRect/>
          </a:stretch>
        </p:blipFill>
        <p:spPr bwMode="auto">
          <a:xfrm>
            <a:off x="9525000" y="3462655"/>
            <a:ext cx="2057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90115" y="36449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982460" y="3442970"/>
            <a:ext cx="0" cy="591820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482080" y="4783455"/>
            <a:ext cx="0" cy="591820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970" y="4421505"/>
            <a:ext cx="1048385" cy="97345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50" y="3018790"/>
            <a:ext cx="1156335" cy="933450"/>
          </a:xfrm>
          <a:prstGeom prst="rect">
            <a:avLst/>
          </a:prstGeom>
        </p:spPr>
      </p:pic>
      <p:sp>
        <p:nvSpPr>
          <p:cNvPr id="17" name="Rectangles 16"/>
          <p:cNvSpPr/>
          <p:nvPr/>
        </p:nvSpPr>
        <p:spPr>
          <a:xfrm>
            <a:off x="295910" y="5985510"/>
            <a:ext cx="2196465" cy="4762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539240" y="1331595"/>
            <a:ext cx="8023860" cy="5389880"/>
          </a:xfrm>
        </p:spPr>
        <p:txBody>
          <a:bodyPr>
            <a:noAutofit/>
          </a:bodyPr>
          <a:lstStyle/>
          <a:p>
            <a:pPr marL="257175" lvl="1" indent="0">
              <a:buNone/>
            </a:pPr>
            <a:r>
              <a:rPr lang="en-US" altLang="zh-CN" sz="1800" dirty="0">
                <a:solidFill>
                  <a:srgbClr val="008000"/>
                </a:solidFill>
              </a:rPr>
              <a:t>//Class </a:t>
            </a:r>
            <a:r>
              <a:rPr lang="en-US" altLang="zh-CN" sz="1800" dirty="0" err="1" smtClean="0">
                <a:solidFill>
                  <a:srgbClr val="008000"/>
                </a:solidFill>
              </a:rPr>
              <a:t>LList</a:t>
            </a:r>
            <a:r>
              <a:rPr lang="en-US" altLang="zh-CN" sz="1800" dirty="0" smtClean="0">
                <a:solidFill>
                  <a:srgbClr val="008000"/>
                </a:solidFill>
              </a:rPr>
              <a:t> 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marL="257175" lvl="1" indent="0"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//inherit </a:t>
            </a:r>
            <a:r>
              <a:rPr lang="en-US" altLang="zh-CN" sz="1800" dirty="0">
                <a:solidFill>
                  <a:srgbClr val="008000"/>
                </a:solidFill>
              </a:rPr>
              <a:t>the abstract class List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200" dirty="0"/>
              <a:t>	</a:t>
            </a:r>
            <a:r>
              <a:rPr lang="en-US" altLang="zh-CN" sz="1800" dirty="0">
                <a:ea typeface="宋体" pitchFamily="2" charset="-122"/>
              </a:rPr>
              <a:t>template &lt;</a:t>
            </a:r>
            <a:r>
              <a:rPr lang="en-US" altLang="zh-CN" sz="1800" dirty="0" err="1">
                <a:ea typeface="宋体" pitchFamily="2" charset="-122"/>
              </a:rPr>
              <a:t>typename</a:t>
            </a:r>
            <a:r>
              <a:rPr lang="en-US" altLang="zh-CN" sz="1800" dirty="0">
                <a:ea typeface="宋体" pitchFamily="2" charset="-122"/>
              </a:rPr>
              <a:t> E&gt; class </a:t>
            </a:r>
            <a:r>
              <a:rPr lang="en-US" altLang="zh-CN" sz="1800" dirty="0" err="1">
                <a:ea typeface="宋体" pitchFamily="2" charset="-122"/>
              </a:rPr>
              <a:t>LList</a:t>
            </a:r>
            <a:r>
              <a:rPr lang="en-US" altLang="zh-CN" sz="1800" dirty="0">
                <a:ea typeface="宋体" pitchFamily="2" charset="-122"/>
              </a:rPr>
              <a:t>: public List&lt;E&gt;{</a:t>
            </a:r>
            <a:endParaRPr lang="en-US" altLang="zh-CN" sz="1800" dirty="0"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	private:</a:t>
            </a:r>
            <a:endParaRPr lang="en-US" altLang="zh-CN" sz="1800" dirty="0"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 		Link&lt;E&gt;* head; </a:t>
            </a:r>
            <a:r>
              <a:rPr lang="en-US" altLang="zh-CN" sz="1800" dirty="0">
                <a:solidFill>
                  <a:srgbClr val="008000"/>
                </a:solidFill>
              </a:rPr>
              <a:t>//Pointer to list header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1800" dirty="0">
                <a:ea typeface="宋体" pitchFamily="2" charset="-122"/>
              </a:rPr>
              <a:t>  		Link&lt;E&gt;* tail; </a:t>
            </a:r>
            <a:r>
              <a:rPr lang="en-US" altLang="zh-CN" sz="1800" dirty="0">
                <a:solidFill>
                  <a:srgbClr val="008000"/>
                </a:solidFill>
              </a:rPr>
              <a:t>//Pointer to last element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1800" dirty="0">
                <a:ea typeface="宋体" pitchFamily="2" charset="-122"/>
              </a:rPr>
              <a:t>		Link&lt;E&gt;* </a:t>
            </a:r>
            <a:r>
              <a:rPr lang="en-US" altLang="zh-CN" sz="1800" dirty="0" err="1">
                <a:ea typeface="宋体" pitchFamily="2" charset="-122"/>
              </a:rPr>
              <a:t>curr</a:t>
            </a:r>
            <a:r>
              <a:rPr lang="en-US" altLang="zh-CN" sz="1800" dirty="0">
                <a:ea typeface="宋体" pitchFamily="2" charset="-122"/>
              </a:rPr>
              <a:t>; </a:t>
            </a:r>
            <a:r>
              <a:rPr lang="en-US" altLang="zh-CN" sz="1800" dirty="0">
                <a:solidFill>
                  <a:srgbClr val="008000"/>
                </a:solidFill>
              </a:rPr>
              <a:t>//last element on the left side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1800" dirty="0">
                <a:ea typeface="宋体" pitchFamily="2" charset="-122"/>
              </a:rPr>
              <a:t>	 	</a:t>
            </a:r>
            <a:r>
              <a:rPr lang="en-US" altLang="zh-CN" sz="1800" dirty="0" err="1">
                <a:ea typeface="宋体" pitchFamily="2" charset="-122"/>
              </a:rPr>
              <a:t>int</a:t>
            </a: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 err="1">
                <a:ea typeface="宋体" pitchFamily="2" charset="-122"/>
              </a:rPr>
              <a:t>cnt</a:t>
            </a:r>
            <a:r>
              <a:rPr lang="en-US" altLang="zh-CN" sz="1800" dirty="0">
                <a:ea typeface="宋体" pitchFamily="2" charset="-122"/>
              </a:rPr>
              <a:t>;      </a:t>
            </a:r>
            <a:r>
              <a:rPr lang="en-US" altLang="zh-CN" sz="1800" dirty="0">
                <a:solidFill>
                  <a:srgbClr val="008000"/>
                </a:solidFill>
              </a:rPr>
              <a:t>//Size of list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1800" dirty="0">
                <a:ea typeface="宋体" pitchFamily="2" charset="-122"/>
              </a:rPr>
              <a:t>		void </a:t>
            </a:r>
            <a:r>
              <a:rPr lang="en-US" altLang="zh-CN" sz="1800" dirty="0" err="1">
                <a:ea typeface="宋体" pitchFamily="2" charset="-122"/>
              </a:rPr>
              <a:t>init</a:t>
            </a:r>
            <a:r>
              <a:rPr lang="en-US" altLang="zh-CN" sz="1800" dirty="0">
                <a:ea typeface="宋体" pitchFamily="2" charset="-122"/>
              </a:rPr>
              <a:t>() </a:t>
            </a:r>
            <a:r>
              <a:rPr lang="en-US" altLang="zh-CN" sz="1800" dirty="0">
                <a:solidFill>
                  <a:srgbClr val="008000"/>
                </a:solidFill>
              </a:rPr>
              <a:t>//used by constructor 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   	{  </a:t>
            </a:r>
            <a:r>
              <a:rPr lang="en-US" altLang="zh-CN" sz="1800" dirty="0" err="1">
                <a:ea typeface="宋体" pitchFamily="2" charset="-122"/>
              </a:rPr>
              <a:t>curr</a:t>
            </a:r>
            <a:r>
              <a:rPr lang="en-US" altLang="zh-CN" sz="1800" dirty="0">
                <a:ea typeface="宋体" pitchFamily="2" charset="-122"/>
              </a:rPr>
              <a:t> = tail = head = new Link&lt;E&gt;; </a:t>
            </a:r>
            <a:r>
              <a:rPr lang="en-US" altLang="zh-CN" sz="1800" dirty="0" err="1">
                <a:ea typeface="宋体" pitchFamily="2" charset="-122"/>
              </a:rPr>
              <a:t>cnt</a:t>
            </a:r>
            <a:r>
              <a:rPr lang="en-US" altLang="zh-CN" sz="1800" dirty="0">
                <a:ea typeface="宋体" pitchFamily="2" charset="-122"/>
              </a:rPr>
              <a:t> =0</a:t>
            </a:r>
            <a:r>
              <a:rPr lang="en-US" altLang="zh-CN" sz="1800" dirty="0" smtClean="0">
                <a:ea typeface="宋体" pitchFamily="2" charset="-122"/>
              </a:rPr>
              <a:t>;}</a:t>
            </a:r>
            <a:r>
              <a:rPr lang="en-US" altLang="zh-CN" sz="1800" dirty="0">
                <a:ea typeface="宋体" pitchFamily="2" charset="-122"/>
              </a:rPr>
              <a:t>		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1800" dirty="0">
                <a:ea typeface="宋体" pitchFamily="2" charset="-122"/>
              </a:rPr>
              <a:t>		void </a:t>
            </a:r>
            <a:r>
              <a:rPr lang="en-US" altLang="zh-CN" sz="1800" dirty="0" err="1">
                <a:ea typeface="宋体" pitchFamily="2" charset="-122"/>
              </a:rPr>
              <a:t>removeall</a:t>
            </a:r>
            <a:r>
              <a:rPr lang="en-US" altLang="zh-CN" sz="1800" dirty="0">
                <a:ea typeface="宋体" pitchFamily="2" charset="-122"/>
              </a:rPr>
              <a:t>() </a:t>
            </a:r>
            <a:r>
              <a:rPr lang="en-US" altLang="zh-CN" sz="1800" dirty="0">
                <a:solidFill>
                  <a:srgbClr val="008000"/>
                </a:solidFill>
              </a:rPr>
              <a:t>//used by </a:t>
            </a:r>
            <a:r>
              <a:rPr lang="en-US" altLang="zh-CN" sz="1800" dirty="0" err="1">
                <a:solidFill>
                  <a:srgbClr val="008000"/>
                </a:solidFill>
              </a:rPr>
              <a:t>deconstructor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		{ </a:t>
            </a:r>
            <a:r>
              <a:rPr lang="en-US" altLang="zh-CN" sz="1800" dirty="0" smtClean="0">
                <a:ea typeface="宋体" pitchFamily="2" charset="-122"/>
              </a:rPr>
              <a:t>  while(head </a:t>
            </a:r>
            <a:r>
              <a:rPr lang="en-US" altLang="zh-CN" sz="1800" dirty="0">
                <a:ea typeface="宋体" pitchFamily="2" charset="-122"/>
              </a:rPr>
              <a:t>!= NULL</a:t>
            </a:r>
            <a:r>
              <a:rPr lang="en-US" altLang="zh-CN" sz="1800" dirty="0" smtClean="0">
                <a:ea typeface="宋体" pitchFamily="2" charset="-122"/>
              </a:rPr>
              <a:t>) </a:t>
            </a:r>
            <a:r>
              <a:rPr lang="en-US" altLang="zh-CN" sz="1800" dirty="0">
                <a:ea typeface="宋体" pitchFamily="2" charset="-122"/>
              </a:rPr>
              <a:t>{ </a:t>
            </a:r>
            <a:endParaRPr lang="en-US" altLang="zh-CN" sz="1800" dirty="0" smtClean="0"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 smtClean="0">
                <a:ea typeface="宋体" pitchFamily="2" charset="-122"/>
              </a:rPr>
              <a:t>                </a:t>
            </a:r>
            <a:r>
              <a:rPr lang="en-US" altLang="zh-CN" sz="1800" dirty="0" err="1" smtClean="0">
                <a:ea typeface="宋体" pitchFamily="2" charset="-122"/>
              </a:rPr>
              <a:t>curr</a:t>
            </a:r>
            <a:r>
              <a:rPr lang="en-US" altLang="zh-CN" sz="1800" dirty="0" smtClean="0">
                <a:ea typeface="宋体" pitchFamily="2" charset="-122"/>
              </a:rPr>
              <a:t>=head</a:t>
            </a:r>
            <a:r>
              <a:rPr lang="en-US" altLang="zh-CN" sz="1800" dirty="0">
                <a:ea typeface="宋体" pitchFamily="2" charset="-122"/>
              </a:rPr>
              <a:t>; head=head-&gt;next; delete </a:t>
            </a:r>
            <a:r>
              <a:rPr lang="en-US" altLang="zh-CN" sz="1800" dirty="0" err="1">
                <a:ea typeface="宋体" pitchFamily="2" charset="-122"/>
              </a:rPr>
              <a:t>curr</a:t>
            </a:r>
            <a:r>
              <a:rPr lang="en-US" altLang="zh-CN" sz="1800" dirty="0" smtClean="0">
                <a:ea typeface="宋体" pitchFamily="2" charset="-122"/>
              </a:rPr>
              <a:t>;</a:t>
            </a:r>
            <a:endParaRPr lang="en-US" altLang="zh-CN" sz="1800" dirty="0" smtClean="0"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 smtClean="0">
                <a:ea typeface="宋体" pitchFamily="2" charset="-122"/>
              </a:rPr>
              <a:t>             }</a:t>
            </a:r>
            <a:endParaRPr lang="en-US" altLang="zh-CN" sz="1800" dirty="0"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 smtClean="0">
                <a:ea typeface="宋体" pitchFamily="2" charset="-122"/>
              </a:rPr>
              <a:t>         }</a:t>
            </a:r>
            <a:endParaRPr lang="en-US" altLang="zh-CN" sz="1800" dirty="0" smtClean="0">
              <a:ea typeface="宋体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}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5B1DC4D9-1D25-415A-AC22-CB08EFE530DF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190115" y="36449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865" y="2495550"/>
            <a:ext cx="3684270" cy="3061970"/>
          </a:xfrm>
          <a:prstGeom prst="rect">
            <a:avLst/>
          </a:prstGeom>
        </p:spPr>
      </p:pic>
      <p:sp>
        <p:nvSpPr>
          <p:cNvPr id="17" name="Rectangles 16"/>
          <p:cNvSpPr/>
          <p:nvPr/>
        </p:nvSpPr>
        <p:spPr>
          <a:xfrm>
            <a:off x="8530590" y="4807585"/>
            <a:ext cx="1934210" cy="4762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8" name="Curved Connector 7"/>
          <p:cNvCxnSpPr>
            <a:endCxn id="17" idx="1"/>
          </p:cNvCxnSpPr>
          <p:nvPr/>
        </p:nvCxnSpPr>
        <p:spPr>
          <a:xfrm>
            <a:off x="5160645" y="4894580"/>
            <a:ext cx="3369945" cy="151130"/>
          </a:xfrm>
          <a:prstGeom prst="curvedConnector3">
            <a:avLst>
              <a:gd name="adj1" fmla="val 5000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Linked List – </a:t>
            </a:r>
            <a:r>
              <a:rPr lang="en-US" altLang="zh-CN" sz="3600" dirty="0" smtClean="0"/>
              <a:t>Insertion </a:t>
            </a:r>
            <a:endParaRPr lang="en-US" altLang="zh-CN" sz="3600" dirty="0"/>
          </a:p>
          <a:p>
            <a:pPr lvl="1"/>
            <a:r>
              <a:rPr lang="en-US" altLang="zh-CN" sz="3200" dirty="0" smtClean="0"/>
              <a:t>Three-step </a:t>
            </a:r>
            <a:r>
              <a:rPr lang="en-US" altLang="zh-CN" sz="3200" dirty="0"/>
              <a:t>insertion process</a:t>
            </a:r>
            <a:endParaRPr lang="en-US" altLang="zh-CN" sz="3200" dirty="0"/>
          </a:p>
          <a:p>
            <a:pPr lvl="2"/>
            <a:r>
              <a:rPr lang="en-US" altLang="zh-CN" dirty="0"/>
              <a:t>Create a new list node, store the new element</a:t>
            </a:r>
            <a:endParaRPr lang="en-US" altLang="zh-CN" dirty="0"/>
          </a:p>
          <a:p>
            <a:pPr lvl="2"/>
            <a:r>
              <a:rPr lang="en-US" altLang="zh-CN" dirty="0"/>
              <a:t>Set the next field of the new node</a:t>
            </a:r>
            <a:endParaRPr lang="en-US" altLang="zh-CN" dirty="0"/>
          </a:p>
          <a:p>
            <a:pPr lvl="2"/>
            <a:r>
              <a:rPr lang="en-US" altLang="zh-CN" dirty="0"/>
              <a:t>set the next field of the node pointed by </a:t>
            </a:r>
            <a:r>
              <a:rPr lang="en-US" altLang="zh-CN" i="1" u="sng" dirty="0" err="1"/>
              <a:t>curr</a:t>
            </a:r>
            <a:r>
              <a:rPr lang="en-US" altLang="zh-CN" dirty="0"/>
              <a:t> 	</a:t>
            </a:r>
            <a:endParaRPr lang="en-US" altLang="zh-CN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69A76072-6E5F-4A16-AA10-B3B653494E51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1506" name="Title 1"/>
          <p:cNvSpPr>
            <a:spLocks noGrp="1"/>
          </p:cNvSpPr>
          <p:nvPr/>
        </p:nvSpPr>
        <p:spPr>
          <a:xfrm>
            <a:off x="2190115" y="364490"/>
            <a:ext cx="7811135" cy="13252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8305" y="4390390"/>
            <a:ext cx="4960620" cy="2137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889125" y="1595755"/>
            <a:ext cx="6428740" cy="4844415"/>
          </a:xfrm>
        </p:spPr>
        <p:txBody>
          <a:bodyPr vert="horz" lIns="68580" tIns="34290" rIns="68580" bIns="34290" rtlCol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</a:rPr>
              <a:t>//Insert a node to current </a:t>
            </a:r>
            <a:r>
              <a:rPr lang="en-US" altLang="zh-CN" sz="1800" dirty="0" smtClean="0">
                <a:solidFill>
                  <a:srgbClr val="008000"/>
                </a:solidFill>
              </a:rPr>
              <a:t>position</a:t>
            </a:r>
            <a:endParaRPr lang="en-US" altLang="zh-CN" sz="4000" dirty="0"/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400" dirty="0"/>
              <a:t>	</a:t>
            </a:r>
            <a:r>
              <a:rPr lang="en-US" altLang="zh-CN" sz="1800" dirty="0">
                <a:ea typeface="宋体" pitchFamily="2" charset="-122"/>
              </a:rPr>
              <a:t>public: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	  void insert(</a:t>
            </a:r>
            <a:r>
              <a:rPr lang="en-US" altLang="zh-CN" sz="1800" dirty="0" err="1">
                <a:ea typeface="宋体" pitchFamily="2" charset="-122"/>
              </a:rPr>
              <a:t>const</a:t>
            </a:r>
            <a:r>
              <a:rPr lang="en-US" altLang="zh-CN" sz="1800" dirty="0">
                <a:ea typeface="宋体" pitchFamily="2" charset="-122"/>
              </a:rPr>
              <a:t> E&amp; it) {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		</a:t>
            </a:r>
            <a:r>
              <a:rPr lang="en-US" altLang="zh-CN" sz="1800" dirty="0" err="1">
                <a:ea typeface="宋体" pitchFamily="2" charset="-122"/>
              </a:rPr>
              <a:t>curr</a:t>
            </a:r>
            <a:r>
              <a:rPr lang="en-US" altLang="zh-CN" sz="1800" dirty="0">
                <a:ea typeface="宋体" pitchFamily="2" charset="-122"/>
              </a:rPr>
              <a:t>-&gt;next = new Link&lt;E&gt;(it, </a:t>
            </a:r>
            <a:r>
              <a:rPr lang="en-US" altLang="zh-CN" sz="1800" dirty="0" err="1">
                <a:ea typeface="宋体" pitchFamily="2" charset="-122"/>
              </a:rPr>
              <a:t>curr</a:t>
            </a:r>
            <a:r>
              <a:rPr lang="en-US" altLang="zh-CN" sz="1800" dirty="0">
                <a:ea typeface="宋体" pitchFamily="2" charset="-122"/>
              </a:rPr>
              <a:t>-&gt;next);  	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 		if (tail == </a:t>
            </a:r>
            <a:r>
              <a:rPr lang="en-US" altLang="zh-CN" sz="1800" dirty="0" err="1">
                <a:ea typeface="宋体" pitchFamily="2" charset="-122"/>
              </a:rPr>
              <a:t>curr</a:t>
            </a:r>
            <a:r>
              <a:rPr lang="en-US" altLang="zh-CN" sz="1800" dirty="0">
                <a:ea typeface="宋体" pitchFamily="2" charset="-122"/>
              </a:rPr>
              <a:t>) tail = </a:t>
            </a:r>
            <a:r>
              <a:rPr lang="en-US" altLang="zh-CN" sz="1800" dirty="0" err="1">
                <a:ea typeface="宋体" pitchFamily="2" charset="-122"/>
              </a:rPr>
              <a:t>curr</a:t>
            </a:r>
            <a:r>
              <a:rPr lang="en-US" altLang="zh-CN" sz="1800" dirty="0">
                <a:ea typeface="宋体" pitchFamily="2" charset="-122"/>
              </a:rPr>
              <a:t>-&gt;next; //new tail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		</a:t>
            </a:r>
            <a:r>
              <a:rPr lang="en-US" altLang="zh-CN" sz="1800" dirty="0" err="1">
                <a:ea typeface="宋体" pitchFamily="2" charset="-122"/>
              </a:rPr>
              <a:t>cnt</a:t>
            </a:r>
            <a:r>
              <a:rPr lang="en-US" altLang="zh-CN" sz="1800" dirty="0">
                <a:ea typeface="宋体" pitchFamily="2" charset="-122"/>
              </a:rPr>
              <a:t>++;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	  }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 smtClean="0">
                <a:ea typeface="宋体" pitchFamily="2" charset="-122"/>
              </a:rPr>
              <a:t>    </a:t>
            </a:r>
            <a:r>
              <a:rPr lang="en-US" altLang="zh-CN" sz="1800" dirty="0" smtClean="0">
                <a:solidFill>
                  <a:srgbClr val="008000"/>
                </a:solidFill>
                <a:ea typeface="宋体" pitchFamily="2" charset="-122"/>
              </a:rPr>
              <a:t>//Append </a:t>
            </a:r>
            <a:r>
              <a:rPr lang="en-US" altLang="zh-CN" sz="1800" dirty="0">
                <a:solidFill>
                  <a:srgbClr val="008000"/>
                </a:solidFill>
                <a:ea typeface="宋体" pitchFamily="2" charset="-122"/>
              </a:rPr>
              <a:t>a node at the tail of the </a:t>
            </a:r>
            <a:r>
              <a:rPr lang="en-US" altLang="zh-CN" sz="1800" dirty="0" smtClean="0">
                <a:solidFill>
                  <a:srgbClr val="008000"/>
                </a:solidFill>
                <a:ea typeface="宋体" pitchFamily="2" charset="-122"/>
              </a:rPr>
              <a:t>list</a:t>
            </a:r>
            <a:endParaRPr lang="en-US" altLang="zh-CN" sz="1800" dirty="0">
              <a:solidFill>
                <a:srgbClr val="008000"/>
              </a:solidFill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	  void append(</a:t>
            </a:r>
            <a:r>
              <a:rPr lang="en-US" altLang="zh-CN" sz="1800" dirty="0" err="1">
                <a:ea typeface="宋体" pitchFamily="2" charset="-122"/>
              </a:rPr>
              <a:t>const</a:t>
            </a:r>
            <a:r>
              <a:rPr lang="en-US" altLang="zh-CN" sz="1800" dirty="0">
                <a:ea typeface="宋体" pitchFamily="2" charset="-122"/>
              </a:rPr>
              <a:t> E&amp; it) {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 		tail = tail-&gt;next = new Link&lt;E&gt;(it, NULL);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 		</a:t>
            </a:r>
            <a:r>
              <a:rPr lang="en-US" altLang="zh-CN" sz="1800" dirty="0" err="1">
                <a:ea typeface="宋体" pitchFamily="2" charset="-122"/>
              </a:rPr>
              <a:t>cnt</a:t>
            </a:r>
            <a:r>
              <a:rPr lang="en-US" altLang="zh-CN" sz="1800" dirty="0">
                <a:ea typeface="宋体" pitchFamily="2" charset="-122"/>
              </a:rPr>
              <a:t>++;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  	  }</a:t>
            </a: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endParaRPr lang="en-US" altLang="zh-CN" sz="1400" dirty="0"/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endParaRPr lang="en-US" altLang="zh-CN" sz="1400" dirty="0"/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endParaRPr lang="en-US" altLang="zh-CN" sz="1400" dirty="0"/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endParaRPr lang="en-US" altLang="zh-CN" sz="1400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E3706C9-8ABD-460E-A573-6849180AB30B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3" name="矩形 2"/>
          <p:cNvSpPr/>
          <p:nvPr/>
        </p:nvSpPr>
        <p:spPr>
          <a:xfrm>
            <a:off x="3877978" y="6113843"/>
            <a:ext cx="2451735" cy="6076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Time cost – </a:t>
            </a:r>
            <a:r>
              <a:rPr lang="el-GR" altLang="zh-CN" sz="2400" dirty="0">
                <a:solidFill>
                  <a:srgbClr val="FF0000"/>
                </a:solidFill>
              </a:rPr>
              <a:t>Θ</a:t>
            </a:r>
            <a:r>
              <a:rPr lang="en-US" altLang="zh-CN" sz="2400" dirty="0">
                <a:solidFill>
                  <a:srgbClr val="FF0000"/>
                </a:solidFill>
              </a:rPr>
              <a:t>(1)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21506" name="Title 1"/>
          <p:cNvSpPr>
            <a:spLocks noGrp="1"/>
          </p:cNvSpPr>
          <p:nvPr/>
        </p:nvSpPr>
        <p:spPr>
          <a:xfrm>
            <a:off x="2190115" y="270510"/>
            <a:ext cx="7811135" cy="13252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  <p:sp>
        <p:nvSpPr>
          <p:cNvPr id="9" name="Rectangles 8"/>
          <p:cNvSpPr/>
          <p:nvPr/>
        </p:nvSpPr>
        <p:spPr>
          <a:xfrm>
            <a:off x="2663825" y="2741930"/>
            <a:ext cx="4561205" cy="476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s 12"/>
          <p:cNvSpPr/>
          <p:nvPr/>
        </p:nvSpPr>
        <p:spPr>
          <a:xfrm>
            <a:off x="2663825" y="5092065"/>
            <a:ext cx="4561205" cy="476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885" y="1403350"/>
            <a:ext cx="4343400" cy="3609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645" y="5055870"/>
            <a:ext cx="3865880" cy="1665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Linked List – Removal </a:t>
            </a:r>
            <a:endParaRPr lang="en-US" altLang="zh-CN" dirty="0"/>
          </a:p>
          <a:p>
            <a:pPr lvl="1"/>
            <a:r>
              <a:rPr lang="en-US" altLang="zh-CN" dirty="0" smtClean="0"/>
              <a:t>Removing </a:t>
            </a:r>
            <a:r>
              <a:rPr lang="en-US" altLang="zh-CN" dirty="0"/>
              <a:t>a node only requires to redirect some pointers around the node to be deleted.</a:t>
            </a:r>
            <a:endParaRPr lang="en-US" altLang="zh-CN" dirty="0"/>
          </a:p>
          <a:p>
            <a:pPr lvl="1"/>
            <a:r>
              <a:rPr lang="en-US" altLang="zh-CN" dirty="0"/>
              <a:t>Remember to reclaim the space occupied by the deleted node</a:t>
            </a:r>
            <a:endParaRPr lang="zh-CN" altLang="en-US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2F1E541-C6CE-4D9E-A902-6E728A9B92F3}" type="slidenum">
              <a:rPr lang="en-US" altLang="zh-CN" sz="1050" smtClean="0"/>
            </a:fld>
            <a:endParaRPr lang="en-US" altLang="zh-CN" sz="1050" smtClean="0"/>
          </a:p>
        </p:txBody>
      </p:sp>
      <p:pic>
        <p:nvPicPr>
          <p:cNvPr id="32773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230" y="3658235"/>
            <a:ext cx="4648835" cy="306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190115" y="36449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2885440" y="1689735"/>
            <a:ext cx="7115810" cy="4936490"/>
          </a:xfrm>
        </p:spPr>
        <p:txBody>
          <a:bodyPr vert="horz" lIns="68580" tIns="34290" rIns="68580" bIns="34290" rtlCol="0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// Remove and return current element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/>
              <a:t>	</a:t>
            </a:r>
            <a:r>
              <a:rPr lang="en-US" altLang="zh-CN" sz="2000" dirty="0">
                <a:ea typeface="宋体" pitchFamily="2" charset="-122"/>
              </a:rPr>
              <a:t>E remove() {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E it = </a:t>
            </a:r>
            <a:r>
              <a:rPr lang="en-US" altLang="zh-CN" sz="2000" dirty="0" err="1">
                <a:ea typeface="宋体" pitchFamily="2" charset="-122"/>
              </a:rPr>
              <a:t>curr</a:t>
            </a:r>
            <a:r>
              <a:rPr lang="en-US" altLang="zh-CN" sz="2000" dirty="0">
                <a:ea typeface="宋体" pitchFamily="2" charset="-122"/>
              </a:rPr>
              <a:t>-&gt;next-&gt;element;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Link&lt;E&gt; *</a:t>
            </a:r>
            <a:r>
              <a:rPr lang="en-US" altLang="zh-CN" sz="2000" dirty="0" err="1">
                <a:ea typeface="宋体" pitchFamily="2" charset="-122"/>
              </a:rPr>
              <a:t>ltemp</a:t>
            </a:r>
            <a:r>
              <a:rPr lang="en-US" altLang="zh-CN" sz="2000" dirty="0">
                <a:ea typeface="宋体" pitchFamily="2" charset="-122"/>
              </a:rPr>
              <a:t> = </a:t>
            </a:r>
            <a:r>
              <a:rPr lang="en-US" altLang="zh-CN" sz="2000" dirty="0" err="1">
                <a:ea typeface="宋体" pitchFamily="2" charset="-122"/>
              </a:rPr>
              <a:t>curr</a:t>
            </a:r>
            <a:r>
              <a:rPr lang="en-US" altLang="zh-CN" sz="2000" dirty="0">
                <a:ea typeface="宋体" pitchFamily="2" charset="-122"/>
              </a:rPr>
              <a:t>-&gt;next;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if (tail == </a:t>
            </a:r>
            <a:r>
              <a:rPr lang="en-US" altLang="zh-CN" sz="2000" dirty="0" err="1">
                <a:ea typeface="宋体" pitchFamily="2" charset="-122"/>
              </a:rPr>
              <a:t>curr</a:t>
            </a:r>
            <a:r>
              <a:rPr lang="en-US" altLang="zh-CN" sz="2000" dirty="0">
                <a:ea typeface="宋体" pitchFamily="2" charset="-122"/>
              </a:rPr>
              <a:t>-&gt;next) 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	tail =</a:t>
            </a:r>
            <a:r>
              <a:rPr lang="en-US" altLang="zh-CN" sz="2000" dirty="0" err="1">
                <a:ea typeface="宋体" pitchFamily="2" charset="-122"/>
              </a:rPr>
              <a:t>curr</a:t>
            </a:r>
            <a:r>
              <a:rPr lang="en-US" altLang="zh-CN" sz="2000" dirty="0">
                <a:ea typeface="宋体" pitchFamily="2" charset="-122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// Reset tail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</a:t>
            </a:r>
            <a:r>
              <a:rPr lang="en-US" altLang="zh-CN" sz="2000" dirty="0" err="1">
                <a:ea typeface="宋体" pitchFamily="2" charset="-122"/>
              </a:rPr>
              <a:t>curr</a:t>
            </a:r>
            <a:r>
              <a:rPr lang="en-US" altLang="zh-CN" sz="2000" dirty="0">
                <a:ea typeface="宋体" pitchFamily="2" charset="-122"/>
              </a:rPr>
              <a:t>-&gt;next = </a:t>
            </a:r>
            <a:r>
              <a:rPr lang="en-US" altLang="zh-CN" sz="2000" dirty="0" err="1">
                <a:ea typeface="宋体" pitchFamily="2" charset="-122"/>
              </a:rPr>
              <a:t>curr</a:t>
            </a:r>
            <a:r>
              <a:rPr lang="en-US" altLang="zh-CN" sz="2000" dirty="0">
                <a:ea typeface="宋体" pitchFamily="2" charset="-122"/>
              </a:rPr>
              <a:t>-&gt;next-&gt;next;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//remove element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</a:t>
            </a:r>
            <a:r>
              <a:rPr lang="en-US" altLang="zh-CN" sz="2000" dirty="0" smtClean="0">
                <a:ea typeface="宋体" pitchFamily="2" charset="-122"/>
              </a:rPr>
              <a:t>delete </a:t>
            </a:r>
            <a:r>
              <a:rPr lang="en-US" altLang="zh-CN" sz="2000" dirty="0" err="1">
                <a:ea typeface="宋体" pitchFamily="2" charset="-122"/>
              </a:rPr>
              <a:t>ltemp</a:t>
            </a:r>
            <a:r>
              <a:rPr lang="en-US" altLang="zh-CN" sz="2000" dirty="0">
                <a:ea typeface="宋体" pitchFamily="2" charset="-122"/>
              </a:rPr>
              <a:t>; 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//reclaim space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</a:t>
            </a:r>
            <a:r>
              <a:rPr lang="en-US" altLang="zh-CN" sz="2000" dirty="0" err="1">
                <a:ea typeface="宋体" pitchFamily="2" charset="-122"/>
              </a:rPr>
              <a:t>cnt</a:t>
            </a:r>
            <a:r>
              <a:rPr lang="en-US" altLang="zh-CN" sz="2000" dirty="0">
                <a:ea typeface="宋体" pitchFamily="2" charset="-122"/>
              </a:rPr>
              <a:t>--;	  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//decrement the list size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return it;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}</a:t>
            </a:r>
            <a:endParaRPr lang="en-US" altLang="zh-CN" sz="2000" dirty="0">
              <a:ea typeface="宋体" pitchFamily="2" charset="-122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AC5BC113-7DF9-4FF2-9E58-6D7C0477F7C5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3" name="矩形 2"/>
          <p:cNvSpPr/>
          <p:nvPr/>
        </p:nvSpPr>
        <p:spPr>
          <a:xfrm>
            <a:off x="6537619" y="5874655"/>
            <a:ext cx="207200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 dirty="0" smtClean="0">
                <a:solidFill>
                  <a:srgbClr val="FF0000"/>
                </a:solidFill>
              </a:rPr>
              <a:t>Time </a:t>
            </a:r>
            <a:r>
              <a:rPr lang="en-US" altLang="zh-CN" sz="2000" dirty="0">
                <a:solidFill>
                  <a:srgbClr val="FF0000"/>
                </a:solidFill>
              </a:rPr>
              <a:t>cost – </a:t>
            </a:r>
            <a:r>
              <a:rPr lang="el-GR" altLang="zh-CN" sz="2000" dirty="0">
                <a:solidFill>
                  <a:srgbClr val="FF0000"/>
                </a:solidFill>
              </a:rPr>
              <a:t>Θ</a:t>
            </a:r>
            <a:r>
              <a:rPr lang="en-US" altLang="zh-CN" sz="2000" dirty="0">
                <a:solidFill>
                  <a:srgbClr val="FF0000"/>
                </a:solidFill>
              </a:rPr>
              <a:t>(1)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21506" name="Title 1"/>
          <p:cNvSpPr>
            <a:spLocks noGrp="1"/>
          </p:cNvSpPr>
          <p:nvPr/>
        </p:nvSpPr>
        <p:spPr>
          <a:xfrm>
            <a:off x="2190115" y="364490"/>
            <a:ext cx="7811135" cy="13252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937895" y="2226310"/>
            <a:ext cx="6698615" cy="4187825"/>
          </a:xfrm>
        </p:spPr>
        <p:txBody>
          <a:bodyPr vert="horz" lIns="68580" tIns="34290" rIns="68580" bIns="34290" rtlCol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solidFill>
                  <a:srgbClr val="008000"/>
                </a:solidFill>
              </a:rPr>
              <a:t>//Next </a:t>
            </a:r>
            <a:r>
              <a:rPr lang="en-US" altLang="zh-CN" sz="2000" dirty="0">
                <a:solidFill>
                  <a:srgbClr val="008000"/>
                </a:solidFill>
              </a:rPr>
              <a:t>– move </a:t>
            </a:r>
            <a:r>
              <a:rPr lang="en-US" altLang="zh-CN" sz="2000" dirty="0" err="1">
                <a:solidFill>
                  <a:srgbClr val="008000"/>
                </a:solidFill>
              </a:rPr>
              <a:t>curr</a:t>
            </a:r>
            <a:r>
              <a:rPr lang="en-US" altLang="zh-CN" sz="2000" dirty="0">
                <a:solidFill>
                  <a:srgbClr val="008000"/>
                </a:solidFill>
              </a:rPr>
              <a:t> one </a:t>
            </a:r>
            <a:r>
              <a:rPr lang="en-US" altLang="zh-CN" sz="2000" dirty="0" err="1" smtClean="0">
                <a:solidFill>
                  <a:srgbClr val="008000"/>
                </a:solidFill>
              </a:rPr>
              <a:t>pos</a:t>
            </a:r>
            <a:r>
              <a:rPr lang="en-US" altLang="zh-CN" sz="2000" dirty="0" smtClean="0">
                <a:solidFill>
                  <a:srgbClr val="008000"/>
                </a:solidFill>
              </a:rPr>
              <a:t> </a:t>
            </a:r>
            <a:r>
              <a:rPr lang="en-US" altLang="zh-CN" sz="2000" dirty="0">
                <a:solidFill>
                  <a:srgbClr val="008000"/>
                </a:solidFill>
              </a:rPr>
              <a:t>toward the </a:t>
            </a:r>
            <a:r>
              <a:rPr lang="en-US" altLang="zh-CN" sz="2000" dirty="0" smtClean="0">
                <a:solidFill>
                  <a:srgbClr val="008000"/>
                </a:solidFill>
              </a:rPr>
              <a:t>tail</a:t>
            </a:r>
            <a:endParaRPr lang="en-US" altLang="zh-CN" sz="14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	</a:t>
            </a:r>
            <a:r>
              <a:rPr lang="en-US" altLang="zh-CN" sz="2000" dirty="0"/>
              <a:t>void next() { // no change if already at end</a:t>
            </a:r>
            <a:endParaRPr lang="en-US" altLang="zh-CN" sz="20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/>
              <a:t> 		if (</a:t>
            </a:r>
            <a:r>
              <a:rPr lang="en-US" altLang="zh-CN" sz="2000" dirty="0" err="1"/>
              <a:t>curr</a:t>
            </a:r>
            <a:r>
              <a:rPr lang="en-US" altLang="zh-CN" sz="2000" dirty="0"/>
              <a:t> != tail) { </a:t>
            </a:r>
            <a:r>
              <a:rPr lang="en-US" altLang="zh-CN" sz="2000" dirty="0" err="1"/>
              <a:t>curr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curr</a:t>
            </a:r>
            <a:r>
              <a:rPr lang="en-US" altLang="zh-CN" sz="2000" dirty="0"/>
              <a:t>-&gt;next;}</a:t>
            </a:r>
            <a:endParaRPr lang="en-US" altLang="zh-CN" sz="20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/>
              <a:t>	}</a:t>
            </a:r>
            <a:endParaRPr lang="en-US" altLang="zh-CN" sz="20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solidFill>
                  <a:srgbClr val="008000"/>
                </a:solidFill>
              </a:rPr>
              <a:t>//</a:t>
            </a:r>
            <a:r>
              <a:rPr lang="en-US" altLang="zh-CN" sz="2000" dirty="0" err="1" smtClean="0">
                <a:solidFill>
                  <a:srgbClr val="008000"/>
                </a:solidFill>
              </a:rPr>
              <a:t>Prev</a:t>
            </a:r>
            <a:r>
              <a:rPr lang="en-US" altLang="zh-CN" sz="2000" dirty="0" smtClean="0">
                <a:solidFill>
                  <a:srgbClr val="008000"/>
                </a:solidFill>
              </a:rPr>
              <a:t> </a:t>
            </a:r>
            <a:r>
              <a:rPr lang="en-US" altLang="zh-CN" sz="2000" dirty="0">
                <a:solidFill>
                  <a:srgbClr val="008000"/>
                </a:solidFill>
              </a:rPr>
              <a:t>– move </a:t>
            </a:r>
            <a:r>
              <a:rPr lang="en-US" altLang="zh-CN" sz="2000" dirty="0" err="1">
                <a:solidFill>
                  <a:srgbClr val="008000"/>
                </a:solidFill>
              </a:rPr>
              <a:t>curr</a:t>
            </a:r>
            <a:r>
              <a:rPr lang="en-US" altLang="zh-CN" sz="2000" dirty="0">
                <a:solidFill>
                  <a:srgbClr val="008000"/>
                </a:solidFill>
              </a:rPr>
              <a:t> one </a:t>
            </a:r>
            <a:r>
              <a:rPr lang="en-US" altLang="zh-CN" sz="2000" dirty="0" err="1" smtClean="0">
                <a:solidFill>
                  <a:srgbClr val="008000"/>
                </a:solidFill>
              </a:rPr>
              <a:t>pos</a:t>
            </a:r>
            <a:r>
              <a:rPr lang="en-US" altLang="zh-CN" sz="2000" dirty="0" smtClean="0">
                <a:solidFill>
                  <a:srgbClr val="008000"/>
                </a:solidFill>
              </a:rPr>
              <a:t> </a:t>
            </a:r>
            <a:r>
              <a:rPr lang="en-US" altLang="zh-CN" sz="2000" dirty="0">
                <a:solidFill>
                  <a:srgbClr val="008000"/>
                </a:solidFill>
              </a:rPr>
              <a:t>toward the head </a:t>
            </a:r>
            <a:endParaRPr lang="en-US" altLang="zh-CN" sz="14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	</a:t>
            </a:r>
            <a:r>
              <a:rPr lang="en-US" altLang="zh-CN" sz="2000" dirty="0"/>
              <a:t>void </a:t>
            </a:r>
            <a:r>
              <a:rPr lang="en-US" altLang="zh-CN" sz="2000" dirty="0" err="1"/>
              <a:t>prev</a:t>
            </a:r>
            <a:r>
              <a:rPr lang="en-US" altLang="zh-CN" sz="2000" dirty="0"/>
              <a:t>() {</a:t>
            </a:r>
            <a:endParaRPr lang="en-US" altLang="zh-CN" sz="20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/>
              <a:t>  </a:t>
            </a:r>
            <a:r>
              <a:rPr lang="en-US" altLang="zh-CN" sz="2000" dirty="0" smtClean="0"/>
              <a:t>   if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curr</a:t>
            </a:r>
            <a:r>
              <a:rPr lang="en-US" altLang="zh-CN" sz="2000" dirty="0"/>
              <a:t> == head) return; </a:t>
            </a:r>
            <a:r>
              <a:rPr lang="en-US" altLang="zh-CN" sz="2000" dirty="0">
                <a:solidFill>
                  <a:srgbClr val="008000"/>
                </a:solidFill>
              </a:rPr>
              <a:t>// No previous element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 smtClean="0"/>
              <a:t>     Link&lt;E</a:t>
            </a:r>
            <a:r>
              <a:rPr lang="en-US" altLang="zh-CN" sz="2000" dirty="0"/>
              <a:t>&gt;* temp = head;</a:t>
            </a:r>
            <a:endParaRPr lang="en-US" altLang="zh-CN" sz="20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	</a:t>
            </a:r>
            <a:r>
              <a:rPr lang="en-US" altLang="zh-CN" sz="2000" dirty="0" smtClean="0">
                <a:solidFill>
                  <a:srgbClr val="008000"/>
                </a:solidFill>
              </a:rPr>
              <a:t>  //</a:t>
            </a:r>
            <a:r>
              <a:rPr lang="en-US" altLang="zh-CN" sz="2000" dirty="0">
                <a:solidFill>
                  <a:srgbClr val="008000"/>
                </a:solidFill>
              </a:rPr>
              <a:t>march down list until the previous element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	</a:t>
            </a:r>
            <a:r>
              <a:rPr lang="en-US" altLang="zh-CN" sz="2000" dirty="0" smtClean="0">
                <a:solidFill>
                  <a:srgbClr val="B545B5"/>
                </a:solidFill>
              </a:rPr>
              <a:t>  while </a:t>
            </a:r>
            <a:r>
              <a:rPr lang="en-US" altLang="zh-CN" sz="2000" dirty="0">
                <a:solidFill>
                  <a:srgbClr val="B545B5"/>
                </a:solidFill>
              </a:rPr>
              <a:t>(temp-&gt;next!=</a:t>
            </a:r>
            <a:r>
              <a:rPr lang="en-US" altLang="zh-CN" sz="2000" dirty="0" err="1">
                <a:solidFill>
                  <a:srgbClr val="B545B5"/>
                </a:solidFill>
              </a:rPr>
              <a:t>curr</a:t>
            </a:r>
            <a:r>
              <a:rPr lang="en-US" altLang="zh-CN" sz="2000" dirty="0">
                <a:solidFill>
                  <a:srgbClr val="B545B5"/>
                </a:solidFill>
              </a:rPr>
              <a:t>) temp=temp-&gt;next;</a:t>
            </a:r>
            <a:endParaRPr lang="en-US" altLang="zh-CN" sz="2000" dirty="0">
              <a:solidFill>
                <a:srgbClr val="B545B5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/>
              <a:t>  	</a:t>
            </a: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curr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= temp</a:t>
            </a:r>
            <a:r>
              <a:rPr lang="en-US" altLang="zh-CN" sz="2000" dirty="0" smtClean="0"/>
              <a:t>;</a:t>
            </a:r>
            <a:endParaRPr lang="en-US" altLang="zh-CN" sz="2000" dirty="0" smtClean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/>
              <a:t>}</a:t>
            </a:r>
            <a:endParaRPr lang="en-US" altLang="zh-CN" sz="1800" dirty="0"/>
          </a:p>
          <a:p>
            <a:pPr>
              <a:lnSpc>
                <a:spcPct val="14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8000"/>
              </a:solidFill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954BF5F-79D1-4A56-B1D2-44015D79915F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5" name="Content Placeholder 2"/>
          <p:cNvSpPr txBox="1"/>
          <p:nvPr/>
        </p:nvSpPr>
        <p:spPr>
          <a:xfrm>
            <a:off x="552450" y="1748790"/>
            <a:ext cx="6457950" cy="76327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28270" indent="-128270" algn="l" defTabSz="514350" rtl="0" eaLnBrk="1" latinLnBrk="0" hangingPunct="1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8544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4262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89979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15697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41414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32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49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67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Linked List – Position Ops</a:t>
            </a:r>
            <a:endParaRPr lang="en-US" altLang="zh-CN" dirty="0" smtClean="0"/>
          </a:p>
        </p:txBody>
      </p:sp>
      <p:sp>
        <p:nvSpPr>
          <p:cNvPr id="2" name="矩形 1"/>
          <p:cNvSpPr/>
          <p:nvPr/>
        </p:nvSpPr>
        <p:spPr>
          <a:xfrm>
            <a:off x="6588448" y="3557342"/>
            <a:ext cx="5342890" cy="953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Time cost: </a:t>
            </a:r>
            <a:r>
              <a:rPr lang="en-US" altLang="zh-CN" sz="2000" dirty="0" smtClean="0">
                <a:solidFill>
                  <a:srgbClr val="FF0000"/>
                </a:solidFill>
              </a:rPr>
              <a:t>Θ(1</a:t>
            </a:r>
            <a:r>
              <a:rPr lang="en-US" altLang="zh-CN" sz="2000" dirty="0">
                <a:solidFill>
                  <a:srgbClr val="FF0000"/>
                </a:solidFill>
              </a:rPr>
              <a:t>) for next; 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2000" dirty="0" smtClean="0">
                <a:solidFill>
                  <a:srgbClr val="FF0000"/>
                </a:solidFill>
              </a:rPr>
              <a:t>Θ(n</a:t>
            </a:r>
            <a:r>
              <a:rPr lang="en-US" altLang="zh-CN" sz="2000" dirty="0">
                <a:solidFill>
                  <a:srgbClr val="FF0000"/>
                </a:solidFill>
              </a:rPr>
              <a:t>) for </a:t>
            </a:r>
            <a:r>
              <a:rPr lang="en-US" altLang="zh-CN" sz="2000" dirty="0" err="1">
                <a:solidFill>
                  <a:srgbClr val="FF0000"/>
                </a:solidFill>
              </a:rPr>
              <a:t>prev</a:t>
            </a:r>
            <a:r>
              <a:rPr lang="en-US" altLang="zh-CN" sz="2000" dirty="0">
                <a:solidFill>
                  <a:srgbClr val="FF0000"/>
                </a:solidFill>
              </a:rPr>
              <a:t> in the average and worst cases. 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190115" y="28067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024380" y="1925955"/>
            <a:ext cx="8335645" cy="4319270"/>
          </a:xfrm>
        </p:spPr>
        <p:txBody>
          <a:bodyPr/>
          <a:lstStyle/>
          <a:p>
            <a:r>
              <a:rPr lang="en-US" altLang="zh-CN" dirty="0" smtClean="0"/>
              <a:t>C++ STL – List</a:t>
            </a:r>
            <a:endParaRPr lang="en-US" altLang="zh-CN" dirty="0" smtClean="0"/>
          </a:p>
          <a:p>
            <a:pPr lvl="1"/>
            <a:r>
              <a:rPr lang="en-US" altLang="zh-CN" dirty="0"/>
              <a:t>a doubly linked list implementation of the List </a:t>
            </a:r>
            <a:r>
              <a:rPr lang="en-US" altLang="zh-CN" dirty="0" smtClean="0"/>
              <a:t>ADT</a:t>
            </a:r>
            <a:endParaRPr lang="en-US" altLang="zh-CN" dirty="0" smtClean="0"/>
          </a:p>
          <a:p>
            <a:pPr lvl="2"/>
            <a:r>
              <a:rPr lang="en-US" altLang="zh-CN" dirty="0"/>
              <a:t>How to implement the list ADT with pointers where Prev method takes Θ(1) time?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en-US" altLang="zh-CN" dirty="0" smtClean="0"/>
              <a:t>Textbook section 3.5 list &amp; Code </a:t>
            </a:r>
            <a:r>
              <a:rPr lang="en-US" altLang="zh-CN" dirty="0" err="1" smtClean="0"/>
              <a:t>list.h</a:t>
            </a:r>
            <a:r>
              <a:rPr lang="en-US" altLang="zh-CN" dirty="0" smtClean="0"/>
              <a:t> and TestList.cpp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EF163A8-F4A2-4371-8360-1A5B1D61D940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90115" y="364490"/>
            <a:ext cx="7811135" cy="1325245"/>
          </a:xfrm>
        </p:spPr>
        <p:txBody>
          <a:bodyPr/>
          <a:lstStyle/>
          <a:p>
            <a:r>
              <a:rPr lang="en-US" altLang="zh-CN" dirty="0" smtClean="0"/>
              <a:t>List: Pointer </a:t>
            </a:r>
            <a:r>
              <a:rPr lang="en-US" altLang="zh-CN" dirty="0"/>
              <a:t>Implementation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Comparison of </a:t>
            </a:r>
            <a:br>
              <a:rPr lang="en-US" altLang="zh-CN" smtClean="0"/>
            </a:br>
            <a:r>
              <a:rPr lang="en-US" altLang="zh-CN" smtClean="0"/>
              <a:t>List Implementations</a:t>
            </a:r>
            <a:endParaRPr lang="zh-CN" altLang="en-US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578735" y="1596390"/>
          <a:ext cx="7596505" cy="485013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963545"/>
                <a:gridCol w="975360"/>
                <a:gridCol w="3139440"/>
                <a:gridCol w="518160"/>
              </a:tblGrid>
              <a:tr h="69151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Array-Based List</a:t>
                      </a:r>
                      <a:endParaRPr lang="en-US" altLang="zh-CN" sz="2800" dirty="0" smtClean="0"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Linked List</a:t>
                      </a:r>
                      <a:endParaRPr lang="en-US" altLang="zh-CN" sz="2800" dirty="0" smtClean="0"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410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Predetermine the size before allocation</a:t>
                      </a:r>
                      <a:r>
                        <a:rPr lang="en-US" altLang="zh-CN" sz="2000" baseline="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zh-CN" sz="2000" baseline="0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Space is allocated on demand; No limit to the element number.</a:t>
                      </a:r>
                      <a:endParaRPr lang="en-US" altLang="zh-CN" sz="2000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1800" b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601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waste</a:t>
                      </a:r>
                      <a:r>
                        <a:rPr lang="en-US" altLang="zh-CN" sz="2000" baseline="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space for an individual element. </a:t>
                      </a:r>
                      <a:endParaRPr lang="en-US" altLang="zh-CN" sz="2000" baseline="0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2000" b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CN" altLang="en-US" sz="2000" b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 to add an extra pointer</a:t>
                      </a:r>
                      <a:r>
                        <a:rPr lang="en-US" altLang="zh-CN" sz="2000" baseline="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to every list node. </a:t>
                      </a:r>
                      <a:endParaRPr lang="en-US" altLang="zh-CN" sz="2000" baseline="0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6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Random access and </a:t>
                      </a:r>
                      <a:r>
                        <a:rPr lang="en-US" altLang="zh-CN" sz="2000" dirty="0" err="1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Prev</a:t>
                      </a:r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takes </a:t>
                      </a:r>
                      <a:r>
                        <a:rPr lang="el-GR" altLang="zh-C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Θ</a:t>
                      </a:r>
                      <a:r>
                        <a:rPr lang="en-US" altLang="zh-C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en-US" altLang="zh-CN" sz="2000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baseline="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time</a:t>
                      </a:r>
                      <a:endParaRPr lang="en-US" altLang="zh-CN" sz="2000" baseline="0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2000" b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CN" altLang="en-US" sz="2000" b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Random access and </a:t>
                      </a:r>
                      <a:r>
                        <a:rPr lang="en-US" altLang="zh-CN" sz="2000" dirty="0" err="1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Prev</a:t>
                      </a:r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takes </a:t>
                      </a:r>
                      <a:r>
                        <a:rPr lang="el-GR" altLang="zh-C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Θ</a:t>
                      </a:r>
                      <a:r>
                        <a:rPr lang="en-US" altLang="zh-C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(n)</a:t>
                      </a:r>
                      <a:r>
                        <a:rPr lang="en-US" altLang="zh-CN" sz="2000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baseline="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time</a:t>
                      </a:r>
                      <a:endParaRPr lang="en-US" altLang="zh-CN" sz="2000" baseline="0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Insertion and deletion takes </a:t>
                      </a:r>
                      <a:r>
                        <a:rPr lang="el-GR" altLang="zh-C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Θ</a:t>
                      </a:r>
                      <a:r>
                        <a:rPr lang="en-US" altLang="zh-C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(n) </a:t>
                      </a:r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time.</a:t>
                      </a:r>
                      <a:endParaRPr lang="en-US" altLang="zh-CN" sz="2000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Insertion and deletion takes </a:t>
                      </a:r>
                      <a:r>
                        <a:rPr lang="el-GR" altLang="zh-C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Θ</a:t>
                      </a:r>
                      <a:r>
                        <a:rPr lang="en-US" altLang="zh-CN" sz="2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en-US" altLang="zh-CN" sz="2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time.</a:t>
                      </a:r>
                      <a:endParaRPr lang="en-US" altLang="zh-CN" sz="2000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1800" b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CN" altLang="en-US" sz="1800" b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0" marR="51440" marT="25723" marB="2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84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A1BEF39-A4F1-42CD-956B-24962706F7DA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Comparison of </a:t>
            </a:r>
            <a:br>
              <a:rPr lang="en-US" altLang="zh-CN" smtClean="0"/>
            </a:br>
            <a:r>
              <a:rPr lang="en-US" altLang="zh-CN" smtClean="0"/>
              <a:t>List Implementations</a:t>
            </a:r>
            <a:endParaRPr lang="zh-CN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linked lists </a:t>
            </a:r>
            <a:r>
              <a:rPr lang="en-US" altLang="zh-CN" dirty="0"/>
              <a:t>are more space efficient when implementing lists whose number of elements varies widely or is unknown. 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Array-based lists </a:t>
            </a:r>
            <a:r>
              <a:rPr lang="en-US" altLang="zh-CN" dirty="0"/>
              <a:t>are generally more space efficient when the user knows in advance approximately how large the list will become.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sz="1800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4B0A951-FA12-402A-B74B-CA79DC3A4F24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Comparison of </a:t>
            </a:r>
            <a:br>
              <a:rPr lang="en-US" altLang="zh-CN" smtClean="0"/>
            </a:br>
            <a:r>
              <a:rPr lang="en-US" altLang="zh-CN" smtClean="0"/>
              <a:t>List Implementations</a:t>
            </a:r>
            <a:endParaRPr lang="zh-CN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68450"/>
            <a:ext cx="10972800" cy="4525963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CN" dirty="0"/>
              <a:t>Comparison formula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The number of element currently in the list – 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The size of a pointer – 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zh-CN" dirty="0"/>
              <a:t>The size of a data element – </a:t>
            </a:r>
            <a:r>
              <a:rPr lang="en-US" altLang="zh-CN" dirty="0">
                <a:solidFill>
                  <a:srgbClr val="FF0000"/>
                </a:solidFill>
              </a:rPr>
              <a:t>E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zh-CN" dirty="0"/>
              <a:t>The maximum number of elements in the array – </a:t>
            </a:r>
            <a:r>
              <a:rPr lang="en-US" altLang="zh-CN" dirty="0" smtClean="0">
                <a:solidFill>
                  <a:srgbClr val="FF0000"/>
                </a:solidFill>
              </a:rPr>
              <a:t>D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>
              <a:defRPr/>
            </a:pPr>
            <a:endParaRPr lang="en-US" altLang="zh-CN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dirty="0"/>
              <a:t>The array-based list requires space </a:t>
            </a:r>
            <a:r>
              <a:rPr lang="en-US" altLang="zh-CN" dirty="0" smtClean="0"/>
              <a:t>DE</a:t>
            </a:r>
            <a:endParaRPr lang="en-US" altLang="zh-CN" dirty="0" smtClean="0"/>
          </a:p>
          <a:p>
            <a:pPr>
              <a:defRPr/>
            </a:pPr>
            <a:endParaRPr lang="en-US" altLang="zh-CN" sz="15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dirty="0"/>
              <a:t>The linked list requires space n(P+E)</a:t>
            </a:r>
            <a:endParaRPr lang="en-US" altLang="zh-CN" dirty="0"/>
          </a:p>
          <a:p>
            <a:pPr lvl="1">
              <a:defRPr/>
            </a:pPr>
            <a:endParaRPr lang="en-US" altLang="zh-CN" dirty="0"/>
          </a:p>
          <a:p>
            <a:pPr>
              <a:defRPr/>
            </a:pPr>
            <a:endParaRPr lang="en-US" altLang="zh-CN" sz="2100" dirty="0"/>
          </a:p>
          <a:p>
            <a:pPr>
              <a:defRPr/>
            </a:pPr>
            <a:endParaRPr lang="en-US" altLang="zh-CN" sz="2100" dirty="0"/>
          </a:p>
          <a:p>
            <a:pPr lvl="1">
              <a:defRPr/>
            </a:pPr>
            <a:endParaRPr lang="zh-CN" alt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8981F58-59B2-4A3B-A4E4-CBAE400E95F8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" name="矩形 1"/>
          <p:cNvSpPr/>
          <p:nvPr/>
        </p:nvSpPr>
        <p:spPr>
          <a:xfrm>
            <a:off x="1169035" y="6094730"/>
            <a:ext cx="94138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When	n&gt; DE/(P+E</a:t>
            </a:r>
            <a:r>
              <a:rPr lang="en-US" altLang="zh-CN" sz="2400" dirty="0" smtClean="0">
                <a:solidFill>
                  <a:srgbClr val="FF0000"/>
                </a:solidFill>
              </a:rPr>
              <a:t>), the </a:t>
            </a:r>
            <a:r>
              <a:rPr lang="en-US" altLang="zh-CN" sz="2400" dirty="0">
                <a:solidFill>
                  <a:srgbClr val="FF0000"/>
                </a:solidFill>
              </a:rPr>
              <a:t>array-based list is more space efficient!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Exercise</a:t>
            </a:r>
            <a:endParaRPr lang="zh-CN" altLang="en-US" smtClean="0"/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>
          <a:xfrm>
            <a:off x="1733550" y="1417955"/>
            <a:ext cx="8725535" cy="5017770"/>
          </a:xfrm>
        </p:spPr>
        <p:txBody>
          <a:bodyPr vert="horz" lIns="68580" tIns="34290" rIns="68580" bIns="34290" rtlCol="0"/>
          <a:lstStyle/>
          <a:p>
            <a:r>
              <a:rPr lang="en-US" altLang="zh-CN" sz="2800" dirty="0"/>
              <a:t>Determine the break-even point for a linked list being more efficient than an array-based list</a:t>
            </a:r>
            <a:endParaRPr lang="en-US" altLang="zh-CN" sz="2800" dirty="0"/>
          </a:p>
          <a:p>
            <a:pPr lvl="1"/>
            <a:r>
              <a:rPr lang="en-US" altLang="zh-CN" sz="2400" dirty="0"/>
              <a:t>The data field is 2 bytes, a pointer is 4 bytes, the array has 30 elements</a:t>
            </a:r>
            <a:endParaRPr lang="en-US" altLang="zh-CN" sz="2400" dirty="0"/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n &lt; DE/(P+E) = 2*30/(2+4) = 10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1"/>
            <a:endParaRPr lang="en-US" altLang="zh-CN" sz="2400" dirty="0" smtClean="0"/>
          </a:p>
          <a:p>
            <a:pPr lvl="1"/>
            <a:r>
              <a:rPr lang="en-US" altLang="zh-CN" sz="2400" dirty="0" smtClean="0"/>
              <a:t>The </a:t>
            </a:r>
            <a:r>
              <a:rPr lang="en-US" altLang="zh-CN" sz="2400" dirty="0"/>
              <a:t>data field is 8 bytes, a pointer is 4 bytes, the array has 30 elements</a:t>
            </a:r>
            <a:endParaRPr lang="en-US" altLang="zh-CN" sz="2400" dirty="0"/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n &lt; DE/(P+E) = 8*30/(8+4) = 20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1"/>
            <a:endParaRPr lang="en-US" altLang="zh-CN" sz="2400" dirty="0" smtClean="0"/>
          </a:p>
          <a:p>
            <a:pPr lvl="1"/>
            <a:r>
              <a:rPr lang="en-US" altLang="zh-CN" sz="2400" dirty="0" smtClean="0"/>
              <a:t>The </a:t>
            </a:r>
            <a:r>
              <a:rPr lang="en-US" altLang="zh-CN" sz="2400" dirty="0"/>
              <a:t>data field is 32 bytes, a pointer is 4 bytes, the array has 40 elements</a:t>
            </a:r>
            <a:endParaRPr lang="en-US" altLang="zh-CN" sz="2400" dirty="0"/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n &lt; DE/(P+E) = 32*40/(32+4) = 35.555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2"/>
            <a:endParaRPr lang="en-US" altLang="zh-CN" sz="1800" dirty="0">
              <a:solidFill>
                <a:srgbClr val="FF0000"/>
              </a:solidFill>
            </a:endParaRPr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BA11866-7934-4DC1-BA2E-1F605C7074B0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5156" y="985985"/>
            <a:ext cx="4321691" cy="2851208"/>
          </a:xfrm>
        </p:spPr>
        <p:txBody>
          <a:bodyPr>
            <a:normAutofit/>
          </a:bodyPr>
          <a:lstStyle/>
          <a:p>
            <a:r>
              <a:rPr lang="en-US" altLang="zh-CN" sz="4800" dirty="0" smtClean="0"/>
              <a:t>Stack</a:t>
            </a:r>
            <a:endParaRPr lang="en-US" altLang="zh-CN" sz="4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6623" y="2834980"/>
            <a:ext cx="1974089" cy="29611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What is Stack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 list for which Insert and Delete are allowed only at one end of the list (the top)</a:t>
            </a:r>
            <a:endParaRPr lang="en-US" altLang="zh-CN" dirty="0"/>
          </a:p>
          <a:p>
            <a:pPr lvl="1"/>
            <a:r>
              <a:rPr lang="en-US" altLang="zh-CN" dirty="0"/>
              <a:t>the implementation defines which end is the "top"</a:t>
            </a:r>
            <a:endParaRPr lang="en-US" altLang="zh-CN" dirty="0"/>
          </a:p>
          <a:p>
            <a:pPr lvl="1"/>
            <a:r>
              <a:rPr lang="en-US" altLang="zh-CN" dirty="0"/>
              <a:t>LIFO – Last in, First out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>
                <a:solidFill>
                  <a:srgbClr val="008000"/>
                </a:solidFill>
              </a:rPr>
              <a:t>Push</a:t>
            </a:r>
            <a:r>
              <a:rPr lang="en-US" altLang="zh-CN" dirty="0"/>
              <a:t>: Insert element at top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Pop</a:t>
            </a:r>
            <a:r>
              <a:rPr lang="en-US" altLang="zh-CN" dirty="0"/>
              <a:t>: Remove and return top element (aka </a:t>
            </a:r>
            <a:r>
              <a:rPr lang="en-US" altLang="zh-CN" dirty="0" err="1"/>
              <a:t>TopAndPop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 err="1">
                <a:solidFill>
                  <a:srgbClr val="3A3AB9"/>
                </a:solidFill>
                <a:ea typeface="宋体" pitchFamily="2" charset="-122"/>
              </a:rPr>
              <a:t>IsEmpty</a:t>
            </a:r>
            <a:r>
              <a:rPr lang="en-US" altLang="zh-CN" dirty="0"/>
              <a:t>: test for </a:t>
            </a:r>
            <a:r>
              <a:rPr lang="en-US" altLang="zh-CN" dirty="0" err="1"/>
              <a:t>emptyness</a:t>
            </a:r>
            <a:endParaRPr lang="en-US" altLang="zh-CN" dirty="0"/>
          </a:p>
          <a:p>
            <a:pPr lvl="1"/>
            <a:endParaRPr lang="en-US" altLang="zh-CN" sz="525" dirty="0" smtClean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9F7EE10-1D8A-4DF4-8EB3-C1D00618FA23}" type="slidenum">
              <a:rPr lang="zh-CN" altLang="en-US" sz="1050" smtClean="0"/>
            </a:fld>
            <a:endParaRPr lang="zh-CN" altLang="en-US" sz="105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5454" y="2478225"/>
            <a:ext cx="2477231" cy="22551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Two Basic Implementations of Stacks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6867" name="Rectangle 1027"/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/>
          <a:lstStyle/>
          <a:p>
            <a:r>
              <a:rPr lang="en-US" altLang="zh-CN" dirty="0" smtClean="0">
                <a:solidFill>
                  <a:srgbClr val="5252D4"/>
                </a:solidFill>
                <a:ea typeface="宋体" pitchFamily="2" charset="-122"/>
              </a:rPr>
              <a:t>Array-based</a:t>
            </a:r>
            <a:endParaRPr lang="en-US" altLang="zh-CN" dirty="0" smtClean="0">
              <a:solidFill>
                <a:srgbClr val="5252D4"/>
              </a:solidFill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The k items in the stack are the first k items in the array.</a:t>
            </a:r>
            <a:endParaRPr lang="en-US" altLang="zh-CN" dirty="0" smtClean="0">
              <a:ea typeface="宋体" pitchFamily="2" charset="-122"/>
            </a:endParaRPr>
          </a:p>
          <a:p>
            <a:pPr lvl="0">
              <a:buFont typeface="Arial" panose="020B0604020202090204" pitchFamily="34" charset="0"/>
              <a:buChar char="•"/>
            </a:pPr>
            <a:endParaRPr lang="en-US" altLang="zh-CN" dirty="0" smtClean="0">
              <a:solidFill>
                <a:srgbClr val="C00000"/>
              </a:solidFill>
              <a:ea typeface="宋体" pitchFamily="2" charset="-122"/>
              <a:sym typeface="+mn-ea"/>
            </a:endParaRPr>
          </a:p>
          <a:p>
            <a:pPr lvl="0">
              <a:buFont typeface="Arial" panose="020B0604020202090204" pitchFamily="34" charset="0"/>
              <a:buChar char="•"/>
            </a:pPr>
            <a:r>
              <a:rPr lang="en-US" altLang="zh-CN" dirty="0" smtClean="0">
                <a:solidFill>
                  <a:srgbClr val="C00000"/>
                </a:solidFill>
                <a:ea typeface="宋体" pitchFamily="2" charset="-122"/>
                <a:sym typeface="+mn-ea"/>
              </a:rPr>
              <a:t>Linked List</a:t>
            </a:r>
            <a:endParaRPr lang="en-US" altLang="zh-CN" dirty="0" smtClean="0">
              <a:solidFill>
                <a:srgbClr val="C00000"/>
              </a:solidFill>
              <a:ea typeface="宋体" pitchFamily="2" charset="-122"/>
            </a:endParaRPr>
          </a:p>
          <a:p>
            <a:pPr lvl="1"/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defRPr/>
            </a:pPr>
            <a:fld id="{B93AA191-82FB-4D34-A536-34EE6DB31045}" type="slidenum">
              <a:rPr lang="en-US" altLang="zh-CN" sz="790">
                <a:latin typeface="Times New Roman" panose="02020603050405020304" pitchFamily="18" charset="0"/>
              </a:rPr>
            </a:fld>
            <a:endParaRPr lang="en-US" altLang="zh-CN" sz="79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609600" y="-952"/>
            <a:ext cx="10972800" cy="1143000"/>
          </a:xfrm>
        </p:spPr>
        <p:txBody>
          <a:bodyPr/>
          <a:lstStyle/>
          <a:p>
            <a:r>
              <a:rPr lang="en-US" altLang="zh-CN" smtClean="0"/>
              <a:t>Stack ADT</a:t>
            </a:r>
            <a:endParaRPr lang="zh-CN" altLang="en-US" smtClean="0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2947670" y="979805"/>
            <a:ext cx="8453120" cy="5303520"/>
          </a:xfrm>
        </p:spPr>
        <p:txBody>
          <a:bodyPr vert="horz" lIns="68580" tIns="34290" rIns="68580" bIns="34290" rtlCol="0">
            <a:noAutofit/>
          </a:bodyPr>
          <a:lstStyle/>
          <a:p>
            <a:pPr marL="0">
              <a:buNone/>
            </a:pPr>
            <a:r>
              <a:rPr lang="en-US" altLang="zh-CN" sz="2000" dirty="0" smtClean="0">
                <a:solidFill>
                  <a:srgbClr val="008000"/>
                </a:solidFill>
                <a:ea typeface="宋体" pitchFamily="2" charset="-122"/>
              </a:rPr>
              <a:t>// The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stack ADT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template </a:t>
            </a:r>
            <a:r>
              <a:rPr lang="en-US" altLang="zh-CN" sz="2000" dirty="0">
                <a:ea typeface="宋体" pitchFamily="2" charset="-122"/>
              </a:rPr>
              <a:t>&lt;</a:t>
            </a:r>
            <a:r>
              <a:rPr lang="en-US" altLang="zh-CN" sz="2000" dirty="0" err="1">
                <a:ea typeface="宋体" pitchFamily="2" charset="-122"/>
              </a:rPr>
              <a:t>typename</a:t>
            </a:r>
            <a:r>
              <a:rPr lang="en-US" altLang="zh-CN" sz="2000" dirty="0">
                <a:ea typeface="宋体" pitchFamily="2" charset="-122"/>
              </a:rPr>
              <a:t> E&gt; class Stack {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>
                <a:ea typeface="宋体" pitchFamily="2" charset="-122"/>
              </a:rPr>
              <a:t>private: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    void </a:t>
            </a:r>
            <a:r>
              <a:rPr lang="en-US" altLang="zh-CN" sz="2000" dirty="0">
                <a:ea typeface="宋体" pitchFamily="2" charset="-122"/>
              </a:rPr>
              <a:t>operator=(</a:t>
            </a:r>
            <a:r>
              <a:rPr lang="en-US" altLang="zh-CN" sz="2000" dirty="0" err="1">
                <a:ea typeface="宋体" pitchFamily="2" charset="-122"/>
              </a:rPr>
              <a:t>const</a:t>
            </a:r>
            <a:r>
              <a:rPr lang="en-US" altLang="zh-CN" sz="2000" dirty="0">
                <a:ea typeface="宋体" pitchFamily="2" charset="-122"/>
              </a:rPr>
              <a:t> Stack&amp;) {}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//Protect assignment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    Stack(</a:t>
            </a:r>
            <a:r>
              <a:rPr lang="en-US" altLang="zh-CN" sz="2000" dirty="0" err="1" smtClean="0">
                <a:ea typeface="宋体" pitchFamily="2" charset="-122"/>
              </a:rPr>
              <a:t>const</a:t>
            </a:r>
            <a:r>
              <a:rPr lang="en-US" altLang="zh-CN" sz="2000" dirty="0" smtClean="0">
                <a:ea typeface="宋体" pitchFamily="2" charset="-122"/>
              </a:rPr>
              <a:t> </a:t>
            </a:r>
            <a:r>
              <a:rPr lang="en-US" altLang="zh-CN" sz="2000" dirty="0">
                <a:ea typeface="宋体" pitchFamily="2" charset="-122"/>
              </a:rPr>
              <a:t>Stack&amp;) {}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//Protect copy assignment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pPr marL="0">
              <a:buNone/>
            </a:pP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>
                <a:ea typeface="宋体" pitchFamily="2" charset="-122"/>
              </a:rPr>
              <a:t>public:</a:t>
            </a:r>
            <a:endParaRPr lang="en-US" altLang="zh-CN" sz="2000" dirty="0">
              <a:ea typeface="宋体" pitchFamily="2" charset="-122"/>
            </a:endParaRPr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     </a:t>
            </a:r>
            <a:r>
              <a:rPr lang="en-US" altLang="zh-CN" sz="2000" dirty="0" smtClean="0">
                <a:solidFill>
                  <a:srgbClr val="008000"/>
                </a:solidFill>
              </a:rPr>
              <a:t> // </a:t>
            </a:r>
            <a:r>
              <a:rPr lang="en-US" altLang="zh-CN" sz="2000" dirty="0">
                <a:solidFill>
                  <a:srgbClr val="008000"/>
                </a:solidFill>
              </a:rPr>
              <a:t>Push an element onto the top of the stack.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 </a:t>
            </a:r>
            <a:r>
              <a:rPr lang="en-US" altLang="zh-CN" sz="2000" dirty="0" smtClean="0">
                <a:solidFill>
                  <a:srgbClr val="008000"/>
                </a:solidFill>
              </a:rPr>
              <a:t>     </a:t>
            </a:r>
            <a:r>
              <a:rPr lang="en-US" altLang="zh-CN" sz="2000" dirty="0"/>
              <a:t>virtual bool push(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E&amp; it) = 0;</a:t>
            </a:r>
            <a:endParaRPr lang="en-US" altLang="zh-CN" sz="2000" dirty="0"/>
          </a:p>
          <a:p>
            <a:pPr marL="0">
              <a:buNone/>
            </a:pPr>
            <a:endParaRPr lang="en-US" altLang="zh-CN" sz="2000" dirty="0">
              <a:solidFill>
                <a:srgbClr val="008000"/>
              </a:solidFill>
            </a:endParaRPr>
          </a:p>
          <a:p>
            <a:pPr marL="0"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  </a:t>
            </a:r>
            <a:r>
              <a:rPr lang="en-US" altLang="zh-CN" sz="2000" dirty="0" smtClean="0">
                <a:solidFill>
                  <a:srgbClr val="008000"/>
                </a:solidFill>
              </a:rPr>
              <a:t>   // </a:t>
            </a:r>
            <a:r>
              <a:rPr lang="en-US" altLang="zh-CN" sz="2000" dirty="0">
                <a:solidFill>
                  <a:srgbClr val="008000"/>
                </a:solidFill>
              </a:rPr>
              <a:t>Remove the element at the top of the stack. 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  </a:t>
            </a:r>
            <a:r>
              <a:rPr lang="en-US" altLang="zh-CN" sz="2000" dirty="0" smtClean="0">
                <a:solidFill>
                  <a:srgbClr val="008000"/>
                </a:solidFill>
              </a:rPr>
              <a:t>   </a:t>
            </a:r>
            <a:r>
              <a:rPr lang="en-US" altLang="zh-CN" sz="2000" dirty="0" smtClean="0"/>
              <a:t>virtual </a:t>
            </a:r>
            <a:r>
              <a:rPr lang="en-US" altLang="zh-CN" sz="2000" dirty="0"/>
              <a:t>E pop() = 0;</a:t>
            </a:r>
            <a:endParaRPr lang="en-US" altLang="zh-CN" sz="2000" dirty="0"/>
          </a:p>
          <a:p>
            <a:pPr marL="0">
              <a:buNone/>
            </a:pPr>
            <a:endParaRPr lang="en-US" altLang="zh-CN" sz="2000" dirty="0">
              <a:solidFill>
                <a:srgbClr val="008000"/>
              </a:solidFill>
            </a:endParaRPr>
          </a:p>
          <a:p>
            <a:pPr marL="0"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  </a:t>
            </a:r>
            <a:r>
              <a:rPr lang="en-US" altLang="zh-CN" sz="2000" dirty="0" smtClean="0">
                <a:solidFill>
                  <a:srgbClr val="008000"/>
                </a:solidFill>
              </a:rPr>
              <a:t>  // </a:t>
            </a:r>
            <a:r>
              <a:rPr lang="en-US" altLang="zh-CN" sz="2000" dirty="0">
                <a:solidFill>
                  <a:srgbClr val="008000"/>
                </a:solidFill>
              </a:rPr>
              <a:t>Return a copy of the top element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  </a:t>
            </a:r>
            <a:r>
              <a:rPr lang="en-US" altLang="zh-CN" sz="2000" dirty="0" smtClean="0">
                <a:solidFill>
                  <a:srgbClr val="008000"/>
                </a:solidFill>
              </a:rPr>
              <a:t>  </a:t>
            </a:r>
            <a:r>
              <a:rPr lang="en-US" altLang="zh-CN" sz="2000" dirty="0" smtClean="0"/>
              <a:t>virtual 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E&amp; </a:t>
            </a:r>
            <a:r>
              <a:rPr lang="en-US" altLang="zh-CN" sz="2000" dirty="0" err="1"/>
              <a:t>topValue</a:t>
            </a:r>
            <a:r>
              <a:rPr lang="en-US" altLang="zh-CN" sz="2000" dirty="0"/>
              <a:t>() 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= 0</a:t>
            </a:r>
            <a:r>
              <a:rPr lang="en-US" altLang="zh-CN" sz="2000" dirty="0" smtClean="0"/>
              <a:t>;</a:t>
            </a:r>
            <a:endParaRPr lang="en-US" altLang="zh-CN" sz="2000" dirty="0" smtClean="0"/>
          </a:p>
          <a:p>
            <a:pPr marL="0">
              <a:buNone/>
            </a:pPr>
            <a:r>
              <a:rPr lang="en-US" altLang="zh-CN" sz="2000" dirty="0" smtClean="0">
                <a:ea typeface="宋体" pitchFamily="2" charset="-122"/>
              </a:rPr>
              <a:t>}</a:t>
            </a:r>
            <a:r>
              <a:rPr lang="en-US" altLang="zh-CN" sz="2000" dirty="0">
                <a:ea typeface="宋体" pitchFamily="2" charset="-122"/>
              </a:rPr>
              <a:t>;</a:t>
            </a:r>
            <a:endParaRPr lang="en-US" altLang="zh-CN" sz="2000" dirty="0">
              <a:ea typeface="宋体" pitchFamily="2" charset="-122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8EDA742C-461A-458B-92C9-12F2AE38EF95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Array-Based Stacks</a:t>
            </a:r>
            <a:endParaRPr lang="zh-CN" altLang="en-US" smtClean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1412240" y="1256665"/>
            <a:ext cx="9070340" cy="1937385"/>
          </a:xfrm>
        </p:spPr>
        <p:txBody>
          <a:bodyPr>
            <a:normAutofit/>
          </a:bodyPr>
          <a:lstStyle/>
          <a:p>
            <a:r>
              <a:rPr lang="en-US" altLang="zh-CN" dirty="0"/>
              <a:t>Array-based stack implementation</a:t>
            </a:r>
            <a:endParaRPr lang="en-US" altLang="zh-CN" dirty="0"/>
          </a:p>
          <a:p>
            <a:pPr lvl="1"/>
            <a:r>
              <a:rPr lang="en-US" altLang="zh-CN" dirty="0"/>
              <a:t>The stack must be declared </a:t>
            </a:r>
            <a:r>
              <a:rPr lang="en-US" altLang="zh-CN" dirty="0">
                <a:solidFill>
                  <a:schemeClr val="tx1"/>
                </a:solidFill>
              </a:rPr>
              <a:t>of</a:t>
            </a:r>
            <a:r>
              <a:rPr lang="en-US" altLang="zh-CN" dirty="0">
                <a:solidFill>
                  <a:srgbClr val="FF0000"/>
                </a:solidFill>
              </a:rPr>
              <a:t> fixed size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A simplified version of the array-based list</a:t>
            </a:r>
            <a:endParaRPr lang="en-US" altLang="zh-CN" dirty="0"/>
          </a:p>
          <a:p>
            <a:pPr lvl="4"/>
            <a:endParaRPr lang="en-US" altLang="zh-CN" sz="900" dirty="0"/>
          </a:p>
          <a:p>
            <a:endParaRPr lang="zh-CN" altLang="en-US" sz="1350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BDFE74F-649B-46D0-9524-C1BE24381C9E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7410688" y="4769688"/>
            <a:ext cx="4171950" cy="70675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000" dirty="0">
                <a:solidFill>
                  <a:srgbClr val="FF0000"/>
                </a:solidFill>
              </a:rPr>
              <a:t>Which end of the array shall be the top of the stack?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980" y="3064510"/>
            <a:ext cx="7973695" cy="336232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indent="-128270"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Template &lt;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typename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E&gt; class 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Astack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: public Stack&lt;E&gt; {</a:t>
            </a:r>
            <a:endParaRPr lang="en-US" altLang="zh-CN" sz="2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128270"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private:</a:t>
            </a:r>
            <a:endParaRPr lang="en-US" altLang="zh-CN" sz="2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128270"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maxSize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    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 Maximum size of stack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128270"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top;     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 Index for top element (free position)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128270" defTabSz="514350">
              <a:lnSpc>
                <a:spcPct val="90000"/>
              </a:lnSpc>
              <a:spcBef>
                <a:spcPts val="565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E *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listArray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 Array holding stack elements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128270"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128270"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public:</a:t>
            </a:r>
            <a:endParaRPr lang="en-US" altLang="zh-CN" sz="2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128270"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AStack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size=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defaultSize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//Constructor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128270"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{ 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maxSize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=size; top=0; 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listArray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=new E[size]; }</a:t>
            </a:r>
            <a:endParaRPr lang="en-US" altLang="zh-CN" sz="2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-128270" defTabSz="514350">
              <a:lnSpc>
                <a:spcPct val="90000"/>
              </a:lnSpc>
              <a:spcBef>
                <a:spcPts val="565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~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Astack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() { delete [] 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listArray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 }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//Destructor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Array-Based Stacks (III)</a:t>
            </a:r>
            <a:endParaRPr lang="zh-CN" altLang="en-US" smtClean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88900" y="1317625"/>
            <a:ext cx="12103100" cy="5540375"/>
          </a:xfrm>
        </p:spPr>
        <p:txBody>
          <a:bodyPr/>
          <a:lstStyle/>
          <a:p>
            <a:r>
              <a:rPr lang="en-US" altLang="zh-CN" dirty="0"/>
              <a:t>Make </a:t>
            </a:r>
            <a:r>
              <a:rPr lang="en-US" altLang="zh-CN" dirty="0">
                <a:solidFill>
                  <a:srgbClr val="FF0000"/>
                </a:solidFill>
              </a:rPr>
              <a:t>the tail of the array be the top of the stack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Pushing an element onto the stack by appending it to the tail of the list</a:t>
            </a:r>
            <a:endParaRPr lang="en-US" altLang="zh-CN" dirty="0"/>
          </a:p>
          <a:p>
            <a:pPr lvl="1"/>
            <a:r>
              <a:rPr lang="en-US" altLang="zh-CN" dirty="0"/>
              <a:t>The cost for each </a:t>
            </a:r>
            <a:r>
              <a:rPr lang="en-US" altLang="zh-CN" b="1" dirty="0">
                <a:solidFill>
                  <a:srgbClr val="C00000"/>
                </a:solidFill>
              </a:rPr>
              <a:t>push</a:t>
            </a:r>
            <a:r>
              <a:rPr lang="en-US" altLang="zh-CN" dirty="0"/>
              <a:t> and </a:t>
            </a:r>
            <a:r>
              <a:rPr lang="en-US" altLang="zh-CN" b="1" dirty="0">
                <a:solidFill>
                  <a:srgbClr val="C00000"/>
                </a:solidFill>
              </a:rPr>
              <a:t>pop</a:t>
            </a:r>
            <a:r>
              <a:rPr lang="en-US" altLang="zh-CN" dirty="0"/>
              <a:t> operation is simply </a:t>
            </a:r>
            <a:r>
              <a:rPr lang="el-GR" altLang="zh-CN" dirty="0"/>
              <a:t>Θ</a:t>
            </a:r>
            <a:r>
              <a:rPr lang="en-US" altLang="zh-CN" dirty="0"/>
              <a:t>(1).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Setting of </a:t>
            </a:r>
            <a:r>
              <a:rPr lang="en-US" altLang="zh-CN" b="1" dirty="0">
                <a:solidFill>
                  <a:srgbClr val="C00000"/>
                </a:solidFill>
              </a:rPr>
              <a:t>top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The array index of the first free position in the stack</a:t>
            </a:r>
            <a:endParaRPr lang="en-US" altLang="zh-CN" dirty="0"/>
          </a:p>
          <a:p>
            <a:pPr lvl="2"/>
            <a:r>
              <a:rPr lang="en-US" altLang="zh-CN" dirty="0"/>
              <a:t>An empty stack has top set to 0.</a:t>
            </a:r>
            <a:endParaRPr lang="en-US" altLang="zh-CN" dirty="0"/>
          </a:p>
          <a:p>
            <a:pPr lvl="2"/>
            <a:endParaRPr lang="en-US" altLang="zh-CN" sz="1200" dirty="0"/>
          </a:p>
          <a:p>
            <a:pPr lvl="1"/>
            <a:r>
              <a:rPr lang="en-US" altLang="zh-CN" dirty="0"/>
              <a:t>Push: first </a:t>
            </a:r>
            <a:r>
              <a:rPr lang="en-US" altLang="zh-CN" dirty="0">
                <a:solidFill>
                  <a:srgbClr val="008000"/>
                </a:solidFill>
              </a:rPr>
              <a:t>insert</a:t>
            </a:r>
            <a:r>
              <a:rPr lang="en-US" altLang="zh-CN" dirty="0"/>
              <a:t> the element, then </a:t>
            </a:r>
            <a:r>
              <a:rPr lang="en-US" altLang="zh-CN" dirty="0">
                <a:solidFill>
                  <a:srgbClr val="008000"/>
                </a:solidFill>
              </a:rPr>
              <a:t>increment</a:t>
            </a:r>
            <a:r>
              <a:rPr lang="en-US" altLang="zh-CN" dirty="0"/>
              <a:t> top</a:t>
            </a:r>
            <a:endParaRPr lang="en-US" altLang="zh-CN" dirty="0"/>
          </a:p>
          <a:p>
            <a:pPr lvl="1"/>
            <a:r>
              <a:rPr lang="en-US" altLang="zh-CN" dirty="0"/>
              <a:t>Pop: first </a:t>
            </a:r>
            <a:r>
              <a:rPr lang="en-US" altLang="zh-CN" dirty="0">
                <a:solidFill>
                  <a:srgbClr val="3A3AB9"/>
                </a:solidFill>
              </a:rPr>
              <a:t>decrement</a:t>
            </a:r>
            <a:r>
              <a:rPr lang="en-US" altLang="zh-CN" dirty="0"/>
              <a:t> top, then </a:t>
            </a:r>
            <a:r>
              <a:rPr lang="en-US" altLang="zh-CN" dirty="0">
                <a:solidFill>
                  <a:srgbClr val="3A3AB9"/>
                </a:solidFill>
              </a:rPr>
              <a:t>removes</a:t>
            </a:r>
            <a:r>
              <a:rPr lang="en-US" altLang="zh-CN" dirty="0"/>
              <a:t> the top element;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Pay attention to the order of two operations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sz="1350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6C3B9D9-2298-4B2B-810A-777F02B39A61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Array-Based Stacks (II)</a:t>
            </a:r>
            <a:endParaRPr lang="zh-CN" altLang="en-US" smtClean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67355" y="1358900"/>
            <a:ext cx="6257290" cy="530352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smtClean="0">
                <a:solidFill>
                  <a:srgbClr val="FF0000"/>
                </a:solidFill>
              </a:rPr>
              <a:t>clear</a:t>
            </a:r>
            <a:r>
              <a:rPr lang="en-US" altLang="zh-CN" sz="2400" dirty="0" smtClean="0"/>
              <a:t>() { top=0; } 	</a:t>
            </a:r>
            <a:r>
              <a:rPr lang="en-US" altLang="zh-CN" sz="2400" dirty="0" smtClean="0">
                <a:solidFill>
                  <a:srgbClr val="008000"/>
                </a:solidFill>
              </a:rPr>
              <a:t>//Reinitialize</a:t>
            </a:r>
            <a:endParaRPr lang="en-US" altLang="zh-CN" sz="2400" dirty="0" smtClean="0">
              <a:solidFill>
                <a:srgbClr val="008000"/>
              </a:solidFill>
            </a:endParaRPr>
          </a:p>
          <a:p>
            <a:pPr marL="0" indent="0">
              <a:buNone/>
              <a:defRPr/>
            </a:pPr>
            <a:endParaRPr lang="en-US" altLang="zh-CN" sz="1200" dirty="0"/>
          </a:p>
          <a:p>
            <a:pPr marL="0" indent="0">
              <a:buNone/>
              <a:defRPr/>
            </a:pPr>
            <a:r>
              <a:rPr lang="en-US" altLang="zh-CN" sz="2400" dirty="0"/>
              <a:t>void </a:t>
            </a:r>
            <a:r>
              <a:rPr lang="en-US" altLang="zh-CN" sz="2400" dirty="0">
                <a:solidFill>
                  <a:srgbClr val="FF0000"/>
                </a:solidFill>
              </a:rPr>
              <a:t>push</a:t>
            </a:r>
            <a:r>
              <a:rPr lang="en-US" altLang="zh-CN" sz="2400" dirty="0"/>
              <a:t>(</a:t>
            </a:r>
            <a:r>
              <a:rPr lang="en-US" altLang="zh-CN" sz="2400" dirty="0" err="1"/>
              <a:t>const</a:t>
            </a:r>
            <a:r>
              <a:rPr lang="en-US" altLang="zh-CN" sz="2400" dirty="0"/>
              <a:t> E&amp; it) { 	</a:t>
            </a:r>
            <a:r>
              <a:rPr lang="en-US" altLang="zh-CN" sz="2400" dirty="0">
                <a:solidFill>
                  <a:srgbClr val="008000"/>
                </a:solidFill>
              </a:rPr>
              <a:t>// put “it” on stack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2400" dirty="0"/>
              <a:t>  Assert(top != </a:t>
            </a:r>
            <a:r>
              <a:rPr lang="en-US" altLang="zh-CN" sz="2400" dirty="0" err="1"/>
              <a:t>maxSize</a:t>
            </a:r>
            <a:r>
              <a:rPr lang="en-US" altLang="zh-CN" sz="2400" dirty="0"/>
              <a:t>, “Stack is full”);</a:t>
            </a:r>
            <a:endParaRPr lang="en-US" altLang="zh-CN" sz="2400" dirty="0"/>
          </a:p>
          <a:p>
            <a:pPr marL="0" indent="0">
              <a:buNone/>
              <a:defRPr/>
            </a:pPr>
            <a:r>
              <a:rPr lang="en-US" altLang="zh-CN" sz="2400" dirty="0"/>
              <a:t>  </a:t>
            </a:r>
            <a:r>
              <a:rPr lang="en-US" altLang="zh-CN" sz="2400" dirty="0" err="1"/>
              <a:t>listArray</a:t>
            </a:r>
            <a:r>
              <a:rPr lang="en-US" altLang="zh-CN" sz="2400" dirty="0"/>
              <a:t>[top++] = it; }</a:t>
            </a:r>
            <a:endParaRPr lang="en-US" altLang="zh-CN" sz="2400" dirty="0"/>
          </a:p>
          <a:p>
            <a:pPr marL="0" indent="0">
              <a:buNone/>
              <a:defRPr/>
            </a:pPr>
            <a:endParaRPr lang="en-US" altLang="zh-CN" sz="1200" dirty="0"/>
          </a:p>
          <a:p>
            <a:pPr marL="0" indent="0">
              <a:buNone/>
              <a:defRPr/>
            </a:pPr>
            <a:r>
              <a:rPr lang="en-US" altLang="zh-CN" sz="2400" dirty="0"/>
              <a:t>E </a:t>
            </a:r>
            <a:r>
              <a:rPr lang="en-US" altLang="zh-CN" sz="2400" dirty="0">
                <a:solidFill>
                  <a:srgbClr val="FF0000"/>
                </a:solidFill>
              </a:rPr>
              <a:t>pop</a:t>
            </a:r>
            <a:r>
              <a:rPr lang="en-US" altLang="zh-CN" sz="2400" dirty="0"/>
              <a:t>() </a:t>
            </a:r>
            <a:r>
              <a:rPr lang="en-US" altLang="zh-CN" sz="2400" dirty="0" smtClean="0"/>
              <a:t>{</a:t>
            </a:r>
            <a:r>
              <a:rPr lang="en-US" altLang="zh-CN" sz="2400" dirty="0" smtClean="0">
                <a:solidFill>
                  <a:srgbClr val="008000"/>
                </a:solidFill>
              </a:rPr>
              <a:t>//</a:t>
            </a:r>
            <a:r>
              <a:rPr lang="en-US" altLang="zh-CN" sz="2400" dirty="0">
                <a:solidFill>
                  <a:srgbClr val="008000"/>
                </a:solidFill>
              </a:rPr>
              <a:t>pop top element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2400" dirty="0"/>
              <a:t>  Assert(top != 0, “Stack is empty”);</a:t>
            </a:r>
            <a:endParaRPr lang="en-US" altLang="zh-CN" sz="2400" dirty="0"/>
          </a:p>
          <a:p>
            <a:pPr marL="0" indent="0">
              <a:buNone/>
              <a:defRPr/>
            </a:pPr>
            <a:r>
              <a:rPr lang="en-US" altLang="zh-CN" sz="2400" dirty="0"/>
              <a:t>  return </a:t>
            </a:r>
            <a:r>
              <a:rPr lang="en-US" altLang="zh-CN" sz="2400" dirty="0" err="1"/>
              <a:t>listArray</a:t>
            </a:r>
            <a:r>
              <a:rPr lang="en-US" altLang="zh-CN" sz="2400" dirty="0"/>
              <a:t>[--top]; }</a:t>
            </a:r>
            <a:endParaRPr lang="en-US" altLang="zh-CN" sz="2400" dirty="0"/>
          </a:p>
          <a:p>
            <a:pPr marL="0" indent="0">
              <a:buNone/>
              <a:defRPr/>
            </a:pPr>
            <a:endParaRPr lang="en-US" altLang="zh-CN" sz="1200" dirty="0"/>
          </a:p>
          <a:p>
            <a:pPr marL="0" indent="0">
              <a:buNone/>
              <a:defRPr/>
            </a:pPr>
            <a:r>
              <a:rPr lang="en-US" altLang="zh-CN" sz="2400" dirty="0" err="1"/>
              <a:t>const</a:t>
            </a:r>
            <a:r>
              <a:rPr lang="en-US" altLang="zh-CN" sz="2400" dirty="0"/>
              <a:t> E&amp; </a:t>
            </a:r>
            <a:r>
              <a:rPr lang="en-US" altLang="zh-CN" sz="2400" dirty="0" err="1">
                <a:solidFill>
                  <a:srgbClr val="FF0000"/>
                </a:solidFill>
              </a:rPr>
              <a:t>topValue</a:t>
            </a:r>
            <a:r>
              <a:rPr lang="en-US" altLang="zh-CN" sz="2400" dirty="0"/>
              <a:t>() </a:t>
            </a:r>
            <a:r>
              <a:rPr lang="en-US" altLang="zh-CN" sz="2400" dirty="0" err="1"/>
              <a:t>const</a:t>
            </a:r>
            <a:r>
              <a:rPr lang="en-US" altLang="zh-CN" sz="2400" dirty="0"/>
              <a:t> { 	</a:t>
            </a:r>
            <a:r>
              <a:rPr lang="en-US" altLang="zh-CN" sz="2400" dirty="0">
                <a:solidFill>
                  <a:srgbClr val="008000"/>
                </a:solidFill>
              </a:rPr>
              <a:t>//return top element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2400" dirty="0"/>
              <a:t>  Assert(top != 0, “Stack is empty”);</a:t>
            </a:r>
            <a:endParaRPr lang="en-US" altLang="zh-CN" sz="2400" dirty="0"/>
          </a:p>
          <a:p>
            <a:pPr marL="0" indent="0">
              <a:buNone/>
              <a:defRPr/>
            </a:pPr>
            <a:r>
              <a:rPr lang="en-US" altLang="zh-CN" sz="2400" dirty="0"/>
              <a:t>  return </a:t>
            </a:r>
            <a:r>
              <a:rPr lang="en-US" altLang="zh-CN" sz="2400" dirty="0" err="1"/>
              <a:t>listArray</a:t>
            </a:r>
            <a:r>
              <a:rPr lang="en-US" altLang="zh-CN" sz="2400" dirty="0"/>
              <a:t>[top-1]; }</a:t>
            </a:r>
            <a:endParaRPr lang="en-US" altLang="zh-CN" sz="2400" dirty="0"/>
          </a:p>
          <a:p>
            <a:pPr marL="0" indent="0">
              <a:buNone/>
              <a:defRPr/>
            </a:pPr>
            <a:endParaRPr lang="en-US" altLang="zh-CN" sz="2400" dirty="0"/>
          </a:p>
          <a:p>
            <a:pPr marL="0" indent="0">
              <a:buNone/>
              <a:defRPr/>
            </a:pPr>
            <a:endParaRPr lang="en-US" altLang="zh-CN" sz="2400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774EA6D-A27C-408B-AD08-D60384FE4482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Linked Stacks</a:t>
            </a:r>
            <a:endParaRPr lang="zh-CN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Elements are inserted and removed only from the head of the </a:t>
            </a:r>
            <a:r>
              <a:rPr lang="en-US" altLang="zh-CN" dirty="0" smtClean="0"/>
              <a:t>list</a:t>
            </a:r>
            <a:endParaRPr lang="en-US" altLang="zh-CN" dirty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0332E4D-97C2-4445-BFA0-14754A4C26F3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" name="矩形 1"/>
          <p:cNvSpPr/>
          <p:nvPr/>
        </p:nvSpPr>
        <p:spPr>
          <a:xfrm>
            <a:off x="4385310" y="2567305"/>
            <a:ext cx="6741160" cy="4154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//A linked stack 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E&gt; class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LStack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public Stack&lt;E&gt; {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Link&lt;E&gt;* top;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//pointer to first element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size; 	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//number of elements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LStack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defaultSize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){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top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NULL; size = 0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~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LStack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{ clear(); }	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//Destructor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76550"/>
            <a:ext cx="4254500" cy="3536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Linked Stacks (II)</a:t>
            </a:r>
            <a:endParaRPr lang="zh-CN" altLang="en-US" smtClean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0" y="1694815"/>
            <a:ext cx="6610985" cy="368554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 void </a:t>
            </a:r>
            <a:r>
              <a:rPr lang="en-US" altLang="zh-CN" sz="1800" dirty="0">
                <a:solidFill>
                  <a:srgbClr val="FF0000"/>
                </a:solidFill>
              </a:rPr>
              <a:t>clear</a:t>
            </a:r>
            <a:r>
              <a:rPr lang="en-US" altLang="zh-CN" sz="1800" dirty="0"/>
              <a:t>() {			</a:t>
            </a:r>
            <a:r>
              <a:rPr lang="en-US" altLang="zh-CN" sz="1800" dirty="0">
                <a:solidFill>
                  <a:srgbClr val="008000"/>
                </a:solidFill>
              </a:rPr>
              <a:t>//reinitialize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while </a:t>
            </a:r>
            <a:r>
              <a:rPr lang="en-US" altLang="zh-CN" sz="1800" dirty="0"/>
              <a:t>(top != NULL) { 	</a:t>
            </a:r>
            <a:r>
              <a:rPr lang="en-US" altLang="zh-CN" sz="1800" dirty="0">
                <a:solidFill>
                  <a:srgbClr val="008000"/>
                </a:solidFill>
              </a:rPr>
              <a:t>//delete link nodes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 </a:t>
            </a:r>
            <a:r>
              <a:rPr lang="en-US" altLang="zh-CN" sz="1800" dirty="0" smtClean="0"/>
              <a:t>     </a:t>
            </a:r>
            <a:r>
              <a:rPr lang="en-US" altLang="zh-CN" sz="1800" dirty="0"/>
              <a:t>Link&lt;E&gt;* temp = top; top = top-&gt;next; delete temp;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}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size </a:t>
            </a:r>
            <a:r>
              <a:rPr lang="en-US" altLang="zh-CN" sz="1800" dirty="0"/>
              <a:t>= 0;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}</a:t>
            </a:r>
            <a:endParaRPr lang="en-US" altLang="zh-CN" sz="1800" dirty="0" smtClean="0"/>
          </a:p>
          <a:p>
            <a:pPr eaLnBrk="1" hangingPunct="1">
              <a:lnSpc>
                <a:spcPct val="100000"/>
              </a:lnSpc>
              <a:buFontTx/>
              <a:buNone/>
            </a:pP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 void </a:t>
            </a:r>
            <a:r>
              <a:rPr lang="en-US" altLang="zh-CN" sz="1800" dirty="0">
                <a:solidFill>
                  <a:srgbClr val="FF0000"/>
                </a:solidFill>
              </a:rPr>
              <a:t>push</a:t>
            </a:r>
            <a:r>
              <a:rPr lang="en-US" altLang="zh-CN" sz="1800" dirty="0"/>
              <a:t>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E&amp; it) { 	</a:t>
            </a:r>
            <a:r>
              <a:rPr lang="en-US" altLang="zh-CN" sz="1800" dirty="0">
                <a:solidFill>
                  <a:srgbClr val="008000"/>
                </a:solidFill>
              </a:rPr>
              <a:t>//put “it” on the stack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 top </a:t>
            </a:r>
            <a:r>
              <a:rPr lang="en-US" altLang="zh-CN" sz="1800" dirty="0"/>
              <a:t>= new Link&lt;E&gt;(it, top); size++;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}</a:t>
            </a:r>
            <a:endParaRPr lang="en-US" altLang="zh-CN" sz="1800" dirty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71072F9-EBE4-47AB-8F7D-4035891AA8BA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" name="Content Placeholder 2"/>
          <p:cNvSpPr>
            <a:spLocks noGrp="1"/>
          </p:cNvSpPr>
          <p:nvPr/>
        </p:nvSpPr>
        <p:spPr>
          <a:xfrm>
            <a:off x="6392545" y="1417955"/>
            <a:ext cx="5799455" cy="423926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 E </a:t>
            </a:r>
            <a:r>
              <a:rPr lang="en-US" altLang="zh-CN" sz="1800" dirty="0">
                <a:solidFill>
                  <a:srgbClr val="FF0000"/>
                </a:solidFill>
              </a:rPr>
              <a:t>pop</a:t>
            </a:r>
            <a:r>
              <a:rPr lang="en-US" altLang="zh-CN" sz="1800" dirty="0"/>
              <a:t>() { 			</a:t>
            </a:r>
            <a:r>
              <a:rPr lang="en-US" altLang="zh-CN" sz="1800" dirty="0">
                <a:solidFill>
                  <a:srgbClr val="008000"/>
                </a:solidFill>
              </a:rPr>
              <a:t>//remove “it” from stack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Assert(top </a:t>
            </a:r>
            <a:r>
              <a:rPr lang="en-US" altLang="zh-CN" sz="1800" dirty="0"/>
              <a:t>!= NULL, “Stack is empty”);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E </a:t>
            </a:r>
            <a:r>
              <a:rPr lang="en-US" altLang="zh-CN" sz="1800" dirty="0"/>
              <a:t>it = top-&gt;element;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Link&lt;E</a:t>
            </a:r>
            <a:r>
              <a:rPr lang="en-US" altLang="zh-CN" sz="1800" dirty="0"/>
              <a:t>&gt;* </a:t>
            </a:r>
            <a:r>
              <a:rPr lang="en-US" altLang="zh-CN" sz="1800" dirty="0" err="1"/>
              <a:t>ltemp</a:t>
            </a:r>
            <a:r>
              <a:rPr lang="en-US" altLang="zh-CN" sz="1800" dirty="0"/>
              <a:t> = top-&gt;next;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</a:t>
            </a:r>
            <a:r>
              <a:rPr lang="en-US" altLang="zh-CN" sz="1800" dirty="0" smtClean="0">
                <a:solidFill>
                  <a:srgbClr val="3A3AB9"/>
                </a:solidFill>
              </a:rPr>
              <a:t>delete </a:t>
            </a:r>
            <a:r>
              <a:rPr lang="en-US" altLang="zh-CN" sz="1800" dirty="0">
                <a:solidFill>
                  <a:srgbClr val="3A3AB9"/>
                </a:solidFill>
              </a:rPr>
              <a:t>top;  top = </a:t>
            </a:r>
            <a:r>
              <a:rPr lang="en-US" altLang="zh-CN" sz="1800" dirty="0" err="1">
                <a:solidFill>
                  <a:srgbClr val="3A3AB9"/>
                </a:solidFill>
              </a:rPr>
              <a:t>ltemp</a:t>
            </a:r>
            <a:r>
              <a:rPr lang="en-US" altLang="zh-CN" sz="1800" dirty="0">
                <a:solidFill>
                  <a:srgbClr val="3A3AB9"/>
                </a:solidFill>
              </a:rPr>
              <a:t>;  size--; return it;</a:t>
            </a:r>
            <a:endParaRPr lang="en-US" altLang="zh-CN" sz="1800" dirty="0">
              <a:solidFill>
                <a:srgbClr val="3A3AB9"/>
              </a:solidFill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}</a:t>
            </a:r>
            <a:endParaRPr lang="en-US" altLang="zh-CN" sz="1800" dirty="0" smtClean="0"/>
          </a:p>
          <a:p>
            <a:pPr eaLnBrk="1" hangingPunct="1">
              <a:lnSpc>
                <a:spcPct val="100000"/>
              </a:lnSpc>
              <a:buFontTx/>
              <a:buNone/>
            </a:pP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E&amp; </a:t>
            </a:r>
            <a:r>
              <a:rPr lang="en-US" altLang="zh-CN" sz="1800" dirty="0" err="1">
                <a:solidFill>
                  <a:srgbClr val="FF0000"/>
                </a:solidFill>
              </a:rPr>
              <a:t>topValue</a:t>
            </a:r>
            <a:r>
              <a:rPr lang="en-US" altLang="zh-CN" sz="1800" dirty="0"/>
              <a:t>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{ 	</a:t>
            </a:r>
            <a:r>
              <a:rPr lang="en-US" altLang="zh-CN" sz="1800" dirty="0">
                <a:solidFill>
                  <a:srgbClr val="008000"/>
                </a:solidFill>
              </a:rPr>
              <a:t>//return top value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Assert(top </a:t>
            </a:r>
            <a:r>
              <a:rPr lang="en-US" altLang="zh-CN" sz="1800" dirty="0"/>
              <a:t>!= 0, “Stack is empty”);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return </a:t>
            </a:r>
            <a:r>
              <a:rPr lang="en-US" altLang="zh-CN" sz="1800" dirty="0"/>
              <a:t>top-&gt;element;</a:t>
            </a:r>
            <a:endParaRPr lang="en-US" altLang="zh-CN" sz="1800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1800" dirty="0"/>
              <a:t> }</a:t>
            </a:r>
            <a:endParaRPr lang="en-US" altLang="zh-C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Linked Stacks (III)</a:t>
            </a:r>
            <a:endParaRPr lang="zh-CN" altLang="en-US" smtClean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 need to have a </a:t>
            </a:r>
            <a:r>
              <a:rPr lang="en-US" altLang="zh-CN" dirty="0">
                <a:solidFill>
                  <a:srgbClr val="3A3AB9"/>
                </a:solidFill>
              </a:rPr>
              <a:t>head node </a:t>
            </a:r>
            <a:endParaRPr lang="en-US" altLang="zh-CN" dirty="0">
              <a:solidFill>
                <a:srgbClr val="3A3AB9"/>
              </a:solidFill>
            </a:endParaRPr>
          </a:p>
          <a:p>
            <a:pPr lvl="1"/>
            <a:r>
              <a:rPr lang="en-US" altLang="zh-CN" dirty="0"/>
              <a:t>No special code is required for lists of zero or one elements.</a:t>
            </a:r>
            <a:endParaRPr lang="en-US" altLang="zh-CN" dirty="0"/>
          </a:p>
          <a:p>
            <a:pPr lvl="4"/>
            <a:endParaRPr lang="en-US" altLang="zh-CN" dirty="0"/>
          </a:p>
          <a:p>
            <a:r>
              <a:rPr lang="en-US" altLang="zh-CN" dirty="0"/>
              <a:t>A pointer </a:t>
            </a:r>
            <a:r>
              <a:rPr lang="en-US" altLang="zh-CN" b="1" dirty="0">
                <a:solidFill>
                  <a:srgbClr val="CC0000"/>
                </a:solidFill>
              </a:rPr>
              <a:t>top</a:t>
            </a:r>
            <a:r>
              <a:rPr lang="en-US" altLang="zh-CN" dirty="0"/>
              <a:t> points to the first link node</a:t>
            </a:r>
            <a:endParaRPr lang="en-US" altLang="zh-CN" dirty="0"/>
          </a:p>
          <a:p>
            <a:pPr lvl="1"/>
            <a:r>
              <a:rPr lang="en-US" altLang="zh-CN" dirty="0"/>
              <a:t>Push: first modifies the </a:t>
            </a:r>
            <a:r>
              <a:rPr lang="en-US" altLang="zh-CN" b="1" dirty="0">
                <a:solidFill>
                  <a:srgbClr val="CC0000"/>
                </a:solidFill>
              </a:rPr>
              <a:t>next</a:t>
            </a:r>
            <a:r>
              <a:rPr lang="en-US" altLang="zh-CN" dirty="0"/>
              <a:t> field of the newly created node to point to the top of the stack, then sets </a:t>
            </a:r>
            <a:r>
              <a:rPr lang="en-US" altLang="zh-CN" b="1" dirty="0">
                <a:solidFill>
                  <a:srgbClr val="CC0000"/>
                </a:solidFill>
              </a:rPr>
              <a:t>top</a:t>
            </a:r>
            <a:r>
              <a:rPr lang="en-US" altLang="zh-CN" dirty="0"/>
              <a:t> to point to the new node </a:t>
            </a:r>
            <a:endParaRPr lang="en-US" altLang="zh-CN" dirty="0" smtClean="0"/>
          </a:p>
          <a:p>
            <a:pPr lvl="1"/>
            <a:endParaRPr lang="en-US" altLang="zh-CN" sz="450" dirty="0"/>
          </a:p>
          <a:p>
            <a:pPr lvl="1"/>
            <a:r>
              <a:rPr lang="en-US" altLang="zh-CN" dirty="0"/>
              <a:t>Pop: set </a:t>
            </a:r>
            <a:r>
              <a:rPr lang="en-US" altLang="zh-CN" b="1" dirty="0">
                <a:solidFill>
                  <a:srgbClr val="CC0000"/>
                </a:solidFill>
              </a:rPr>
              <a:t>top</a:t>
            </a:r>
            <a:r>
              <a:rPr lang="en-US" altLang="zh-CN" dirty="0"/>
              <a:t> to point to the </a:t>
            </a:r>
            <a:r>
              <a:rPr lang="en-US" altLang="zh-CN" b="1" dirty="0">
                <a:solidFill>
                  <a:srgbClr val="CC0000"/>
                </a:solidFill>
              </a:rPr>
              <a:t>next</a:t>
            </a:r>
            <a:r>
              <a:rPr lang="en-US" altLang="zh-CN" dirty="0"/>
              <a:t> link of the old top node; the old top node is </a:t>
            </a:r>
            <a:r>
              <a:rPr lang="en-US" altLang="zh-CN" dirty="0" smtClean="0">
                <a:solidFill>
                  <a:srgbClr val="CC0000"/>
                </a:solidFill>
              </a:rPr>
              <a:t>freed</a:t>
            </a:r>
            <a:r>
              <a:rPr lang="en-US" altLang="zh-CN" dirty="0" smtClean="0"/>
              <a:t> and </a:t>
            </a:r>
            <a:r>
              <a:rPr lang="en-US" altLang="zh-CN" dirty="0"/>
              <a:t>its element value is returned.</a:t>
            </a:r>
            <a:endParaRPr lang="zh-CN" altLang="en-US" dirty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C8ED5FA-0BBA-41AA-9993-427506B00411}" type="slidenum">
              <a:rPr lang="en-US" altLang="zh-CN" sz="1050" smtClean="0"/>
            </a:fld>
            <a:endParaRPr lang="en-US" altLang="zh-CN" sz="1050" smtClean="0"/>
          </a:p>
        </p:txBody>
      </p:sp>
      <p:pic>
        <p:nvPicPr>
          <p:cNvPr id="10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2" r="4697"/>
          <a:stretch>
            <a:fillRect/>
          </a:stretch>
        </p:blipFill>
        <p:spPr bwMode="auto">
          <a:xfrm>
            <a:off x="9525000" y="962025"/>
            <a:ext cx="2057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0960" y="5939790"/>
            <a:ext cx="4094480" cy="898525"/>
          </a:xfrm>
          <a:prstGeom prst="rect">
            <a:avLst/>
          </a:prstGeom>
        </p:spPr>
      </p:pic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153670" y="133350"/>
            <a:ext cx="11884025" cy="1143000"/>
          </a:xfrm>
        </p:spPr>
        <p:txBody>
          <a:bodyPr/>
          <a:lstStyle/>
          <a:p>
            <a:r>
              <a:rPr lang="en-US" altLang="zh-CN" smtClean="0"/>
              <a:t>Comparison of Array-Based and Linked Stacks</a:t>
            </a:r>
            <a:endParaRPr lang="zh-CN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74A9224F-287C-4793-A390-9EA9BAC26FFA}" type="slidenum">
              <a:rPr lang="en-US" altLang="zh-CN" sz="1050" smtClean="0"/>
            </a:fld>
            <a:endParaRPr lang="en-US" altLang="zh-CN" sz="105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08250" y="1094740"/>
          <a:ext cx="7997190" cy="47599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64080"/>
                <a:gridCol w="3009900"/>
                <a:gridCol w="2823210"/>
              </a:tblGrid>
              <a:tr h="657225">
                <a:tc>
                  <a:txBody>
                    <a:bodyPr/>
                    <a:lstStyle/>
                    <a:p>
                      <a:pPr marL="0" algn="ctr" rtl="0" eaLnBrk="1" latinLnBrk="0" hangingPunct="1"/>
                      <a:endParaRPr lang="zh-CN" altLang="en-US" sz="3600" b="1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altLang="zh-CN" sz="2400" b="1" kern="1200" dirty="0" smtClean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Array-Based Stack</a:t>
                      </a:r>
                      <a:endParaRPr lang="en-US" altLang="zh-CN" sz="2400" b="1" kern="1200" dirty="0" smtClean="0"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 smtClean="0">
                          <a:solidFill>
                            <a:srgbClr val="008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Linked Stack</a:t>
                      </a:r>
                      <a:endParaRPr lang="en-US" altLang="zh-CN" sz="2400" b="1" kern="1200" dirty="0" smtClean="0">
                        <a:solidFill>
                          <a:srgbClr val="008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88695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  <a:endParaRPr lang="en-US" altLang="zh-CN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Take the end of array as the top of stack </a:t>
                      </a:r>
                      <a:endParaRPr lang="en-US" altLang="zh-CN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Take the head of linked list as the top of stack</a:t>
                      </a:r>
                      <a:endParaRPr lang="en-US" altLang="zh-CN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702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cost</a:t>
                      </a:r>
                      <a:endParaRPr lang="en-US" altLang="zh-CN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 time 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push,</a:t>
                      </a:r>
                      <a:r>
                        <a:rPr lang="en-US" altLang="zh-CN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pop, </a:t>
                      </a:r>
                      <a:r>
                        <a:rPr lang="en-US" altLang="zh-CN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topValue</a:t>
                      </a:r>
                      <a:r>
                        <a:rPr lang="en-US" altLang="zh-CN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altLang="zh-CN" sz="24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 time for clear</a:t>
                      </a:r>
                      <a:endParaRPr lang="en-US" altLang="zh-CN" sz="24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 time </a:t>
                      </a:r>
                      <a:r>
                        <a:rPr lang="en-US" altLang="zh-C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push,</a:t>
                      </a:r>
                      <a:r>
                        <a:rPr lang="en-US" altLang="zh-CN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pop and </a:t>
                      </a:r>
                      <a:r>
                        <a:rPr lang="en-US" altLang="zh-CN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topValue</a:t>
                      </a:r>
                      <a:r>
                        <a:rPr lang="en-US" altLang="zh-CN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endParaRPr lang="en-US" altLang="zh-CN" sz="24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2400" baseline="0" dirty="0" smtClean="0">
                          <a:solidFill>
                            <a:srgbClr val="3A3AB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time for clear</a:t>
                      </a:r>
                      <a:endParaRPr lang="en-US" altLang="zh-CN" sz="2400" baseline="0" dirty="0" smtClean="0">
                        <a:solidFill>
                          <a:srgbClr val="3A3AB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702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Space cost</a:t>
                      </a:r>
                      <a:endParaRPr lang="en-US" altLang="zh-CN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</a:t>
                      </a:r>
                      <a:r>
                        <a:rPr lang="en-US" altLang="zh-CN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some space when the stack is not full - Overflow possible </a:t>
                      </a:r>
                      <a:endParaRPr lang="en-US" altLang="zh-CN" sz="24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</a:t>
                      </a:r>
                      <a:r>
                        <a:rPr lang="en-US" altLang="zh-CN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overhead of a link field for every element</a:t>
                      </a:r>
                      <a:endParaRPr lang="en-US" altLang="zh-CN" sz="24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43" marR="51443" marT="25719" marB="2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53670" y="6298565"/>
            <a:ext cx="606996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Q: How to implement </a:t>
            </a:r>
            <a:r>
              <a:rPr lang="en-US" altLang="zh-CN" dirty="0">
                <a:solidFill>
                  <a:srgbClr val="FF0000"/>
                </a:solidFill>
              </a:rPr>
              <a:t>two stacks using a single </a:t>
            </a:r>
            <a:r>
              <a:rPr lang="en-US" altLang="zh-CN" dirty="0" smtClean="0">
                <a:solidFill>
                  <a:srgbClr val="FF0000"/>
                </a:solidFill>
              </a:rPr>
              <a:t>array?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16436" y="865335"/>
            <a:ext cx="4321691" cy="2851208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Queue</a:t>
            </a:r>
            <a:endParaRPr lang="en-US" altLang="zh-CN" sz="4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  <p:pic>
        <p:nvPicPr>
          <p:cNvPr id="103426" name="Picture 2" descr="https://ss2.bdstatic.com/70cFvnSh_Q1YnxGkpoWK1HF6hhy/it/u=1777798372,4189059470&amp;fm=26&amp;gp=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4268" y="3533539"/>
            <a:ext cx="2450306" cy="192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What is Queue</a:t>
            </a:r>
            <a:endParaRPr lang="zh-CN" altLang="en-US" dirty="0" smtClean="0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 a queue, elements may only be inserted from one </a:t>
            </a:r>
            <a:r>
              <a:rPr lang="en-US" altLang="zh-CN" dirty="0" smtClean="0"/>
              <a:t>end (</a:t>
            </a:r>
            <a:r>
              <a:rPr lang="en-US" altLang="zh-CN" dirty="0" smtClean="0">
                <a:solidFill>
                  <a:srgbClr val="FF0000"/>
                </a:solidFill>
              </a:rPr>
              <a:t>back</a:t>
            </a:r>
            <a:r>
              <a:rPr lang="en-US" altLang="zh-CN" dirty="0" smtClean="0"/>
              <a:t>) </a:t>
            </a:r>
            <a:r>
              <a:rPr lang="en-US" altLang="zh-CN" dirty="0"/>
              <a:t>of the list and removed from the other </a:t>
            </a:r>
            <a:r>
              <a:rPr lang="en-US" altLang="zh-CN" dirty="0" smtClean="0"/>
              <a:t>end (</a:t>
            </a:r>
            <a:r>
              <a:rPr lang="en-US" altLang="zh-CN" dirty="0" smtClean="0">
                <a:solidFill>
                  <a:srgbClr val="FF0000"/>
                </a:solidFill>
              </a:rPr>
              <a:t>front</a:t>
            </a:r>
            <a:r>
              <a:rPr lang="en-US" altLang="zh-CN" dirty="0" smtClean="0"/>
              <a:t>) </a:t>
            </a:r>
            <a:r>
              <a:rPr lang="en-US" altLang="zh-CN" dirty="0"/>
              <a:t>of the list</a:t>
            </a:r>
            <a:endParaRPr lang="en-US" altLang="zh-CN" dirty="0"/>
          </a:p>
          <a:p>
            <a:pPr lvl="1"/>
            <a:r>
              <a:rPr lang="en-US" altLang="zh-CN" dirty="0" smtClean="0"/>
              <a:t>First-In, First-Out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Enqueue</a:t>
            </a:r>
            <a:r>
              <a:rPr lang="en-US" altLang="zh-CN" dirty="0"/>
              <a:t>: insert an element at the back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008000"/>
                </a:solidFill>
              </a:rPr>
              <a:t>Dequeue</a:t>
            </a:r>
            <a:r>
              <a:rPr lang="en-US" altLang="zh-CN" dirty="0"/>
              <a:t>: remove an element from the </a:t>
            </a:r>
            <a:r>
              <a:rPr lang="en-US" altLang="zh-CN" dirty="0" smtClean="0"/>
              <a:t>front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9F7EE10-1D8A-4DF4-8EB3-C1D00618FA23}" type="slidenum">
              <a:rPr lang="zh-CN" altLang="en-US" sz="1050" smtClean="0"/>
            </a:fld>
            <a:endParaRPr lang="zh-CN" altLang="en-US" sz="105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020" y="4975225"/>
            <a:ext cx="5351780" cy="155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Queue </a:t>
            </a:r>
            <a:r>
              <a:rPr lang="en-US" altLang="zh-CN" dirty="0" smtClean="0"/>
              <a:t>ADT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5470" y="1568450"/>
            <a:ext cx="6947535" cy="5152390"/>
          </a:xfrm>
        </p:spPr>
        <p:txBody>
          <a:bodyPr vert="horz" lIns="68580" tIns="34290" rIns="68580" bIns="34290" rtlCol="0">
            <a:noAutofit/>
          </a:bodyPr>
          <a:lstStyle/>
          <a:p>
            <a:pPr marL="257175" lvl="1" indent="0">
              <a:buNone/>
            </a:pPr>
            <a:r>
              <a:rPr lang="en-US" altLang="zh-CN" sz="2000" dirty="0"/>
              <a:t>template &lt;</a:t>
            </a:r>
            <a:r>
              <a:rPr lang="en-US" altLang="zh-CN" sz="2000" dirty="0" err="1"/>
              <a:t>typename</a:t>
            </a:r>
            <a:r>
              <a:rPr lang="en-US" altLang="zh-CN" sz="2000" dirty="0"/>
              <a:t> E&gt; class Queue {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private: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	void operator =(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Queue&amp;) {}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    Queue(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Queue&amp;) {};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public: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	Queue() {}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	virtual ~Queue() {}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		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	virtual void </a:t>
            </a:r>
            <a:r>
              <a:rPr lang="en-US" altLang="zh-CN" sz="2000" dirty="0">
                <a:solidFill>
                  <a:schemeClr val="tx1"/>
                </a:solidFill>
              </a:rPr>
              <a:t>clear(</a:t>
            </a:r>
            <a:r>
              <a:rPr lang="en-US" altLang="zh-CN" sz="2000" dirty="0"/>
              <a:t>) = 0;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    virtual void </a:t>
            </a:r>
            <a:r>
              <a:rPr lang="en-US" altLang="zh-CN" sz="2000" dirty="0" err="1">
                <a:solidFill>
                  <a:srgbClr val="FF0000"/>
                </a:solidFill>
              </a:rPr>
              <a:t>enqueue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E&amp;) = 0;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    virtual E </a:t>
            </a:r>
            <a:r>
              <a:rPr lang="en-US" altLang="zh-CN" sz="2000" dirty="0" err="1">
                <a:solidFill>
                  <a:srgbClr val="FF0000"/>
                </a:solidFill>
              </a:rPr>
              <a:t>dequeue</a:t>
            </a:r>
            <a:r>
              <a:rPr lang="en-US" altLang="zh-CN" sz="2000" dirty="0"/>
              <a:t>()  = 0;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    virtual 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E&amp; </a:t>
            </a:r>
            <a:r>
              <a:rPr lang="en-US" altLang="zh-CN" sz="2000" dirty="0" err="1"/>
              <a:t>frontValue</a:t>
            </a:r>
            <a:r>
              <a:rPr lang="en-US" altLang="zh-CN" sz="2000" dirty="0"/>
              <a:t>() 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= 0;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    virtual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length() 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= 0; </a:t>
            </a:r>
            <a:endParaRPr lang="en-US" altLang="zh-CN" sz="2000" dirty="0"/>
          </a:p>
          <a:p>
            <a:pPr marL="257175" lvl="1" indent="0"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  <a:p>
            <a:pPr marL="0" indent="0">
              <a:lnSpc>
                <a:spcPct val="60000"/>
              </a:lnSpc>
              <a:buNone/>
            </a:pPr>
            <a:endParaRPr lang="zh-CN" altLang="en-US" sz="2000" dirty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B8E6DFC-A304-4BAE-9FF0-3C5F4FD8CC88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Two Implementations of Queue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6867" name="Rectangle 1027"/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/>
          <a:lstStyle/>
          <a:p>
            <a:r>
              <a:rPr lang="en-US" altLang="zh-CN" dirty="0">
                <a:solidFill>
                  <a:srgbClr val="C00000"/>
                </a:solidFill>
              </a:rPr>
              <a:t>The array-based </a:t>
            </a:r>
            <a:r>
              <a:rPr lang="en-US" altLang="zh-CN" dirty="0" smtClean="0">
                <a:solidFill>
                  <a:srgbClr val="C00000"/>
                </a:solidFill>
              </a:rPr>
              <a:t>queue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3A3AB9"/>
                </a:solidFill>
              </a:rPr>
              <a:t>The linked queue</a:t>
            </a:r>
            <a:endParaRPr lang="en-US" altLang="zh-CN" dirty="0">
              <a:solidFill>
                <a:srgbClr val="3A3AB9"/>
              </a:solidFill>
            </a:endParaRPr>
          </a:p>
          <a:p>
            <a:endParaRPr lang="en-US" altLang="zh-CN" dirty="0" smtClean="0">
              <a:solidFill>
                <a:srgbClr val="5252D4"/>
              </a:solidFill>
              <a:ea typeface="宋体" pitchFamily="2" charset="-122"/>
            </a:endParaRPr>
          </a:p>
        </p:txBody>
      </p:sp>
      <p:sp>
        <p:nvSpPr>
          <p:cNvPr id="2" name="日期占位符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defRPr/>
            </a:pPr>
            <a:fld id="{B2207ECC-BC70-4D76-A6EC-EE85BF2CF0BF}" type="datetime1">
              <a:rPr lang="zh-CN" altLang="en-US" sz="790" smtClean="0"/>
            </a:fld>
            <a:endParaRPr lang="en-US" altLang="zh-CN" sz="790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defRPr/>
            </a:pPr>
            <a:r>
              <a:rPr lang="en-US" altLang="zh-CN" sz="790"/>
              <a:t>Stacks and Queues - Lecture 6</a:t>
            </a:r>
            <a:endParaRPr lang="en-US" altLang="zh-CN" sz="790"/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defRPr/>
            </a:pPr>
            <a:fld id="{B93AA191-82FB-4D34-A536-34EE6DB31045}" type="slidenum">
              <a:rPr lang="en-US" altLang="zh-CN" sz="790">
                <a:latin typeface="Times New Roman" panose="02020603050405020304" pitchFamily="18" charset="0"/>
              </a:rPr>
            </a:fld>
            <a:endParaRPr lang="en-US" altLang="zh-CN" sz="79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3665730" y="350658"/>
            <a:ext cx="4806534" cy="1325562"/>
          </a:xfrm>
        </p:spPr>
        <p:txBody>
          <a:bodyPr/>
          <a:lstStyle/>
          <a:p>
            <a:r>
              <a:rPr lang="en-US" altLang="zh-CN" dirty="0" smtClean="0"/>
              <a:t>Queue</a:t>
            </a:r>
            <a:r>
              <a:rPr lang="en-US" altLang="zh-CN" dirty="0"/>
              <a:t>:  Array </a:t>
            </a:r>
            <a:r>
              <a:rPr lang="en-US" altLang="zh-CN" dirty="0" smtClean="0"/>
              <a:t>Implementation</a:t>
            </a:r>
            <a:endParaRPr lang="zh-CN" altLang="en-US" dirty="0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B8E6DFC-A304-4BAE-9FF0-3C5F4FD8CC88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6" name="内容占位符 4"/>
          <p:cNvSpPr>
            <a:spLocks noGrp="1"/>
          </p:cNvSpPr>
          <p:nvPr>
            <p:ph idx="1"/>
          </p:nvPr>
        </p:nvSpPr>
        <p:spPr>
          <a:xfrm>
            <a:off x="609600" y="1676400"/>
            <a:ext cx="10972800" cy="4525963"/>
          </a:xfrm>
        </p:spPr>
        <p:txBody>
          <a:bodyPr>
            <a:normAutofit/>
          </a:bodyPr>
          <a:lstStyle/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299" y="5835704"/>
            <a:ext cx="3357563" cy="885825"/>
          </a:xfrm>
          <a:prstGeom prst="rect">
            <a:avLst/>
          </a:prstGeom>
        </p:spPr>
      </p:pic>
      <p:sp>
        <p:nvSpPr>
          <p:cNvPr id="9" name="Content Placeholder 2"/>
          <p:cNvSpPr txBox="1"/>
          <p:nvPr/>
        </p:nvSpPr>
        <p:spPr>
          <a:xfrm>
            <a:off x="3524250" y="1980591"/>
            <a:ext cx="5143500" cy="248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128270" indent="-128270" algn="l" defTabSz="514350" rtl="0" eaLnBrk="1" latinLnBrk="0" hangingPunct="1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8544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4262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89979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15697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41414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32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49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67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2255" lvl="1" indent="0">
              <a:buNone/>
            </a:pPr>
            <a:r>
              <a:rPr lang="en-US" altLang="zh-CN" sz="1800" dirty="0">
                <a:solidFill>
                  <a:srgbClr val="008000"/>
                </a:solidFill>
              </a:rPr>
              <a:t>//Array </a:t>
            </a:r>
            <a:r>
              <a:rPr lang="en-US" altLang="zh-CN" sz="1800" dirty="0" smtClean="0">
                <a:solidFill>
                  <a:srgbClr val="008000"/>
                </a:solidFill>
              </a:rPr>
              <a:t>Implementation for Queue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marL="262255" lvl="1" indent="0">
              <a:buFont typeface="Wingdings 2" panose="05020102010507070707" pitchFamily="18" charset="2"/>
              <a:buNone/>
            </a:pPr>
            <a:endParaRPr lang="pt-BR" altLang="zh-CN" sz="1600" dirty="0" smtClean="0"/>
          </a:p>
          <a:p>
            <a:pPr marL="262255" lvl="1" indent="0">
              <a:buFont typeface="Wingdings 2" panose="05020102010507070707" pitchFamily="18" charset="2"/>
              <a:buNone/>
            </a:pPr>
            <a:r>
              <a:rPr lang="pt-BR" altLang="zh-CN" sz="1800" dirty="0" smtClean="0"/>
              <a:t>template &lt;typename E&gt; class AQueue: public Queue&lt;E&gt; {</a:t>
            </a:r>
            <a:endParaRPr lang="pt-BR" altLang="zh-CN" sz="1800" dirty="0" smtClean="0"/>
          </a:p>
          <a:p>
            <a:pPr marL="262255" lvl="1" indent="0">
              <a:buFont typeface="Wingdings 2" panose="05020102010507070707" pitchFamily="18" charset="2"/>
              <a:buNone/>
            </a:pPr>
            <a:r>
              <a:rPr lang="en-US" altLang="zh-CN" sz="1800" dirty="0" smtClean="0"/>
              <a:t>  private:</a:t>
            </a:r>
            <a:endParaRPr lang="en-US" altLang="zh-CN" sz="1800" dirty="0" smtClean="0"/>
          </a:p>
          <a:p>
            <a:pPr marL="262255" lvl="1" indent="0">
              <a:buFont typeface="Wingdings 2" panose="05020102010507070707" pitchFamily="18" charset="2"/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maxSize</a:t>
            </a:r>
            <a:r>
              <a:rPr lang="en-US" altLang="zh-CN" sz="1800" dirty="0" smtClean="0"/>
              <a:t>; </a:t>
            </a:r>
            <a:r>
              <a:rPr lang="en-US" altLang="zh-CN" sz="1800" dirty="0" smtClean="0">
                <a:solidFill>
                  <a:srgbClr val="00B050"/>
                </a:solidFill>
              </a:rPr>
              <a:t>// Maximum size of queue</a:t>
            </a:r>
            <a:endParaRPr lang="en-US" altLang="zh-CN" sz="1800" dirty="0" smtClean="0">
              <a:solidFill>
                <a:srgbClr val="00B050"/>
              </a:solidFill>
            </a:endParaRPr>
          </a:p>
          <a:p>
            <a:pPr marL="262255" lvl="1" indent="0">
              <a:buFont typeface="Wingdings 2" panose="05020102010507070707" pitchFamily="18" charset="2"/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front; </a:t>
            </a:r>
            <a:r>
              <a:rPr lang="en-US" altLang="zh-CN" sz="1800" dirty="0" smtClean="0">
                <a:solidFill>
                  <a:srgbClr val="00B050"/>
                </a:solidFill>
              </a:rPr>
              <a:t>// Index of front element</a:t>
            </a:r>
            <a:endParaRPr lang="en-US" altLang="zh-CN" sz="1800" dirty="0" smtClean="0">
              <a:solidFill>
                <a:srgbClr val="00B050"/>
              </a:solidFill>
            </a:endParaRPr>
          </a:p>
          <a:p>
            <a:pPr marL="262255" lvl="1" indent="0">
              <a:buFont typeface="Wingdings 2" panose="05020102010507070707" pitchFamily="18" charset="2"/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rear; </a:t>
            </a:r>
            <a:r>
              <a:rPr lang="en-US" altLang="zh-CN" sz="1800" dirty="0" smtClean="0">
                <a:solidFill>
                  <a:srgbClr val="00B050"/>
                </a:solidFill>
              </a:rPr>
              <a:t>// Index of back element</a:t>
            </a:r>
            <a:endParaRPr lang="en-US" altLang="zh-CN" sz="1800" dirty="0" smtClean="0">
              <a:solidFill>
                <a:srgbClr val="00B050"/>
              </a:solidFill>
            </a:endParaRPr>
          </a:p>
          <a:p>
            <a:pPr marL="262255" lvl="1" indent="0">
              <a:buFont typeface="Wingdings 2" panose="05020102010507070707" pitchFamily="18" charset="2"/>
              <a:buNone/>
            </a:pPr>
            <a:r>
              <a:rPr lang="en-US" altLang="zh-CN" sz="1800" dirty="0" smtClean="0"/>
              <a:t>	E *</a:t>
            </a:r>
            <a:r>
              <a:rPr lang="en-US" altLang="zh-CN" sz="1800" dirty="0" err="1" smtClean="0"/>
              <a:t>listArray</a:t>
            </a:r>
            <a:r>
              <a:rPr lang="en-US" altLang="zh-CN" sz="1800" dirty="0" smtClean="0"/>
              <a:t>; </a:t>
            </a:r>
            <a:r>
              <a:rPr lang="en-US" altLang="zh-CN" sz="1800" dirty="0" smtClean="0">
                <a:solidFill>
                  <a:srgbClr val="00B050"/>
                </a:solidFill>
              </a:rPr>
              <a:t>// Array holding queue elements</a:t>
            </a:r>
            <a:endParaRPr lang="en-US" altLang="zh-CN" sz="1800" dirty="0" smtClean="0">
              <a:solidFill>
                <a:srgbClr val="00B050"/>
              </a:solidFill>
            </a:endParaRPr>
          </a:p>
          <a:p>
            <a:pPr marL="262255" lvl="1" indent="0"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00B050"/>
                </a:solidFill>
              </a:rPr>
              <a:t>  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currSize</a:t>
            </a:r>
            <a:r>
              <a:rPr lang="en-US" altLang="zh-CN" sz="1800" dirty="0" smtClean="0"/>
              <a:t>; </a:t>
            </a:r>
            <a:r>
              <a:rPr lang="en-US" altLang="zh-CN" sz="1800" dirty="0">
                <a:solidFill>
                  <a:srgbClr val="00B050"/>
                </a:solidFill>
              </a:rPr>
              <a:t>//length of </a:t>
            </a:r>
            <a:r>
              <a:rPr lang="en-US" altLang="zh-CN" sz="1800" dirty="0" smtClean="0">
                <a:solidFill>
                  <a:srgbClr val="00B050"/>
                </a:solidFill>
              </a:rPr>
              <a:t>queue</a:t>
            </a:r>
            <a:endParaRPr lang="en-US" altLang="zh-CN" sz="1800" dirty="0" smtClean="0">
              <a:solidFill>
                <a:srgbClr val="00B050"/>
              </a:solidFill>
            </a:endParaRPr>
          </a:p>
          <a:p>
            <a:pPr marL="262255" lvl="1" indent="0">
              <a:buFont typeface="Wingdings 2" panose="05020102010507070707" pitchFamily="18" charset="2"/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…</a:t>
            </a:r>
            <a:endParaRPr lang="en-US" altLang="zh-CN" sz="1800" dirty="0" smtClean="0"/>
          </a:p>
          <a:p>
            <a:pPr marL="262255" lvl="1" indent="0">
              <a:buFont typeface="Wingdings 2" panose="05020102010507070707" pitchFamily="18" charset="2"/>
              <a:buNone/>
            </a:pPr>
            <a:r>
              <a:rPr lang="en-US" altLang="zh-CN" sz="1800" dirty="0" smtClean="0"/>
              <a:t>};</a:t>
            </a:r>
            <a:endParaRPr lang="en-US" altLang="zh-CN" sz="18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620" y="6400165"/>
            <a:ext cx="568960" cy="19431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415405" y="6362065"/>
            <a:ext cx="45339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200"/>
              <a:t>rear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Array-Based Queues</a:t>
            </a:r>
            <a:endParaRPr lang="zh-CN" altLang="en-US" smtClean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Suppose we store n elements in the first n positions of the array</a:t>
            </a:r>
            <a:endParaRPr lang="en-US" altLang="zh-CN" sz="2800" dirty="0"/>
          </a:p>
          <a:p>
            <a:pPr lvl="1"/>
            <a:r>
              <a:rPr lang="en-US" altLang="zh-CN" sz="2400" dirty="0"/>
              <a:t>If  we choose position n-1 in the array as the front of the queue</a:t>
            </a:r>
            <a:endParaRPr lang="en-US" altLang="zh-CN" sz="2400" dirty="0"/>
          </a:p>
          <a:p>
            <a:pPr lvl="2"/>
            <a:r>
              <a:rPr lang="en-US" altLang="zh-CN" sz="1800" b="1" dirty="0" err="1">
                <a:solidFill>
                  <a:srgbClr val="008000"/>
                </a:solidFill>
              </a:rPr>
              <a:t>Dequeue</a:t>
            </a:r>
            <a:r>
              <a:rPr lang="en-US" altLang="zh-CN" sz="1800" dirty="0"/>
              <a:t> requires only </a:t>
            </a:r>
            <a:r>
              <a:rPr lang="el-GR" altLang="zh-CN" sz="1800" dirty="0"/>
              <a:t>Θ</a:t>
            </a:r>
            <a:r>
              <a:rPr lang="en-US" altLang="zh-CN" sz="1800" dirty="0"/>
              <a:t>(1) time, but </a:t>
            </a:r>
            <a:r>
              <a:rPr lang="en-US" altLang="zh-CN" sz="1800" b="1" dirty="0" err="1">
                <a:solidFill>
                  <a:srgbClr val="FF0000"/>
                </a:solidFill>
              </a:rPr>
              <a:t>enqueue</a:t>
            </a:r>
            <a:r>
              <a:rPr lang="en-US" altLang="zh-CN" sz="1800" dirty="0"/>
              <a:t> costs </a:t>
            </a:r>
            <a:r>
              <a:rPr lang="el-GR" altLang="zh-CN" sz="1800" dirty="0"/>
              <a:t>Θ</a:t>
            </a:r>
            <a:r>
              <a:rPr lang="en-US" altLang="zh-CN" sz="1800" dirty="0"/>
              <a:t>(n) time </a:t>
            </a:r>
            <a:endParaRPr lang="en-US" altLang="zh-CN" sz="1800" dirty="0"/>
          </a:p>
          <a:p>
            <a:pPr lvl="1"/>
            <a:endParaRPr lang="en-US" altLang="zh-CN" sz="2400" dirty="0" smtClean="0"/>
          </a:p>
          <a:p>
            <a:pPr lvl="1"/>
            <a:r>
              <a:rPr lang="en-US" altLang="zh-CN" sz="2400" dirty="0" smtClean="0"/>
              <a:t>If </a:t>
            </a:r>
            <a:r>
              <a:rPr lang="en-US" altLang="zh-CN" sz="2400" dirty="0"/>
              <a:t>we choose position 0 in the array as the front of the queue</a:t>
            </a:r>
            <a:endParaRPr lang="en-US" altLang="zh-CN" sz="2400" dirty="0"/>
          </a:p>
          <a:p>
            <a:pPr lvl="2"/>
            <a:r>
              <a:rPr lang="en-US" altLang="zh-CN" sz="1800" b="1" dirty="0" err="1">
                <a:solidFill>
                  <a:srgbClr val="008000"/>
                </a:solidFill>
              </a:rPr>
              <a:t>Dequeue</a:t>
            </a:r>
            <a:r>
              <a:rPr lang="en-US" altLang="zh-CN" sz="1800" dirty="0"/>
              <a:t> costs </a:t>
            </a:r>
            <a:r>
              <a:rPr lang="el-GR" altLang="zh-CN" sz="1800" dirty="0"/>
              <a:t>Θ</a:t>
            </a:r>
            <a:r>
              <a:rPr lang="en-US" altLang="zh-CN" sz="1800" dirty="0"/>
              <a:t>(n) time, while </a:t>
            </a:r>
            <a:r>
              <a:rPr lang="en-US" altLang="zh-CN" sz="1800" b="1" dirty="0" err="1">
                <a:solidFill>
                  <a:srgbClr val="FF0000"/>
                </a:solidFill>
              </a:rPr>
              <a:t>enqueue</a:t>
            </a:r>
            <a:r>
              <a:rPr lang="en-US" altLang="zh-CN" sz="1800" dirty="0"/>
              <a:t> costs </a:t>
            </a:r>
            <a:r>
              <a:rPr lang="el-GR" altLang="zh-CN" sz="1800" dirty="0"/>
              <a:t>Θ</a:t>
            </a:r>
            <a:r>
              <a:rPr lang="en-US" altLang="zh-CN" sz="1800" dirty="0"/>
              <a:t>(1) time</a:t>
            </a:r>
            <a:endParaRPr lang="en-US" altLang="zh-CN" sz="1800" dirty="0"/>
          </a:p>
          <a:p>
            <a:pPr lvl="2"/>
            <a:endParaRPr lang="en-US" altLang="zh-CN" sz="1800" dirty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79DA222-C8B1-410F-913B-0BCF748B3C89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Array-Based Queues</a:t>
            </a:r>
            <a:endParaRPr lang="zh-CN" altLang="en-US" smtClean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An </a:t>
            </a:r>
            <a:r>
              <a:rPr lang="en-US" altLang="zh-CN" sz="2400" dirty="0"/>
              <a:t>efficient and tricky implementation</a:t>
            </a:r>
            <a:endParaRPr lang="en-US" altLang="zh-CN" sz="2400" dirty="0"/>
          </a:p>
          <a:p>
            <a:pPr lvl="1"/>
            <a:r>
              <a:rPr lang="en-US" altLang="zh-CN" sz="2000" dirty="0"/>
              <a:t>The queue is still required to be stored in contiguous array </a:t>
            </a:r>
            <a:r>
              <a:rPr lang="en-US" altLang="zh-CN" sz="2000" dirty="0" smtClean="0"/>
              <a:t>positions</a:t>
            </a:r>
            <a:endParaRPr lang="en-US" altLang="zh-CN" sz="2000" dirty="0" smtClean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The queue position can </a:t>
            </a:r>
            <a:r>
              <a:rPr lang="en-US" altLang="zh-CN" sz="2000" b="1" dirty="0">
                <a:solidFill>
                  <a:srgbClr val="FF0000"/>
                </a:solidFill>
              </a:rPr>
              <a:t>drift</a:t>
            </a:r>
            <a:r>
              <a:rPr lang="en-US" altLang="zh-CN" sz="2000" dirty="0">
                <a:solidFill>
                  <a:srgbClr val="FF0000"/>
                </a:solidFill>
              </a:rPr>
              <a:t> within the array 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2"/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79DA222-C8B1-410F-913B-0BCF748B3C89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Array-Based Queues</a:t>
            </a:r>
            <a:endParaRPr lang="zh-CN" altLang="en-US" smtClean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609600" y="1568450"/>
            <a:ext cx="10972800" cy="4525963"/>
          </a:xfrm>
        </p:spPr>
        <p:txBody>
          <a:bodyPr>
            <a:normAutofit/>
          </a:bodyPr>
          <a:lstStyle/>
          <a:p>
            <a:r>
              <a:rPr lang="en-US" altLang="zh-CN" sz="2800" dirty="0" smtClean="0"/>
              <a:t>Drifting queue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/>
              <a:t>The </a:t>
            </a:r>
            <a:r>
              <a:rPr lang="en-US" altLang="zh-CN" sz="2000" b="1" dirty="0">
                <a:solidFill>
                  <a:srgbClr val="008000"/>
                </a:solidFill>
              </a:rPr>
              <a:t>front</a:t>
            </a:r>
            <a:r>
              <a:rPr lang="en-US" altLang="zh-CN" sz="2000" dirty="0">
                <a:solidFill>
                  <a:srgbClr val="008000"/>
                </a:solidFill>
              </a:rPr>
              <a:t> </a:t>
            </a:r>
            <a:r>
              <a:rPr lang="en-US" altLang="zh-CN" sz="2000" dirty="0"/>
              <a:t>of the queue is initially at </a:t>
            </a:r>
            <a:r>
              <a:rPr lang="en-US" altLang="zh-CN" sz="2000" b="1" dirty="0">
                <a:solidFill>
                  <a:srgbClr val="008000"/>
                </a:solidFill>
              </a:rPr>
              <a:t>position 0</a:t>
            </a:r>
            <a:r>
              <a:rPr lang="en-US" altLang="zh-CN" sz="2000" dirty="0"/>
              <a:t> of the </a:t>
            </a:r>
            <a:r>
              <a:rPr lang="en-US" altLang="zh-CN" sz="2000" dirty="0" smtClean="0"/>
              <a:t>array</a:t>
            </a:r>
            <a:endParaRPr lang="en-US" altLang="zh-CN" sz="2000" dirty="0" smtClean="0"/>
          </a:p>
          <a:p>
            <a:pPr lvl="1"/>
            <a:r>
              <a:rPr lang="en-US" altLang="zh-CN" sz="2000" dirty="0"/>
              <a:t>The elements are added to successively higher-numbered </a:t>
            </a:r>
            <a:r>
              <a:rPr lang="en-US" altLang="zh-CN" sz="2000" dirty="0" smtClean="0"/>
              <a:t>positions</a:t>
            </a:r>
            <a:endParaRPr lang="en-US" altLang="zh-CN" sz="2000" dirty="0" smtClean="0"/>
          </a:p>
          <a:p>
            <a:pPr lvl="1"/>
            <a:r>
              <a:rPr lang="en-US" altLang="zh-CN" sz="2000" dirty="0"/>
              <a:t>When elements are removed, the front index </a:t>
            </a:r>
            <a:r>
              <a:rPr lang="en-US" altLang="zh-CN" sz="2000" dirty="0" smtClean="0"/>
              <a:t>increases</a:t>
            </a:r>
            <a:endParaRPr lang="en-US" altLang="zh-CN" sz="2000" dirty="0" smtClean="0"/>
          </a:p>
          <a:p>
            <a:pPr lvl="1"/>
            <a:r>
              <a:rPr lang="en-US" altLang="zh-CN" sz="2000" b="1" dirty="0">
                <a:solidFill>
                  <a:srgbClr val="FF0000"/>
                </a:solidFill>
              </a:rPr>
              <a:t>Both</a:t>
            </a:r>
            <a:r>
              <a:rPr lang="en-US" altLang="zh-CN" sz="2000" dirty="0"/>
              <a:t> enqueuer and dequeuer cost </a:t>
            </a:r>
            <a:r>
              <a:rPr lang="el-GR" altLang="zh-CN" sz="2000" b="1" dirty="0">
                <a:solidFill>
                  <a:srgbClr val="FF0000"/>
                </a:solidFill>
              </a:rPr>
              <a:t>Θ</a:t>
            </a:r>
            <a:r>
              <a:rPr lang="en-US" altLang="zh-CN" sz="2000" b="1" dirty="0">
                <a:solidFill>
                  <a:srgbClr val="FF0000"/>
                </a:solidFill>
              </a:rPr>
              <a:t>(1) </a:t>
            </a:r>
            <a:r>
              <a:rPr lang="en-US" altLang="zh-CN" sz="2000" dirty="0"/>
              <a:t>time</a:t>
            </a:r>
            <a:endParaRPr lang="en-US" altLang="zh-CN" sz="2000" dirty="0" smtClean="0"/>
          </a:p>
          <a:p>
            <a:pPr lvl="2"/>
            <a:endParaRPr lang="en-US" altLang="zh-CN" sz="2000" dirty="0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79DA222-C8B1-410F-913B-0BCF748B3C89}" type="slidenum">
              <a:rPr lang="en-US" altLang="zh-CN" sz="1050" smtClean="0"/>
            </a:fld>
            <a:endParaRPr lang="en-US" altLang="zh-CN" sz="1050" smtClean="0"/>
          </a:p>
        </p:txBody>
      </p:sp>
      <p:pic>
        <p:nvPicPr>
          <p:cNvPr id="5" name="Picture 4" descr="C:\Shaffer\CS2604\Figs\BadQueue.gif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" t="2628" r="4282" b="64639"/>
          <a:stretch>
            <a:fillRect/>
          </a:stretch>
        </p:blipFill>
        <p:spPr bwMode="auto">
          <a:xfrm>
            <a:off x="3291840" y="3872230"/>
            <a:ext cx="4448810" cy="85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C:\Shaffer\CS2604\Figs\BadQueue.gif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" t="50546" r="4282" b="17261"/>
          <a:stretch>
            <a:fillRect/>
          </a:stretch>
        </p:blipFill>
        <p:spPr bwMode="auto">
          <a:xfrm>
            <a:off x="3291840" y="4730750"/>
            <a:ext cx="4488180" cy="85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619091" y="5506008"/>
            <a:ext cx="11607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Problem?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Array-Based Queues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>
            <a:normAutofit/>
          </a:bodyPr>
          <a:lstStyle/>
          <a:p>
            <a:r>
              <a:rPr lang="en-US" altLang="zh-CN" sz="2400" dirty="0"/>
              <a:t>Circular queue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Easily implemented using the </a:t>
            </a:r>
            <a:r>
              <a:rPr lang="en-US" altLang="zh-CN" sz="2400" dirty="0">
                <a:solidFill>
                  <a:srgbClr val="FF0000"/>
                </a:solidFill>
              </a:rPr>
              <a:t>modulus operator</a:t>
            </a:r>
            <a:r>
              <a:rPr lang="zh-CN" altLang="en-US" sz="2400" dirty="0">
                <a:solidFill>
                  <a:srgbClr val="FF0000"/>
                </a:solidFill>
                <a:ea typeface="宋体" charset="0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ea typeface="宋体" charset="0"/>
              </a:rPr>
              <a:t>%</a:t>
            </a:r>
            <a:r>
              <a:rPr lang="zh-CN" altLang="en-US" sz="2400" dirty="0">
                <a:solidFill>
                  <a:srgbClr val="FF0000"/>
                </a:solidFill>
                <a:ea typeface="宋体" charset="0"/>
              </a:rPr>
              <a:t>）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en-US" altLang="zh-CN" sz="1800" dirty="0"/>
              <a:t>Position </a:t>
            </a:r>
            <a:r>
              <a:rPr lang="en-US" altLang="zh-CN" sz="1800" dirty="0" smtClean="0"/>
              <a:t>maxSize-1 </a:t>
            </a:r>
            <a:r>
              <a:rPr lang="en-US" altLang="zh-CN" sz="1800" dirty="0"/>
              <a:t>immediately precede position </a:t>
            </a:r>
            <a:r>
              <a:rPr lang="en-US" altLang="zh-CN" sz="1800" dirty="0" smtClean="0"/>
              <a:t>0</a:t>
            </a:r>
            <a:r>
              <a:rPr lang="zh-CN" altLang="en-US" sz="1800" dirty="0" smtClean="0">
                <a:ea typeface="宋体" charset="0"/>
              </a:rPr>
              <a:t>（</a:t>
            </a:r>
            <a:r>
              <a:rPr lang="en-US" altLang="zh-CN" sz="1800" dirty="0" smtClean="0">
                <a:sym typeface="+mn-ea"/>
              </a:rPr>
              <a:t>maxSize%maxSize</a:t>
            </a:r>
            <a:r>
              <a:rPr lang="zh-CN" altLang="en-US" sz="1800" dirty="0" smtClean="0">
                <a:ea typeface="宋体" charset="0"/>
              </a:rPr>
              <a:t>）</a:t>
            </a:r>
            <a:endParaRPr lang="zh-CN" altLang="en-US" sz="1800" dirty="0" smtClean="0">
              <a:ea typeface="宋体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EAE7699-2A84-46CF-91DE-A2419233CE2D}" type="slidenum">
              <a:rPr lang="en-US" altLang="zh-CN" sz="1050" smtClean="0"/>
            </a:fld>
            <a:endParaRPr lang="en-US" altLang="zh-CN" sz="105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1971040"/>
            <a:ext cx="4634230" cy="209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02E8588-E3A3-4906-BAB1-27377467FCD7}" type="slidenum">
              <a:rPr lang="en-US" altLang="zh-CN" sz="1050" smtClean="0"/>
            </a:fld>
            <a:endParaRPr lang="en-US" altLang="zh-CN" sz="1050" dirty="0" smtClean="0"/>
          </a:p>
        </p:txBody>
      </p:sp>
      <p:sp>
        <p:nvSpPr>
          <p:cNvPr id="696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Array-Based Queues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Circular queue</a:t>
            </a:r>
            <a:endParaRPr lang="en-US" altLang="zh-CN" sz="2400" dirty="0"/>
          </a:p>
          <a:p>
            <a:pPr lvl="1"/>
            <a:r>
              <a:rPr lang="en-US" altLang="zh-CN" sz="2000" dirty="0" smtClean="0"/>
              <a:t>How </a:t>
            </a:r>
            <a:r>
              <a:rPr lang="en-US" altLang="zh-CN" sz="2000" dirty="0"/>
              <a:t>to recognize whether the queue is empty or full? </a:t>
            </a:r>
            <a:endParaRPr lang="en-US" altLang="zh-CN" sz="2000" dirty="0"/>
          </a:p>
          <a:p>
            <a:pPr lvl="1"/>
            <a:endParaRPr lang="en-US" alt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9275" y="2979420"/>
            <a:ext cx="2945765" cy="2343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2872740"/>
            <a:ext cx="2606040" cy="2449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02E8588-E3A3-4906-BAB1-27377467FCD7}" type="slidenum">
              <a:rPr lang="en-US" altLang="zh-CN" sz="1050" smtClean="0"/>
            </a:fld>
            <a:endParaRPr lang="en-US" altLang="zh-CN" sz="1050" dirty="0" smtClean="0"/>
          </a:p>
        </p:txBody>
      </p:sp>
      <p:sp>
        <p:nvSpPr>
          <p:cNvPr id="696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Array-Based Queues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Circular queue</a:t>
            </a:r>
            <a:endParaRPr lang="en-US" altLang="zh-CN" sz="2400" dirty="0"/>
          </a:p>
          <a:p>
            <a:pPr lvl="1"/>
            <a:r>
              <a:rPr lang="en-US" altLang="zh-CN" sz="2000" dirty="0" smtClean="0"/>
              <a:t>How </a:t>
            </a:r>
            <a:r>
              <a:rPr lang="en-US" altLang="zh-CN" sz="2000" dirty="0"/>
              <a:t>to recognize whether the queue is empty or full? </a:t>
            </a:r>
            <a:endParaRPr lang="en-US" altLang="zh-CN" sz="2000" dirty="0"/>
          </a:p>
          <a:p>
            <a:pPr lvl="1"/>
            <a:endParaRPr lang="en-US" altLang="zh-CN" sz="20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5600" y="2921635"/>
            <a:ext cx="3061970" cy="2443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2872740"/>
            <a:ext cx="2606040" cy="2449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02E8588-E3A3-4906-BAB1-27377467FCD7}" type="slidenum">
              <a:rPr lang="en-US" altLang="zh-CN" sz="1050" smtClean="0"/>
            </a:fld>
            <a:endParaRPr lang="en-US" altLang="zh-CN" sz="1050" dirty="0" smtClean="0"/>
          </a:p>
        </p:txBody>
      </p:sp>
      <p:sp>
        <p:nvSpPr>
          <p:cNvPr id="696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Array-Based Queues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When </a:t>
            </a:r>
            <a:r>
              <a:rPr lang="en-US" altLang="zh-CN" b="1" dirty="0">
                <a:solidFill>
                  <a:srgbClr val="008000"/>
                </a:solidFill>
              </a:rPr>
              <a:t>front = rear</a:t>
            </a:r>
            <a:r>
              <a:rPr lang="en-US" altLang="zh-CN" dirty="0"/>
              <a:t>, there has one element in the </a:t>
            </a:r>
            <a:r>
              <a:rPr lang="en-US" altLang="zh-CN" dirty="0" smtClean="0"/>
              <a:t>queue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en-US" altLang="zh-CN" dirty="0"/>
              <a:t>When </a:t>
            </a:r>
            <a:r>
              <a:rPr lang="en-US" altLang="zh-CN" b="1" dirty="0"/>
              <a:t>front</a:t>
            </a:r>
            <a:r>
              <a:rPr lang="en-US" altLang="zh-CN" dirty="0"/>
              <a:t> is one larger than </a:t>
            </a:r>
            <a:r>
              <a:rPr lang="en-US" altLang="zh-CN" b="1" dirty="0"/>
              <a:t>rear</a:t>
            </a:r>
            <a:r>
              <a:rPr lang="en-US" altLang="zh-CN" dirty="0"/>
              <a:t>, the queue is </a:t>
            </a:r>
            <a:r>
              <a:rPr lang="en-US" altLang="zh-CN" dirty="0" smtClean="0"/>
              <a:t>empty or full?</a:t>
            </a:r>
            <a:endParaRPr lang="en-US" altLang="zh-CN" dirty="0"/>
          </a:p>
          <a:p>
            <a:pPr lvl="1"/>
            <a:r>
              <a:rPr lang="en-US" altLang="zh-CN" sz="2000" dirty="0" smtClean="0"/>
              <a:t>Solution </a:t>
            </a:r>
            <a:r>
              <a:rPr lang="en-US" altLang="zh-CN" sz="2000" dirty="0"/>
              <a:t>1: explicitly keep a count of the number of elements in the </a:t>
            </a:r>
            <a:r>
              <a:rPr lang="en-US" altLang="zh-CN" sz="2000" dirty="0" smtClean="0"/>
              <a:t>queue</a:t>
            </a:r>
            <a:endParaRPr lang="en-US" altLang="zh-CN" sz="2000" dirty="0" smtClean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Solution 2: make the array be of size n+1 and only allow n elements to be stored.</a:t>
            </a:r>
            <a:endParaRPr lang="en-US" altLang="zh-CN" sz="2000" dirty="0"/>
          </a:p>
          <a:p>
            <a:pPr lvl="2"/>
            <a:r>
              <a:rPr lang="en-US" altLang="zh-CN" sz="1800" b="1" dirty="0">
                <a:solidFill>
                  <a:srgbClr val="FF0000"/>
                </a:solidFill>
              </a:rPr>
              <a:t>front</a:t>
            </a:r>
            <a:r>
              <a:rPr lang="en-US" altLang="zh-CN" sz="1800" dirty="0">
                <a:solidFill>
                  <a:srgbClr val="FF0000"/>
                </a:solidFill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</a:rPr>
              <a:t>rear</a:t>
            </a:r>
            <a:r>
              <a:rPr lang="en-US" altLang="zh-CN" sz="1800" dirty="0">
                <a:solidFill>
                  <a:srgbClr val="FF0000"/>
                </a:solidFill>
              </a:rPr>
              <a:t>+1</a:t>
            </a:r>
            <a:r>
              <a:rPr lang="en-US" altLang="zh-CN" sz="1800" dirty="0"/>
              <a:t>, the queue is empty</a:t>
            </a:r>
            <a:endParaRPr lang="en-US" altLang="zh-CN" sz="1800" dirty="0"/>
          </a:p>
          <a:p>
            <a:pPr lvl="2"/>
            <a:r>
              <a:rPr lang="en-US" altLang="zh-CN" sz="1800" b="1" dirty="0">
                <a:solidFill>
                  <a:srgbClr val="FF0000"/>
                </a:solidFill>
              </a:rPr>
              <a:t>front = rear</a:t>
            </a:r>
            <a:r>
              <a:rPr lang="en-US" altLang="zh-CN" sz="1800" dirty="0">
                <a:solidFill>
                  <a:srgbClr val="FF0000"/>
                </a:solidFill>
              </a:rPr>
              <a:t>+2</a:t>
            </a:r>
            <a:r>
              <a:rPr lang="en-US" altLang="zh-CN" sz="1800" dirty="0"/>
              <a:t>, the queue is full.</a:t>
            </a:r>
            <a:endParaRPr lang="en-US" altLang="zh-CN" sz="1800" dirty="0"/>
          </a:p>
          <a:p>
            <a:pPr lvl="1"/>
            <a:endParaRPr lang="en-US" altLang="zh-C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Array-Based Queues</a:t>
            </a:r>
            <a:endParaRPr lang="zh-CN" altLang="en-US" dirty="0" smtClean="0"/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>
          <a:xfrm>
            <a:off x="2682875" y="1141095"/>
            <a:ext cx="6826885" cy="57169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altLang="zh-CN" sz="1800" dirty="0" smtClean="0">
                <a:solidFill>
                  <a:srgbClr val="008000"/>
                </a:solidFill>
              </a:rPr>
              <a:t>//Array-based </a:t>
            </a:r>
            <a:r>
              <a:rPr lang="en-US" altLang="zh-CN" sz="1800" dirty="0" smtClean="0">
                <a:solidFill>
                  <a:srgbClr val="008000"/>
                </a:solidFill>
              </a:rPr>
              <a:t>Implementation </a:t>
            </a:r>
            <a:r>
              <a:rPr lang="en-US" altLang="zh-CN" sz="1800" dirty="0">
                <a:solidFill>
                  <a:srgbClr val="008000"/>
                </a:solidFill>
              </a:rPr>
              <a:t>(solution </a:t>
            </a:r>
            <a:r>
              <a:rPr lang="en-US" altLang="zh-CN" sz="1800" dirty="0" smtClean="0">
                <a:solidFill>
                  <a:srgbClr val="008000"/>
                </a:solidFill>
              </a:rPr>
              <a:t>2)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pt-BR" altLang="zh-CN" sz="1800" dirty="0" smtClean="0"/>
              <a:t>template </a:t>
            </a:r>
            <a:r>
              <a:rPr lang="pt-BR" altLang="zh-CN" sz="1800" dirty="0"/>
              <a:t>&lt;typename E&gt; class AQueue: public Queue&lt;E&gt; {</a:t>
            </a:r>
            <a:endParaRPr lang="pt-BR" altLang="zh-CN" sz="1800" dirty="0"/>
          </a:p>
          <a:p>
            <a:pPr marL="262255" lvl="1" indent="0">
              <a:buNone/>
            </a:pPr>
            <a:r>
              <a:rPr lang="en-US" altLang="zh-CN" sz="1800" dirty="0" smtClean="0"/>
              <a:t>private:</a:t>
            </a:r>
            <a:endParaRPr lang="en-US" altLang="zh-CN" sz="1800" dirty="0" smtClean="0"/>
          </a:p>
          <a:p>
            <a:pPr marL="262255" lvl="1" indent="0">
              <a:buNone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maxSize</a:t>
            </a:r>
            <a:r>
              <a:rPr lang="en-US" altLang="zh-CN" sz="1800" dirty="0" smtClean="0"/>
              <a:t>; </a:t>
            </a:r>
            <a:r>
              <a:rPr lang="en-US" altLang="zh-CN" sz="1800" dirty="0" smtClean="0">
                <a:solidFill>
                  <a:srgbClr val="00B050"/>
                </a:solidFill>
              </a:rPr>
              <a:t>// Maximum size of queue</a:t>
            </a:r>
            <a:endParaRPr lang="en-US" altLang="zh-CN" sz="1800" dirty="0" smtClean="0">
              <a:solidFill>
                <a:srgbClr val="00B050"/>
              </a:solidFill>
            </a:endParaRPr>
          </a:p>
          <a:p>
            <a:pPr marL="262255" lvl="1" indent="0">
              <a:buNone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front; </a:t>
            </a:r>
            <a:r>
              <a:rPr lang="en-US" altLang="zh-CN" sz="1800" dirty="0">
                <a:solidFill>
                  <a:srgbClr val="00B050"/>
                </a:solidFill>
              </a:rPr>
              <a:t>// Index of front element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262255" lvl="1" indent="0">
              <a:buNone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rear; </a:t>
            </a:r>
            <a:r>
              <a:rPr lang="en-US" altLang="zh-CN" sz="1800" dirty="0">
                <a:solidFill>
                  <a:srgbClr val="00B050"/>
                </a:solidFill>
              </a:rPr>
              <a:t>// Index of rear element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262255" lvl="1" indent="0">
              <a:buNone/>
            </a:pPr>
            <a:r>
              <a:rPr lang="en-US" altLang="zh-CN" sz="1800" dirty="0" smtClean="0"/>
              <a:t>E </a:t>
            </a:r>
            <a:r>
              <a:rPr lang="en-US" altLang="zh-CN" sz="1800" dirty="0"/>
              <a:t>*</a:t>
            </a:r>
            <a:r>
              <a:rPr lang="en-US" altLang="zh-CN" sz="1800" dirty="0" err="1"/>
              <a:t>listArray</a:t>
            </a:r>
            <a:r>
              <a:rPr lang="en-US" altLang="zh-CN" sz="1800" dirty="0"/>
              <a:t>; </a:t>
            </a:r>
            <a:r>
              <a:rPr lang="en-US" altLang="zh-CN" sz="1800" dirty="0" smtClean="0">
                <a:solidFill>
                  <a:srgbClr val="00B050"/>
                </a:solidFill>
              </a:rPr>
              <a:t>//</a:t>
            </a:r>
            <a:r>
              <a:rPr lang="en-US" altLang="zh-CN" sz="1800" dirty="0" smtClean="0">
                <a:solidFill>
                  <a:srgbClr val="008000"/>
                </a:solidFill>
              </a:rPr>
              <a:t>Array</a:t>
            </a:r>
            <a:r>
              <a:rPr lang="en-US" altLang="zh-CN" sz="1800" dirty="0" smtClean="0">
                <a:solidFill>
                  <a:srgbClr val="00B050"/>
                </a:solidFill>
              </a:rPr>
              <a:t> </a:t>
            </a:r>
            <a:r>
              <a:rPr lang="en-US" altLang="zh-CN" sz="1800" dirty="0">
                <a:solidFill>
                  <a:srgbClr val="00B050"/>
                </a:solidFill>
              </a:rPr>
              <a:t>holding queue </a:t>
            </a:r>
            <a:r>
              <a:rPr lang="en-US" altLang="zh-CN" sz="1800" dirty="0" smtClean="0">
                <a:solidFill>
                  <a:srgbClr val="00B050"/>
                </a:solidFill>
              </a:rPr>
              <a:t>elements</a:t>
            </a:r>
            <a:endParaRPr lang="en-US" altLang="zh-CN" sz="1800" dirty="0" smtClean="0">
              <a:solidFill>
                <a:srgbClr val="00B050"/>
              </a:solidFill>
            </a:endParaRPr>
          </a:p>
          <a:p>
            <a:pPr marL="262255" lvl="1" indent="0">
              <a:buNone/>
            </a:pPr>
            <a:r>
              <a:rPr lang="en-US" altLang="zh-CN" sz="1800" dirty="0"/>
              <a:t>public:</a:t>
            </a:r>
            <a:endParaRPr lang="en-US" altLang="zh-CN" sz="1800" dirty="0"/>
          </a:p>
          <a:p>
            <a:pPr marL="262255" lvl="1" indent="0">
              <a:buNone/>
            </a:pPr>
            <a:r>
              <a:rPr lang="en-US" altLang="zh-CN" sz="1800" dirty="0" err="1" smtClean="0"/>
              <a:t>AQueue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size =</a:t>
            </a:r>
            <a:r>
              <a:rPr lang="en-US" altLang="zh-CN" sz="1800" dirty="0" err="1"/>
              <a:t>defaultSize</a:t>
            </a:r>
            <a:r>
              <a:rPr lang="en-US" altLang="zh-CN" sz="1800" dirty="0"/>
              <a:t>) {</a:t>
            </a:r>
            <a:r>
              <a:rPr lang="en-US" altLang="zh-CN" sz="1800" dirty="0">
                <a:solidFill>
                  <a:srgbClr val="00B050"/>
                </a:solidFill>
              </a:rPr>
              <a:t> </a:t>
            </a:r>
            <a:endParaRPr lang="en-US" altLang="zh-CN" sz="1800" dirty="0" smtClean="0">
              <a:solidFill>
                <a:srgbClr val="00B050"/>
              </a:solidFill>
            </a:endParaRPr>
          </a:p>
          <a:p>
            <a:pPr marL="262255" lvl="1" indent="0">
              <a:buNone/>
            </a:pPr>
            <a:r>
              <a:rPr lang="en-US" altLang="zh-CN" sz="1800" dirty="0" smtClean="0">
                <a:solidFill>
                  <a:srgbClr val="00B050"/>
                </a:solidFill>
              </a:rPr>
              <a:t>// Constructor- </a:t>
            </a:r>
            <a:r>
              <a:rPr lang="en-US" altLang="zh-CN" sz="1800" dirty="0">
                <a:solidFill>
                  <a:srgbClr val="00B050"/>
                </a:solidFill>
              </a:rPr>
              <a:t>Make list array one </a:t>
            </a:r>
            <a:r>
              <a:rPr lang="en-US" altLang="zh-CN" sz="1800" dirty="0" smtClean="0">
                <a:solidFill>
                  <a:srgbClr val="00B050"/>
                </a:solidFill>
              </a:rPr>
              <a:t>position</a:t>
            </a:r>
            <a:endParaRPr lang="en-US" altLang="zh-CN" sz="1800" dirty="0" smtClean="0">
              <a:solidFill>
                <a:srgbClr val="00B050"/>
              </a:solidFill>
            </a:endParaRPr>
          </a:p>
          <a:p>
            <a:pPr marL="262255" lvl="1" indent="0">
              <a:buNone/>
            </a:pPr>
            <a:r>
              <a:rPr lang="en-US" altLang="zh-CN" sz="1800" dirty="0" smtClean="0">
                <a:solidFill>
                  <a:srgbClr val="00B050"/>
                </a:solidFill>
              </a:rPr>
              <a:t>// larger </a:t>
            </a:r>
            <a:r>
              <a:rPr lang="en-US" altLang="zh-CN" sz="1800" dirty="0">
                <a:solidFill>
                  <a:srgbClr val="00B050"/>
                </a:solidFill>
              </a:rPr>
              <a:t>for empty </a:t>
            </a:r>
            <a:r>
              <a:rPr lang="en-US" altLang="zh-CN" sz="1800" dirty="0" smtClean="0">
                <a:solidFill>
                  <a:srgbClr val="00B050"/>
                </a:solidFill>
              </a:rPr>
              <a:t>slot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marL="262255" lvl="1" indent="0">
              <a:buNone/>
            </a:pPr>
            <a:r>
              <a:rPr lang="en-US" altLang="zh-CN" sz="1800" dirty="0">
                <a:solidFill>
                  <a:srgbClr val="00B050"/>
                </a:solidFill>
              </a:rPr>
              <a:t>	</a:t>
            </a:r>
            <a:r>
              <a:rPr lang="en-US" altLang="zh-CN" sz="1800" dirty="0" err="1"/>
              <a:t>maxSize</a:t>
            </a:r>
            <a:r>
              <a:rPr lang="en-US" altLang="zh-CN" sz="1800" dirty="0"/>
              <a:t> = size+1;</a:t>
            </a:r>
            <a:endParaRPr lang="en-US" altLang="zh-CN" sz="1800" dirty="0"/>
          </a:p>
          <a:p>
            <a:pPr marL="262255" lvl="1" indent="0">
              <a:buNone/>
            </a:pPr>
            <a:r>
              <a:rPr lang="en-US" altLang="zh-CN" sz="1800" dirty="0"/>
              <a:t>	rear = 0; front = 1;</a:t>
            </a:r>
            <a:endParaRPr lang="en-US" altLang="zh-CN" sz="1800" dirty="0"/>
          </a:p>
          <a:p>
            <a:pPr marL="262255" lvl="1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listArray</a:t>
            </a:r>
            <a:r>
              <a:rPr lang="en-US" altLang="zh-CN" sz="1800" dirty="0"/>
              <a:t> = new E[</a:t>
            </a:r>
            <a:r>
              <a:rPr lang="en-US" altLang="zh-CN" sz="1800" dirty="0" err="1"/>
              <a:t>maxSize</a:t>
            </a:r>
            <a:r>
              <a:rPr lang="en-US" altLang="zh-CN" sz="1800" dirty="0"/>
              <a:t>];</a:t>
            </a:r>
            <a:endParaRPr lang="en-US" altLang="zh-CN" sz="1800" dirty="0"/>
          </a:p>
          <a:p>
            <a:pPr marL="262255" lvl="1" indent="0">
              <a:buNone/>
            </a:pPr>
            <a:r>
              <a:rPr lang="en-US" altLang="zh-CN" sz="1800" dirty="0" smtClean="0"/>
              <a:t>}</a:t>
            </a:r>
            <a:endParaRPr lang="en-US" altLang="zh-CN" sz="1800" dirty="0"/>
          </a:p>
          <a:p>
            <a:pPr marL="262255" lvl="1" indent="0">
              <a:buNone/>
            </a:pPr>
            <a:r>
              <a:rPr lang="en-US" altLang="zh-CN" sz="1800" dirty="0" smtClean="0"/>
              <a:t>˜ </a:t>
            </a:r>
            <a:r>
              <a:rPr lang="en-US" altLang="zh-CN" sz="1800" dirty="0" err="1"/>
              <a:t>AQueue</a:t>
            </a:r>
            <a:r>
              <a:rPr lang="en-US" altLang="zh-CN" sz="1800" dirty="0"/>
              <a:t>() { delete [] </a:t>
            </a:r>
            <a:r>
              <a:rPr lang="en-US" altLang="zh-CN" sz="1800" dirty="0" err="1"/>
              <a:t>listArray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}</a:t>
            </a:r>
            <a:endParaRPr lang="en-US" altLang="zh-CN" sz="1800" dirty="0" smtClean="0">
              <a:solidFill>
                <a:srgbClr val="00B050"/>
              </a:solidFill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A6734E7-FC48-4A79-A118-561E3C7F09F2}" type="slidenum">
              <a:rPr lang="en-US" altLang="zh-CN" sz="1050" smtClean="0"/>
            </a:fld>
            <a:endParaRPr lang="en-US" altLang="zh-CN" sz="105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Array-Based Queues 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5405" y="1673860"/>
            <a:ext cx="7805420" cy="471805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zh-CN" sz="1800" dirty="0">
                <a:solidFill>
                  <a:srgbClr val="008000"/>
                </a:solidFill>
              </a:rPr>
              <a:t>//</a:t>
            </a:r>
            <a:r>
              <a:rPr lang="en-US" altLang="zh-CN" sz="1800" dirty="0" smtClean="0">
                <a:solidFill>
                  <a:srgbClr val="008000"/>
                </a:solidFill>
              </a:rPr>
              <a:t>reinitialize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1800" dirty="0" smtClean="0"/>
              <a:t>void </a:t>
            </a:r>
            <a:r>
              <a:rPr lang="en-US" altLang="zh-CN" sz="1800" dirty="0">
                <a:solidFill>
                  <a:srgbClr val="FF0000"/>
                </a:solidFill>
              </a:rPr>
              <a:t>clear</a:t>
            </a:r>
            <a:r>
              <a:rPr lang="en-US" altLang="zh-CN" sz="1800" dirty="0"/>
              <a:t>() {rear = 0;  front = 1;} </a:t>
            </a:r>
            <a:endParaRPr lang="en-US" altLang="zh-CN" sz="1800" dirty="0" smtClean="0"/>
          </a:p>
          <a:p>
            <a:pPr marL="0" indent="0">
              <a:buNone/>
              <a:defRPr/>
            </a:pPr>
            <a:r>
              <a:rPr lang="en-US" altLang="zh-CN" sz="1800" dirty="0" smtClean="0"/>
              <a:t>void </a:t>
            </a:r>
            <a:r>
              <a:rPr lang="en-US" altLang="zh-CN" sz="1800" dirty="0" err="1">
                <a:solidFill>
                  <a:srgbClr val="FF0000"/>
                </a:solidFill>
              </a:rPr>
              <a:t>enqueue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E&amp; it) </a:t>
            </a:r>
            <a:r>
              <a:rPr lang="en-US" altLang="zh-CN" sz="1800" dirty="0" smtClean="0"/>
              <a:t>{//</a:t>
            </a:r>
            <a:r>
              <a:rPr lang="en-US" altLang="zh-CN" sz="1800" dirty="0"/>
              <a:t>put “it” in queue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Assert</a:t>
            </a:r>
            <a:r>
              <a:rPr lang="en-US" altLang="zh-CN" sz="1800" dirty="0"/>
              <a:t>(((</a:t>
            </a:r>
            <a:r>
              <a:rPr lang="en-US" altLang="zh-CN" sz="1800" b="1" dirty="0">
                <a:solidFill>
                  <a:srgbClr val="FF0000"/>
                </a:solidFill>
              </a:rPr>
              <a:t>rear+2</a:t>
            </a:r>
            <a:r>
              <a:rPr lang="en-US" altLang="zh-CN" sz="1800" dirty="0"/>
              <a:t>) % </a:t>
            </a:r>
            <a:r>
              <a:rPr lang="en-US" altLang="zh-CN" sz="1800" dirty="0" err="1"/>
              <a:t>maxSize</a:t>
            </a:r>
            <a:r>
              <a:rPr lang="en-US" altLang="zh-CN" sz="1800" dirty="0"/>
              <a:t>) != front, </a:t>
            </a:r>
            <a:br>
              <a:rPr lang="en-US" altLang="zh-CN" sz="1800" dirty="0"/>
            </a:br>
            <a:r>
              <a:rPr lang="en-US" altLang="zh-CN" sz="1800" dirty="0"/>
              <a:t>		“Queue is full”);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rear </a:t>
            </a:r>
            <a:r>
              <a:rPr lang="en-US" altLang="zh-CN" sz="1800" dirty="0"/>
              <a:t>= (rear+1</a:t>
            </a:r>
            <a:r>
              <a:rPr lang="en-US" altLang="zh-CN" sz="1800" dirty="0" smtClean="0"/>
              <a:t>)%</a:t>
            </a:r>
            <a:r>
              <a:rPr lang="en-US" altLang="zh-CN" sz="1800" dirty="0" err="1" smtClean="0"/>
              <a:t>maxSize</a:t>
            </a:r>
            <a:r>
              <a:rPr lang="en-US" altLang="zh-CN" sz="1800" dirty="0" smtClean="0"/>
              <a:t>;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1800" dirty="0"/>
              <a:t>  </a:t>
            </a:r>
            <a:r>
              <a:rPr lang="en-US" altLang="zh-CN" sz="1800" dirty="0" err="1" smtClean="0"/>
              <a:t>listArray</a:t>
            </a:r>
            <a:r>
              <a:rPr lang="en-US" altLang="zh-CN" sz="1800" dirty="0" smtClean="0"/>
              <a:t>[rear</a:t>
            </a:r>
            <a:r>
              <a:rPr lang="en-US" altLang="zh-CN" sz="1800" dirty="0"/>
              <a:t>] = it;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 smtClean="0"/>
              <a:t>}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 smtClean="0"/>
              <a:t>E </a:t>
            </a:r>
            <a:r>
              <a:rPr lang="en-US" altLang="zh-CN" sz="1800" dirty="0" err="1">
                <a:solidFill>
                  <a:srgbClr val="FF0000"/>
                </a:solidFill>
              </a:rPr>
              <a:t>dequeue</a:t>
            </a:r>
            <a:r>
              <a:rPr lang="en-US" altLang="zh-CN" sz="1800" dirty="0"/>
              <a:t>() </a:t>
            </a:r>
            <a:r>
              <a:rPr lang="en-US" altLang="zh-CN" sz="1800" dirty="0" smtClean="0"/>
              <a:t>{</a:t>
            </a:r>
            <a:r>
              <a:rPr lang="en-US" altLang="zh-CN" sz="1800" dirty="0" smtClean="0">
                <a:solidFill>
                  <a:srgbClr val="008000"/>
                </a:solidFill>
              </a:rPr>
              <a:t>//</a:t>
            </a:r>
            <a:r>
              <a:rPr lang="en-US" altLang="zh-CN" sz="1800" dirty="0">
                <a:solidFill>
                  <a:srgbClr val="008000"/>
                </a:solidFill>
              </a:rPr>
              <a:t>take element out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Assert(length</a:t>
            </a:r>
            <a:r>
              <a:rPr lang="en-US" altLang="zh-CN" sz="1800" dirty="0"/>
              <a:t>() != 0, “Queue is empty”);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E </a:t>
            </a:r>
            <a:r>
              <a:rPr lang="en-US" altLang="zh-CN" sz="1800" dirty="0"/>
              <a:t>it = </a:t>
            </a:r>
            <a:r>
              <a:rPr lang="en-US" altLang="zh-CN" sz="1800" dirty="0" err="1"/>
              <a:t>listArray</a:t>
            </a:r>
            <a:r>
              <a:rPr lang="en-US" altLang="zh-CN" sz="1800" dirty="0"/>
              <a:t>[front];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front =(</a:t>
            </a:r>
            <a:r>
              <a:rPr lang="en-US" altLang="zh-CN" sz="1800" dirty="0"/>
              <a:t>front+1</a:t>
            </a:r>
            <a:r>
              <a:rPr lang="en-US" altLang="zh-CN" sz="1800" dirty="0" smtClean="0"/>
              <a:t>)%</a:t>
            </a:r>
            <a:r>
              <a:rPr lang="en-US" altLang="zh-CN" sz="1800" dirty="0" err="1" smtClean="0"/>
              <a:t>maxSize</a:t>
            </a:r>
            <a:r>
              <a:rPr lang="en-US" altLang="zh-CN" sz="1800" dirty="0"/>
              <a:t>; </a:t>
            </a:r>
            <a:endParaRPr lang="en-US" altLang="zh-CN" sz="1800" dirty="0" smtClean="0"/>
          </a:p>
          <a:p>
            <a:pPr marL="0" indent="0">
              <a:buNone/>
              <a:defRPr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return </a:t>
            </a:r>
            <a:r>
              <a:rPr lang="en-US" altLang="zh-CN" sz="1800" dirty="0"/>
              <a:t>it;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 smtClean="0"/>
              <a:t>}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/>
              <a:t>  </a:t>
            </a:r>
            <a:endParaRPr lang="en-US" altLang="zh-CN" sz="1800" dirty="0"/>
          </a:p>
          <a:p>
            <a:pPr marL="0" indent="0">
              <a:buNone/>
              <a:defRPr/>
            </a:pPr>
            <a:endParaRPr lang="en-US" altLang="zh-CN" sz="1800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FDACCF3-A2CE-436D-9989-2CB69EC7E933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Array-Based Queues  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9065" y="1809115"/>
            <a:ext cx="6034405" cy="346075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zh-CN" sz="1800" dirty="0" smtClean="0">
                <a:solidFill>
                  <a:srgbClr val="008000"/>
                </a:solidFill>
              </a:rPr>
              <a:t>//</a:t>
            </a:r>
            <a:r>
              <a:rPr lang="en-US" altLang="zh-CN" sz="1800" dirty="0">
                <a:solidFill>
                  <a:srgbClr val="008000"/>
                </a:solidFill>
              </a:rPr>
              <a:t>get front value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1800" dirty="0" err="1" smtClean="0"/>
              <a:t>const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E&amp; </a:t>
            </a:r>
            <a:r>
              <a:rPr lang="en-US" altLang="zh-CN" sz="1800" dirty="0" err="1"/>
              <a:t>frontValue</a:t>
            </a:r>
            <a:r>
              <a:rPr lang="en-US" altLang="zh-CN" sz="1800" dirty="0"/>
              <a:t>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{ </a:t>
            </a:r>
            <a:endParaRPr lang="en-US" altLang="zh-CN" sz="1800" dirty="0" smtClean="0"/>
          </a:p>
          <a:p>
            <a:pPr marL="0" indent="0">
              <a:buNone/>
              <a:defRPr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Assert(length</a:t>
            </a:r>
            <a:r>
              <a:rPr lang="en-US" altLang="zh-CN" sz="1800" dirty="0"/>
              <a:t>()!=0, “Queue is empty”);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return </a:t>
            </a:r>
            <a:r>
              <a:rPr lang="en-US" altLang="zh-CN" sz="1800" dirty="0" err="1"/>
              <a:t>listArray</a:t>
            </a:r>
            <a:r>
              <a:rPr lang="en-US" altLang="zh-CN" sz="1800" dirty="0"/>
              <a:t>[front];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 smtClean="0"/>
              <a:t>}</a:t>
            </a:r>
            <a:endParaRPr lang="en-US" altLang="zh-CN" sz="1800" dirty="0" smtClean="0"/>
          </a:p>
          <a:p>
            <a:pPr marL="0" indent="0">
              <a:buNone/>
              <a:defRPr/>
            </a:pP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 smtClean="0">
                <a:solidFill>
                  <a:srgbClr val="008000"/>
                </a:solidFill>
              </a:rPr>
              <a:t>//</a:t>
            </a:r>
            <a:r>
              <a:rPr lang="en-US" altLang="zh-CN" sz="1800" dirty="0">
                <a:solidFill>
                  <a:srgbClr val="008000"/>
                </a:solidFill>
              </a:rPr>
              <a:t>return length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1800" dirty="0" smtClean="0"/>
              <a:t>virtual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length()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 {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return </a:t>
            </a:r>
            <a:r>
              <a:rPr lang="en-US" altLang="zh-CN" sz="1800" dirty="0"/>
              <a:t>((</a:t>
            </a:r>
            <a:r>
              <a:rPr lang="en-US" altLang="zh-CN" sz="1800" dirty="0" err="1"/>
              <a:t>rear+maxSize</a:t>
            </a:r>
            <a:r>
              <a:rPr lang="en-US" altLang="zh-CN" sz="1800" dirty="0"/>
              <a:t>)-front+1)%</a:t>
            </a:r>
            <a:r>
              <a:rPr lang="en-US" altLang="zh-CN" sz="1800" dirty="0" err="1"/>
              <a:t>maxSize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marL="0" indent="0">
              <a:buNone/>
              <a:defRPr/>
            </a:pPr>
            <a:r>
              <a:rPr lang="en-US" altLang="zh-CN" sz="1800" dirty="0" smtClean="0"/>
              <a:t>}</a:t>
            </a:r>
            <a:endParaRPr lang="en-US" altLang="zh-CN" sz="1800" dirty="0"/>
          </a:p>
          <a:p>
            <a:pPr>
              <a:defRPr/>
            </a:pPr>
            <a:endParaRPr lang="en-US" altLang="zh-CN" sz="1800" dirty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DBDDF67-0A71-4BEE-81AC-B07164093D11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Linked Queues</a:t>
            </a:r>
            <a:endParaRPr lang="zh-CN" altLang="en-US" dirty="0" smtClean="0"/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A straightforward adaptation of the linked </a:t>
            </a:r>
            <a:r>
              <a:rPr lang="en-US" altLang="zh-CN" sz="2400" dirty="0" smtClean="0"/>
              <a:t>list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en-US" altLang="zh-CN" sz="2400" dirty="0"/>
              <a:t>Structures</a:t>
            </a:r>
            <a:endParaRPr lang="en-US" altLang="zh-CN" sz="2400" dirty="0"/>
          </a:p>
          <a:p>
            <a:pPr lvl="1"/>
            <a:r>
              <a:rPr lang="en-US" altLang="zh-CN" sz="2000" dirty="0"/>
              <a:t>Use a header node</a:t>
            </a:r>
            <a:endParaRPr lang="en-US" altLang="zh-CN" sz="2000" dirty="0"/>
          </a:p>
          <a:p>
            <a:pPr lvl="1"/>
            <a:r>
              <a:rPr lang="en-US" altLang="zh-CN" sz="2000" dirty="0"/>
              <a:t>The </a:t>
            </a:r>
            <a:r>
              <a:rPr lang="en-US" altLang="zh-CN" sz="2000" b="1" dirty="0"/>
              <a:t>front</a:t>
            </a:r>
            <a:r>
              <a:rPr lang="en-US" altLang="zh-CN" sz="2000" dirty="0"/>
              <a:t> pointer points always points to the header node</a:t>
            </a:r>
            <a:endParaRPr lang="en-US" altLang="zh-CN" sz="2000" dirty="0"/>
          </a:p>
          <a:p>
            <a:pPr lvl="1"/>
            <a:r>
              <a:rPr lang="en-US" altLang="zh-CN" sz="2000" dirty="0"/>
              <a:t>The </a:t>
            </a:r>
            <a:r>
              <a:rPr lang="en-US" altLang="zh-CN" sz="2000" b="1" dirty="0"/>
              <a:t>rear</a:t>
            </a:r>
            <a:r>
              <a:rPr lang="en-US" altLang="zh-CN" sz="2000" dirty="0"/>
              <a:t> pointer points to the last link node in the </a:t>
            </a:r>
            <a:r>
              <a:rPr lang="en-US" altLang="zh-CN" sz="2000" dirty="0" smtClean="0"/>
              <a:t>queue</a:t>
            </a:r>
            <a:endParaRPr lang="en-US" altLang="zh-CN" sz="2000" dirty="0" smtClean="0"/>
          </a:p>
          <a:p>
            <a:pPr lvl="1"/>
            <a:endParaRPr lang="en-US" altLang="zh-CN" sz="2000" dirty="0"/>
          </a:p>
          <a:p>
            <a:r>
              <a:rPr lang="en-US" altLang="zh-CN" sz="2400" dirty="0"/>
              <a:t>Operations </a:t>
            </a:r>
            <a:endParaRPr lang="en-US" altLang="zh-CN" sz="2400" dirty="0"/>
          </a:p>
          <a:p>
            <a:pPr lvl="1"/>
            <a:r>
              <a:rPr lang="en-US" altLang="zh-CN" sz="2000" b="1" dirty="0" err="1"/>
              <a:t>Enqueue</a:t>
            </a:r>
            <a:r>
              <a:rPr lang="en-US" altLang="zh-CN" sz="2000" dirty="0"/>
              <a:t>: places the new element in a link node at the end of the linked list, advances </a:t>
            </a:r>
            <a:r>
              <a:rPr lang="en-US" altLang="zh-CN" sz="2000" b="1" dirty="0"/>
              <a:t>rear</a:t>
            </a:r>
            <a:r>
              <a:rPr lang="en-US" altLang="zh-CN" sz="2000" dirty="0"/>
              <a:t> to point to the newly-inserted node</a:t>
            </a:r>
            <a:endParaRPr lang="en-US" altLang="zh-CN" sz="2000" dirty="0"/>
          </a:p>
          <a:p>
            <a:pPr lvl="1"/>
            <a:r>
              <a:rPr lang="en-US" altLang="zh-CN" sz="2000" b="1" dirty="0" err="1"/>
              <a:t>Dequeue</a:t>
            </a:r>
            <a:r>
              <a:rPr lang="en-US" altLang="zh-CN" sz="2000" dirty="0"/>
              <a:t>: removes and returns the first element of the list</a:t>
            </a:r>
            <a:endParaRPr lang="en-US" altLang="zh-CN" sz="2000" dirty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F131EE1-698F-4191-A8F3-3FBD8815A8B2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Comparison of Array-Based and Linked Queues</a:t>
            </a:r>
            <a:endParaRPr lang="zh-CN" altLang="en-US" smtClean="0"/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Time cost</a:t>
            </a:r>
            <a:endParaRPr lang="en-US" altLang="zh-CN" sz="2800" dirty="0"/>
          </a:p>
          <a:p>
            <a:pPr lvl="1"/>
            <a:r>
              <a:rPr lang="en-US" altLang="zh-CN" sz="2400" dirty="0"/>
              <a:t>All member functions for both implementations require constant </a:t>
            </a:r>
            <a:r>
              <a:rPr lang="en-US" altLang="zh-CN" sz="2400" dirty="0" smtClean="0"/>
              <a:t>time </a:t>
            </a:r>
            <a:r>
              <a:rPr lang="el-GR" altLang="zh-CN" sz="2400" b="1" dirty="0">
                <a:solidFill>
                  <a:srgbClr val="FF0000"/>
                </a:solidFill>
              </a:rPr>
              <a:t>Θ</a:t>
            </a:r>
            <a:r>
              <a:rPr lang="en-US" altLang="zh-CN" sz="2400" b="1" dirty="0">
                <a:solidFill>
                  <a:srgbClr val="FF0000"/>
                </a:solidFill>
              </a:rPr>
              <a:t>(1) </a:t>
            </a:r>
            <a:endParaRPr lang="en-US" altLang="zh-CN" sz="2400" dirty="0"/>
          </a:p>
          <a:p>
            <a:r>
              <a:rPr lang="en-US" altLang="zh-CN" sz="2800" dirty="0"/>
              <a:t>Space cost</a:t>
            </a:r>
            <a:endParaRPr lang="en-US" altLang="zh-CN" sz="2800" dirty="0"/>
          </a:p>
          <a:p>
            <a:pPr lvl="1"/>
            <a:r>
              <a:rPr lang="en-US" altLang="zh-CN" sz="2400" dirty="0"/>
              <a:t>For array-based queues, there are some space waste if the queue is not full.</a:t>
            </a:r>
            <a:endParaRPr lang="en-US" altLang="zh-CN" sz="2400" dirty="0"/>
          </a:p>
          <a:p>
            <a:pPr lvl="1"/>
            <a:r>
              <a:rPr lang="en-US" altLang="zh-CN" sz="2400" dirty="0"/>
              <a:t>For linked queues, there are overhead of link field in each element</a:t>
            </a:r>
            <a:r>
              <a:rPr lang="en-US" altLang="zh-CN" sz="1200" dirty="0"/>
              <a:t>.</a:t>
            </a:r>
            <a:endParaRPr lang="en-US" altLang="zh-CN" sz="1200" dirty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D2F6D7BE-2E64-4350-AE69-C5EAAFA075A6}" type="slidenum">
              <a:rPr lang="en-US" altLang="zh-CN" sz="1050" smtClean="0"/>
            </a:fld>
            <a:endParaRPr lang="en-US" altLang="zh-CN" sz="105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18657</Words>
  <Application>WPS 演示</Application>
  <PresentationFormat>Widescreen</PresentationFormat>
  <Paragraphs>1076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7" baseType="lpstr">
      <vt:lpstr>Arial</vt:lpstr>
      <vt:lpstr>宋体</vt:lpstr>
      <vt:lpstr>Wingdings</vt:lpstr>
      <vt:lpstr>Times New Roman</vt:lpstr>
      <vt:lpstr>Wingdings</vt:lpstr>
      <vt:lpstr>宋体-简</vt:lpstr>
      <vt:lpstr>Arial Bold</vt:lpstr>
      <vt:lpstr>Courier New</vt:lpstr>
      <vt:lpstr>Arial Italic</vt:lpstr>
      <vt:lpstr>Calibri</vt:lpstr>
      <vt:lpstr>微软雅黑</vt:lpstr>
      <vt:lpstr>汉仪旗黑</vt:lpstr>
      <vt:lpstr>宋体</vt:lpstr>
      <vt:lpstr>Arial Unicode MS</vt:lpstr>
      <vt:lpstr>Helvetica Neue</vt:lpstr>
      <vt:lpstr>Wingdings 2</vt:lpstr>
      <vt:lpstr>1_Default Design</vt:lpstr>
      <vt:lpstr>Data Structures</vt:lpstr>
      <vt:lpstr>Chapter 3</vt:lpstr>
      <vt:lpstr>Content</vt:lpstr>
      <vt:lpstr>List</vt:lpstr>
      <vt:lpstr>What is List</vt:lpstr>
      <vt:lpstr>List ADT</vt:lpstr>
      <vt:lpstr>List ADT</vt:lpstr>
      <vt:lpstr>List Implementation</vt:lpstr>
      <vt:lpstr>List: Array Implementation</vt:lpstr>
      <vt:lpstr>PowerPoint 演示文稿</vt:lpstr>
      <vt:lpstr>List: Array Implementation</vt:lpstr>
      <vt:lpstr>List: Array Implementation</vt:lpstr>
      <vt:lpstr>List: Array Implementation</vt:lpstr>
      <vt:lpstr>List: Array Implementation</vt:lpstr>
      <vt:lpstr>List: Array Implementation</vt:lpstr>
      <vt:lpstr>List: Pointer Implementation</vt:lpstr>
      <vt:lpstr>List: Pointer Implementation</vt:lpstr>
      <vt:lpstr>List: Pointer Implementation</vt:lpstr>
      <vt:lpstr>List: Pointer Implementation</vt:lpstr>
      <vt:lpstr>List: Pointer Implementation</vt:lpstr>
      <vt:lpstr>List: Pointer Implementation</vt:lpstr>
      <vt:lpstr>List: Pointer Implementation</vt:lpstr>
      <vt:lpstr>PowerPoint 演示文稿</vt:lpstr>
      <vt:lpstr>PowerPoint 演示文稿</vt:lpstr>
      <vt:lpstr>List: Pointer Implementation</vt:lpstr>
      <vt:lpstr>PowerPoint 演示文稿</vt:lpstr>
      <vt:lpstr>List: Pointer Implementation</vt:lpstr>
      <vt:lpstr>List: Pointer Implementation</vt:lpstr>
      <vt:lpstr>Comparison of  List Implementations</vt:lpstr>
      <vt:lpstr>Comparison of  List Implementations</vt:lpstr>
      <vt:lpstr>Comparison of  List Implementations</vt:lpstr>
      <vt:lpstr>Exercise</vt:lpstr>
      <vt:lpstr>Stack</vt:lpstr>
      <vt:lpstr>What is Stack</vt:lpstr>
      <vt:lpstr>Two Basic Implementations of Stacks</vt:lpstr>
      <vt:lpstr>Stack ADT</vt:lpstr>
      <vt:lpstr>Array-Based Stacks</vt:lpstr>
      <vt:lpstr>Array-Based Stacks (III)</vt:lpstr>
      <vt:lpstr>Array-Based Stacks (II)</vt:lpstr>
      <vt:lpstr>Linked Stacks</vt:lpstr>
      <vt:lpstr>Linked Stacks (II)</vt:lpstr>
      <vt:lpstr>Linked Stacks (III)</vt:lpstr>
      <vt:lpstr>Comparison of Array-Based and Linked Stacks</vt:lpstr>
      <vt:lpstr>Queue</vt:lpstr>
      <vt:lpstr>What is Queue</vt:lpstr>
      <vt:lpstr>Queue ADT</vt:lpstr>
      <vt:lpstr>Two Implementations of Queue</vt:lpstr>
      <vt:lpstr>Queue:  Array Implementation</vt:lpstr>
      <vt:lpstr>Array-Based Queues</vt:lpstr>
      <vt:lpstr>Array-Based Queues</vt:lpstr>
      <vt:lpstr>Array-Based Queues</vt:lpstr>
      <vt:lpstr>Array-Based Queues</vt:lpstr>
      <vt:lpstr>Array-Based Queues</vt:lpstr>
      <vt:lpstr>Array-Based Queues</vt:lpstr>
      <vt:lpstr>Array-Based Queues</vt:lpstr>
      <vt:lpstr>Array-Based Queues</vt:lpstr>
      <vt:lpstr>Array-Based Queues </vt:lpstr>
      <vt:lpstr>Array-Based Queues  </vt:lpstr>
      <vt:lpstr>Linked Queues</vt:lpstr>
      <vt:lpstr>Comparison of Array-Based and Linked Queues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jiexin</dc:creator>
  <cp:lastModifiedBy>jiexin</cp:lastModifiedBy>
  <cp:revision>111</cp:revision>
  <dcterms:created xsi:type="dcterms:W3CDTF">2025-09-04T08:32:34Z</dcterms:created>
  <dcterms:modified xsi:type="dcterms:W3CDTF">2025-09-04T08:32:34Z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2052-6.12.0.8652</vt:lpwstr>
  </property>
  <property fmtid="{D5CDD505-2E9C-101B-9397-08002B2CF9AE}" pid="3" name="ICV">
    <vt:lpwstr>DB3A45F4C5B24A3D60F5FD67AC4AA849_42</vt:lpwstr>
  </property>
</Properties>
</file>