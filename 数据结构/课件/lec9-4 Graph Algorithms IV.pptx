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651" r:id="rId3"/>
    <p:sldId id="1297" r:id="rId5"/>
    <p:sldId id="1248" r:id="rId6"/>
    <p:sldId id="1249" r:id="rId7"/>
    <p:sldId id="1250" r:id="rId8"/>
    <p:sldId id="1251" r:id="rId9"/>
    <p:sldId id="1252" r:id="rId10"/>
    <p:sldId id="1253" r:id="rId11"/>
    <p:sldId id="1298" r:id="rId12"/>
    <p:sldId id="1299" r:id="rId13"/>
    <p:sldId id="1300" r:id="rId14"/>
    <p:sldId id="1257" r:id="rId15"/>
    <p:sldId id="1302" r:id="rId16"/>
    <p:sldId id="1258" r:id="rId17"/>
    <p:sldId id="1303" r:id="rId18"/>
    <p:sldId id="1304" r:id="rId19"/>
    <p:sldId id="1259" r:id="rId20"/>
    <p:sldId id="1260" r:id="rId21"/>
    <p:sldId id="1261" r:id="rId22"/>
    <p:sldId id="1262" r:id="rId23"/>
    <p:sldId id="1305" r:id="rId24"/>
    <p:sldId id="1264" r:id="rId25"/>
    <p:sldId id="1306" r:id="rId26"/>
    <p:sldId id="1307" r:id="rId27"/>
    <p:sldId id="1308" r:id="rId28"/>
    <p:sldId id="1309" r:id="rId29"/>
    <p:sldId id="1310" r:id="rId30"/>
    <p:sldId id="1311" r:id="rId31"/>
    <p:sldId id="1313" r:id="rId32"/>
    <p:sldId id="1272" r:id="rId33"/>
    <p:sldId id="1273" r:id="rId34"/>
    <p:sldId id="1314" r:id="rId35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008000"/>
    <a:srgbClr val="DDDDDD"/>
    <a:srgbClr val="99CCFF"/>
    <a:srgbClr val="3A3AB9"/>
    <a:srgbClr val="5D26F8"/>
    <a:srgbClr val="CC0000"/>
    <a:srgbClr val="5252D4"/>
    <a:srgbClr val="B545B5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6429" autoAdjust="0"/>
  </p:normalViewPr>
  <p:slideViewPr>
    <p:cSldViewPr>
      <p:cViewPr>
        <p:scale>
          <a:sx n="125" d="100"/>
          <a:sy n="125" d="100"/>
        </p:scale>
        <p:origin x="1902" y="-18"/>
      </p:cViewPr>
      <p:guideLst>
        <p:guide orient="horz" pos="2889"/>
        <p:guide pos="21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latin typeface="Sitka Text" panose="02000505000000020004" pitchFamily="2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构成循环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9ADF72-C9B9-4957-999D-B270D0FE45D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97776E-8FBC-423B-BAB4-6782BD8DFA2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E31990-CC22-4110-968E-791F33EF86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64FD79-2789-4894-99BF-E00BC9EA71B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0DA1D4-7C4D-4E77-8887-519C71EFAFA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64C243-E820-4FEB-ACAF-AA3C4B10773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77CAB5-4791-4B7C-88C3-54F94667616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B7BA2B-F6EA-4328-8CF0-BD1EA5DAFB3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13096D-122C-482E-94F8-BF9844A4745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0C8DA3-63B0-40FB-B029-5FE7176633C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67D49B-E200-4987-AF45-8C5D2B90736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D962E27C-B104-4D4D-83F8-AC26258580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Graph Algorithms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425"/>
            <a:ext cx="5143500" cy="205867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Minimum Spanning Tree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Section </a:t>
            </a:r>
            <a:r>
              <a:rPr lang="en-US" altLang="zh-CN" sz="2000" dirty="0" smtClean="0"/>
              <a:t>9.5 </a:t>
            </a:r>
            <a:endParaRPr lang="zh-CN" altLang="en-US" sz="2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9-4 Graph Algorithms IV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9EC88C-58BB-4F76-AC34-854FB2954CE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47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F4E633-D8E7-40AD-8B55-510DE82EBB2B}" type="slidenum">
              <a:rPr lang="en-US" altLang="zh-CN" sz="1050"/>
            </a:fld>
            <a:endParaRPr lang="en-US" altLang="zh-CN" sz="1050"/>
          </a:p>
        </p:txBody>
      </p:sp>
      <p:sp>
        <p:nvSpPr>
          <p:cNvPr id="147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Recall Spanning Tree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47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Given (connected) graph G(V,E),</a:t>
            </a:r>
            <a:endParaRPr lang="en-US" altLang="zh-CN" dirty="0" smtClean="0">
              <a:ea typeface="SimSun" pitchFamily="2" charset="-122"/>
            </a:endParaRPr>
          </a:p>
          <a:p>
            <a:pPr>
              <a:buFontTx/>
              <a:buNone/>
            </a:pPr>
            <a:r>
              <a:rPr lang="en-US" altLang="zh-CN" dirty="0" smtClean="0">
                <a:ea typeface="SimSun" pitchFamily="2" charset="-122"/>
              </a:rPr>
              <a:t>    a 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spanning tree T(V’,E’):</a:t>
            </a:r>
            <a:endParaRPr lang="en-US" altLang="zh-CN" dirty="0" smtClean="0">
              <a:solidFill>
                <a:srgbClr val="CC0000"/>
              </a:solidFill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Spans the graph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(V’ = V)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Forms a 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tree</a:t>
            </a:r>
            <a:r>
              <a:rPr lang="en-US" altLang="zh-CN" dirty="0" smtClean="0">
                <a:ea typeface="SimSun" pitchFamily="2" charset="-122"/>
              </a:rPr>
              <a:t> (no cycle); 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E’ has |V| -1 edges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66B150-6360-41AA-A221-384A0472525B}" type="datetime1">
              <a:rPr lang="zh-CN" altLang="en-US" smtClean="0"/>
            </a:fld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475" y="5003800"/>
            <a:ext cx="2382520" cy="23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48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59DEA8-B481-469C-AF1D-8D3FAC9401F2}" type="slidenum">
              <a:rPr lang="en-US" altLang="zh-CN" sz="1050"/>
            </a:fld>
            <a:endParaRPr lang="en-US" altLang="zh-CN" sz="1050"/>
          </a:p>
        </p:txBody>
      </p:sp>
      <p:sp>
        <p:nvSpPr>
          <p:cNvPr id="148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Minimum Spanning Tree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484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Edges are weighted: find minimum cost spanning tree</a:t>
            </a:r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Applications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Find cheapest way to wire your house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Find minimum cost to send a message on the Internet</a:t>
            </a:r>
            <a:endParaRPr lang="en-US" altLang="zh-CN" dirty="0" smtClean="0">
              <a:ea typeface="SimSun" pitchFamily="2" charset="-122"/>
            </a:endParaRPr>
          </a:p>
          <a:p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CCC39A-2BBD-434C-8A5C-A8D358A1E88D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Oval 3"/>
          <p:cNvSpPr>
            <a:spLocks noChangeArrowheads="1"/>
          </p:cNvSpPr>
          <p:nvPr/>
        </p:nvSpPr>
        <p:spPr bwMode="auto">
          <a:xfrm>
            <a:off x="2887849" y="5076056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1741241" y="7171611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4" name="AutoShape 7"/>
          <p:cNvCxnSpPr>
            <a:cxnSpLocks noChangeShapeType="1"/>
            <a:stCxn id="26" idx="2"/>
            <a:endCxn id="23" idx="6"/>
          </p:cNvCxnSpPr>
          <p:nvPr/>
        </p:nvCxnSpPr>
        <p:spPr bwMode="auto">
          <a:xfrm flipH="1" flipV="1">
            <a:off x="2085620" y="6326528"/>
            <a:ext cx="803708" cy="8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8"/>
          <p:cNvCxnSpPr>
            <a:cxnSpLocks noChangeShapeType="1"/>
            <a:stCxn id="10" idx="5"/>
            <a:endCxn id="16" idx="1"/>
          </p:cNvCxnSpPr>
          <p:nvPr/>
        </p:nvCxnSpPr>
        <p:spPr bwMode="auto">
          <a:xfrm>
            <a:off x="3180532" y="5368739"/>
            <a:ext cx="850989" cy="8374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9"/>
          <p:cNvSpPr>
            <a:spLocks noChangeArrowheads="1"/>
          </p:cNvSpPr>
          <p:nvPr/>
        </p:nvSpPr>
        <p:spPr bwMode="auto">
          <a:xfrm>
            <a:off x="3981304" y="6155961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7" name="Oval 10"/>
          <p:cNvSpPr>
            <a:spLocks noChangeArrowheads="1"/>
          </p:cNvSpPr>
          <p:nvPr/>
        </p:nvSpPr>
        <p:spPr bwMode="auto">
          <a:xfrm>
            <a:off x="2887849" y="7171611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8" name="AutoShape 11"/>
          <p:cNvCxnSpPr>
            <a:cxnSpLocks noChangeShapeType="1"/>
            <a:stCxn id="17" idx="0"/>
            <a:endCxn id="26" idx="4"/>
          </p:cNvCxnSpPr>
          <p:nvPr/>
        </p:nvCxnSpPr>
        <p:spPr bwMode="auto">
          <a:xfrm flipV="1">
            <a:off x="3059299" y="6498861"/>
            <a:ext cx="1479" cy="67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12"/>
          <p:cNvCxnSpPr>
            <a:cxnSpLocks noChangeShapeType="1"/>
            <a:stCxn id="17" idx="7"/>
            <a:endCxn id="16" idx="3"/>
          </p:cNvCxnSpPr>
          <p:nvPr/>
        </p:nvCxnSpPr>
        <p:spPr bwMode="auto">
          <a:xfrm flipV="1">
            <a:off x="3180532" y="6448644"/>
            <a:ext cx="850989" cy="773184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14"/>
          <p:cNvCxnSpPr>
            <a:cxnSpLocks noChangeShapeType="1"/>
            <a:stCxn id="10" idx="4"/>
            <a:endCxn id="26" idx="0"/>
          </p:cNvCxnSpPr>
          <p:nvPr/>
        </p:nvCxnSpPr>
        <p:spPr bwMode="auto">
          <a:xfrm>
            <a:off x="3059299" y="5418956"/>
            <a:ext cx="1479" cy="73700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AutoShape 15"/>
          <p:cNvCxnSpPr>
            <a:cxnSpLocks noChangeShapeType="1"/>
            <a:stCxn id="16" idx="2"/>
            <a:endCxn id="26" idx="6"/>
          </p:cNvCxnSpPr>
          <p:nvPr/>
        </p:nvCxnSpPr>
        <p:spPr bwMode="auto">
          <a:xfrm flipH="1">
            <a:off x="3232228" y="6327411"/>
            <a:ext cx="749076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Oval 16"/>
          <p:cNvSpPr>
            <a:spLocks noChangeArrowheads="1"/>
          </p:cNvSpPr>
          <p:nvPr/>
        </p:nvSpPr>
        <p:spPr bwMode="auto">
          <a:xfrm>
            <a:off x="1742720" y="6155078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24" name="AutoShape 17"/>
          <p:cNvCxnSpPr>
            <a:cxnSpLocks noChangeShapeType="1"/>
            <a:stCxn id="23" idx="7"/>
            <a:endCxn id="10" idx="3"/>
          </p:cNvCxnSpPr>
          <p:nvPr/>
        </p:nvCxnSpPr>
        <p:spPr bwMode="auto">
          <a:xfrm flipV="1">
            <a:off x="2035403" y="5368739"/>
            <a:ext cx="902663" cy="8365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18"/>
          <p:cNvCxnSpPr>
            <a:cxnSpLocks noChangeShapeType="1"/>
            <a:stCxn id="12" idx="0"/>
            <a:endCxn id="23" idx="4"/>
          </p:cNvCxnSpPr>
          <p:nvPr/>
        </p:nvCxnSpPr>
        <p:spPr bwMode="auto">
          <a:xfrm flipV="1">
            <a:off x="1912691" y="6497978"/>
            <a:ext cx="1479" cy="673633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2889328" y="6155961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28" name="AutoShape 21"/>
          <p:cNvCxnSpPr>
            <a:cxnSpLocks noChangeShapeType="1"/>
            <a:stCxn id="12" idx="7"/>
            <a:endCxn id="26" idx="3"/>
          </p:cNvCxnSpPr>
          <p:nvPr/>
        </p:nvCxnSpPr>
        <p:spPr bwMode="auto">
          <a:xfrm flipV="1">
            <a:off x="2033924" y="6448644"/>
            <a:ext cx="905621" cy="7731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2153442" y="5472832"/>
            <a:ext cx="4315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2780928" y="5653907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3521074" y="549431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2368946" y="7345040"/>
            <a:ext cx="3080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3356992" y="599837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6" name="Text Box 29"/>
          <p:cNvSpPr txBox="1">
            <a:spLocks noChangeArrowheads="1"/>
          </p:cNvSpPr>
          <p:nvPr/>
        </p:nvSpPr>
        <p:spPr bwMode="auto">
          <a:xfrm>
            <a:off x="3618587" y="6768976"/>
            <a:ext cx="3151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2348880" y="604205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2492896" y="6408936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1556792" y="662496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148502" name="直接连接符 148501"/>
          <p:cNvCxnSpPr>
            <a:stCxn id="23" idx="5"/>
            <a:endCxn id="17" idx="1"/>
          </p:cNvCxnSpPr>
          <p:nvPr/>
        </p:nvCxnSpPr>
        <p:spPr>
          <a:xfrm>
            <a:off x="2035403" y="6447761"/>
            <a:ext cx="902663" cy="77406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16" name="直接连接符 148515"/>
          <p:cNvCxnSpPr>
            <a:stCxn id="12" idx="6"/>
            <a:endCxn id="17" idx="2"/>
          </p:cNvCxnSpPr>
          <p:nvPr/>
        </p:nvCxnSpPr>
        <p:spPr>
          <a:xfrm>
            <a:off x="2084141" y="7343061"/>
            <a:ext cx="80370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1" name="Text Box 32"/>
          <p:cNvSpPr txBox="1">
            <a:spLocks noChangeArrowheads="1"/>
          </p:cNvSpPr>
          <p:nvPr/>
        </p:nvSpPr>
        <p:spPr bwMode="auto">
          <a:xfrm>
            <a:off x="2492896" y="693447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148517" name="矩形 148516"/>
          <p:cNvSpPr/>
          <p:nvPr/>
        </p:nvSpPr>
        <p:spPr>
          <a:xfrm>
            <a:off x="3684734" y="7338493"/>
            <a:ext cx="2773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Sitka Text" panose="02000505000000020004" pitchFamily="2" charset="0"/>
              </a:rPr>
              <a:t>Has minimum total cost</a:t>
            </a:r>
            <a:endParaRPr lang="en-US" altLang="zh-CN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6" grpId="0" animBg="1"/>
      <p:bldP spid="17" grpId="0" animBg="1"/>
      <p:bldP spid="23" grpId="0" animBg="1"/>
      <p:bldP spid="26" grpId="0" animBg="1"/>
      <p:bldP spid="29" grpId="0"/>
      <p:bldP spid="30" grpId="0"/>
      <p:bldP spid="31" grpId="0"/>
      <p:bldP spid="32" grpId="0"/>
      <p:bldP spid="33" grpId="0"/>
      <p:bldP spid="36" grpId="0"/>
      <p:bldP spid="37" grpId="0"/>
      <p:bldP spid="38" grpId="0"/>
      <p:bldP spid="39" grpId="0"/>
      <p:bldP spid="101" grpId="0"/>
      <p:bldP spid="1485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49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6A4129-7F55-4DAA-8529-2A3F63108F9F}" type="slidenum">
              <a:rPr lang="en-US" altLang="zh-CN" sz="1050"/>
            </a:fld>
            <a:endParaRPr lang="en-US" altLang="zh-CN" sz="1050"/>
          </a:p>
        </p:txBody>
      </p:sp>
      <p:sp>
        <p:nvSpPr>
          <p:cNvPr id="149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Strategy for Minimum Spanning Tree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49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For any spanning tree T, inserting an edge 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e</a:t>
            </a:r>
            <a:r>
              <a:rPr lang="en-US" altLang="zh-CN" baseline="-25000" dirty="0" err="1" smtClean="0">
                <a:solidFill>
                  <a:srgbClr val="263AF8"/>
                </a:solidFill>
                <a:ea typeface="SimSun" pitchFamily="2" charset="-122"/>
              </a:rPr>
              <a:t>new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 not in T creates a cycle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But</a:t>
            </a:r>
            <a:endParaRPr lang="en-US" altLang="zh-CN" dirty="0" smtClean="0">
              <a:solidFill>
                <a:srgbClr val="CC0000"/>
              </a:solidFill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Removing any edge </a:t>
            </a:r>
            <a:r>
              <a:rPr lang="en-US" altLang="zh-CN" dirty="0" err="1" smtClean="0">
                <a:ea typeface="SimSun" pitchFamily="2" charset="-122"/>
              </a:rPr>
              <a:t>e</a:t>
            </a:r>
            <a:r>
              <a:rPr lang="en-US" altLang="zh-CN" baseline="-25000" dirty="0" err="1" smtClean="0">
                <a:ea typeface="SimSun" pitchFamily="2" charset="-122"/>
              </a:rPr>
              <a:t>old</a:t>
            </a:r>
            <a:r>
              <a:rPr lang="en-US" altLang="zh-CN" baseline="-25000" dirty="0" smtClean="0">
                <a:ea typeface="SimSun" pitchFamily="2" charset="-122"/>
              </a:rPr>
              <a:t>  </a:t>
            </a:r>
            <a:r>
              <a:rPr lang="en-US" altLang="zh-CN" dirty="0" smtClean="0">
                <a:ea typeface="SimSun" pitchFamily="2" charset="-122"/>
              </a:rPr>
              <a:t>from the cycle gives back a spanning tree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If </a:t>
            </a:r>
            <a:r>
              <a:rPr lang="en-US" altLang="zh-CN" dirty="0" err="1" smtClean="0">
                <a:ea typeface="SimSun" pitchFamily="2" charset="-122"/>
              </a:rPr>
              <a:t>e</a:t>
            </a:r>
            <a:r>
              <a:rPr lang="en-US" altLang="zh-CN" baseline="-25000" dirty="0" err="1" smtClean="0">
                <a:ea typeface="SimSun" pitchFamily="2" charset="-122"/>
              </a:rPr>
              <a:t>new</a:t>
            </a:r>
            <a:r>
              <a:rPr lang="en-US" altLang="zh-CN" dirty="0" smtClean="0">
                <a:ea typeface="SimSun" pitchFamily="2" charset="-122"/>
              </a:rPr>
              <a:t> has a lower cost than </a:t>
            </a:r>
            <a:r>
              <a:rPr lang="en-US" altLang="zh-CN" dirty="0" err="1" smtClean="0">
                <a:ea typeface="SimSun" pitchFamily="2" charset="-122"/>
              </a:rPr>
              <a:t>e</a:t>
            </a:r>
            <a:r>
              <a:rPr lang="en-US" altLang="zh-CN" baseline="-25000" dirty="0" err="1" smtClean="0">
                <a:ea typeface="SimSun" pitchFamily="2" charset="-122"/>
              </a:rPr>
              <a:t>old</a:t>
            </a:r>
            <a:r>
              <a:rPr lang="en-US" altLang="zh-CN" baseline="-25000" dirty="0" smtClean="0">
                <a:ea typeface="SimSun" pitchFamily="2" charset="-122"/>
              </a:rPr>
              <a:t>  </a:t>
            </a:r>
            <a:r>
              <a:rPr lang="en-US" altLang="zh-CN" dirty="0" smtClean="0">
                <a:ea typeface="SimSun" pitchFamily="2" charset="-122"/>
              </a:rPr>
              <a:t>we have progressed! 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91981D-B57B-4754-A61D-8A73456458E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0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723CCD-0744-4C9B-9D35-AE9C99EDFEDF}" type="slidenum">
              <a:rPr lang="en-US" altLang="zh-CN" sz="1050"/>
            </a:fld>
            <a:endParaRPr lang="en-US" altLang="zh-CN" sz="1050"/>
          </a:p>
        </p:txBody>
      </p:sp>
      <p:sp>
        <p:nvSpPr>
          <p:cNvPr id="150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Strategy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05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Strategy for construction: 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Add an edge of minimum cost that does not create a cycle (greedy algorithm)</a:t>
            </a:r>
            <a:endParaRPr lang="en-US" altLang="zh-CN" dirty="0" smtClean="0">
              <a:solidFill>
                <a:srgbClr val="CC0000"/>
              </a:solidFill>
              <a:ea typeface="SimSun" pitchFamily="2" charset="-122"/>
            </a:endParaRPr>
          </a:p>
          <a:p>
            <a:pPr lvl="1"/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Repeat |V| -1 times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Correct since if we could replace an edge with one of lower cost, the algorithm would have picked it up</a:t>
            </a:r>
            <a:endParaRPr lang="en-US" altLang="zh-CN" dirty="0" smtClean="0">
              <a:ea typeface="SimSun" pitchFamily="2" charset="-122"/>
            </a:endParaRPr>
          </a:p>
          <a:p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CDE606-9C38-4031-861E-9620DCCBBAB4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1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434E5E-D4FE-4C67-887A-2927A9352DA4}" type="slidenum">
              <a:rPr lang="en-US" altLang="zh-CN" sz="1050"/>
            </a:fld>
            <a:endParaRPr lang="en-US" altLang="zh-CN" sz="1050"/>
          </a:p>
        </p:txBody>
      </p:sp>
      <p:sp>
        <p:nvSpPr>
          <p:cNvPr id="151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Two Algorithms</a:t>
            </a:r>
            <a:endParaRPr lang="en-US" altLang="zh-CN" smtClean="0">
              <a:ea typeface="SimSun" pitchFamily="2" charset="-122"/>
            </a:endParaRPr>
          </a:p>
        </p:txBody>
      </p:sp>
      <p:sp>
        <p:nvSpPr>
          <p:cNvPr id="151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</a:rPr>
              <a:t>Prim</a:t>
            </a:r>
            <a:r>
              <a:rPr lang="en-US" altLang="zh-CN" sz="2100" dirty="0">
                <a:ea typeface="SimSun" pitchFamily="2" charset="-122"/>
              </a:rPr>
              <a:t>: (build tree incrementally)</a:t>
            </a:r>
            <a:endParaRPr lang="en-US" altLang="zh-CN" sz="2100" dirty="0">
              <a:ea typeface="SimSun" pitchFamily="2" charset="-122"/>
            </a:endParaRPr>
          </a:p>
          <a:p>
            <a:pPr lvl="1"/>
            <a:r>
              <a:rPr lang="en-US" altLang="zh-CN" sz="1800" dirty="0">
                <a:ea typeface="SimSun" pitchFamily="2" charset="-122"/>
              </a:rPr>
              <a:t>Pick lower cost edge connected to known (incomplete) spanning tree that does not create a cycle and expand to include it in the tree</a:t>
            </a:r>
            <a:endParaRPr lang="en-US" altLang="zh-CN" sz="1800" dirty="0">
              <a:ea typeface="SimSun" pitchFamily="2" charset="-122"/>
            </a:endParaRPr>
          </a:p>
          <a:p>
            <a:endParaRPr lang="en-US" altLang="zh-CN" sz="2100" dirty="0" smtClean="0">
              <a:solidFill>
                <a:srgbClr val="263AF8"/>
              </a:solidFill>
              <a:ea typeface="SimSun" pitchFamily="2" charset="-122"/>
            </a:endParaRPr>
          </a:p>
          <a:p>
            <a:r>
              <a:rPr lang="en-US" altLang="zh-CN" sz="2100" dirty="0" err="1" smtClean="0">
                <a:solidFill>
                  <a:srgbClr val="263AF8"/>
                </a:solidFill>
                <a:ea typeface="SimSun" pitchFamily="2" charset="-122"/>
              </a:rPr>
              <a:t>Kruskal</a:t>
            </a:r>
            <a:r>
              <a:rPr lang="en-US" altLang="zh-CN" sz="2100" dirty="0">
                <a:ea typeface="SimSun" pitchFamily="2" charset="-122"/>
              </a:rPr>
              <a:t>: (build forest that will finish as a tree)</a:t>
            </a:r>
            <a:endParaRPr lang="en-US" altLang="zh-CN" sz="2100" dirty="0">
              <a:ea typeface="SimSun" pitchFamily="2" charset="-122"/>
            </a:endParaRPr>
          </a:p>
          <a:p>
            <a:pPr lvl="1"/>
            <a:r>
              <a:rPr lang="en-US" altLang="zh-CN" sz="1800" dirty="0">
                <a:ea typeface="SimSun" pitchFamily="2" charset="-122"/>
              </a:rPr>
              <a:t>Pick lower cost edge not yet in a tree that does not create a cycle and expand to include it somewhere in the forest</a:t>
            </a:r>
            <a:endParaRPr lang="en-US" altLang="zh-CN" sz="1800" dirty="0">
              <a:ea typeface="SimSun" pitchFamily="2" charset="-122"/>
            </a:endParaRPr>
          </a:p>
          <a:p>
            <a:pPr lvl="1"/>
            <a:endParaRPr lang="en-US" altLang="zh-CN" sz="1800" dirty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E38486-F708-4DCB-8A5D-C03E948AFDD7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F02D1-0802-4E11-A186-90EA8A7F314D}" type="slidenum">
              <a:rPr lang="en-US" altLang="zh-CN" sz="1050"/>
            </a:fld>
            <a:endParaRPr lang="en-US" altLang="zh-CN" sz="1050"/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Prim’s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2583" name="Text Box 4"/>
          <p:cNvSpPr txBox="1">
            <a:spLocks noChangeArrowheads="1"/>
          </p:cNvSpPr>
          <p:nvPr/>
        </p:nvSpPr>
        <p:spPr bwMode="auto">
          <a:xfrm>
            <a:off x="514351" y="3600450"/>
            <a:ext cx="2202656" cy="203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Starting from empty 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V, choose a vertex at random and initialize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  <a:p>
            <a:endParaRPr lang="en-US" altLang="zh-CN" sz="1800" dirty="0" smtClean="0">
              <a:latin typeface="Sitka Text" panose="02000505000000020004" pitchFamily="2" charset="0"/>
              <a:ea typeface="SimSun" pitchFamily="2" charset="-122"/>
            </a:endParaRPr>
          </a:p>
          <a:p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V 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= {</a:t>
            </a:r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1}</a:t>
            </a:r>
            <a:endParaRPr lang="en-US" altLang="zh-CN" sz="1800" dirty="0" smtClean="0">
              <a:latin typeface="Sitka Text" panose="02000505000000020004" pitchFamily="2" charset="0"/>
              <a:ea typeface="SimSun" pitchFamily="2" charset="-122"/>
            </a:endParaRPr>
          </a:p>
          <a:p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E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’ ={}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152584" name="Line 5"/>
          <p:cNvSpPr>
            <a:spLocks noChangeShapeType="1"/>
          </p:cNvSpPr>
          <p:nvPr/>
        </p:nvSpPr>
        <p:spPr bwMode="auto">
          <a:xfrm flipV="1">
            <a:off x="2636912" y="3617522"/>
            <a:ext cx="1549278" cy="330214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73FFDF-82EC-42C1-9192-6529EC94FBAB}" type="datetime1">
              <a:rPr lang="zh-CN" altLang="en-US" smtClean="0"/>
            </a:fld>
            <a:endParaRPr lang="zh-CN" altLang="en-US"/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1" name="AutoShape 7"/>
          <p:cNvCxnSpPr>
            <a:cxnSpLocks noChangeShapeType="1"/>
            <a:stCxn id="22" idx="2"/>
            <a:endCxn id="19" idx="6"/>
          </p:cNvCxnSpPr>
          <p:nvPr/>
        </p:nvCxnSpPr>
        <p:spPr bwMode="auto">
          <a:xfrm flipH="1" flipV="1">
            <a:off x="3505194" y="4701882"/>
            <a:ext cx="803708" cy="8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8"/>
          <p:cNvCxnSpPr>
            <a:cxnSpLocks noChangeShapeType="1"/>
            <a:stCxn id="9" idx="5"/>
            <a:endCxn id="13" idx="1"/>
          </p:cNvCxnSpPr>
          <p:nvPr/>
        </p:nvCxnSpPr>
        <p:spPr bwMode="auto">
          <a:xfrm>
            <a:off x="4600106" y="3744093"/>
            <a:ext cx="850989" cy="8374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6" name="AutoShape 12"/>
          <p:cNvCxnSpPr>
            <a:cxnSpLocks noChangeShapeType="1"/>
            <a:stCxn id="14" idx="7"/>
            <a:endCxn id="13" idx="3"/>
          </p:cNvCxnSpPr>
          <p:nvPr/>
        </p:nvCxnSpPr>
        <p:spPr bwMode="auto">
          <a:xfrm flipV="1">
            <a:off x="4600106" y="4823998"/>
            <a:ext cx="850989" cy="77318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14"/>
          <p:cNvCxnSpPr>
            <a:cxnSpLocks noChangeShapeType="1"/>
            <a:stCxn id="9" idx="4"/>
            <a:endCxn id="22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15"/>
          <p:cNvCxnSpPr>
            <a:cxnSpLocks noChangeShapeType="1"/>
            <a:stCxn id="13" idx="2"/>
            <a:endCxn id="22" idx="6"/>
          </p:cNvCxnSpPr>
          <p:nvPr/>
        </p:nvCxnSpPr>
        <p:spPr bwMode="auto">
          <a:xfrm flipH="1">
            <a:off x="4651802" y="4702765"/>
            <a:ext cx="749076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20" name="AutoShape 17"/>
          <p:cNvCxnSpPr>
            <a:cxnSpLocks noChangeShapeType="1"/>
            <a:stCxn id="19" idx="7"/>
            <a:endCxn id="9" idx="3"/>
          </p:cNvCxnSpPr>
          <p:nvPr/>
        </p:nvCxnSpPr>
        <p:spPr bwMode="auto">
          <a:xfrm flipV="1">
            <a:off x="3454977" y="3744093"/>
            <a:ext cx="902663" cy="8365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18"/>
          <p:cNvCxnSpPr>
            <a:cxnSpLocks noChangeShapeType="1"/>
            <a:stCxn id="10" idx="0"/>
            <a:endCxn id="19" idx="4"/>
          </p:cNvCxnSpPr>
          <p:nvPr/>
        </p:nvCxnSpPr>
        <p:spPr bwMode="auto">
          <a:xfrm flipV="1">
            <a:off x="3332265" y="4873332"/>
            <a:ext cx="1479" cy="67363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23" name="AutoShape 21"/>
          <p:cNvCxnSpPr>
            <a:cxnSpLocks noChangeShapeType="1"/>
            <a:stCxn id="10" idx="7"/>
            <a:endCxn id="22" idx="3"/>
          </p:cNvCxnSpPr>
          <p:nvPr/>
        </p:nvCxnSpPr>
        <p:spPr bwMode="auto">
          <a:xfrm flipV="1">
            <a:off x="3453498" y="4823998"/>
            <a:ext cx="905621" cy="7731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573016" y="3848186"/>
            <a:ext cx="4315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4940648" y="386967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788520" y="5720394"/>
            <a:ext cx="3080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4776566" y="43737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5038161" y="5144330"/>
            <a:ext cx="3151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3768454" y="441740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3912470" y="478429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33" name="直接连接符 32"/>
          <p:cNvCxnSpPr>
            <a:stCxn id="19" idx="5"/>
            <a:endCxn id="14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>
            <a:stCxn id="10" idx="6"/>
            <a:endCxn id="14" idx="2"/>
          </p:cNvCxnSpPr>
          <p:nvPr/>
        </p:nvCxnSpPr>
        <p:spPr>
          <a:xfrm>
            <a:off x="3503715" y="5718415"/>
            <a:ext cx="80370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F02D1-0802-4E11-A186-90EA8A7F314D}" type="slidenum">
              <a:rPr lang="en-US" altLang="zh-CN" sz="1050"/>
            </a:fld>
            <a:endParaRPr lang="en-US" altLang="zh-CN" sz="1050"/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Prim’s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2583" name="Text Box 4"/>
          <p:cNvSpPr txBox="1">
            <a:spLocks noChangeArrowheads="1"/>
          </p:cNvSpPr>
          <p:nvPr/>
        </p:nvSpPr>
        <p:spPr bwMode="auto">
          <a:xfrm>
            <a:off x="514351" y="3600450"/>
            <a:ext cx="2202656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</a:rPr>
              <a:t>Choose the vertex u not in V such that edge weight from u to a vertex in V is minimal (greedy</a:t>
            </a:r>
            <a:r>
              <a:rPr lang="en-US" altLang="zh-CN" sz="1800" dirty="0" smtClean="0">
                <a:latin typeface="Sitka Text" panose="02000505000000020004" pitchFamily="2" charset="0"/>
              </a:rPr>
              <a:t>!)</a:t>
            </a:r>
            <a:endParaRPr lang="en-US" altLang="zh-CN" sz="1800" dirty="0" smtClean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endParaRPr lang="en-US" altLang="zh-CN" sz="1800" dirty="0">
              <a:latin typeface="Sitka Text" panose="02000505000000020004" pitchFamily="2" charset="0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V={1,3} 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E’= {(1,3) } 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73FFDF-82EC-42C1-9192-6529EC94FBAB}" type="datetime1">
              <a:rPr lang="zh-CN" altLang="en-US" smtClean="0"/>
            </a:fld>
            <a:endParaRPr lang="zh-CN" altLang="en-US"/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1" name="AutoShape 7"/>
          <p:cNvCxnSpPr>
            <a:cxnSpLocks noChangeShapeType="1"/>
            <a:stCxn id="22" idx="2"/>
            <a:endCxn id="19" idx="6"/>
          </p:cNvCxnSpPr>
          <p:nvPr/>
        </p:nvCxnSpPr>
        <p:spPr bwMode="auto">
          <a:xfrm flipH="1" flipV="1">
            <a:off x="3505194" y="4701882"/>
            <a:ext cx="803708" cy="8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8"/>
          <p:cNvCxnSpPr>
            <a:cxnSpLocks noChangeShapeType="1"/>
            <a:stCxn id="9" idx="5"/>
            <a:endCxn id="13" idx="1"/>
          </p:cNvCxnSpPr>
          <p:nvPr/>
        </p:nvCxnSpPr>
        <p:spPr bwMode="auto">
          <a:xfrm>
            <a:off x="4600106" y="3744093"/>
            <a:ext cx="850989" cy="8374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6" name="AutoShape 12"/>
          <p:cNvCxnSpPr>
            <a:cxnSpLocks noChangeShapeType="1"/>
            <a:stCxn id="14" idx="7"/>
            <a:endCxn id="13" idx="3"/>
          </p:cNvCxnSpPr>
          <p:nvPr/>
        </p:nvCxnSpPr>
        <p:spPr bwMode="auto">
          <a:xfrm flipV="1">
            <a:off x="4600106" y="4823998"/>
            <a:ext cx="850989" cy="77318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14"/>
          <p:cNvCxnSpPr>
            <a:cxnSpLocks noChangeShapeType="1"/>
            <a:stCxn id="9" idx="4"/>
            <a:endCxn id="22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15"/>
          <p:cNvCxnSpPr>
            <a:cxnSpLocks noChangeShapeType="1"/>
            <a:stCxn id="13" idx="2"/>
            <a:endCxn id="22" idx="6"/>
          </p:cNvCxnSpPr>
          <p:nvPr/>
        </p:nvCxnSpPr>
        <p:spPr bwMode="auto">
          <a:xfrm flipH="1">
            <a:off x="4651802" y="4702765"/>
            <a:ext cx="749076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20" name="AutoShape 17"/>
          <p:cNvCxnSpPr>
            <a:cxnSpLocks noChangeShapeType="1"/>
            <a:stCxn id="19" idx="7"/>
            <a:endCxn id="9" idx="3"/>
          </p:cNvCxnSpPr>
          <p:nvPr/>
        </p:nvCxnSpPr>
        <p:spPr bwMode="auto">
          <a:xfrm flipV="1">
            <a:off x="3454977" y="3744093"/>
            <a:ext cx="902663" cy="8365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18"/>
          <p:cNvCxnSpPr>
            <a:cxnSpLocks noChangeShapeType="1"/>
            <a:stCxn id="10" idx="0"/>
            <a:endCxn id="19" idx="4"/>
          </p:cNvCxnSpPr>
          <p:nvPr/>
        </p:nvCxnSpPr>
        <p:spPr bwMode="auto">
          <a:xfrm flipV="1">
            <a:off x="3332265" y="4873332"/>
            <a:ext cx="1479" cy="67363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23" name="AutoShape 21"/>
          <p:cNvCxnSpPr>
            <a:cxnSpLocks noChangeShapeType="1"/>
            <a:stCxn id="10" idx="7"/>
            <a:endCxn id="22" idx="3"/>
          </p:cNvCxnSpPr>
          <p:nvPr/>
        </p:nvCxnSpPr>
        <p:spPr bwMode="auto">
          <a:xfrm flipV="1">
            <a:off x="3453498" y="4823998"/>
            <a:ext cx="905621" cy="7731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573016" y="3848186"/>
            <a:ext cx="4315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4940648" y="386967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788520" y="5720394"/>
            <a:ext cx="3080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4776566" y="43737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5038161" y="5144330"/>
            <a:ext cx="3151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3768454" y="441740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3912470" y="478429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33" name="直接连接符 32"/>
          <p:cNvCxnSpPr>
            <a:stCxn id="19" idx="5"/>
            <a:endCxn id="14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>
            <a:stCxn id="10" idx="6"/>
            <a:endCxn id="14" idx="2"/>
          </p:cNvCxnSpPr>
          <p:nvPr/>
        </p:nvCxnSpPr>
        <p:spPr>
          <a:xfrm>
            <a:off x="3503715" y="5718415"/>
            <a:ext cx="80370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5625" y="860425"/>
            <a:ext cx="2421890" cy="2355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5625" y="860425"/>
            <a:ext cx="2421890" cy="2355850"/>
          </a:xfrm>
          <a:prstGeom prst="rect">
            <a:avLst/>
          </a:prstGeom>
        </p:spPr>
      </p:pic>
      <p:sp>
        <p:nvSpPr>
          <p:cNvPr id="152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F02D1-0802-4E11-A186-90EA8A7F314D}" type="slidenum">
              <a:rPr lang="en-US" altLang="zh-CN" sz="1050"/>
            </a:fld>
            <a:endParaRPr lang="en-US" altLang="zh-CN" sz="1050"/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Prim’s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2583" name="Text Box 4"/>
          <p:cNvSpPr txBox="1">
            <a:spLocks noChangeArrowheads="1"/>
          </p:cNvSpPr>
          <p:nvPr/>
        </p:nvSpPr>
        <p:spPr bwMode="auto">
          <a:xfrm>
            <a:off x="514351" y="3600450"/>
            <a:ext cx="2202656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</a:rPr>
              <a:t>Repeat  until all vertices have been chosen</a:t>
            </a:r>
            <a:endParaRPr lang="en-US" altLang="zh-CN" sz="1800" dirty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</a:rPr>
              <a:t>Choose the vertex u not in V such that edge weight from v to a vertex in V is minimal (greedy</a:t>
            </a:r>
            <a:r>
              <a:rPr lang="en-US" altLang="zh-CN" sz="1800" dirty="0" smtClean="0">
                <a:latin typeface="Sitka Text" panose="02000505000000020004" pitchFamily="2" charset="0"/>
              </a:rPr>
              <a:t>!)</a:t>
            </a:r>
            <a:endParaRPr lang="en-US" altLang="zh-CN" sz="1800" dirty="0" smtClean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endParaRPr lang="en-US" altLang="zh-CN" sz="1800" dirty="0">
              <a:latin typeface="Sitka Text" panose="02000505000000020004" pitchFamily="2" charset="0"/>
            </a:endParaRPr>
          </a:p>
          <a:p>
            <a:r>
              <a:rPr lang="en-US" altLang="zh-CN" sz="1800" dirty="0">
                <a:latin typeface="Sitka Text" panose="02000505000000020004" pitchFamily="2" charset="0"/>
              </a:rPr>
              <a:t>V= {1,3,4} </a:t>
            </a:r>
            <a:endParaRPr lang="en-US" altLang="zh-CN" sz="1800" dirty="0" smtClean="0">
              <a:latin typeface="Sitka Text" panose="02000505000000020004" pitchFamily="2" charset="0"/>
            </a:endParaRPr>
          </a:p>
          <a:p>
            <a:r>
              <a:rPr lang="en-US" altLang="zh-CN" sz="1800" dirty="0" smtClean="0">
                <a:latin typeface="Sitka Text" panose="02000505000000020004" pitchFamily="2" charset="0"/>
              </a:rPr>
              <a:t>E</a:t>
            </a:r>
            <a:r>
              <a:rPr lang="en-US" altLang="zh-CN" sz="1800" dirty="0">
                <a:latin typeface="Sitka Text" panose="02000505000000020004" pitchFamily="2" charset="0"/>
              </a:rPr>
              <a:t>’= {(1,3),(3,4)}</a:t>
            </a:r>
            <a:endParaRPr lang="en-US" altLang="zh-CN" sz="1800" dirty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endParaRPr lang="en-US" altLang="zh-CN" sz="1800" dirty="0" smtClean="0">
              <a:latin typeface="Sitka Text" panose="02000505000000020004" pitchFamily="2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73FFDF-82EC-42C1-9192-6529EC94FBA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717007" y="6663287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V={1,3,4,5} E’={(1,3),(3,4),(4,5)}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14587" y="7426889"/>
            <a:ext cx="3675822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V={1,3,4,5,2,6}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E’={(1,3),(3,4),(4,5),(5,2),(2,6)}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0688" y="759633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3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3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40" name="AutoShape 7"/>
          <p:cNvCxnSpPr>
            <a:cxnSpLocks noChangeShapeType="1"/>
            <a:stCxn id="50" idx="2"/>
            <a:endCxn id="47" idx="6"/>
          </p:cNvCxnSpPr>
          <p:nvPr/>
        </p:nvCxnSpPr>
        <p:spPr bwMode="auto">
          <a:xfrm flipH="1" flipV="1">
            <a:off x="3505194" y="4701882"/>
            <a:ext cx="803708" cy="8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8"/>
          <p:cNvCxnSpPr>
            <a:cxnSpLocks noChangeShapeType="1"/>
            <a:stCxn id="38" idx="5"/>
            <a:endCxn id="42" idx="1"/>
          </p:cNvCxnSpPr>
          <p:nvPr/>
        </p:nvCxnSpPr>
        <p:spPr bwMode="auto">
          <a:xfrm>
            <a:off x="4600106" y="3744093"/>
            <a:ext cx="850989" cy="8374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4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45" name="AutoShape 14"/>
          <p:cNvCxnSpPr>
            <a:cxnSpLocks noChangeShapeType="1"/>
            <a:stCxn id="38" idx="4"/>
            <a:endCxn id="5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5"/>
          <p:cNvCxnSpPr>
            <a:cxnSpLocks noChangeShapeType="1"/>
            <a:stCxn id="42" idx="2"/>
            <a:endCxn id="50" idx="6"/>
          </p:cNvCxnSpPr>
          <p:nvPr/>
        </p:nvCxnSpPr>
        <p:spPr bwMode="auto">
          <a:xfrm flipH="1">
            <a:off x="4651802" y="4702765"/>
            <a:ext cx="749076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48" name="AutoShape 17"/>
          <p:cNvCxnSpPr>
            <a:cxnSpLocks noChangeShapeType="1"/>
            <a:stCxn id="47" idx="7"/>
            <a:endCxn id="38" idx="3"/>
          </p:cNvCxnSpPr>
          <p:nvPr/>
        </p:nvCxnSpPr>
        <p:spPr bwMode="auto">
          <a:xfrm flipV="1">
            <a:off x="3454977" y="3744093"/>
            <a:ext cx="902663" cy="8365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18"/>
          <p:cNvCxnSpPr>
            <a:cxnSpLocks noChangeShapeType="1"/>
            <a:stCxn id="39" idx="0"/>
            <a:endCxn id="47" idx="4"/>
          </p:cNvCxnSpPr>
          <p:nvPr/>
        </p:nvCxnSpPr>
        <p:spPr bwMode="auto">
          <a:xfrm flipV="1">
            <a:off x="3332265" y="4873332"/>
            <a:ext cx="1479" cy="67363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1" name="AutoShape 21"/>
          <p:cNvCxnSpPr>
            <a:cxnSpLocks noChangeShapeType="1"/>
            <a:stCxn id="39" idx="7"/>
            <a:endCxn id="50" idx="3"/>
          </p:cNvCxnSpPr>
          <p:nvPr/>
        </p:nvCxnSpPr>
        <p:spPr bwMode="auto">
          <a:xfrm flipV="1">
            <a:off x="3453498" y="4823998"/>
            <a:ext cx="905621" cy="7731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3573016" y="3848186"/>
            <a:ext cx="4315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4" name="Text Box 24"/>
          <p:cNvSpPr txBox="1">
            <a:spLocks noChangeArrowheads="1"/>
          </p:cNvSpPr>
          <p:nvPr/>
        </p:nvSpPr>
        <p:spPr bwMode="auto">
          <a:xfrm>
            <a:off x="4940648" y="386967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3788520" y="5720394"/>
            <a:ext cx="3080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4776566" y="43737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7" name="Text Box 29"/>
          <p:cNvSpPr txBox="1">
            <a:spLocks noChangeArrowheads="1"/>
          </p:cNvSpPr>
          <p:nvPr/>
        </p:nvSpPr>
        <p:spPr bwMode="auto">
          <a:xfrm>
            <a:off x="5038161" y="5144330"/>
            <a:ext cx="3151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8" name="Text Box 30"/>
          <p:cNvSpPr txBox="1">
            <a:spLocks noChangeArrowheads="1"/>
          </p:cNvSpPr>
          <p:nvPr/>
        </p:nvSpPr>
        <p:spPr bwMode="auto">
          <a:xfrm>
            <a:off x="3768454" y="441740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9" name="Text Box 31"/>
          <p:cNvSpPr txBox="1">
            <a:spLocks noChangeArrowheads="1"/>
          </p:cNvSpPr>
          <p:nvPr/>
        </p:nvSpPr>
        <p:spPr bwMode="auto">
          <a:xfrm>
            <a:off x="3912470" y="478429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0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61" name="直接连接符 60"/>
          <p:cNvCxnSpPr>
            <a:stCxn id="47" idx="5"/>
            <a:endCxn id="43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>
            <a:stCxn id="39" idx="6"/>
            <a:endCxn id="43" idx="2"/>
          </p:cNvCxnSpPr>
          <p:nvPr/>
        </p:nvCxnSpPr>
        <p:spPr>
          <a:xfrm>
            <a:off x="3503715" y="5718415"/>
            <a:ext cx="80370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64" name="AutoShape 18"/>
          <p:cNvCxnSpPr>
            <a:cxnSpLocks noChangeShapeType="1"/>
          </p:cNvCxnSpPr>
          <p:nvPr/>
        </p:nvCxnSpPr>
        <p:spPr bwMode="auto">
          <a:xfrm flipV="1">
            <a:off x="3329434" y="4873166"/>
            <a:ext cx="1479" cy="673633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>
          <a:xfrm>
            <a:off x="3452146" y="4822949"/>
            <a:ext cx="902663" cy="77406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Oval 5"/>
          <p:cNvSpPr>
            <a:spLocks noChangeArrowheads="1"/>
          </p:cNvSpPr>
          <p:nvPr/>
        </p:nvSpPr>
        <p:spPr bwMode="auto">
          <a:xfrm>
            <a:off x="3160018" y="5545894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7" name="Oval 10"/>
          <p:cNvSpPr>
            <a:spLocks noChangeArrowheads="1"/>
          </p:cNvSpPr>
          <p:nvPr/>
        </p:nvSpPr>
        <p:spPr bwMode="auto">
          <a:xfrm>
            <a:off x="4308971" y="5546204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8" name="Oval 16"/>
          <p:cNvSpPr>
            <a:spLocks noChangeArrowheads="1"/>
          </p:cNvSpPr>
          <p:nvPr/>
        </p:nvSpPr>
        <p:spPr bwMode="auto">
          <a:xfrm>
            <a:off x="3161497" y="4529361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44" name="AutoShape 12"/>
          <p:cNvCxnSpPr>
            <a:cxnSpLocks noChangeShapeType="1"/>
          </p:cNvCxnSpPr>
          <p:nvPr/>
        </p:nvCxnSpPr>
        <p:spPr bwMode="auto">
          <a:xfrm flipV="1">
            <a:off x="4600106" y="4821358"/>
            <a:ext cx="850989" cy="77318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AutoShape 12"/>
          <p:cNvCxnSpPr>
            <a:cxnSpLocks noChangeShapeType="1"/>
          </p:cNvCxnSpPr>
          <p:nvPr/>
        </p:nvCxnSpPr>
        <p:spPr bwMode="auto">
          <a:xfrm flipV="1">
            <a:off x="4604869" y="4819548"/>
            <a:ext cx="850989" cy="773184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6" grpId="0" animBg="1"/>
      <p:bldP spid="67" grpId="0" animBg="1"/>
      <p:bldP spid="6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5625" y="860425"/>
            <a:ext cx="2421890" cy="2355850"/>
          </a:xfrm>
          <a:prstGeom prst="rect">
            <a:avLst/>
          </a:prstGeom>
        </p:spPr>
      </p:pic>
      <p:sp>
        <p:nvSpPr>
          <p:cNvPr id="152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F02D1-0802-4E11-A186-90EA8A7F314D}" type="slidenum">
              <a:rPr lang="en-US" altLang="zh-CN" sz="1050"/>
            </a:fld>
            <a:endParaRPr lang="en-US" altLang="zh-CN" sz="1050"/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Prim’s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2583" name="Text Box 4"/>
          <p:cNvSpPr txBox="1">
            <a:spLocks noChangeArrowheads="1"/>
          </p:cNvSpPr>
          <p:nvPr/>
        </p:nvSpPr>
        <p:spPr bwMode="auto">
          <a:xfrm>
            <a:off x="514351" y="3600450"/>
            <a:ext cx="220265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</a:rPr>
              <a:t>Repeat  until all vertices have been chosen</a:t>
            </a:r>
            <a:endParaRPr lang="en-US" altLang="zh-CN" sz="1800" dirty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</a:rPr>
              <a:t>V={1,3,4,5,2,6}</a:t>
            </a:r>
            <a:endParaRPr lang="en-US" altLang="zh-CN" sz="1800" dirty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</a:rPr>
              <a:t>E’={(1,3),(3,4),(4,5),(5,2),(2,6)} </a:t>
            </a:r>
            <a:endParaRPr lang="en-US" altLang="zh-CN" sz="1800" dirty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endParaRPr lang="en-US" altLang="zh-CN" sz="1800" dirty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</a:rPr>
              <a:t>Final Cost: 1 + 3 + 4 + 1 + 1 = 10</a:t>
            </a:r>
            <a:endParaRPr lang="en-US" altLang="zh-CN" sz="1800" dirty="0">
              <a:latin typeface="Sitka Text" panose="02000505000000020004" pitchFamily="2" charset="0"/>
            </a:endParaRPr>
          </a:p>
          <a:p>
            <a:pPr>
              <a:spcBef>
                <a:spcPct val="50000"/>
              </a:spcBef>
            </a:pPr>
            <a:endParaRPr lang="en-US" altLang="zh-CN" sz="1800" dirty="0" smtClean="0">
              <a:latin typeface="Sitka Text" panose="02000505000000020004" pitchFamily="2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73FFDF-82EC-42C1-9192-6529EC94FBAB}" type="datetime1">
              <a:rPr lang="zh-CN" altLang="en-US" smtClean="0"/>
            </a:fld>
            <a:endParaRPr lang="zh-CN" altLang="en-US"/>
          </a:p>
        </p:txBody>
      </p:sp>
      <p:sp>
        <p:nvSpPr>
          <p:cNvPr id="3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3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40" name="AutoShape 7"/>
          <p:cNvCxnSpPr>
            <a:cxnSpLocks noChangeShapeType="1"/>
            <a:stCxn id="50" idx="2"/>
            <a:endCxn id="47" idx="6"/>
          </p:cNvCxnSpPr>
          <p:nvPr/>
        </p:nvCxnSpPr>
        <p:spPr bwMode="auto">
          <a:xfrm flipH="1" flipV="1">
            <a:off x="3505194" y="4701882"/>
            <a:ext cx="803708" cy="8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8"/>
          <p:cNvCxnSpPr>
            <a:cxnSpLocks noChangeShapeType="1"/>
            <a:stCxn id="38" idx="5"/>
            <a:endCxn id="42" idx="1"/>
          </p:cNvCxnSpPr>
          <p:nvPr/>
        </p:nvCxnSpPr>
        <p:spPr bwMode="auto">
          <a:xfrm>
            <a:off x="4600106" y="3744093"/>
            <a:ext cx="850989" cy="8374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4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45" name="AutoShape 14"/>
          <p:cNvCxnSpPr>
            <a:cxnSpLocks noChangeShapeType="1"/>
            <a:stCxn id="38" idx="4"/>
            <a:endCxn id="5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5"/>
          <p:cNvCxnSpPr>
            <a:cxnSpLocks noChangeShapeType="1"/>
            <a:stCxn id="42" idx="2"/>
            <a:endCxn id="50" idx="6"/>
          </p:cNvCxnSpPr>
          <p:nvPr/>
        </p:nvCxnSpPr>
        <p:spPr bwMode="auto">
          <a:xfrm flipH="1">
            <a:off x="4651802" y="4702765"/>
            <a:ext cx="749076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48" name="AutoShape 17"/>
          <p:cNvCxnSpPr>
            <a:cxnSpLocks noChangeShapeType="1"/>
            <a:stCxn id="47" idx="7"/>
            <a:endCxn id="38" idx="3"/>
          </p:cNvCxnSpPr>
          <p:nvPr/>
        </p:nvCxnSpPr>
        <p:spPr bwMode="auto">
          <a:xfrm flipV="1">
            <a:off x="3454977" y="3744093"/>
            <a:ext cx="902663" cy="8365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18"/>
          <p:cNvCxnSpPr>
            <a:cxnSpLocks noChangeShapeType="1"/>
            <a:stCxn id="39" idx="0"/>
            <a:endCxn id="47" idx="4"/>
          </p:cNvCxnSpPr>
          <p:nvPr/>
        </p:nvCxnSpPr>
        <p:spPr bwMode="auto">
          <a:xfrm flipV="1">
            <a:off x="3332265" y="4873332"/>
            <a:ext cx="1479" cy="67363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1" name="AutoShape 21"/>
          <p:cNvCxnSpPr>
            <a:cxnSpLocks noChangeShapeType="1"/>
            <a:stCxn id="39" idx="7"/>
            <a:endCxn id="50" idx="3"/>
          </p:cNvCxnSpPr>
          <p:nvPr/>
        </p:nvCxnSpPr>
        <p:spPr bwMode="auto">
          <a:xfrm flipV="1">
            <a:off x="3453498" y="4823998"/>
            <a:ext cx="905621" cy="7731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3573016" y="3848186"/>
            <a:ext cx="4315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4" name="Text Box 24"/>
          <p:cNvSpPr txBox="1">
            <a:spLocks noChangeArrowheads="1"/>
          </p:cNvSpPr>
          <p:nvPr/>
        </p:nvSpPr>
        <p:spPr bwMode="auto">
          <a:xfrm>
            <a:off x="4940648" y="386967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3788520" y="5720394"/>
            <a:ext cx="3080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4776566" y="43737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7" name="Text Box 29"/>
          <p:cNvSpPr txBox="1">
            <a:spLocks noChangeArrowheads="1"/>
          </p:cNvSpPr>
          <p:nvPr/>
        </p:nvSpPr>
        <p:spPr bwMode="auto">
          <a:xfrm>
            <a:off x="5038161" y="5144330"/>
            <a:ext cx="3151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8" name="Text Box 30"/>
          <p:cNvSpPr txBox="1">
            <a:spLocks noChangeArrowheads="1"/>
          </p:cNvSpPr>
          <p:nvPr/>
        </p:nvSpPr>
        <p:spPr bwMode="auto">
          <a:xfrm>
            <a:off x="3768454" y="441740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9" name="Text Box 31"/>
          <p:cNvSpPr txBox="1">
            <a:spLocks noChangeArrowheads="1"/>
          </p:cNvSpPr>
          <p:nvPr/>
        </p:nvSpPr>
        <p:spPr bwMode="auto">
          <a:xfrm>
            <a:off x="3912470" y="478429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0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61" name="直接连接符 60"/>
          <p:cNvCxnSpPr>
            <a:stCxn id="47" idx="5"/>
            <a:endCxn id="43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>
            <a:stCxn id="39" idx="6"/>
            <a:endCxn id="43" idx="2"/>
          </p:cNvCxnSpPr>
          <p:nvPr/>
        </p:nvCxnSpPr>
        <p:spPr>
          <a:xfrm>
            <a:off x="3503715" y="5718415"/>
            <a:ext cx="80370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64" name="AutoShape 18"/>
          <p:cNvCxnSpPr>
            <a:cxnSpLocks noChangeShapeType="1"/>
          </p:cNvCxnSpPr>
          <p:nvPr/>
        </p:nvCxnSpPr>
        <p:spPr bwMode="auto">
          <a:xfrm flipV="1">
            <a:off x="3329434" y="4873166"/>
            <a:ext cx="1479" cy="673633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>
          <a:xfrm>
            <a:off x="3452146" y="4822949"/>
            <a:ext cx="902663" cy="77406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Oval 5"/>
          <p:cNvSpPr>
            <a:spLocks noChangeArrowheads="1"/>
          </p:cNvSpPr>
          <p:nvPr/>
        </p:nvSpPr>
        <p:spPr bwMode="auto">
          <a:xfrm>
            <a:off x="3160018" y="5545894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7" name="Oval 10"/>
          <p:cNvSpPr>
            <a:spLocks noChangeArrowheads="1"/>
          </p:cNvSpPr>
          <p:nvPr/>
        </p:nvSpPr>
        <p:spPr bwMode="auto">
          <a:xfrm>
            <a:off x="4308971" y="5546204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8" name="Oval 16"/>
          <p:cNvSpPr>
            <a:spLocks noChangeArrowheads="1"/>
          </p:cNvSpPr>
          <p:nvPr/>
        </p:nvSpPr>
        <p:spPr bwMode="auto">
          <a:xfrm>
            <a:off x="3161497" y="4529361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44" name="AutoShape 12"/>
          <p:cNvCxnSpPr>
            <a:cxnSpLocks noChangeShapeType="1"/>
          </p:cNvCxnSpPr>
          <p:nvPr/>
        </p:nvCxnSpPr>
        <p:spPr bwMode="auto">
          <a:xfrm flipV="1">
            <a:off x="4600106" y="4821358"/>
            <a:ext cx="850989" cy="77318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AutoShape 12"/>
          <p:cNvCxnSpPr>
            <a:cxnSpLocks noChangeShapeType="1"/>
          </p:cNvCxnSpPr>
          <p:nvPr/>
        </p:nvCxnSpPr>
        <p:spPr bwMode="auto">
          <a:xfrm flipV="1">
            <a:off x="4604869" y="4819548"/>
            <a:ext cx="850989" cy="773184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6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D7FA63-391D-415E-8951-58ACC6DB632D}" type="slidenum">
              <a:rPr lang="en-US" altLang="zh-CN" sz="1050"/>
            </a:fld>
            <a:endParaRPr lang="en-US" altLang="zh-CN" sz="1050"/>
          </a:p>
        </p:txBody>
      </p:sp>
      <p:sp>
        <p:nvSpPr>
          <p:cNvPr id="156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Prim’s Algorithm Implementation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6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ea typeface="SimSun" pitchFamily="2" charset="-122"/>
              </a:rPr>
              <a:t>Assume adjacency list </a:t>
            </a:r>
            <a:r>
              <a:rPr lang="en-US" altLang="zh-CN" dirty="0" smtClean="0">
                <a:ea typeface="SimSun" pitchFamily="2" charset="-122"/>
              </a:rPr>
              <a:t>representation</a:t>
            </a:r>
            <a:endParaRPr lang="en-US" altLang="zh-CN" dirty="0" smtClean="0">
              <a:ea typeface="SimSun" pitchFamily="2" charset="-122"/>
            </a:endParaRPr>
          </a:p>
          <a:p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dirty="0" smtClean="0"/>
              <a:t>(1) Initialize </a:t>
            </a:r>
            <a:r>
              <a:rPr lang="en-US" altLang="zh-CN" dirty="0"/>
              <a:t>connection cost of each node to “</a:t>
            </a:r>
            <a:r>
              <a:rPr lang="en-US" altLang="zh-CN" dirty="0" smtClean="0"/>
              <a:t>infinite” </a:t>
            </a:r>
            <a:r>
              <a:rPr lang="en-US" altLang="zh-CN" dirty="0"/>
              <a:t>and “unmark” </a:t>
            </a:r>
            <a:r>
              <a:rPr lang="en-US" altLang="zh-CN" dirty="0" smtClean="0"/>
              <a:t>them</a:t>
            </a:r>
            <a:endParaRPr lang="en-US" altLang="zh-CN" dirty="0" smtClean="0"/>
          </a:p>
          <a:p>
            <a:r>
              <a:rPr lang="en-US" altLang="zh-CN" dirty="0" smtClean="0"/>
              <a:t>(2) Choose </a:t>
            </a:r>
            <a:r>
              <a:rPr lang="en-US" altLang="zh-CN" dirty="0"/>
              <a:t>one node, say v and set cost[v] = 0 and </a:t>
            </a:r>
            <a:r>
              <a:rPr lang="en-US" altLang="zh-CN" dirty="0" err="1"/>
              <a:t>prev</a:t>
            </a:r>
            <a:r>
              <a:rPr lang="en-US" altLang="zh-CN" dirty="0"/>
              <a:t>[v] =0</a:t>
            </a:r>
            <a:endParaRPr lang="en-US" altLang="zh-CN" dirty="0"/>
          </a:p>
          <a:p>
            <a:r>
              <a:rPr lang="en-US" altLang="zh-CN" dirty="0" smtClean="0"/>
              <a:t>(3) While there </a:t>
            </a:r>
            <a:r>
              <a:rPr lang="en-US" altLang="zh-CN" dirty="0"/>
              <a:t>are unmarked nodes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C0000"/>
                </a:solidFill>
              </a:rPr>
              <a:t>Select the unmarked node </a:t>
            </a:r>
            <a:r>
              <a:rPr lang="en-US" altLang="zh-CN" b="1" dirty="0">
                <a:solidFill>
                  <a:srgbClr val="CC0000"/>
                </a:solidFill>
              </a:rPr>
              <a:t>u</a:t>
            </a:r>
            <a:r>
              <a:rPr lang="en-US" altLang="zh-CN" dirty="0">
                <a:solidFill>
                  <a:srgbClr val="CC0000"/>
                </a:solidFill>
              </a:rPr>
              <a:t> with minimum cost; mark it</a:t>
            </a:r>
            <a:endParaRPr lang="en-US" altLang="zh-CN" dirty="0">
              <a:solidFill>
                <a:srgbClr val="CC0000"/>
              </a:solidFill>
            </a:endParaRPr>
          </a:p>
          <a:p>
            <a:pPr lvl="1"/>
            <a:r>
              <a:rPr lang="en-US" altLang="zh-CN" dirty="0">
                <a:solidFill>
                  <a:srgbClr val="CC0000"/>
                </a:solidFill>
              </a:rPr>
              <a:t>For each unmarked node </a:t>
            </a:r>
            <a:r>
              <a:rPr lang="en-US" altLang="zh-CN" b="1" dirty="0">
                <a:solidFill>
                  <a:srgbClr val="CC0000"/>
                </a:solidFill>
              </a:rPr>
              <a:t>w</a:t>
            </a:r>
            <a:r>
              <a:rPr lang="en-US" altLang="zh-CN" dirty="0">
                <a:solidFill>
                  <a:srgbClr val="CC0000"/>
                </a:solidFill>
              </a:rPr>
              <a:t> adjacent to</a:t>
            </a:r>
            <a:r>
              <a:rPr lang="en-US" altLang="zh-CN" b="1" dirty="0">
                <a:solidFill>
                  <a:srgbClr val="CC0000"/>
                </a:solidFill>
              </a:rPr>
              <a:t> </a:t>
            </a:r>
            <a:r>
              <a:rPr lang="en-US" altLang="zh-CN" b="1" dirty="0" smtClean="0">
                <a:solidFill>
                  <a:srgbClr val="CC0000"/>
                </a:solidFill>
              </a:rPr>
              <a:t>u</a:t>
            </a:r>
            <a:endParaRPr lang="en-US" altLang="zh-CN" b="1" dirty="0" smtClean="0">
              <a:solidFill>
                <a:srgbClr val="CC0000"/>
              </a:solidFill>
            </a:endParaRPr>
          </a:p>
          <a:p>
            <a:pPr lvl="2"/>
            <a:r>
              <a:rPr lang="en-US" altLang="zh-CN" b="1" dirty="0">
                <a:solidFill>
                  <a:srgbClr val="263AF8"/>
                </a:solidFill>
              </a:rPr>
              <a:t>if cost(</a:t>
            </a:r>
            <a:r>
              <a:rPr lang="en-US" altLang="zh-CN" b="1" dirty="0" err="1">
                <a:solidFill>
                  <a:srgbClr val="263AF8"/>
                </a:solidFill>
              </a:rPr>
              <a:t>u,w</a:t>
            </a:r>
            <a:r>
              <a:rPr lang="en-US" altLang="zh-CN" b="1" dirty="0">
                <a:solidFill>
                  <a:srgbClr val="263AF8"/>
                </a:solidFill>
              </a:rPr>
              <a:t>) &lt; cost(w) then cost(w) := cost (</a:t>
            </a:r>
            <a:r>
              <a:rPr lang="en-US" altLang="zh-CN" b="1" dirty="0" err="1">
                <a:solidFill>
                  <a:srgbClr val="263AF8"/>
                </a:solidFill>
              </a:rPr>
              <a:t>u,w</a:t>
            </a:r>
            <a:r>
              <a:rPr lang="en-US" altLang="zh-CN" b="1" dirty="0" smtClean="0">
                <a:solidFill>
                  <a:srgbClr val="263AF8"/>
                </a:solidFill>
              </a:rPr>
              <a:t>)</a:t>
            </a:r>
            <a:endParaRPr lang="en-US" altLang="zh-CN" b="1" dirty="0" smtClean="0">
              <a:solidFill>
                <a:srgbClr val="263AF8"/>
              </a:solidFill>
            </a:endParaRPr>
          </a:p>
          <a:p>
            <a:pPr lvl="2"/>
            <a:r>
              <a:rPr lang="en-US" altLang="zh-CN" b="1" dirty="0" err="1">
                <a:solidFill>
                  <a:srgbClr val="CC0000"/>
                </a:solidFill>
              </a:rPr>
              <a:t>prev</a:t>
            </a:r>
            <a:r>
              <a:rPr lang="en-US" altLang="zh-CN" b="1" dirty="0">
                <a:solidFill>
                  <a:srgbClr val="CC0000"/>
                </a:solidFill>
              </a:rPr>
              <a:t>[w] = u</a:t>
            </a:r>
            <a:endParaRPr lang="en-US" altLang="zh-CN" b="1" dirty="0">
              <a:solidFill>
                <a:srgbClr val="CC0000"/>
              </a:solidFill>
            </a:endParaRPr>
          </a:p>
          <a:p>
            <a:pPr lvl="3"/>
            <a:endParaRPr lang="en-US" altLang="zh-CN" b="1" dirty="0">
              <a:solidFill>
                <a:srgbClr val="CC0000"/>
              </a:solidFill>
            </a:endParaRPr>
          </a:p>
          <a:p>
            <a:pPr lvl="1"/>
            <a:endParaRPr lang="en-US" altLang="zh-CN" dirty="0"/>
          </a:p>
          <a:p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Looks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a lot like 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Dijkstra’s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 algorithm!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pPr>
              <a:buFontTx/>
              <a:buNone/>
            </a:pPr>
            <a:endParaRPr lang="en-US" altLang="zh-CN" sz="2800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E21E95-CFEF-4946-A15A-3429B0DD4F41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471488" y="2051719"/>
            <a:ext cx="6380559" cy="6423417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//Implementation </a:t>
            </a:r>
            <a:r>
              <a:rPr lang="en-US" altLang="zh-CN" sz="1800" dirty="0">
                <a:solidFill>
                  <a:srgbClr val="008000"/>
                </a:solidFill>
              </a:rPr>
              <a:t>of Prim’s algorithm for MST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endParaRPr lang="en-US" altLang="zh-CN" sz="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dirty="0">
                <a:solidFill>
                  <a:srgbClr val="FF0000"/>
                </a:solidFill>
              </a:rPr>
              <a:t>Prim</a:t>
            </a:r>
            <a:r>
              <a:rPr lang="en-US" altLang="zh-CN" sz="1800" dirty="0"/>
              <a:t>(Graph* G,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* </a:t>
            </a:r>
            <a:r>
              <a:rPr lang="en-US" altLang="zh-CN" sz="1800" b="1" dirty="0"/>
              <a:t>D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s) {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b="1" dirty="0"/>
              <a:t>V[G-&gt;n()]</a:t>
            </a:r>
            <a:r>
              <a:rPr lang="en-US" altLang="zh-CN" sz="1800" dirty="0"/>
              <a:t>;  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, w;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</a:t>
            </a:r>
            <a:r>
              <a:rPr lang="nn-NO" altLang="zh-CN" sz="1800" dirty="0"/>
              <a:t>for (int i=0; i&lt;G-&gt;n(); i++) // Initialize</a:t>
            </a:r>
            <a:endParaRPr lang="nn-NO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  D[</a:t>
            </a:r>
            <a:r>
              <a:rPr lang="en-US" altLang="zh-CN" sz="1800" dirty="0" err="1" smtClean="0"/>
              <a:t>i</a:t>
            </a:r>
            <a:r>
              <a:rPr lang="en-US" altLang="zh-CN" sz="1800" dirty="0"/>
              <a:t>] = INFINITY</a:t>
            </a:r>
            <a:r>
              <a:rPr lang="en-US" altLang="zh-CN" sz="1800" dirty="0" smtClean="0"/>
              <a:t>; </a:t>
            </a:r>
            <a:r>
              <a:rPr lang="en-US" altLang="zh-CN" sz="1800" dirty="0">
                <a:solidFill>
                  <a:srgbClr val="008000"/>
                </a:solidFill>
              </a:rPr>
              <a:t>// cost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800" dirty="0"/>
              <a:t> D[0] = 0;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9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for 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&lt;G-&gt;n();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 { 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  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v = </a:t>
            </a:r>
            <a:r>
              <a:rPr lang="en-US" altLang="zh-CN" sz="1800" b="1" dirty="0" err="1">
                <a:solidFill>
                  <a:srgbClr val="FF0000"/>
                </a:solidFill>
              </a:rPr>
              <a:t>minVertex</a:t>
            </a:r>
            <a:r>
              <a:rPr lang="en-US" altLang="zh-CN" sz="1800" dirty="0"/>
              <a:t>(G, D);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  G-</a:t>
            </a:r>
            <a:r>
              <a:rPr lang="en-US" altLang="zh-CN" sz="1800" dirty="0"/>
              <a:t>&gt;</a:t>
            </a:r>
            <a:r>
              <a:rPr lang="en-US" altLang="zh-CN" sz="1800" dirty="0" err="1"/>
              <a:t>setMark</a:t>
            </a:r>
            <a:r>
              <a:rPr lang="en-US" altLang="zh-CN" sz="1800" dirty="0"/>
              <a:t>(v, VISITED);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  if </a:t>
            </a:r>
            <a:r>
              <a:rPr lang="en-US" altLang="zh-CN" sz="1800" dirty="0"/>
              <a:t>(v != s) 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 smtClean="0"/>
              <a:t> 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AddEdgetoMST</a:t>
            </a:r>
            <a:r>
              <a:rPr lang="en-US" altLang="zh-CN" sz="1800" dirty="0" smtClean="0"/>
              <a:t>(V[v</a:t>
            </a:r>
            <a:r>
              <a:rPr lang="en-US" altLang="zh-CN" sz="1800" dirty="0"/>
              <a:t>], v); </a:t>
            </a:r>
            <a:r>
              <a:rPr lang="en-US" altLang="zh-CN" sz="1800" dirty="0">
                <a:solidFill>
                  <a:srgbClr val="008000"/>
                </a:solidFill>
              </a:rPr>
              <a:t>//add edge to MST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  if </a:t>
            </a:r>
            <a:r>
              <a:rPr lang="en-US" altLang="zh-CN" sz="1800" dirty="0"/>
              <a:t>(D[v] == INFINITY) return; </a:t>
            </a:r>
            <a:r>
              <a:rPr lang="en-US" altLang="zh-CN" sz="1800" dirty="0">
                <a:solidFill>
                  <a:srgbClr val="008000"/>
                </a:solidFill>
              </a:rPr>
              <a:t>//unreachable vertices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  for </a:t>
            </a:r>
            <a:r>
              <a:rPr lang="en-US" altLang="zh-CN" sz="1800" dirty="0"/>
              <a:t>(w=G-&gt;first(v); w&lt;G-&gt;n(); w=G-&gt;next(</a:t>
            </a:r>
            <a:r>
              <a:rPr lang="en-US" altLang="zh-CN" sz="1800" dirty="0" err="1"/>
              <a:t>v,w</a:t>
            </a:r>
            <a:r>
              <a:rPr lang="en-US" altLang="zh-CN" sz="1800" dirty="0"/>
              <a:t>))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  </a:t>
            </a:r>
            <a:r>
              <a:rPr lang="en-US" altLang="zh-CN" sz="1800" dirty="0">
                <a:solidFill>
                  <a:srgbClr val="263AF8"/>
                </a:solidFill>
              </a:rPr>
              <a:t>if (D[w] &gt; G-&gt;weight(</a:t>
            </a:r>
            <a:r>
              <a:rPr lang="en-US" altLang="zh-CN" sz="1800" dirty="0" err="1">
                <a:solidFill>
                  <a:srgbClr val="263AF8"/>
                </a:solidFill>
              </a:rPr>
              <a:t>v,w</a:t>
            </a:r>
            <a:r>
              <a:rPr lang="en-US" altLang="zh-CN" sz="1800" dirty="0">
                <a:solidFill>
                  <a:srgbClr val="263AF8"/>
                </a:solidFill>
              </a:rPr>
              <a:t>)) </a:t>
            </a:r>
            <a:r>
              <a:rPr lang="en-US" altLang="zh-CN" sz="1800" dirty="0"/>
              <a:t>{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  </a:t>
            </a:r>
            <a:r>
              <a:rPr lang="en-US" altLang="zh-CN" sz="1800" dirty="0" smtClean="0">
                <a:solidFill>
                  <a:srgbClr val="C00000"/>
                </a:solidFill>
              </a:rPr>
              <a:t> </a:t>
            </a:r>
            <a:r>
              <a:rPr lang="en-US" altLang="zh-CN" sz="1800" dirty="0" smtClean="0">
                <a:solidFill>
                  <a:srgbClr val="263AF8"/>
                </a:solidFill>
              </a:rPr>
              <a:t>D[w</a:t>
            </a:r>
            <a:r>
              <a:rPr lang="en-US" altLang="zh-CN" sz="1800" dirty="0">
                <a:solidFill>
                  <a:srgbClr val="263AF8"/>
                </a:solidFill>
              </a:rPr>
              <a:t>] = G-&gt;weight(</a:t>
            </a:r>
            <a:r>
              <a:rPr lang="en-US" altLang="zh-CN" sz="1800" dirty="0" err="1">
                <a:solidFill>
                  <a:srgbClr val="263AF8"/>
                </a:solidFill>
              </a:rPr>
              <a:t>v,w</a:t>
            </a:r>
            <a:r>
              <a:rPr lang="en-US" altLang="zh-CN" sz="1800" dirty="0">
                <a:solidFill>
                  <a:srgbClr val="263AF8"/>
                </a:solidFill>
              </a:rPr>
              <a:t>); </a:t>
            </a:r>
            <a:r>
              <a:rPr lang="en-US" altLang="zh-CN" sz="1800" dirty="0">
                <a:solidFill>
                  <a:srgbClr val="008000"/>
                </a:solidFill>
              </a:rPr>
              <a:t>//Update </a:t>
            </a:r>
            <a:r>
              <a:rPr lang="en-US" altLang="zh-CN" sz="1800" dirty="0" smtClean="0">
                <a:solidFill>
                  <a:srgbClr val="008000"/>
                </a:solidFill>
              </a:rPr>
              <a:t>cost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smtClean="0"/>
              <a:t> V[w</a:t>
            </a:r>
            <a:r>
              <a:rPr lang="en-US" altLang="zh-CN" sz="1800" dirty="0"/>
              <a:t>] = v; </a:t>
            </a:r>
            <a:r>
              <a:rPr lang="en-US" altLang="zh-CN" sz="1800" dirty="0">
                <a:solidFill>
                  <a:srgbClr val="008000"/>
                </a:solidFill>
              </a:rPr>
              <a:t>// where it came from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smtClean="0"/>
              <a:t>      }</a:t>
            </a:r>
            <a:endParaRPr lang="en-US" altLang="zh-CN" sz="1800" dirty="0" smtClean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smtClean="0"/>
              <a:t>    }</a:t>
            </a:r>
            <a:endParaRPr lang="en-US" altLang="zh-CN" sz="1800" dirty="0" smtClean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smtClean="0"/>
              <a:t>}</a:t>
            </a:r>
            <a:endParaRPr lang="en-US" altLang="zh-CN" sz="1800" dirty="0"/>
          </a:p>
          <a:p>
            <a:endParaRPr lang="zh-CN" altLang="en-US" sz="1800" dirty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92AC09D3-E8C6-4A69-BE1F-9790B60E21E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Prim’s Algorithm Implementation</a:t>
            </a: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7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940F44-349D-47F7-A01A-D7FC00C53E08}" type="slidenum">
              <a:rPr lang="en-US" altLang="zh-CN" sz="1050"/>
            </a:fld>
            <a:endParaRPr lang="en-US" altLang="zh-CN" sz="1050"/>
          </a:p>
        </p:txBody>
      </p:sp>
      <p:sp>
        <p:nvSpPr>
          <p:cNvPr id="157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Prim’s algorithm Analysis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7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Like </a:t>
            </a:r>
            <a:r>
              <a:rPr lang="en-US" altLang="zh-CN" dirty="0" err="1" smtClean="0">
                <a:ea typeface="SimSun" pitchFamily="2" charset="-122"/>
              </a:rPr>
              <a:t>Dijkstra’s</a:t>
            </a:r>
            <a:r>
              <a:rPr lang="en-US" altLang="zh-CN" dirty="0" smtClean="0">
                <a:ea typeface="SimSun" pitchFamily="2" charset="-122"/>
              </a:rPr>
              <a:t> algorithm</a:t>
            </a:r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If the “</a:t>
            </a:r>
            <a:r>
              <a:rPr lang="en-US" altLang="zh-CN" sz="1800" b="1" dirty="0">
                <a:solidFill>
                  <a:srgbClr val="263AF8"/>
                </a:solidFill>
                <a:ea typeface="SimSun" pitchFamily="2" charset="-122"/>
              </a:rPr>
              <a:t>Select the unmarked node u with minimum cost</a:t>
            </a:r>
            <a:r>
              <a:rPr lang="en-US" altLang="zh-CN" dirty="0" smtClean="0">
                <a:latin typeface="Times New Roman" panose="02020603050405020304" pitchFamily="18" charset="0"/>
                <a:ea typeface="SimSun" pitchFamily="2" charset="-122"/>
              </a:rPr>
              <a:t>” is done with binary heap then </a:t>
            </a:r>
            <a:r>
              <a:rPr lang="en-US" altLang="zh-CN" dirty="0" smtClean="0">
                <a:solidFill>
                  <a:srgbClr val="CC0000"/>
                </a:solidFill>
                <a:latin typeface="Times New Roman" panose="02020603050405020304" pitchFamily="18" charset="0"/>
                <a:ea typeface="SimSun" pitchFamily="2" charset="-122"/>
              </a:rPr>
              <a:t>O((</a:t>
            </a:r>
            <a:r>
              <a:rPr lang="en-US" altLang="zh-CN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SimSun" pitchFamily="2" charset="-122"/>
              </a:rPr>
              <a:t>n+m</a:t>
            </a:r>
            <a:r>
              <a:rPr lang="en-US" altLang="zh-CN" dirty="0" smtClean="0">
                <a:solidFill>
                  <a:srgbClr val="CC0000"/>
                </a:solidFill>
                <a:latin typeface="Times New Roman" panose="02020603050405020304" pitchFamily="18" charset="0"/>
                <a:ea typeface="SimSun" pitchFamily="2" charset="-122"/>
              </a:rPr>
              <a:t>)</a:t>
            </a:r>
            <a:r>
              <a:rPr lang="en-US" altLang="zh-CN" dirty="0" err="1" smtClean="0">
                <a:solidFill>
                  <a:srgbClr val="CC0000"/>
                </a:solidFill>
                <a:latin typeface="Times New Roman" panose="02020603050405020304" pitchFamily="18" charset="0"/>
                <a:ea typeface="SimSun" pitchFamily="2" charset="-122"/>
              </a:rPr>
              <a:t>logn</a:t>
            </a:r>
            <a:r>
              <a:rPr lang="en-US" altLang="zh-CN" dirty="0" smtClean="0">
                <a:solidFill>
                  <a:srgbClr val="CC0000"/>
                </a:solidFill>
                <a:latin typeface="Times New Roman" panose="02020603050405020304" pitchFamily="18" charset="0"/>
                <a:ea typeface="SimSun" pitchFamily="2" charset="-122"/>
              </a:rPr>
              <a:t>)</a:t>
            </a:r>
            <a:endParaRPr lang="en-US" altLang="zh-CN" dirty="0" smtClean="0">
              <a:solidFill>
                <a:srgbClr val="CC0000"/>
              </a:solidFill>
              <a:latin typeface="Times New Roman" panose="02020603050405020304" pitchFamily="18" charset="0"/>
              <a:ea typeface="SimSun" pitchFamily="2" charset="-122"/>
            </a:endParaRPr>
          </a:p>
          <a:p>
            <a:endParaRPr lang="en-US" altLang="zh-CN" sz="15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51F5CC-00A5-49FB-A6E2-E93EDA68C0AA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Prim’s Algorithm</a:t>
            </a:r>
            <a:endParaRPr lang="zh-CN" altLang="en-US" dirty="0" smtClean="0"/>
          </a:p>
        </p:txBody>
      </p:sp>
      <p:sp>
        <p:nvSpPr>
          <p:cNvPr id="870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100" dirty="0"/>
              <a:t>Prim’s algorithm is a greedy algorithm</a:t>
            </a:r>
            <a:endParaRPr lang="en-US" altLang="zh-CN" sz="2100" dirty="0"/>
          </a:p>
          <a:p>
            <a:pPr lvl="1"/>
            <a:r>
              <a:rPr lang="en-US" altLang="zh-CN" sz="1800" dirty="0"/>
              <a:t>At each step in the 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1800" dirty="0"/>
              <a:t> loop, we always select the least-cost edge that connects some marked vertex to some unmarked vertex.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r>
              <a:rPr lang="en-US" altLang="zh-CN" sz="2100" dirty="0"/>
              <a:t>Proof of </a:t>
            </a:r>
            <a:r>
              <a:rPr lang="en-US" altLang="zh-CN" sz="2100" dirty="0" smtClean="0"/>
              <a:t>Correctness</a:t>
            </a:r>
            <a:endParaRPr lang="en-US" altLang="zh-CN" sz="2100" dirty="0" smtClean="0"/>
          </a:p>
          <a:p>
            <a:pPr lvl="1"/>
            <a:r>
              <a:rPr lang="en-US" altLang="zh-CN" sz="1800" dirty="0" smtClean="0"/>
              <a:t>Prim’s algorithm produces a minimum-cost spanning tree.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Proof </a:t>
            </a:r>
            <a:r>
              <a:rPr lang="en-US" altLang="zh-CN" sz="1800" dirty="0"/>
              <a:t>by contradiction</a:t>
            </a:r>
            <a:endParaRPr lang="zh-CN" altLang="en-US" sz="1800" dirty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6770AA8F-389C-4225-89F6-7BE746F44F9D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382867"/>
            <a:ext cx="6380466" cy="421557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Define an ordering on the vertices</a:t>
            </a:r>
            <a:r>
              <a:rPr lang="zh-CN" altLang="en-US" sz="2000" dirty="0"/>
              <a:t> </a:t>
            </a:r>
            <a:r>
              <a:rPr lang="en-US" altLang="zh-CN" sz="2000" dirty="0"/>
              <a:t>v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, v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…, v</a:t>
            </a:r>
            <a:r>
              <a:rPr lang="en-US" altLang="zh-CN" sz="2000" baseline="-25000" dirty="0"/>
              <a:t>n-1</a:t>
            </a:r>
            <a:endParaRPr lang="en-US" altLang="zh-CN" sz="2000" baseline="-25000" dirty="0"/>
          </a:p>
          <a:p>
            <a:pPr lvl="1"/>
            <a:r>
              <a:rPr lang="en-US" altLang="zh-CN" sz="1800" dirty="0"/>
              <a:t>according to the </a:t>
            </a:r>
            <a:r>
              <a:rPr lang="en-US" altLang="zh-CN" sz="1800" dirty="0" smtClean="0"/>
              <a:t>order in </a:t>
            </a:r>
            <a:r>
              <a:rPr lang="en-US" altLang="zh-CN" sz="1800" dirty="0"/>
              <a:t>which they were added to the MST by the algorithm</a:t>
            </a:r>
            <a:endParaRPr lang="en-US" altLang="zh-CN" sz="1100" dirty="0"/>
          </a:p>
          <a:p>
            <a:r>
              <a:rPr lang="en-US" altLang="zh-CN" sz="2000" dirty="0"/>
              <a:t>Suppose edge </a:t>
            </a:r>
            <a:r>
              <a:rPr lang="en-US" altLang="zh-CN" sz="2000" dirty="0" err="1"/>
              <a:t>e</a:t>
            </a:r>
            <a:r>
              <a:rPr lang="en-US" altLang="zh-CN" sz="2000" baseline="-25000" dirty="0" err="1"/>
              <a:t>j</a:t>
            </a:r>
            <a:r>
              <a:rPr lang="en-US" altLang="zh-CN" sz="2000" dirty="0"/>
              <a:t> is the </a:t>
            </a:r>
            <a:r>
              <a:rPr lang="en-US" altLang="zh-CN" sz="2000" dirty="0">
                <a:solidFill>
                  <a:srgbClr val="FF0000"/>
                </a:solidFill>
              </a:rPr>
              <a:t>first </a:t>
            </a:r>
            <a:r>
              <a:rPr lang="en-US" altLang="zh-CN" sz="2000" dirty="0">
                <a:solidFill>
                  <a:srgbClr val="FF0000"/>
                </a:solidFill>
              </a:rPr>
              <a:t>edge </a:t>
            </a:r>
            <a:r>
              <a:rPr lang="en-US" altLang="zh-CN" sz="2000" dirty="0"/>
              <a:t>(the lowest numbered)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where the algorithm “</a:t>
            </a:r>
            <a:r>
              <a:rPr lang="en-US" altLang="zh-CN" sz="2000" dirty="0">
                <a:solidFill>
                  <a:srgbClr val="FF0000"/>
                </a:solidFill>
              </a:rPr>
              <a:t>went wrong</a:t>
            </a:r>
            <a:r>
              <a:rPr lang="en-US" altLang="zh-CN" sz="2000" dirty="0"/>
              <a:t>” – differ from the “true” MST</a:t>
            </a:r>
            <a:endParaRPr lang="en-US" altLang="zh-CN" sz="2000" dirty="0"/>
          </a:p>
          <a:p>
            <a:pPr lvl="1"/>
            <a:r>
              <a:rPr lang="en-US" altLang="zh-CN" sz="1800" dirty="0" err="1"/>
              <a:t>e</a:t>
            </a:r>
            <a:r>
              <a:rPr lang="en-US" altLang="zh-CN" sz="1800" baseline="-25000" dirty="0" err="1"/>
              <a:t>j</a:t>
            </a:r>
            <a:r>
              <a:rPr lang="en-US" altLang="zh-CN" sz="1800" dirty="0"/>
              <a:t> = (</a:t>
            </a:r>
            <a:r>
              <a:rPr lang="en-US" altLang="zh-CN" sz="1800" dirty="0" err="1"/>
              <a:t>v</a:t>
            </a:r>
            <a:r>
              <a:rPr lang="en-US" altLang="zh-CN" sz="1800" baseline="-25000" dirty="0" err="1"/>
              <a:t>p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v</a:t>
            </a:r>
            <a:r>
              <a:rPr lang="en-US" altLang="zh-CN" sz="1800" baseline="-25000" dirty="0" err="1"/>
              <a:t>j</a:t>
            </a:r>
            <a:r>
              <a:rPr lang="en-US" altLang="zh-CN" sz="1800" dirty="0"/>
              <a:t>) where p&lt;j</a:t>
            </a:r>
            <a:endParaRPr lang="en-US" altLang="zh-CN" sz="1800" dirty="0"/>
          </a:p>
          <a:p>
            <a:r>
              <a:rPr lang="en-US" altLang="zh-CN" sz="2000" dirty="0"/>
              <a:t>There must exist a path </a:t>
            </a:r>
            <a:r>
              <a:rPr lang="en-US" altLang="zh-CN" sz="2000" dirty="0" err="1"/>
              <a:t>v</a:t>
            </a:r>
            <a:r>
              <a:rPr lang="en-US" altLang="zh-CN" sz="2000" baseline="-25000" dirty="0" err="1"/>
              <a:t>j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v</a:t>
            </a:r>
            <a:r>
              <a:rPr lang="en-US" altLang="zh-CN" sz="2000" baseline="-25000" dirty="0" err="1"/>
              <a:t>w</a:t>
            </a:r>
            <a:r>
              <a:rPr lang="en-US" altLang="zh-CN" sz="2000" dirty="0"/>
              <a:t>-&gt;v</a:t>
            </a:r>
            <a:r>
              <a:rPr lang="en-US" altLang="zh-CN" sz="2000" baseline="-25000" dirty="0"/>
              <a:t>u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v</a:t>
            </a:r>
            <a:r>
              <a:rPr lang="en-US" altLang="zh-CN" sz="2000" baseline="-25000" dirty="0" err="1"/>
              <a:t>p</a:t>
            </a:r>
            <a:r>
              <a:rPr lang="en-US" altLang="zh-CN" sz="2000" baseline="-25000" dirty="0"/>
              <a:t> </a:t>
            </a:r>
            <a:r>
              <a:rPr lang="en-US" altLang="zh-CN" sz="2000" dirty="0" smtClean="0"/>
              <a:t>(u&lt;j and w&gt;j) in </a:t>
            </a:r>
            <a:r>
              <a:rPr lang="en-US" altLang="zh-CN" sz="2000" dirty="0"/>
              <a:t>the true MST that connect </a:t>
            </a:r>
            <a:r>
              <a:rPr lang="en-US" altLang="zh-CN" sz="2000" dirty="0" err="1"/>
              <a:t>v</a:t>
            </a:r>
            <a:r>
              <a:rPr lang="en-US" altLang="zh-CN" sz="2000" baseline="-25000" dirty="0" err="1"/>
              <a:t>p</a:t>
            </a:r>
            <a:r>
              <a:rPr lang="en-US" altLang="zh-CN" sz="2000" dirty="0"/>
              <a:t> and </a:t>
            </a:r>
            <a:r>
              <a:rPr lang="en-US" altLang="zh-CN" sz="2000" dirty="0" err="1" smtClean="0"/>
              <a:t>v</a:t>
            </a:r>
            <a:r>
              <a:rPr lang="en-US" altLang="zh-CN" sz="2000" baseline="-25000" dirty="0" err="1" smtClean="0"/>
              <a:t>j</a:t>
            </a:r>
            <a:endParaRPr lang="en-US" altLang="zh-CN" sz="2000" baseline="-25000" dirty="0" smtClean="0"/>
          </a:p>
          <a:p>
            <a:r>
              <a:rPr lang="en-US" altLang="zh-CN" sz="2000" dirty="0"/>
              <a:t>Edge </a:t>
            </a:r>
            <a:r>
              <a:rPr lang="en-US" altLang="zh-CN" sz="2000" dirty="0" smtClean="0"/>
              <a:t>e’ must be </a:t>
            </a:r>
            <a:r>
              <a:rPr lang="en-US" altLang="zh-CN" sz="2000" dirty="0"/>
              <a:t>of lower cost than edge </a:t>
            </a:r>
            <a:r>
              <a:rPr lang="en-US" altLang="zh-CN" sz="2000" dirty="0" err="1" smtClean="0"/>
              <a:t>e</a:t>
            </a:r>
            <a:r>
              <a:rPr lang="en-US" altLang="zh-CN" sz="2000" baseline="-25000" dirty="0" err="1" smtClean="0"/>
              <a:t>j</a:t>
            </a:r>
            <a:endParaRPr lang="en-US" altLang="zh-CN" sz="2000" dirty="0" smtClean="0"/>
          </a:p>
          <a:p>
            <a:r>
              <a:rPr lang="en-US" altLang="zh-CN" sz="2000" dirty="0"/>
              <a:t>C</a:t>
            </a:r>
            <a:r>
              <a:rPr lang="en-US" altLang="zh-CN" sz="2000" dirty="0" smtClean="0"/>
              <a:t>ontradict the “Prim’s </a:t>
            </a:r>
            <a:r>
              <a:rPr lang="en-US" altLang="zh-CN" sz="2000" dirty="0"/>
              <a:t>algorithm would </a:t>
            </a:r>
            <a:r>
              <a:rPr lang="en-US" altLang="zh-CN" sz="2000" dirty="0" smtClean="0"/>
              <a:t>have selected </a:t>
            </a:r>
            <a:r>
              <a:rPr lang="en-US" altLang="zh-CN" sz="2000" dirty="0"/>
              <a:t>the least-cost edge </a:t>
            </a:r>
            <a:r>
              <a:rPr lang="en-US" altLang="zh-CN" sz="2000" dirty="0" smtClean="0"/>
              <a:t>available”</a:t>
            </a:r>
            <a:endParaRPr lang="en-US" altLang="zh-CN" sz="2000" dirty="0"/>
          </a:p>
        </p:txBody>
      </p:sp>
      <p:sp>
        <p:nvSpPr>
          <p:cNvPr id="8" name="Oval 7"/>
          <p:cNvSpPr/>
          <p:nvPr/>
        </p:nvSpPr>
        <p:spPr>
          <a:xfrm>
            <a:off x="1654863" y="6310446"/>
            <a:ext cx="1017671" cy="19442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Proof of Prim’s Algorithm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1F2788-1746-4750-998E-5BC62C8CCF94}" type="slidenum">
              <a:rPr lang="en-US" altLang="zh-CN" smtClean="0"/>
            </a:fld>
            <a:endParaRPr lang="en-US" altLang="zh-CN"/>
          </a:p>
        </p:txBody>
      </p:sp>
      <p:sp>
        <p:nvSpPr>
          <p:cNvPr id="6" name="Oval 5"/>
          <p:cNvSpPr/>
          <p:nvPr/>
        </p:nvSpPr>
        <p:spPr>
          <a:xfrm>
            <a:off x="2024845" y="6526470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Oval 8"/>
          <p:cNvSpPr/>
          <p:nvPr/>
        </p:nvSpPr>
        <p:spPr>
          <a:xfrm>
            <a:off x="1808438" y="7066530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Oval 9"/>
          <p:cNvSpPr/>
          <p:nvPr/>
        </p:nvSpPr>
        <p:spPr>
          <a:xfrm>
            <a:off x="2186480" y="7460359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Oval 10"/>
          <p:cNvSpPr/>
          <p:nvPr/>
        </p:nvSpPr>
        <p:spPr>
          <a:xfrm>
            <a:off x="2240486" y="7012524"/>
            <a:ext cx="108012" cy="108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Oval 11"/>
          <p:cNvSpPr/>
          <p:nvPr/>
        </p:nvSpPr>
        <p:spPr>
          <a:xfrm>
            <a:off x="4085515" y="6310446"/>
            <a:ext cx="1017671" cy="19442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Straight Connector 17"/>
          <p:cNvCxnSpPr>
            <a:stCxn id="6" idx="3"/>
            <a:endCxn id="9" idx="0"/>
          </p:cNvCxnSpPr>
          <p:nvPr/>
        </p:nvCxnSpPr>
        <p:spPr>
          <a:xfrm flipH="1">
            <a:off x="1862445" y="6618664"/>
            <a:ext cx="178219" cy="44786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5"/>
            <a:endCxn id="11" idx="2"/>
          </p:cNvCxnSpPr>
          <p:nvPr/>
        </p:nvCxnSpPr>
        <p:spPr>
          <a:xfrm>
            <a:off x="2117039" y="6618664"/>
            <a:ext cx="123448" cy="44786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4"/>
          </p:cNvCxnSpPr>
          <p:nvPr/>
        </p:nvCxnSpPr>
        <p:spPr>
          <a:xfrm>
            <a:off x="1862444" y="7174542"/>
            <a:ext cx="324036" cy="33784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2306031" y="6916542"/>
            <a:ext cx="2497897" cy="1197009"/>
            <a:chOff x="2642659" y="5029209"/>
            <a:chExt cx="3330529" cy="1596010"/>
          </a:xfrm>
        </p:grpSpPr>
        <p:sp>
          <p:nvSpPr>
            <p:cNvPr id="13" name="Oval 12"/>
            <p:cNvSpPr/>
            <p:nvPr/>
          </p:nvSpPr>
          <p:spPr>
            <a:xfrm>
              <a:off x="5220071" y="5373216"/>
              <a:ext cx="168019" cy="14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15" name="Straight Connector 14"/>
            <p:cNvCxnSpPr/>
            <p:nvPr/>
          </p:nvCxnSpPr>
          <p:spPr>
            <a:xfrm flipV="1">
              <a:off x="2642659" y="5451234"/>
              <a:ext cx="2563198" cy="37243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3179979" y="5517224"/>
              <a:ext cx="2002518" cy="1107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 smtClean="0"/>
                <a:t>e</a:t>
              </a:r>
              <a:r>
                <a:rPr lang="en-US" altLang="zh-CN" baseline="-25000" dirty="0" err="1" smtClean="0"/>
                <a:t>j</a:t>
              </a:r>
              <a:endParaRPr lang="en-US" altLang="zh-CN" baseline="-25000" dirty="0" smtClean="0"/>
            </a:p>
            <a:p>
              <a:pPr algn="ctr"/>
              <a:r>
                <a:rPr lang="en-US" altLang="zh-CN" dirty="0"/>
                <a:t>Prim’s edge</a:t>
              </a:r>
              <a:endParaRPr lang="en-US" altLang="zh-CN" dirty="0"/>
            </a:p>
            <a:p>
              <a:pPr algn="ctr"/>
              <a:endParaRPr lang="zh-CN" altLang="en-US" baseline="-250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07465" y="5029209"/>
              <a:ext cx="66572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FF0000"/>
                  </a:solidFill>
                </a:rPr>
                <a:t>v</a:t>
              </a:r>
              <a:r>
                <a:rPr lang="en-US" altLang="zh-CN" b="1" baseline="-25000" dirty="0" err="1">
                  <a:solidFill>
                    <a:srgbClr val="FF0000"/>
                  </a:solidFill>
                </a:rPr>
                <a:t>j</a:t>
              </a:r>
              <a:endParaRPr lang="zh-CN" altLang="en-US" b="1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957218" y="7397770"/>
            <a:ext cx="49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</a:t>
            </a:r>
            <a:r>
              <a:rPr lang="en-US" altLang="zh-CN" baseline="-25000" dirty="0" err="1"/>
              <a:t>p</a:t>
            </a:r>
            <a:endParaRPr lang="zh-CN" altLang="en-US" baseline="-25000" dirty="0"/>
          </a:p>
        </p:txBody>
      </p:sp>
      <p:grpSp>
        <p:nvGrpSpPr>
          <p:cNvPr id="46" name="Group 45"/>
          <p:cNvGrpSpPr/>
          <p:nvPr/>
        </p:nvGrpSpPr>
        <p:grpSpPr>
          <a:xfrm>
            <a:off x="2178762" y="6228185"/>
            <a:ext cx="2887353" cy="884610"/>
            <a:chOff x="2472967" y="4111406"/>
            <a:chExt cx="3849804" cy="1179480"/>
          </a:xfrm>
        </p:grpSpPr>
        <p:grpSp>
          <p:nvGrpSpPr>
            <p:cNvPr id="44" name="Group 43"/>
            <p:cNvGrpSpPr/>
            <p:nvPr/>
          </p:nvGrpSpPr>
          <p:grpSpPr>
            <a:xfrm>
              <a:off x="2472967" y="4350295"/>
              <a:ext cx="3849804" cy="940591"/>
              <a:chOff x="2472967" y="4350295"/>
              <a:chExt cx="3849804" cy="940591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549735" y="4581980"/>
                <a:ext cx="144016" cy="1440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cxnSp>
            <p:nvCxnSpPr>
              <p:cNvPr id="33" name="Straight Connector 32"/>
              <p:cNvCxnSpPr>
                <a:stCxn id="31" idx="3"/>
                <a:endCxn id="13" idx="0"/>
              </p:cNvCxnSpPr>
              <p:nvPr/>
            </p:nvCxnSpPr>
            <p:spPr>
              <a:xfrm flipH="1">
                <a:off x="5304080" y="4704906"/>
                <a:ext cx="266745" cy="585980"/>
              </a:xfrm>
              <a:prstGeom prst="line">
                <a:avLst/>
              </a:prstGeom>
              <a:ln w="38100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5657048" y="4350295"/>
                <a:ext cx="665723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w</a:t>
                </a:r>
                <a:endParaRPr lang="en-US" altLang="zh-CN" baseline="-25000" dirty="0"/>
              </a:p>
            </p:txBody>
          </p:sp>
          <p:cxnSp>
            <p:nvCxnSpPr>
              <p:cNvPr id="40" name="Straight Connector 39"/>
              <p:cNvCxnSpPr>
                <a:stCxn id="31" idx="2"/>
              </p:cNvCxnSpPr>
              <p:nvPr/>
            </p:nvCxnSpPr>
            <p:spPr>
              <a:xfrm flipH="1">
                <a:off x="2720884" y="4653989"/>
                <a:ext cx="2828851" cy="575215"/>
              </a:xfrm>
              <a:prstGeom prst="line">
                <a:avLst/>
              </a:prstGeom>
              <a:ln w="38100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472967" y="4739420"/>
                <a:ext cx="665723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v</a:t>
                </a:r>
                <a:r>
                  <a:rPr lang="en-US" altLang="zh-CN" baseline="-25000" dirty="0"/>
                  <a:t>u</a:t>
                </a:r>
                <a:endParaRPr lang="en-US" altLang="zh-CN" baseline="-25000" dirty="0"/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2572991" y="4111406"/>
              <a:ext cx="2950205" cy="861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B050"/>
                  </a:solidFill>
                </a:rPr>
                <a:t>’’correct’’ edge</a:t>
              </a:r>
              <a:endParaRPr lang="en-US" altLang="zh-CN" dirty="0">
                <a:solidFill>
                  <a:srgbClr val="00B050"/>
                </a:solidFill>
              </a:endParaRPr>
            </a:p>
            <a:p>
              <a:pPr algn="ctr"/>
              <a:r>
                <a:rPr lang="en-US" altLang="zh-CN" dirty="0" smtClean="0">
                  <a:solidFill>
                    <a:srgbClr val="00B050"/>
                  </a:solidFill>
                </a:rPr>
                <a:t>e</a:t>
              </a:r>
              <a:r>
                <a:rPr lang="en-US" altLang="zh-CN" dirty="0">
                  <a:solidFill>
                    <a:srgbClr val="00B050"/>
                  </a:solidFill>
                </a:rPr>
                <a:t>'</a:t>
              </a:r>
              <a:endParaRPr lang="zh-CN" altLang="en-US" baseline="-25000" dirty="0">
                <a:solidFill>
                  <a:srgbClr val="00B05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8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612A97-9698-45CF-811A-44547C8FE96A}" type="slidenum">
              <a:rPr lang="en-US" altLang="zh-CN" sz="1050"/>
            </a:fld>
            <a:endParaRPr lang="en-US" altLang="zh-CN" sz="1050"/>
          </a:p>
        </p:txBody>
      </p:sp>
      <p:sp>
        <p:nvSpPr>
          <p:cNvPr id="158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Kruskal’s</a:t>
            </a:r>
            <a:r>
              <a:rPr lang="en-US" altLang="zh-CN" dirty="0" smtClean="0">
                <a:ea typeface="SimSun" pitchFamily="2" charset="-122"/>
              </a:rPr>
              <a:t>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8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Select edges in order of increasing cost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Accept an edge to expand tree or forest only if it does not cause a cycle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ea typeface="SimSun" pitchFamily="2" charset="-122"/>
              </a:rPr>
              <a:t>Implementation using adjacency list, priority queues and disjoint sets</a:t>
            </a:r>
            <a:endParaRPr lang="en-US" altLang="zh-CN" dirty="0" smtClean="0">
              <a:solidFill>
                <a:srgbClr val="008000"/>
              </a:solidFill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366F94-832B-4EED-A066-3B52A08A6B1C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59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415F97-27B3-4FBC-B96B-FD7239698916}" type="slidenum">
              <a:rPr lang="en-US" altLang="zh-CN" sz="1050"/>
            </a:fld>
            <a:endParaRPr lang="en-US" altLang="zh-CN" sz="1050"/>
          </a:p>
        </p:txBody>
      </p:sp>
      <p:sp>
        <p:nvSpPr>
          <p:cNvPr id="159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itchFamily="2" charset="-122"/>
              </a:rPr>
              <a:t>Kruskal’s</a:t>
            </a:r>
            <a:r>
              <a:rPr lang="en-US" altLang="zh-CN" dirty="0" smtClean="0">
                <a:ea typeface="SimSun" pitchFamily="2" charset="-122"/>
              </a:rPr>
              <a:t>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9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5385" y="2438403"/>
            <a:ext cx="6193975" cy="580178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zh-CN" sz="1800" dirty="0">
                <a:ea typeface="SimSun" pitchFamily="2" charset="-122"/>
              </a:rPr>
              <a:t>Initialize a forest of trees, each tree being a single node</a:t>
            </a:r>
            <a:endParaRPr lang="en-US" altLang="zh-CN" sz="1800" dirty="0">
              <a:ea typeface="SimSun" pitchFamily="2" charset="-122"/>
            </a:endParaRPr>
          </a:p>
          <a:p>
            <a:pPr>
              <a:buFontTx/>
              <a:buNone/>
            </a:pPr>
            <a:r>
              <a:rPr lang="en-US" altLang="zh-CN" sz="1800" dirty="0">
                <a:ea typeface="SimSun" pitchFamily="2" charset="-122"/>
              </a:rPr>
              <a:t>Build a priority queue of edges with priority being lowest cost</a:t>
            </a:r>
            <a:endParaRPr lang="en-US" altLang="zh-CN" sz="1800" dirty="0">
              <a:ea typeface="SimSun" pitchFamily="2" charset="-122"/>
            </a:endParaRPr>
          </a:p>
          <a:p>
            <a:pPr>
              <a:buFontTx/>
              <a:buNone/>
            </a:pPr>
            <a:r>
              <a:rPr lang="en-US" altLang="zh-CN" sz="1800" dirty="0">
                <a:solidFill>
                  <a:srgbClr val="263AF8"/>
                </a:solidFill>
                <a:ea typeface="SimSun" pitchFamily="2" charset="-122"/>
              </a:rPr>
              <a:t>Repeat until |V| -1 edges have been accepted {</a:t>
            </a:r>
            <a:endParaRPr lang="en-US" altLang="zh-CN" sz="1800" dirty="0">
              <a:solidFill>
                <a:srgbClr val="263AF8"/>
              </a:solidFill>
              <a:ea typeface="SimSun" pitchFamily="2" charset="-122"/>
            </a:endParaRPr>
          </a:p>
          <a:p>
            <a:pPr>
              <a:buFontTx/>
              <a:buNone/>
            </a:pPr>
            <a:r>
              <a:rPr lang="en-US" altLang="zh-CN" sz="1800" dirty="0">
                <a:solidFill>
                  <a:srgbClr val="CC0000"/>
                </a:solidFill>
                <a:ea typeface="SimSun" pitchFamily="2" charset="-122"/>
              </a:rPr>
              <a:t>	</a:t>
            </a:r>
            <a:r>
              <a:rPr lang="en-US" altLang="zh-CN" sz="1800" dirty="0" err="1">
                <a:solidFill>
                  <a:srgbClr val="263AF8"/>
                </a:solidFill>
                <a:ea typeface="SimSun" pitchFamily="2" charset="-122"/>
              </a:rPr>
              <a:t>Deletemin</a:t>
            </a:r>
            <a:r>
              <a:rPr lang="en-US" altLang="zh-CN" sz="1800" dirty="0">
                <a:solidFill>
                  <a:srgbClr val="263AF8"/>
                </a:solidFill>
                <a:ea typeface="SimSun" pitchFamily="2" charset="-122"/>
              </a:rPr>
              <a:t> edge from priority queue</a:t>
            </a:r>
            <a:endParaRPr lang="en-US" altLang="zh-CN" sz="1800" dirty="0">
              <a:solidFill>
                <a:srgbClr val="263AF8"/>
              </a:solidFill>
              <a:ea typeface="SimSun" pitchFamily="2" charset="-122"/>
            </a:endParaRPr>
          </a:p>
          <a:p>
            <a:pPr>
              <a:buFontTx/>
              <a:buNone/>
            </a:pPr>
            <a:r>
              <a:rPr lang="en-US" altLang="zh-CN" sz="1800" dirty="0">
                <a:solidFill>
                  <a:srgbClr val="CC0000"/>
                </a:solidFill>
                <a:ea typeface="SimSun" pitchFamily="2" charset="-122"/>
              </a:rPr>
              <a:t>	</a:t>
            </a:r>
            <a:r>
              <a:rPr lang="en-US" altLang="zh-CN" sz="1800" dirty="0">
                <a:solidFill>
                  <a:srgbClr val="263AF8"/>
                </a:solidFill>
                <a:ea typeface="SimSun" pitchFamily="2" charset="-122"/>
              </a:rPr>
              <a:t>If it forms a cycle then discard it</a:t>
            </a:r>
            <a:endParaRPr lang="en-US" altLang="zh-CN" sz="1800" dirty="0">
              <a:solidFill>
                <a:srgbClr val="263AF8"/>
              </a:solidFill>
              <a:ea typeface="SimSun" pitchFamily="2" charset="-122"/>
            </a:endParaRPr>
          </a:p>
          <a:p>
            <a:pPr>
              <a:buFontTx/>
              <a:buNone/>
            </a:pPr>
            <a:r>
              <a:rPr lang="en-US" altLang="zh-CN" sz="1800" dirty="0" smtClean="0">
                <a:solidFill>
                  <a:srgbClr val="263AF8"/>
                </a:solidFill>
                <a:ea typeface="SimSun" pitchFamily="2" charset="-122"/>
              </a:rPr>
              <a:t>  else </a:t>
            </a:r>
            <a:r>
              <a:rPr lang="en-US" altLang="zh-CN" sz="1800" dirty="0">
                <a:solidFill>
                  <a:srgbClr val="263AF8"/>
                </a:solidFill>
                <a:ea typeface="SimSun" pitchFamily="2" charset="-122"/>
              </a:rPr>
              <a:t>accept the edge </a:t>
            </a:r>
            <a:r>
              <a:rPr lang="en-US" altLang="zh-CN" sz="1800" dirty="0">
                <a:solidFill>
                  <a:srgbClr val="FF0000"/>
                </a:solidFill>
                <a:ea typeface="SimSun" pitchFamily="2" charset="-122"/>
              </a:rPr>
              <a:t>– It will join 2 existing trees yielding a larger tree </a:t>
            </a:r>
            <a:r>
              <a:rPr lang="en-US" altLang="zh-CN" sz="1800" dirty="0" smtClean="0">
                <a:solidFill>
                  <a:srgbClr val="FF0000"/>
                </a:solidFill>
                <a:ea typeface="SimSun" pitchFamily="2" charset="-122"/>
              </a:rPr>
              <a:t>and </a:t>
            </a:r>
            <a:r>
              <a:rPr lang="en-US" altLang="zh-CN" sz="1800" dirty="0">
                <a:solidFill>
                  <a:srgbClr val="FF0000"/>
                </a:solidFill>
                <a:ea typeface="SimSun" pitchFamily="2" charset="-122"/>
              </a:rPr>
              <a:t>reducing the forest by one tree</a:t>
            </a:r>
            <a:endParaRPr lang="en-US" altLang="zh-CN" sz="1800" dirty="0">
              <a:solidFill>
                <a:srgbClr val="FF0000"/>
              </a:solidFill>
              <a:ea typeface="SimSun" pitchFamily="2" charset="-122"/>
            </a:endParaRPr>
          </a:p>
          <a:p>
            <a:pPr>
              <a:buFontTx/>
              <a:buNone/>
            </a:pPr>
            <a:r>
              <a:rPr lang="en-US" altLang="zh-CN" sz="1800" dirty="0">
                <a:solidFill>
                  <a:srgbClr val="263AF8"/>
                </a:solidFill>
                <a:ea typeface="SimSun" pitchFamily="2" charset="-122"/>
              </a:rPr>
              <a:t>}</a:t>
            </a:r>
            <a:endParaRPr lang="en-US" altLang="zh-CN" sz="1800" dirty="0">
              <a:solidFill>
                <a:srgbClr val="263AF8"/>
              </a:solidFill>
              <a:ea typeface="SimSun" pitchFamily="2" charset="-122"/>
            </a:endParaRPr>
          </a:p>
          <a:p>
            <a:pPr>
              <a:buFontTx/>
              <a:buNone/>
            </a:pPr>
            <a:r>
              <a:rPr lang="en-US" altLang="zh-CN" sz="1800" dirty="0">
                <a:ea typeface="SimSun" pitchFamily="2" charset="-122"/>
              </a:rPr>
              <a:t>The accepted edges form the minimum spanning tree</a:t>
            </a:r>
            <a:endParaRPr lang="en-US" altLang="zh-CN" sz="1800" dirty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CC5236-5281-4422-9A9E-EC3FE2F7BA1E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0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1C1375-A5E1-412C-8508-8390581A0E20}" type="slidenum">
              <a:rPr lang="en-US" altLang="zh-CN" sz="1050"/>
            </a:fld>
            <a:endParaRPr lang="en-US" altLang="zh-CN" sz="1050"/>
          </a:p>
        </p:txBody>
      </p:sp>
      <p:sp>
        <p:nvSpPr>
          <p:cNvPr id="160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Detecting Cycles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607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If the edge to be added (</a:t>
            </a:r>
            <a:r>
              <a:rPr lang="en-US" altLang="zh-CN" dirty="0" err="1" smtClean="0">
                <a:ea typeface="SimSun" pitchFamily="2" charset="-122"/>
              </a:rPr>
              <a:t>u,v</a:t>
            </a:r>
            <a:r>
              <a:rPr lang="en-US" altLang="zh-CN" dirty="0" smtClean="0">
                <a:ea typeface="SimSun" pitchFamily="2" charset="-122"/>
              </a:rPr>
              <a:t>) is such that vertices u and v belong to the same tree, then by adding (</a:t>
            </a:r>
            <a:r>
              <a:rPr lang="en-US" altLang="zh-CN" dirty="0" err="1" smtClean="0">
                <a:ea typeface="SimSun" pitchFamily="2" charset="-122"/>
              </a:rPr>
              <a:t>u,v</a:t>
            </a:r>
            <a:r>
              <a:rPr lang="en-US" altLang="zh-CN" dirty="0" smtClean="0">
                <a:ea typeface="SimSun" pitchFamily="2" charset="-122"/>
              </a:rPr>
              <a:t>) you would form a cycle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Therefore to check,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Find(u)</a:t>
            </a:r>
            <a:r>
              <a:rPr lang="en-US" altLang="zh-CN" dirty="0" smtClean="0">
                <a:solidFill>
                  <a:schemeClr val="accent2"/>
                </a:solidFill>
                <a:ea typeface="SimSun" pitchFamily="2" charset="-122"/>
              </a:rPr>
              <a:t> </a:t>
            </a:r>
            <a:r>
              <a:rPr lang="en-US" altLang="zh-CN" dirty="0" smtClean="0">
                <a:ea typeface="SimSun" pitchFamily="2" charset="-122"/>
              </a:rPr>
              <a:t>and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Find(v)</a:t>
            </a:r>
            <a:r>
              <a:rPr lang="en-US" altLang="zh-CN" dirty="0" smtClean="0">
                <a:ea typeface="SimSun" pitchFamily="2" charset="-122"/>
              </a:rPr>
              <a:t>.</a:t>
            </a:r>
            <a:r>
              <a:rPr lang="en-US" altLang="zh-CN" dirty="0" smtClean="0">
                <a:solidFill>
                  <a:schemeClr val="accent2"/>
                </a:solidFill>
                <a:ea typeface="SimSun" pitchFamily="2" charset="-122"/>
              </a:rPr>
              <a:t> </a:t>
            </a:r>
            <a:r>
              <a:rPr lang="en-US" altLang="zh-CN" dirty="0" smtClean="0">
                <a:ea typeface="SimSun" pitchFamily="2" charset="-122"/>
              </a:rPr>
              <a:t>If they are the same discard (</a:t>
            </a:r>
            <a:r>
              <a:rPr lang="en-US" altLang="zh-CN" dirty="0" err="1" smtClean="0">
                <a:ea typeface="SimSun" pitchFamily="2" charset="-122"/>
              </a:rPr>
              <a:t>u,v</a:t>
            </a:r>
            <a:r>
              <a:rPr lang="en-US" altLang="zh-CN" dirty="0" smtClean="0">
                <a:ea typeface="SimSun" pitchFamily="2" charset="-122"/>
              </a:rPr>
              <a:t>) 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If they are different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Union(Find(u),Find(v))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BC634-295A-4463-A447-04BF2F39495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1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E54FF6-624E-42A9-BE39-C1F0F9C6F910}" type="slidenum">
              <a:rPr lang="en-US" altLang="zh-CN" sz="1050"/>
            </a:fld>
            <a:endParaRPr lang="en-US" altLang="zh-CN" sz="1050"/>
          </a:p>
        </p:txBody>
      </p:sp>
      <p:sp>
        <p:nvSpPr>
          <p:cNvPr id="161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Properties of trees in K’s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61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</a:rPr>
              <a:t>Vertices in different trees are disjoint</a:t>
            </a:r>
            <a:endParaRPr lang="en-US" altLang="zh-CN" sz="2100" dirty="0">
              <a:solidFill>
                <a:srgbClr val="263AF8"/>
              </a:solidFill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SimSun" pitchFamily="2" charset="-122"/>
              </a:rPr>
              <a:t>True at initialization and Union won’t modify the fact for remaining trees</a:t>
            </a:r>
            <a:endParaRPr lang="en-US" altLang="zh-CN" sz="18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</a:rPr>
              <a:t>Trees form equivalent classes under the relation “is connected to”</a:t>
            </a:r>
            <a:endParaRPr lang="en-US" altLang="zh-CN" sz="2100" dirty="0">
              <a:solidFill>
                <a:srgbClr val="263AF8"/>
              </a:solidFill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SimSun" pitchFamily="2" charset="-122"/>
              </a:rPr>
              <a:t>u connected to u  (reflexivity)</a:t>
            </a:r>
            <a:endParaRPr lang="en-US" altLang="zh-CN" sz="1800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SimSun" pitchFamily="2" charset="-122"/>
              </a:rPr>
              <a:t>u connected to v implies v connected to u (symmetry)</a:t>
            </a:r>
            <a:endParaRPr lang="en-US" altLang="zh-CN" sz="1800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SimSun" pitchFamily="2" charset="-122"/>
              </a:rPr>
              <a:t>u  connected to v and v connected to w implies a path from u to w so u connected to w (transitivity)</a:t>
            </a:r>
            <a:endParaRPr lang="en-US" altLang="zh-CN" sz="1800" dirty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325393-5E16-4E65-9D9F-E45E64F3AA39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1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E54FF6-624E-42A9-BE39-C1F0F9C6F910}" type="slidenum">
              <a:rPr lang="en-US" altLang="zh-CN" sz="1050"/>
            </a:fld>
            <a:endParaRPr lang="en-US" altLang="zh-CN" sz="1050"/>
          </a:p>
        </p:txBody>
      </p:sp>
      <p:sp>
        <p:nvSpPr>
          <p:cNvPr id="161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itchFamily="2" charset="-122"/>
              </a:rPr>
              <a:t>Kruskal’s</a:t>
            </a:r>
            <a:r>
              <a:rPr lang="en-US" altLang="zh-CN" dirty="0" smtClean="0">
                <a:ea typeface="SimSun" pitchFamily="2" charset="-122"/>
              </a:rPr>
              <a:t>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325393-5E16-4E65-9D9F-E45E64F3AA3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8640" y="2260120"/>
            <a:ext cx="6768752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700" dirty="0">
                <a:latin typeface="Sitka Text" panose="02000505000000020004" pitchFamily="2" charset="0"/>
              </a:rPr>
              <a:t>vector&lt;Edge&gt; </a:t>
            </a:r>
            <a:r>
              <a:rPr lang="en-US" altLang="zh-CN" sz="1700" dirty="0" err="1">
                <a:latin typeface="Sitka Text" panose="02000505000000020004" pitchFamily="2" charset="0"/>
              </a:rPr>
              <a:t>kruskal</a:t>
            </a:r>
            <a:r>
              <a:rPr lang="en-US" altLang="zh-CN" sz="1700" dirty="0">
                <a:latin typeface="Sitka Text" panose="02000505000000020004" pitchFamily="2" charset="0"/>
              </a:rPr>
              <a:t>( vector&lt;Edge&gt; edges, </a:t>
            </a:r>
            <a:r>
              <a:rPr lang="en-US" altLang="zh-CN" sz="1700" dirty="0" err="1">
                <a:latin typeface="Sitka Text" panose="02000505000000020004" pitchFamily="2" charset="0"/>
              </a:rPr>
              <a:t>int</a:t>
            </a:r>
            <a:r>
              <a:rPr lang="en-US" altLang="zh-CN" sz="1700" dirty="0">
                <a:latin typeface="Sitka Text" panose="02000505000000020004" pitchFamily="2" charset="0"/>
              </a:rPr>
              <a:t> </a:t>
            </a:r>
            <a:r>
              <a:rPr lang="en-US" altLang="zh-CN" sz="1700" dirty="0" err="1">
                <a:latin typeface="Sitka Text" panose="02000505000000020004" pitchFamily="2" charset="0"/>
              </a:rPr>
              <a:t>numVertices</a:t>
            </a:r>
            <a:r>
              <a:rPr lang="en-US" altLang="zh-CN" sz="1700" dirty="0">
                <a:latin typeface="Sitka Text" panose="02000505000000020004" pitchFamily="2" charset="0"/>
              </a:rPr>
              <a:t> )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>
                <a:latin typeface="Sitka Text" panose="02000505000000020004" pitchFamily="2" charset="0"/>
              </a:rPr>
              <a:t>{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</a:t>
            </a:r>
            <a:r>
              <a:rPr lang="en-US" altLang="zh-CN" sz="1700" dirty="0" err="1" smtClean="0">
                <a:latin typeface="Sitka Text" panose="02000505000000020004" pitchFamily="2" charset="0"/>
              </a:rPr>
              <a:t>DisjSets</a:t>
            </a:r>
            <a:r>
              <a:rPr lang="en-US" altLang="zh-CN" sz="1700" dirty="0" smtClean="0">
                <a:latin typeface="Sitka Text" panose="02000505000000020004" pitchFamily="2" charset="0"/>
              </a:rPr>
              <a:t> </a:t>
            </a:r>
            <a:r>
              <a:rPr lang="en-US" altLang="zh-CN" sz="1700" dirty="0">
                <a:latin typeface="Sitka Text" panose="02000505000000020004" pitchFamily="2" charset="0"/>
              </a:rPr>
              <a:t>ds{ </a:t>
            </a:r>
            <a:r>
              <a:rPr lang="en-US" altLang="zh-CN" sz="1700" dirty="0" err="1">
                <a:latin typeface="Sitka Text" panose="02000505000000020004" pitchFamily="2" charset="0"/>
              </a:rPr>
              <a:t>numVertices</a:t>
            </a:r>
            <a:r>
              <a:rPr lang="en-US" altLang="zh-CN" sz="1700" dirty="0">
                <a:latin typeface="Sitka Text" panose="02000505000000020004" pitchFamily="2" charset="0"/>
              </a:rPr>
              <a:t> };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</a:t>
            </a:r>
            <a:r>
              <a:rPr lang="en-US" altLang="zh-CN" sz="1700" dirty="0" err="1" smtClean="0">
                <a:latin typeface="Sitka Text" panose="02000505000000020004" pitchFamily="2" charset="0"/>
              </a:rPr>
              <a:t>priority_queue</a:t>
            </a:r>
            <a:r>
              <a:rPr lang="en-US" altLang="zh-CN" sz="1700" dirty="0" smtClean="0">
                <a:latin typeface="Sitka Text" panose="02000505000000020004" pitchFamily="2" charset="0"/>
              </a:rPr>
              <a:t> </a:t>
            </a:r>
            <a:r>
              <a:rPr lang="en-US" altLang="zh-CN" sz="1700" dirty="0" err="1">
                <a:latin typeface="Sitka Text" panose="02000505000000020004" pitchFamily="2" charset="0"/>
              </a:rPr>
              <a:t>pq</a:t>
            </a:r>
            <a:r>
              <a:rPr lang="en-US" altLang="zh-CN" sz="1700" dirty="0">
                <a:latin typeface="Sitka Text" panose="02000505000000020004" pitchFamily="2" charset="0"/>
              </a:rPr>
              <a:t>{ edges };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vector&lt;Edge</a:t>
            </a:r>
            <a:r>
              <a:rPr lang="en-US" altLang="zh-CN" sz="1700" dirty="0">
                <a:latin typeface="Sitka Text" panose="02000505000000020004" pitchFamily="2" charset="0"/>
              </a:rPr>
              <a:t>&gt; </a:t>
            </a:r>
            <a:r>
              <a:rPr lang="en-US" altLang="zh-CN" sz="1700" dirty="0" err="1">
                <a:latin typeface="Sitka Text" panose="02000505000000020004" pitchFamily="2" charset="0"/>
              </a:rPr>
              <a:t>mst</a:t>
            </a:r>
            <a:r>
              <a:rPr lang="en-US" altLang="zh-CN" sz="1700" dirty="0" smtClean="0">
                <a:latin typeface="Sitka Text" panose="02000505000000020004" pitchFamily="2" charset="0"/>
              </a:rPr>
              <a:t>;</a:t>
            </a:r>
            <a:endParaRPr lang="en-US" altLang="zh-CN" sz="1700" dirty="0" smtClean="0">
              <a:latin typeface="Sitka Text" panose="02000505000000020004" pitchFamily="2" charset="0"/>
            </a:endParaRPr>
          </a:p>
          <a:p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while</a:t>
            </a:r>
            <a:r>
              <a:rPr lang="en-US" altLang="zh-CN" sz="1700" dirty="0">
                <a:latin typeface="Sitka Text" panose="02000505000000020004" pitchFamily="2" charset="0"/>
              </a:rPr>
              <a:t>( </a:t>
            </a:r>
            <a:r>
              <a:rPr lang="en-US" altLang="zh-CN" sz="1700" dirty="0" err="1">
                <a:latin typeface="Sitka Text" panose="02000505000000020004" pitchFamily="2" charset="0"/>
              </a:rPr>
              <a:t>mst.size</a:t>
            </a:r>
            <a:r>
              <a:rPr lang="en-US" altLang="zh-CN" sz="1700" dirty="0">
                <a:latin typeface="Sitka Text" panose="02000505000000020004" pitchFamily="2" charset="0"/>
              </a:rPr>
              <a:t>( ) != </a:t>
            </a:r>
            <a:r>
              <a:rPr lang="en-US" altLang="zh-CN" sz="1700" dirty="0" err="1">
                <a:latin typeface="Sitka Text" panose="02000505000000020004" pitchFamily="2" charset="0"/>
              </a:rPr>
              <a:t>numVertices</a:t>
            </a:r>
            <a:r>
              <a:rPr lang="en-US" altLang="zh-CN" sz="1700" dirty="0">
                <a:latin typeface="Sitka Text" panose="02000505000000020004" pitchFamily="2" charset="0"/>
              </a:rPr>
              <a:t> - 1 </a:t>
            </a:r>
            <a:r>
              <a:rPr lang="en-US" altLang="zh-CN" sz="1700" dirty="0" smtClean="0">
                <a:latin typeface="Sitka Text" panose="02000505000000020004" pitchFamily="2" charset="0"/>
              </a:rPr>
              <a:t>){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    Edge </a:t>
            </a:r>
            <a:r>
              <a:rPr lang="en-US" altLang="zh-CN" sz="1700" dirty="0">
                <a:latin typeface="Sitka Text" panose="02000505000000020004" pitchFamily="2" charset="0"/>
              </a:rPr>
              <a:t>e = </a:t>
            </a:r>
            <a:r>
              <a:rPr lang="en-US" altLang="zh-CN" sz="1700" dirty="0" err="1">
                <a:latin typeface="Sitka Text" panose="02000505000000020004" pitchFamily="2" charset="0"/>
              </a:rPr>
              <a:t>pq.pop</a:t>
            </a:r>
            <a:r>
              <a:rPr lang="en-US" altLang="zh-CN" sz="1700" dirty="0">
                <a:latin typeface="Sitka Text" panose="02000505000000020004" pitchFamily="2" charset="0"/>
              </a:rPr>
              <a:t>( ); </a:t>
            </a:r>
            <a:r>
              <a:rPr lang="en-US" altLang="zh-CN" sz="1700" dirty="0">
                <a:solidFill>
                  <a:srgbClr val="008000"/>
                </a:solidFill>
                <a:latin typeface="Sitka Text" panose="02000505000000020004" pitchFamily="2" charset="0"/>
              </a:rPr>
              <a:t>// Edge e = (u, v)</a:t>
            </a:r>
            <a:endParaRPr lang="en-US" altLang="zh-CN" sz="17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    </a:t>
            </a:r>
            <a:r>
              <a:rPr lang="en-US" altLang="zh-CN" sz="1700" dirty="0" err="1" smtClean="0">
                <a:latin typeface="Sitka Text" panose="02000505000000020004" pitchFamily="2" charset="0"/>
              </a:rPr>
              <a:t>SetType</a:t>
            </a:r>
            <a:r>
              <a:rPr lang="en-US" altLang="zh-CN" sz="1700" dirty="0" smtClean="0">
                <a:latin typeface="Sitka Text" panose="02000505000000020004" pitchFamily="2" charset="0"/>
              </a:rPr>
              <a:t> </a:t>
            </a:r>
            <a:r>
              <a:rPr lang="en-US" altLang="zh-CN" sz="1700" dirty="0" err="1">
                <a:latin typeface="Sitka Text" panose="02000505000000020004" pitchFamily="2" charset="0"/>
              </a:rPr>
              <a:t>uset</a:t>
            </a:r>
            <a:r>
              <a:rPr lang="en-US" altLang="zh-CN" sz="1700" dirty="0">
                <a:latin typeface="Sitka Text" panose="02000505000000020004" pitchFamily="2" charset="0"/>
              </a:rPr>
              <a:t> = </a:t>
            </a:r>
            <a:r>
              <a:rPr lang="en-US" altLang="zh-CN" sz="1700" dirty="0" err="1">
                <a:latin typeface="Sitka Text" panose="02000505000000020004" pitchFamily="2" charset="0"/>
              </a:rPr>
              <a:t>ds.find</a:t>
            </a:r>
            <a:r>
              <a:rPr lang="en-US" altLang="zh-CN" sz="1700" dirty="0">
                <a:latin typeface="Sitka Text" panose="02000505000000020004" pitchFamily="2" charset="0"/>
              </a:rPr>
              <a:t>( </a:t>
            </a:r>
            <a:r>
              <a:rPr lang="en-US" altLang="zh-CN" sz="1700" dirty="0" err="1">
                <a:latin typeface="Sitka Text" panose="02000505000000020004" pitchFamily="2" charset="0"/>
              </a:rPr>
              <a:t>e.getu</a:t>
            </a:r>
            <a:r>
              <a:rPr lang="en-US" altLang="zh-CN" sz="1700" dirty="0">
                <a:latin typeface="Sitka Text" panose="02000505000000020004" pitchFamily="2" charset="0"/>
              </a:rPr>
              <a:t>( ) );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    </a:t>
            </a:r>
            <a:r>
              <a:rPr lang="en-US" altLang="zh-CN" sz="1700" dirty="0" err="1" smtClean="0">
                <a:latin typeface="Sitka Text" panose="02000505000000020004" pitchFamily="2" charset="0"/>
              </a:rPr>
              <a:t>SetType</a:t>
            </a:r>
            <a:r>
              <a:rPr lang="en-US" altLang="zh-CN" sz="1700" dirty="0" smtClean="0">
                <a:latin typeface="Sitka Text" panose="02000505000000020004" pitchFamily="2" charset="0"/>
              </a:rPr>
              <a:t> </a:t>
            </a:r>
            <a:r>
              <a:rPr lang="en-US" altLang="zh-CN" sz="1700" dirty="0" err="1">
                <a:latin typeface="Sitka Text" panose="02000505000000020004" pitchFamily="2" charset="0"/>
              </a:rPr>
              <a:t>vset</a:t>
            </a:r>
            <a:r>
              <a:rPr lang="en-US" altLang="zh-CN" sz="1700" dirty="0">
                <a:latin typeface="Sitka Text" panose="02000505000000020004" pitchFamily="2" charset="0"/>
              </a:rPr>
              <a:t> = </a:t>
            </a:r>
            <a:r>
              <a:rPr lang="en-US" altLang="zh-CN" sz="1700" dirty="0" err="1">
                <a:latin typeface="Sitka Text" panose="02000505000000020004" pitchFamily="2" charset="0"/>
              </a:rPr>
              <a:t>ds.find</a:t>
            </a:r>
            <a:r>
              <a:rPr lang="en-US" altLang="zh-CN" sz="1700" dirty="0">
                <a:latin typeface="Sitka Text" panose="02000505000000020004" pitchFamily="2" charset="0"/>
              </a:rPr>
              <a:t>( </a:t>
            </a:r>
            <a:r>
              <a:rPr lang="en-US" altLang="zh-CN" sz="1700" dirty="0" err="1">
                <a:latin typeface="Sitka Text" panose="02000505000000020004" pitchFamily="2" charset="0"/>
              </a:rPr>
              <a:t>e.getv</a:t>
            </a:r>
            <a:r>
              <a:rPr lang="en-US" altLang="zh-CN" sz="1700" dirty="0">
                <a:latin typeface="Sitka Text" panose="02000505000000020004" pitchFamily="2" charset="0"/>
              </a:rPr>
              <a:t>( ) );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    </a:t>
            </a:r>
            <a:endParaRPr lang="en-US" altLang="zh-CN" sz="1700" dirty="0" smtClean="0">
              <a:latin typeface="Sitka Text" panose="02000505000000020004" pitchFamily="2" charset="0"/>
            </a:endParaRPr>
          </a:p>
          <a:p>
            <a:r>
              <a:rPr lang="en-US" altLang="zh-CN" sz="1700" dirty="0">
                <a:latin typeface="Sitka Text" panose="02000505000000020004" pitchFamily="2" charset="0"/>
              </a:rPr>
              <a:t> </a:t>
            </a:r>
            <a:r>
              <a:rPr lang="en-US" altLang="zh-CN" sz="1700" dirty="0" smtClean="0">
                <a:latin typeface="Sitka Text" panose="02000505000000020004" pitchFamily="2" charset="0"/>
              </a:rPr>
              <a:t>       if</a:t>
            </a:r>
            <a:r>
              <a:rPr lang="en-US" altLang="zh-CN" sz="1700" dirty="0">
                <a:latin typeface="Sitka Text" panose="02000505000000020004" pitchFamily="2" charset="0"/>
              </a:rPr>
              <a:t>( </a:t>
            </a:r>
            <a:r>
              <a:rPr lang="en-US" altLang="zh-CN" sz="1700" dirty="0" err="1">
                <a:latin typeface="Sitka Text" panose="02000505000000020004" pitchFamily="2" charset="0"/>
              </a:rPr>
              <a:t>uset</a:t>
            </a:r>
            <a:r>
              <a:rPr lang="en-US" altLang="zh-CN" sz="1700" dirty="0">
                <a:latin typeface="Sitka Text" panose="02000505000000020004" pitchFamily="2" charset="0"/>
              </a:rPr>
              <a:t> != </a:t>
            </a:r>
            <a:r>
              <a:rPr lang="en-US" altLang="zh-CN" sz="1700" dirty="0" err="1">
                <a:latin typeface="Sitka Text" panose="02000505000000020004" pitchFamily="2" charset="0"/>
              </a:rPr>
              <a:t>vset</a:t>
            </a:r>
            <a:r>
              <a:rPr lang="en-US" altLang="zh-CN" sz="1700" dirty="0">
                <a:latin typeface="Sitka Text" panose="02000505000000020004" pitchFamily="2" charset="0"/>
              </a:rPr>
              <a:t> </a:t>
            </a:r>
            <a:r>
              <a:rPr lang="en-US" altLang="zh-CN" sz="1700" dirty="0" smtClean="0">
                <a:latin typeface="Sitka Text" panose="02000505000000020004" pitchFamily="2" charset="0"/>
              </a:rPr>
              <a:t>){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          // </a:t>
            </a:r>
            <a:r>
              <a:rPr lang="en-US" altLang="zh-CN" sz="1700" dirty="0">
                <a:solidFill>
                  <a:srgbClr val="008000"/>
                </a:solidFill>
                <a:latin typeface="Sitka Text" panose="02000505000000020004" pitchFamily="2" charset="0"/>
              </a:rPr>
              <a:t>Accept the edge</a:t>
            </a:r>
            <a:endParaRPr lang="en-US" altLang="zh-CN" sz="17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        </a:t>
            </a:r>
            <a:r>
              <a:rPr lang="en-US" altLang="zh-CN" sz="1700" dirty="0" err="1" smtClean="0">
                <a:latin typeface="Sitka Text" panose="02000505000000020004" pitchFamily="2" charset="0"/>
              </a:rPr>
              <a:t>mst.push_back</a:t>
            </a:r>
            <a:r>
              <a:rPr lang="en-US" altLang="zh-CN" sz="1700" dirty="0">
                <a:latin typeface="Sitka Text" panose="02000505000000020004" pitchFamily="2" charset="0"/>
              </a:rPr>
              <a:t>( e );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        </a:t>
            </a:r>
            <a:r>
              <a:rPr lang="en-US" altLang="zh-CN" sz="1700" dirty="0" err="1" smtClean="0">
                <a:latin typeface="Sitka Text" panose="02000505000000020004" pitchFamily="2" charset="0"/>
              </a:rPr>
              <a:t>ds.union</a:t>
            </a:r>
            <a:r>
              <a:rPr lang="en-US" altLang="zh-CN" sz="1700" dirty="0">
                <a:latin typeface="Sitka Text" panose="02000505000000020004" pitchFamily="2" charset="0"/>
              </a:rPr>
              <a:t>( </a:t>
            </a:r>
            <a:r>
              <a:rPr lang="en-US" altLang="zh-CN" sz="1700" dirty="0" err="1">
                <a:latin typeface="Sitka Text" panose="02000505000000020004" pitchFamily="2" charset="0"/>
              </a:rPr>
              <a:t>uset</a:t>
            </a:r>
            <a:r>
              <a:rPr lang="en-US" altLang="zh-CN" sz="1700" dirty="0">
                <a:latin typeface="Sitka Text" panose="02000505000000020004" pitchFamily="2" charset="0"/>
              </a:rPr>
              <a:t>, </a:t>
            </a:r>
            <a:r>
              <a:rPr lang="en-US" altLang="zh-CN" sz="1700" dirty="0" err="1">
                <a:latin typeface="Sitka Text" panose="02000505000000020004" pitchFamily="2" charset="0"/>
              </a:rPr>
              <a:t>vset</a:t>
            </a:r>
            <a:r>
              <a:rPr lang="en-US" altLang="zh-CN" sz="1700" dirty="0">
                <a:latin typeface="Sitka Text" panose="02000505000000020004" pitchFamily="2" charset="0"/>
              </a:rPr>
              <a:t> );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    }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}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 smtClean="0">
                <a:latin typeface="Sitka Text" panose="02000505000000020004" pitchFamily="2" charset="0"/>
              </a:rPr>
              <a:t>    return </a:t>
            </a:r>
            <a:r>
              <a:rPr lang="en-US" altLang="zh-CN" sz="1700" dirty="0" err="1">
                <a:latin typeface="Sitka Text" panose="02000505000000020004" pitchFamily="2" charset="0"/>
              </a:rPr>
              <a:t>mst</a:t>
            </a:r>
            <a:r>
              <a:rPr lang="en-US" altLang="zh-CN" sz="1700" dirty="0">
                <a:latin typeface="Sitka Text" panose="02000505000000020004" pitchFamily="2" charset="0"/>
              </a:rPr>
              <a:t>;</a:t>
            </a:r>
            <a:endParaRPr lang="en-US" altLang="zh-CN" sz="1700" dirty="0">
              <a:latin typeface="Sitka Text" panose="02000505000000020004" pitchFamily="2" charset="0"/>
            </a:endParaRPr>
          </a:p>
          <a:p>
            <a:r>
              <a:rPr lang="en-US" altLang="zh-CN" sz="1700" dirty="0">
                <a:latin typeface="Sitka Text" panose="02000505000000020004" pitchFamily="2" charset="0"/>
              </a:rPr>
              <a:t>}</a:t>
            </a:r>
            <a:endParaRPr lang="zh-CN" altLang="en-US" sz="17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0" name="AutoShape 7"/>
          <p:cNvCxnSpPr>
            <a:cxnSpLocks noChangeShapeType="1"/>
            <a:stCxn id="20" idx="2"/>
            <a:endCxn id="17" idx="6"/>
          </p:cNvCxnSpPr>
          <p:nvPr/>
        </p:nvCxnSpPr>
        <p:spPr bwMode="auto">
          <a:xfrm flipH="1" flipV="1">
            <a:off x="3505194" y="4701882"/>
            <a:ext cx="803708" cy="8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8"/>
          <p:cNvCxnSpPr>
            <a:cxnSpLocks noChangeShapeType="1"/>
            <a:stCxn id="8" idx="5"/>
            <a:endCxn id="12" idx="1"/>
          </p:cNvCxnSpPr>
          <p:nvPr/>
        </p:nvCxnSpPr>
        <p:spPr bwMode="auto">
          <a:xfrm>
            <a:off x="4600106" y="3744093"/>
            <a:ext cx="850989" cy="8374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4" name="AutoShape 12"/>
          <p:cNvCxnSpPr>
            <a:cxnSpLocks noChangeShapeType="1"/>
            <a:stCxn id="13" idx="7"/>
            <a:endCxn id="12" idx="3"/>
          </p:cNvCxnSpPr>
          <p:nvPr/>
        </p:nvCxnSpPr>
        <p:spPr bwMode="auto">
          <a:xfrm flipV="1">
            <a:off x="4600106" y="4823998"/>
            <a:ext cx="850989" cy="77318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15"/>
          <p:cNvCxnSpPr>
            <a:cxnSpLocks noChangeShapeType="1"/>
            <a:stCxn id="12" idx="2"/>
            <a:endCxn id="20" idx="6"/>
          </p:cNvCxnSpPr>
          <p:nvPr/>
        </p:nvCxnSpPr>
        <p:spPr bwMode="auto">
          <a:xfrm flipH="1">
            <a:off x="4651802" y="4702765"/>
            <a:ext cx="749076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8" name="AutoShape 17"/>
          <p:cNvCxnSpPr>
            <a:cxnSpLocks noChangeShapeType="1"/>
            <a:stCxn id="17" idx="7"/>
            <a:endCxn id="8" idx="3"/>
          </p:cNvCxnSpPr>
          <p:nvPr/>
        </p:nvCxnSpPr>
        <p:spPr bwMode="auto">
          <a:xfrm flipV="1">
            <a:off x="3454977" y="3744093"/>
            <a:ext cx="902663" cy="8365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18"/>
          <p:cNvCxnSpPr>
            <a:cxnSpLocks noChangeShapeType="1"/>
            <a:stCxn id="9" idx="0"/>
            <a:endCxn id="17" idx="4"/>
          </p:cNvCxnSpPr>
          <p:nvPr/>
        </p:nvCxnSpPr>
        <p:spPr bwMode="auto">
          <a:xfrm flipV="1">
            <a:off x="3332265" y="4873332"/>
            <a:ext cx="1479" cy="67363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21" name="AutoShape 21"/>
          <p:cNvCxnSpPr>
            <a:cxnSpLocks noChangeShapeType="1"/>
            <a:stCxn id="9" idx="7"/>
            <a:endCxn id="20" idx="3"/>
          </p:cNvCxnSpPr>
          <p:nvPr/>
        </p:nvCxnSpPr>
        <p:spPr bwMode="auto">
          <a:xfrm flipV="1">
            <a:off x="3453498" y="4823998"/>
            <a:ext cx="905621" cy="7731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3573016" y="3848186"/>
            <a:ext cx="4315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4940648" y="386967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3788520" y="5720394"/>
            <a:ext cx="3080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4776566" y="43737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5038161" y="5144330"/>
            <a:ext cx="3151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3768454" y="441740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3912470" y="478429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31" name="直接连接符 30"/>
          <p:cNvCxnSpPr>
            <a:stCxn id="17" idx="5"/>
            <a:endCxn id="13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/>
          <p:cNvCxnSpPr>
            <a:stCxn id="9" idx="6"/>
            <a:endCxn id="13" idx="2"/>
          </p:cNvCxnSpPr>
          <p:nvPr/>
        </p:nvCxnSpPr>
        <p:spPr>
          <a:xfrm>
            <a:off x="3503715" y="5718415"/>
            <a:ext cx="80370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Initialization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8640" y="2851245"/>
            <a:ext cx="3429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Initially, Forest of 6 trees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F= {{1},{2},{3},{4},{5},{6}}</a:t>
            </a:r>
            <a:endParaRPr lang="en-US" altLang="zh-CN" dirty="0">
              <a:latin typeface="Sitka Text" panose="02000505000000020004" pitchFamily="2" charset="0"/>
            </a:endParaRPr>
          </a:p>
          <a:p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Edges in a heap (not shown)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35600"/>
            <a:ext cx="3014980" cy="2904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1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469" y="2596724"/>
            <a:ext cx="37324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Select edge with lowest cost </a:t>
            </a:r>
            <a:r>
              <a:rPr lang="en-US" altLang="zh-CN" dirty="0" smtClean="0">
                <a:latin typeface="Sitka Text" panose="02000505000000020004" pitchFamily="2" charset="0"/>
              </a:rPr>
              <a:t>(1,3)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Find(1)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1, </a:t>
            </a:r>
            <a:r>
              <a:rPr lang="en-US" altLang="zh-CN" dirty="0">
                <a:latin typeface="Sitka Text" panose="02000505000000020004" pitchFamily="2" charset="0"/>
              </a:rPr>
              <a:t>Find </a:t>
            </a:r>
            <a:r>
              <a:rPr lang="en-US" altLang="zh-CN" dirty="0" smtClean="0">
                <a:latin typeface="Sitka Text" panose="02000505000000020004" pitchFamily="2" charset="0"/>
              </a:rPr>
              <a:t>(3)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3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Union(1,3)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F= </a:t>
            </a:r>
            <a:r>
              <a:rPr lang="en-US" altLang="zh-CN" dirty="0" smtClean="0">
                <a:latin typeface="Sitka Text" panose="02000505000000020004" pitchFamily="2" charset="0"/>
              </a:rPr>
              <a:t>{{1,3},{2}, {</a:t>
            </a:r>
            <a:r>
              <a:rPr lang="en-US" altLang="zh-CN" dirty="0">
                <a:latin typeface="Sitka Text" panose="02000505000000020004" pitchFamily="2" charset="0"/>
              </a:rPr>
              <a:t>4</a:t>
            </a:r>
            <a:r>
              <a:rPr lang="en-US" altLang="zh-CN" dirty="0" smtClean="0">
                <a:latin typeface="Sitka Text" panose="02000505000000020004" pitchFamily="2" charset="0"/>
              </a:rPr>
              <a:t>},{5}</a:t>
            </a:r>
            <a:r>
              <a:rPr lang="en-US" altLang="zh-CN" dirty="0">
                <a:latin typeface="Sitka Text" panose="02000505000000020004" pitchFamily="2" charset="0"/>
              </a:rPr>
              <a:t>,</a:t>
            </a:r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dirty="0">
                <a:latin typeface="Sitka Text" panose="02000505000000020004" pitchFamily="2" charset="0"/>
              </a:rPr>
              <a:t>6}}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1 edge accepted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35600"/>
            <a:ext cx="3014980" cy="2904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</a:t>
            </a:r>
            <a:r>
              <a:rPr lang="en-US" altLang="zh-CN" dirty="0" smtClean="0"/>
              <a:t>2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469" y="2596724"/>
            <a:ext cx="37324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Select edge with lowest cost </a:t>
            </a:r>
            <a:r>
              <a:rPr lang="en-US" altLang="zh-CN" dirty="0" smtClean="0">
                <a:latin typeface="Sitka Text" panose="02000505000000020004" pitchFamily="2" charset="0"/>
              </a:rPr>
              <a:t>(2,5)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Find(2)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2, </a:t>
            </a:r>
            <a:r>
              <a:rPr lang="en-US" altLang="zh-CN" dirty="0">
                <a:latin typeface="Sitka Text" panose="02000505000000020004" pitchFamily="2" charset="0"/>
              </a:rPr>
              <a:t>Find </a:t>
            </a:r>
            <a:r>
              <a:rPr lang="en-US" altLang="zh-CN" dirty="0" smtClean="0">
                <a:latin typeface="Sitka Text" panose="02000505000000020004" pitchFamily="2" charset="0"/>
              </a:rPr>
              <a:t>(5)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5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Union(2,5)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F= </a:t>
            </a:r>
            <a:r>
              <a:rPr lang="en-US" altLang="zh-CN" dirty="0" smtClean="0">
                <a:latin typeface="Sitka Text" panose="02000505000000020004" pitchFamily="2" charset="0"/>
              </a:rPr>
              <a:t>{{1,3},{2,5}, {</a:t>
            </a:r>
            <a:r>
              <a:rPr lang="en-US" altLang="zh-CN" dirty="0">
                <a:latin typeface="Sitka Text" panose="02000505000000020004" pitchFamily="2" charset="0"/>
              </a:rPr>
              <a:t>4</a:t>
            </a:r>
            <a:r>
              <a:rPr lang="en-US" altLang="zh-CN" dirty="0" smtClean="0">
                <a:latin typeface="Sitka Text" panose="02000505000000020004" pitchFamily="2" charset="0"/>
              </a:rPr>
              <a:t>},{6</a:t>
            </a:r>
            <a:r>
              <a:rPr lang="en-US" altLang="zh-CN" dirty="0">
                <a:latin typeface="Sitka Text" panose="02000505000000020004" pitchFamily="2" charset="0"/>
              </a:rPr>
              <a:t>}}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2 </a:t>
            </a:r>
            <a:r>
              <a:rPr lang="en-US" altLang="zh-CN" dirty="0">
                <a:latin typeface="Sitka Text" panose="02000505000000020004" pitchFamily="2" charset="0"/>
              </a:rPr>
              <a:t>edge accepted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cxnSp>
        <p:nvCxnSpPr>
          <p:cNvPr id="5" name="直接连接符 4"/>
          <p:cNvCxnSpPr>
            <a:stCxn id="17" idx="5"/>
            <a:endCxn id="13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35600"/>
            <a:ext cx="3014980" cy="2904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</a:t>
            </a:r>
            <a:r>
              <a:rPr lang="en-US" altLang="zh-CN" dirty="0" smtClean="0"/>
              <a:t>3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469" y="2596724"/>
            <a:ext cx="37324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Select edge with lowest cost </a:t>
            </a:r>
            <a:r>
              <a:rPr lang="en-US" altLang="zh-CN" dirty="0" smtClean="0">
                <a:latin typeface="Sitka Text" panose="02000505000000020004" pitchFamily="2" charset="0"/>
              </a:rPr>
              <a:t>(2,6)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Find(2)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2, </a:t>
            </a:r>
            <a:r>
              <a:rPr lang="en-US" altLang="zh-CN" dirty="0">
                <a:latin typeface="Sitka Text" panose="02000505000000020004" pitchFamily="2" charset="0"/>
              </a:rPr>
              <a:t>Find </a:t>
            </a:r>
            <a:r>
              <a:rPr lang="en-US" altLang="zh-CN" dirty="0" smtClean="0">
                <a:latin typeface="Sitka Text" panose="02000505000000020004" pitchFamily="2" charset="0"/>
              </a:rPr>
              <a:t>(6)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6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Union(2,6)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F= </a:t>
            </a:r>
            <a:r>
              <a:rPr lang="en-US" altLang="zh-CN" dirty="0" smtClean="0">
                <a:latin typeface="Sitka Text" panose="02000505000000020004" pitchFamily="2" charset="0"/>
              </a:rPr>
              <a:t>{{1,3},{2,5,6}, {4}}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3 </a:t>
            </a:r>
            <a:r>
              <a:rPr lang="en-US" altLang="zh-CN" dirty="0">
                <a:latin typeface="Sitka Text" panose="02000505000000020004" pitchFamily="2" charset="0"/>
              </a:rPr>
              <a:t>edge accepted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cxnSp>
        <p:nvCxnSpPr>
          <p:cNvPr id="5" name="直接连接符 4"/>
          <p:cNvCxnSpPr>
            <a:stCxn id="17" idx="5"/>
            <a:endCxn id="13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/>
          <p:cNvCxnSpPr>
            <a:stCxn id="17" idx="4"/>
            <a:endCxn id="9" idx="0"/>
          </p:cNvCxnSpPr>
          <p:nvPr/>
        </p:nvCxnSpPr>
        <p:spPr>
          <a:xfrm flipH="1">
            <a:off x="3332265" y="4873332"/>
            <a:ext cx="1479" cy="6736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35600"/>
            <a:ext cx="3014980" cy="2904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</a:t>
            </a:r>
            <a:r>
              <a:rPr lang="en-US" altLang="zh-CN" dirty="0" smtClean="0"/>
              <a:t>4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469" y="2596724"/>
            <a:ext cx="37324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Select edge with lowest cost </a:t>
            </a:r>
            <a:r>
              <a:rPr lang="en-US" altLang="zh-CN" dirty="0" smtClean="0">
                <a:latin typeface="Sitka Text" panose="02000505000000020004" pitchFamily="2" charset="0"/>
              </a:rPr>
              <a:t>(5,6)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Find(5)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2, </a:t>
            </a:r>
            <a:r>
              <a:rPr lang="en-US" altLang="zh-CN" dirty="0">
                <a:latin typeface="Sitka Text" panose="02000505000000020004" pitchFamily="2" charset="0"/>
              </a:rPr>
              <a:t>Find </a:t>
            </a:r>
            <a:r>
              <a:rPr lang="en-US" altLang="zh-CN" dirty="0" smtClean="0">
                <a:latin typeface="Sitka Text" panose="02000505000000020004" pitchFamily="2" charset="0"/>
              </a:rPr>
              <a:t>(6)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2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Do nothing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{{1,3},{2,5,6}, {4}}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3 </a:t>
            </a:r>
            <a:r>
              <a:rPr lang="en-US" altLang="zh-CN" dirty="0">
                <a:latin typeface="Sitka Text" panose="02000505000000020004" pitchFamily="2" charset="0"/>
              </a:rPr>
              <a:t>edge accepted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cxnSp>
        <p:nvCxnSpPr>
          <p:cNvPr id="5" name="直接连接符 4"/>
          <p:cNvCxnSpPr>
            <a:stCxn id="17" idx="5"/>
            <a:endCxn id="13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/>
          <p:cNvCxnSpPr>
            <a:stCxn id="17" idx="4"/>
            <a:endCxn id="9" idx="0"/>
          </p:cNvCxnSpPr>
          <p:nvPr/>
        </p:nvCxnSpPr>
        <p:spPr>
          <a:xfrm flipH="1">
            <a:off x="3332265" y="4873332"/>
            <a:ext cx="1479" cy="6736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35600"/>
            <a:ext cx="3014980" cy="2904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</a:t>
            </a:r>
            <a:r>
              <a:rPr lang="en-US" altLang="zh-CN" dirty="0" smtClean="0"/>
              <a:t>5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469" y="2596724"/>
            <a:ext cx="37324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Select edge with lowest cost </a:t>
            </a:r>
            <a:r>
              <a:rPr lang="en-US" altLang="zh-CN" dirty="0" smtClean="0">
                <a:latin typeface="Sitka Text" panose="02000505000000020004" pitchFamily="2" charset="0"/>
              </a:rPr>
              <a:t>(3,4)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Find(3)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1, </a:t>
            </a:r>
            <a:r>
              <a:rPr lang="en-US" altLang="zh-CN" dirty="0">
                <a:latin typeface="Sitka Text" panose="02000505000000020004" pitchFamily="2" charset="0"/>
              </a:rPr>
              <a:t>Find </a:t>
            </a:r>
            <a:r>
              <a:rPr lang="en-US" altLang="zh-CN" dirty="0" smtClean="0">
                <a:latin typeface="Sitka Text" panose="02000505000000020004" pitchFamily="2" charset="0"/>
              </a:rPr>
              <a:t>(4)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4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Union(1,4)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{{1,3,4},{2,5,6}}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4 </a:t>
            </a:r>
            <a:r>
              <a:rPr lang="en-US" altLang="zh-CN" dirty="0">
                <a:latin typeface="Sitka Text" panose="02000505000000020004" pitchFamily="2" charset="0"/>
              </a:rPr>
              <a:t>edge accepted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cxnSp>
        <p:nvCxnSpPr>
          <p:cNvPr id="5" name="直接连接符 4"/>
          <p:cNvCxnSpPr>
            <a:stCxn id="17" idx="5"/>
            <a:endCxn id="13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/>
          <p:cNvCxnSpPr>
            <a:stCxn id="17" idx="4"/>
            <a:endCxn id="9" idx="0"/>
          </p:cNvCxnSpPr>
          <p:nvPr/>
        </p:nvCxnSpPr>
        <p:spPr>
          <a:xfrm flipH="1">
            <a:off x="3332265" y="4873332"/>
            <a:ext cx="1479" cy="6736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" name="直接连接符 6"/>
          <p:cNvCxnSpPr>
            <a:stCxn id="20" idx="6"/>
            <a:endCxn id="12" idx="2"/>
          </p:cNvCxnSpPr>
          <p:nvPr/>
        </p:nvCxnSpPr>
        <p:spPr>
          <a:xfrm>
            <a:off x="4651802" y="4702765"/>
            <a:ext cx="74907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4776566" y="43737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35600"/>
            <a:ext cx="3014980" cy="2904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</a:t>
            </a:r>
            <a:r>
              <a:rPr lang="en-US" altLang="zh-CN" dirty="0" smtClean="0"/>
              <a:t>6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423" y="3451410"/>
            <a:ext cx="342900" cy="34290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3160815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400878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307423" y="554696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4478873" y="3794310"/>
            <a:ext cx="1479" cy="7370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162294" y="45304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308902" y="453131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200502" y="402926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469" y="2596724"/>
            <a:ext cx="37324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Select edge with lowest cost </a:t>
            </a:r>
            <a:r>
              <a:rPr lang="en-US" altLang="zh-CN" dirty="0" smtClean="0">
                <a:latin typeface="Sitka Text" panose="02000505000000020004" pitchFamily="2" charset="0"/>
              </a:rPr>
              <a:t>(4,5)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Find(4)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1, </a:t>
            </a:r>
            <a:r>
              <a:rPr lang="en-US" altLang="zh-CN" dirty="0">
                <a:latin typeface="Sitka Text" panose="02000505000000020004" pitchFamily="2" charset="0"/>
              </a:rPr>
              <a:t>Find </a:t>
            </a:r>
            <a:r>
              <a:rPr lang="en-US" altLang="zh-CN" dirty="0" smtClean="0">
                <a:latin typeface="Sitka Text" panose="02000505000000020004" pitchFamily="2" charset="0"/>
              </a:rPr>
              <a:t>(5)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2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Union(1,2)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F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smtClean="0">
                <a:latin typeface="Sitka Text" panose="02000505000000020004" pitchFamily="2" charset="0"/>
              </a:rPr>
              <a:t>{{1,3,4,2,5,6}}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5 </a:t>
            </a:r>
            <a:r>
              <a:rPr lang="en-US" altLang="zh-CN" dirty="0">
                <a:latin typeface="Sitka Text" panose="02000505000000020004" pitchFamily="2" charset="0"/>
              </a:rPr>
              <a:t>edge accepted: end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Total cost = </a:t>
            </a:r>
            <a:r>
              <a:rPr lang="en-US" altLang="zh-CN" dirty="0" smtClean="0">
                <a:latin typeface="Sitka Text" panose="02000505000000020004" pitchFamily="2" charset="0"/>
              </a:rPr>
              <a:t>10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cxnSp>
        <p:nvCxnSpPr>
          <p:cNvPr id="5" name="直接连接符 4"/>
          <p:cNvCxnSpPr>
            <a:stCxn id="17" idx="5"/>
            <a:endCxn id="13" idx="1"/>
          </p:cNvCxnSpPr>
          <p:nvPr/>
        </p:nvCxnSpPr>
        <p:spPr>
          <a:xfrm>
            <a:off x="3454977" y="4823115"/>
            <a:ext cx="902663" cy="77406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/>
          <p:cNvCxnSpPr>
            <a:stCxn id="17" idx="4"/>
            <a:endCxn id="9" idx="0"/>
          </p:cNvCxnSpPr>
          <p:nvPr/>
        </p:nvCxnSpPr>
        <p:spPr>
          <a:xfrm flipH="1">
            <a:off x="3332265" y="4873332"/>
            <a:ext cx="1479" cy="6736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2976366" y="500031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3912470" y="5309832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" name="直接连接符 6"/>
          <p:cNvCxnSpPr>
            <a:stCxn id="20" idx="6"/>
            <a:endCxn id="12" idx="2"/>
          </p:cNvCxnSpPr>
          <p:nvPr/>
        </p:nvCxnSpPr>
        <p:spPr>
          <a:xfrm>
            <a:off x="4651802" y="4702765"/>
            <a:ext cx="74907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/>
          <p:cNvCxnSpPr>
            <a:stCxn id="12" idx="3"/>
            <a:endCxn id="13" idx="7"/>
          </p:cNvCxnSpPr>
          <p:nvPr/>
        </p:nvCxnSpPr>
        <p:spPr>
          <a:xfrm flipH="1">
            <a:off x="4600106" y="4823998"/>
            <a:ext cx="850989" cy="77318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4776566" y="43737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5038161" y="5144330"/>
            <a:ext cx="3151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64373" y="6317743"/>
            <a:ext cx="3429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Although there is a unique spanning tree in this example, this is not generally the case</a:t>
            </a:r>
            <a:endParaRPr lang="en-US" altLang="zh-CN" dirty="0">
              <a:latin typeface="Sitka Text" panose="02000505000000020004" pitchFamily="2" charset="0"/>
            </a:endParaRPr>
          </a:p>
          <a:p>
            <a:endParaRPr lang="en-US" altLang="zh-CN" dirty="0">
              <a:latin typeface="Sitka Text" panose="02000505000000020004" pitchFamily="2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35600"/>
            <a:ext cx="3014980" cy="2904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72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915B95-534A-42F3-BCC9-5EA16AC98885}" type="slidenum">
              <a:rPr lang="en-US" altLang="zh-CN" sz="1050"/>
            </a:fld>
            <a:endParaRPr lang="en-US" altLang="zh-CN" sz="1050"/>
          </a:p>
        </p:txBody>
      </p:sp>
      <p:sp>
        <p:nvSpPr>
          <p:cNvPr id="172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itchFamily="2" charset="-122"/>
              </a:rPr>
              <a:t>Kruskal’s</a:t>
            </a:r>
            <a:r>
              <a:rPr lang="en-US" altLang="zh-CN" dirty="0" smtClean="0">
                <a:ea typeface="SimSun" pitchFamily="2" charset="-122"/>
              </a:rPr>
              <a:t> Algorithm Analysis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72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Initialize forest 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O(n)</a:t>
            </a:r>
            <a:endParaRPr lang="en-US" altLang="zh-CN" dirty="0" smtClean="0">
              <a:solidFill>
                <a:srgbClr val="CC0000"/>
              </a:solidFill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Initialize heap 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O(m), m = |E|</a:t>
            </a:r>
            <a:endParaRPr lang="en-US" altLang="zh-CN" dirty="0" smtClean="0">
              <a:solidFill>
                <a:srgbClr val="CC0000"/>
              </a:solidFill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Loop performed 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m</a:t>
            </a:r>
            <a:r>
              <a:rPr lang="en-US" altLang="zh-CN" dirty="0" smtClean="0">
                <a:ea typeface="SimSun" pitchFamily="2" charset="-122"/>
              </a:rPr>
              <a:t> times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In the loop one </a:t>
            </a:r>
            <a:r>
              <a:rPr lang="en-US" altLang="zh-CN" dirty="0" err="1" smtClean="0">
                <a:ea typeface="SimSun" pitchFamily="2" charset="-122"/>
              </a:rPr>
              <a:t>Deletemin</a:t>
            </a:r>
            <a:r>
              <a:rPr lang="en-US" altLang="zh-CN" dirty="0" smtClean="0">
                <a:ea typeface="SimSun" pitchFamily="2" charset="-122"/>
              </a:rPr>
              <a:t>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O(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logm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)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Two Find, each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O(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logn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)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One Union (at most)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O(1)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Worse </a:t>
            </a:r>
            <a:r>
              <a:rPr lang="en-US" altLang="zh-CN" dirty="0" smtClean="0">
                <a:ea typeface="SimSun" pitchFamily="2" charset="-122"/>
              </a:rPr>
              <a:t>case time complexity</a:t>
            </a:r>
            <a:r>
              <a:rPr lang="zh-CN" altLang="en-US" dirty="0" smtClean="0">
                <a:ea typeface="SimSun" pitchFamily="2" charset="-122"/>
              </a:rPr>
              <a:t>：</a:t>
            </a:r>
            <a:r>
              <a:rPr lang="en-US" altLang="zh-CN" dirty="0" smtClean="0">
                <a:ea typeface="SimSun" pitchFamily="2" charset="-122"/>
              </a:rPr>
              <a:t>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O(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mlogm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) =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O(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mlogn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)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3045AA-4DA3-470C-A303-0FFB7315DD56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9-4 Graph Algorithms IV</a:t>
            </a:r>
            <a:endParaRPr lang="en-US" altLang="zh-CN" sz="1050"/>
          </a:p>
        </p:txBody>
      </p:sp>
      <p:sp>
        <p:nvSpPr>
          <p:cNvPr id="173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AF2304-B70C-46E6-A4A1-81B118233A4B}" type="slidenum">
              <a:rPr lang="en-US" altLang="zh-CN" sz="1050"/>
            </a:fld>
            <a:endParaRPr lang="en-US" altLang="zh-CN" sz="1050"/>
          </a:p>
        </p:txBody>
      </p:sp>
      <p:sp>
        <p:nvSpPr>
          <p:cNvPr id="173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Time Complexity Summary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73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5615" y="2438400"/>
            <a:ext cx="6166485" cy="5801995"/>
          </a:xfrm>
        </p:spPr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Recall that 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m = |E| = O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(|V|</a:t>
            </a:r>
            <a:r>
              <a:rPr lang="en-US" altLang="zh-CN" baseline="30000" dirty="0" smtClean="0">
                <a:solidFill>
                  <a:srgbClr val="CC0000"/>
                </a:solidFill>
                <a:ea typeface="SimSun" pitchFamily="2" charset="-122"/>
              </a:rPr>
              <a:t>2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) = O(n</a:t>
            </a:r>
            <a:r>
              <a:rPr lang="en-US" altLang="zh-CN" baseline="30000" dirty="0" smtClean="0">
                <a:solidFill>
                  <a:srgbClr val="CC0000"/>
                </a:solidFill>
                <a:ea typeface="SimSun" pitchFamily="2" charset="-122"/>
              </a:rPr>
              <a:t>2 </a:t>
            </a:r>
            <a:r>
              <a:rPr lang="en-US" altLang="zh-CN" dirty="0" smtClean="0">
                <a:solidFill>
                  <a:srgbClr val="CC0000"/>
                </a:solidFill>
                <a:ea typeface="SimSun" pitchFamily="2" charset="-122"/>
              </a:rPr>
              <a:t>)</a:t>
            </a:r>
            <a:endParaRPr lang="en-US" altLang="zh-CN" dirty="0" smtClean="0">
              <a:solidFill>
                <a:srgbClr val="CC0000"/>
              </a:solidFill>
              <a:ea typeface="SimSun" pitchFamily="2" charset="-122"/>
            </a:endParaRPr>
          </a:p>
          <a:p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Prim’s runs in O((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n+m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) log n)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Kruskal’s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 runs in O(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mlogm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) =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O(</a:t>
            </a:r>
            <a:r>
              <a:rPr lang="en-US" altLang="zh-CN" dirty="0" err="1" smtClean="0">
                <a:solidFill>
                  <a:srgbClr val="263AF8"/>
                </a:solidFill>
                <a:ea typeface="SimSun" pitchFamily="2" charset="-122"/>
              </a:rPr>
              <a:t>mlogn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)</a:t>
            </a:r>
            <a:endParaRPr lang="en-US" altLang="zh-CN" dirty="0" smtClean="0">
              <a:solidFill>
                <a:srgbClr val="263AF8"/>
              </a:solidFill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In practice, </a:t>
            </a:r>
            <a:r>
              <a:rPr lang="en-US" altLang="zh-CN" dirty="0" err="1" smtClean="0">
                <a:ea typeface="SimSun" pitchFamily="2" charset="-122"/>
              </a:rPr>
              <a:t>Kruskal</a:t>
            </a:r>
            <a:r>
              <a:rPr lang="en-US" altLang="zh-CN" dirty="0" smtClean="0">
                <a:ea typeface="SimSun" pitchFamily="2" charset="-122"/>
              </a:rPr>
              <a:t> has a tendency to run faster since graphs might not be dense and not all edges need to be looked at in the </a:t>
            </a:r>
            <a:r>
              <a:rPr lang="en-US" altLang="zh-CN" dirty="0" err="1" smtClean="0">
                <a:ea typeface="SimSun" pitchFamily="2" charset="-122"/>
              </a:rPr>
              <a:t>Deletemin</a:t>
            </a:r>
            <a:r>
              <a:rPr lang="en-US" altLang="zh-CN" dirty="0" smtClean="0">
                <a:ea typeface="SimSun" pitchFamily="2" charset="-122"/>
              </a:rPr>
              <a:t> operations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A83D7B-BAEE-49E0-A32C-9301CAA3C017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7-3</a:t>
            </a:r>
            <a:endParaRPr lang="zh-CN" altLang="en-US" dirty="0" smtClean="0"/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Textbook </a:t>
            </a:r>
            <a:r>
              <a:rPr lang="en-US" altLang="zh-CN" sz="2800" dirty="0" smtClean="0"/>
              <a:t>Exercises 9.15</a:t>
            </a:r>
            <a:endParaRPr lang="zh-CN" altLang="en-US" sz="2800" dirty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971CEBBB-5C13-4167-AA25-0755E87E6100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8177</Words>
  <Application>WPS Presentation</Application>
  <PresentationFormat>全屏显示(4:3)</PresentationFormat>
  <Paragraphs>804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0" baseType="lpstr">
      <vt:lpstr>Arial</vt:lpstr>
      <vt:lpstr>SimSun</vt:lpstr>
      <vt:lpstr>Wingdings</vt:lpstr>
      <vt:lpstr>Sitka Small</vt:lpstr>
      <vt:lpstr>苹方-简</vt:lpstr>
      <vt:lpstr>Times New Roman</vt:lpstr>
      <vt:lpstr>Wingdings 2</vt:lpstr>
      <vt:lpstr>Sitka Text</vt:lpstr>
      <vt:lpstr>宋体-简</vt:lpstr>
      <vt:lpstr>Courier New</vt:lpstr>
      <vt:lpstr>Microsoft YaHei</vt:lpstr>
      <vt:lpstr>汉仪旗黑</vt:lpstr>
      <vt:lpstr>Arial Unicode MS</vt:lpstr>
      <vt:lpstr>Calibri</vt:lpstr>
      <vt:lpstr>Helvetica Neue</vt:lpstr>
      <vt:lpstr>SimSun</vt:lpstr>
      <vt:lpstr>等线</vt:lpstr>
      <vt:lpstr>HDOfficeLightV0</vt:lpstr>
      <vt:lpstr>Graph Algorithms</vt:lpstr>
      <vt:lpstr>Minimum Spanning Tree</vt:lpstr>
      <vt:lpstr>Recall Spanning Tree</vt:lpstr>
      <vt:lpstr>Minimum Spanning Tree</vt:lpstr>
      <vt:lpstr>Strategy for Minimum Spanning Tree</vt:lpstr>
      <vt:lpstr>Strategy</vt:lpstr>
      <vt:lpstr>Two Algorithms</vt:lpstr>
      <vt:lpstr>Prim’s algorithm</vt:lpstr>
      <vt:lpstr>Prim’s algorithm</vt:lpstr>
      <vt:lpstr>Prim’s algorithm</vt:lpstr>
      <vt:lpstr>Prim’s algorithm</vt:lpstr>
      <vt:lpstr>Prim’s Algorithm Implementation</vt:lpstr>
      <vt:lpstr>Prim’s Algorithm Implementation</vt:lpstr>
      <vt:lpstr>Prim’s algorithm Analysis</vt:lpstr>
      <vt:lpstr>Prim’s Algorithm</vt:lpstr>
      <vt:lpstr>Proof of Prim’s Algorithm</vt:lpstr>
      <vt:lpstr>Kruskal’s Algorithm</vt:lpstr>
      <vt:lpstr>Kruskal’s Algorithm</vt:lpstr>
      <vt:lpstr>Detecting Cycles</vt:lpstr>
      <vt:lpstr>Properties of trees in K’s algorithm</vt:lpstr>
      <vt:lpstr>Kruskal’s Algorithm</vt:lpstr>
      <vt:lpstr>Example</vt:lpstr>
      <vt:lpstr>Initialization</vt:lpstr>
      <vt:lpstr>Step 1</vt:lpstr>
      <vt:lpstr>Step 2</vt:lpstr>
      <vt:lpstr>Step 3</vt:lpstr>
      <vt:lpstr>Step 4</vt:lpstr>
      <vt:lpstr>Step 5</vt:lpstr>
      <vt:lpstr>Step 6</vt:lpstr>
      <vt:lpstr>Kruskal’s Algorithm Analysis</vt:lpstr>
      <vt:lpstr>Time Complexity Summary</vt:lpstr>
      <vt:lpstr>Homework 7-3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jiexin</cp:lastModifiedBy>
  <cp:revision>1057</cp:revision>
  <dcterms:created xsi:type="dcterms:W3CDTF">2023-11-10T02:15:38Z</dcterms:created>
  <dcterms:modified xsi:type="dcterms:W3CDTF">2023-11-10T02:15:38Z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