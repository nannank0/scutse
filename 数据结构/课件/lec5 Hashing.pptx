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77"/>
  </p:handoutMasterIdLst>
  <p:sldIdLst>
    <p:sldId id="924" r:id="rId3"/>
    <p:sldId id="812" r:id="rId5"/>
    <p:sldId id="855" r:id="rId6"/>
    <p:sldId id="856" r:id="rId7"/>
    <p:sldId id="857" r:id="rId8"/>
    <p:sldId id="858" r:id="rId9"/>
    <p:sldId id="859" r:id="rId10"/>
    <p:sldId id="860" r:id="rId11"/>
    <p:sldId id="861" r:id="rId12"/>
    <p:sldId id="862" r:id="rId13"/>
    <p:sldId id="863" r:id="rId14"/>
    <p:sldId id="813" r:id="rId15"/>
    <p:sldId id="814" r:id="rId16"/>
    <p:sldId id="815" r:id="rId17"/>
    <p:sldId id="816" r:id="rId18"/>
    <p:sldId id="817" r:id="rId19"/>
    <p:sldId id="818" r:id="rId20"/>
    <p:sldId id="819" r:id="rId21"/>
    <p:sldId id="820" r:id="rId22"/>
    <p:sldId id="821" r:id="rId23"/>
    <p:sldId id="822" r:id="rId24"/>
    <p:sldId id="823" r:id="rId25"/>
    <p:sldId id="824" r:id="rId26"/>
    <p:sldId id="825" r:id="rId27"/>
    <p:sldId id="826" r:id="rId28"/>
    <p:sldId id="827" r:id="rId29"/>
    <p:sldId id="828" r:id="rId30"/>
    <p:sldId id="829" r:id="rId31"/>
    <p:sldId id="830" r:id="rId32"/>
    <p:sldId id="831" r:id="rId33"/>
    <p:sldId id="832" r:id="rId34"/>
    <p:sldId id="833" r:id="rId35"/>
    <p:sldId id="864" r:id="rId36"/>
    <p:sldId id="834" r:id="rId37"/>
    <p:sldId id="835" r:id="rId38"/>
    <p:sldId id="836" r:id="rId39"/>
    <p:sldId id="837" r:id="rId40"/>
    <p:sldId id="838" r:id="rId41"/>
    <p:sldId id="839" r:id="rId42"/>
    <p:sldId id="840" r:id="rId43"/>
    <p:sldId id="841" r:id="rId44"/>
    <p:sldId id="842" r:id="rId45"/>
    <p:sldId id="843" r:id="rId46"/>
    <p:sldId id="844" r:id="rId47"/>
    <p:sldId id="845" r:id="rId48"/>
    <p:sldId id="846" r:id="rId49"/>
    <p:sldId id="847" r:id="rId50"/>
    <p:sldId id="865" r:id="rId51"/>
    <p:sldId id="867" r:id="rId52"/>
    <p:sldId id="868" r:id="rId53"/>
    <p:sldId id="869" r:id="rId54"/>
    <p:sldId id="870" r:id="rId55"/>
    <p:sldId id="848" r:id="rId56"/>
    <p:sldId id="882" r:id="rId57"/>
    <p:sldId id="872" r:id="rId58"/>
    <p:sldId id="849" r:id="rId59"/>
    <p:sldId id="873" r:id="rId60"/>
    <p:sldId id="850" r:id="rId61"/>
    <p:sldId id="851" r:id="rId62"/>
    <p:sldId id="852" r:id="rId63"/>
    <p:sldId id="853" r:id="rId64"/>
    <p:sldId id="883" r:id="rId65"/>
    <p:sldId id="874" r:id="rId66"/>
    <p:sldId id="875" r:id="rId67"/>
    <p:sldId id="876" r:id="rId68"/>
    <p:sldId id="878" r:id="rId69"/>
    <p:sldId id="879" r:id="rId70"/>
    <p:sldId id="854" r:id="rId71"/>
    <p:sldId id="995" r:id="rId72"/>
    <p:sldId id="880" r:id="rId73"/>
    <p:sldId id="996" r:id="rId74"/>
    <p:sldId id="881" r:id="rId75"/>
    <p:sldId id="810" r:id="rId76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3AF8"/>
    <a:srgbClr val="CC0000"/>
    <a:srgbClr val="008000"/>
    <a:srgbClr val="5D26F8"/>
    <a:srgbClr val="3A3AB9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868" y="96"/>
      </p:cViewPr>
      <p:guideLst>
        <p:guide orient="horz" pos="2852"/>
        <p:guide pos="21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slide" Target="slides/slide5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AD1BCC9-74B9-404E-A755-F7FF96A8F0AB}" type="slidenum">
              <a:rPr lang="en-US" altLang="zh-CN" sz="1200">
                <a:latin typeface="Times New Roman" panose="02020603050405020304" pitchFamily="18" charset="0"/>
              </a:rPr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90750" y="681038"/>
            <a:ext cx="2552700" cy="3405187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 smtClean="0">
              <a:solidFill>
                <a:srgbClr val="FF0000"/>
              </a:solidFill>
              <a:cs typeface="Courier New" panose="02070609020205090404" pitchFamily="49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7C804C-60A0-4C8D-9C82-61C926B839F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04F669-15EF-41B8-B4FB-4AD2F2372E1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7670DC-5609-41A2-8316-382AD2A7BF0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9E84B7-9C9E-4ADB-B269-9D04BB364AB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4A376A-3605-4F83-A2BE-9ED896C4425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B8E25B-C31D-4331-946E-5208F2F6BA6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00AE3B-7D72-4529-BB2B-55F0E9CD4A0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19D46D-43E1-4E84-B5A4-AE87EDD2B81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2D7377-6C96-4A6D-81F5-03F947B63F0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04960D-E5CC-47AF-9CF2-C0336C0B2D8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E54BEE-2F0C-4298-9722-4765758EAF7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EED8631-D5D2-4949-8A30-39468947AF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750" y="2684145"/>
            <a:ext cx="5143500" cy="1545590"/>
          </a:xfrm>
        </p:spPr>
        <p:txBody>
          <a:bodyPr>
            <a:normAutofit/>
          </a:bodyPr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b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zh-CN" dirty="0" smtClean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Hashing</a:t>
            </a:r>
            <a:endParaRPr lang="en-US" altLang="zh-CN" dirty="0" smtClean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416266"/>
            <a:ext cx="5143500" cy="1420892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Sitka Small" panose="02000505000000020004" pitchFamily="2" charset="0"/>
              </a:rPr>
              <a:t>Content</a:t>
            </a:r>
            <a:endParaRPr lang="zh-CN" altLang="en-US" dirty="0">
              <a:latin typeface="Sitka Small" panose="02000505000000020004" pitchFamily="2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>
                <a:latin typeface="Sitka Text" panose="02000505000000020004" pitchFamily="2" charset="0"/>
              </a:rPr>
              <a:t>Linear Searching</a:t>
            </a:r>
            <a:endParaRPr lang="en-US" altLang="zh-CN" sz="2800" dirty="0" smtClean="0">
              <a:latin typeface="Sitka Text" panose="02000505000000020004" pitchFamily="2" charset="0"/>
            </a:endParaRPr>
          </a:p>
          <a:p>
            <a:r>
              <a:rPr lang="en-US" altLang="zh-CN" sz="2800" dirty="0" smtClean="0">
                <a:latin typeface="Sitka Text" panose="02000505000000020004" pitchFamily="2" charset="0"/>
              </a:rPr>
              <a:t>Hashing</a:t>
            </a:r>
            <a:endParaRPr lang="zh-CN" altLang="en-US" sz="2800" dirty="0">
              <a:latin typeface="Sitka Text" panose="020005050000000200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2D8E28-3864-4321-847B-FD28EA44BB2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Searching</a:t>
            </a:r>
            <a:endParaRPr lang="zh-CN" alt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02454" y="2555777"/>
            <a:ext cx="5915025" cy="4042668"/>
          </a:xfrm>
        </p:spPr>
        <p:txBody>
          <a:bodyPr/>
          <a:lstStyle/>
          <a:p>
            <a:pPr eaLnBrk="1" hangingPunct="1"/>
            <a:r>
              <a:rPr lang="en-US" altLang="zh-CN" sz="2100" dirty="0"/>
              <a:t>Suppose we have a collection L of </a:t>
            </a:r>
            <a:r>
              <a:rPr lang="en-US" altLang="zh-CN" sz="2100" i="1" dirty="0"/>
              <a:t>n</a:t>
            </a:r>
            <a:r>
              <a:rPr lang="en-US" altLang="zh-CN" sz="2100" dirty="0"/>
              <a:t> records of the form  </a:t>
            </a:r>
            <a:r>
              <a:rPr lang="en-US" altLang="zh-CN" sz="2100" dirty="0">
                <a:latin typeface="Times New Roman" panose="02020603050405020304" pitchFamily="18" charset="0"/>
              </a:rPr>
              <a:t>(k</a:t>
            </a:r>
            <a:r>
              <a:rPr lang="en-US" altLang="zh-CN" sz="21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100" dirty="0">
                <a:latin typeface="Times New Roman" panose="02020603050405020304" pitchFamily="18" charset="0"/>
              </a:rPr>
              <a:t>, I</a:t>
            </a:r>
            <a:r>
              <a:rPr lang="en-US" altLang="zh-CN" sz="21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100" dirty="0">
                <a:latin typeface="Times New Roman" panose="02020603050405020304" pitchFamily="18" charset="0"/>
              </a:rPr>
              <a:t>), (k</a:t>
            </a:r>
            <a:r>
              <a:rPr lang="en-US" altLang="zh-CN" sz="21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100" dirty="0">
                <a:latin typeface="Times New Roman" panose="02020603050405020304" pitchFamily="18" charset="0"/>
              </a:rPr>
              <a:t>, I</a:t>
            </a:r>
            <a:r>
              <a:rPr lang="en-US" altLang="zh-CN" sz="21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100" dirty="0">
                <a:latin typeface="Times New Roman" panose="02020603050405020304" pitchFamily="18" charset="0"/>
              </a:rPr>
              <a:t>), …, (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100" dirty="0">
                <a:latin typeface="Times New Roman" panose="02020603050405020304" pitchFamily="18" charset="0"/>
              </a:rPr>
              <a:t>, I</a:t>
            </a:r>
            <a:r>
              <a:rPr lang="en-US" altLang="zh-CN" sz="2100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100" dirty="0">
                <a:latin typeface="Times New Roman" panose="02020603050405020304" pitchFamily="18" charset="0"/>
              </a:rPr>
              <a:t>) </a:t>
            </a:r>
            <a:r>
              <a:rPr lang="en-US" altLang="zh-CN" sz="2100" dirty="0"/>
              <a:t> where </a:t>
            </a:r>
            <a:r>
              <a:rPr lang="en-US" altLang="zh-CN" sz="2100" dirty="0" err="1">
                <a:latin typeface="Times New Roman" panose="02020603050405020304" pitchFamily="18" charset="0"/>
              </a:rPr>
              <a:t>I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/>
              <a:t> is the information associated with key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100" dirty="0"/>
              <a:t>from record </a:t>
            </a:r>
            <a:r>
              <a:rPr lang="en-US" altLang="zh-CN" sz="2100" i="1" dirty="0"/>
              <a:t>j</a:t>
            </a:r>
            <a:endParaRPr lang="en-US" altLang="zh-CN" sz="2100" i="1" dirty="0"/>
          </a:p>
          <a:p>
            <a:pPr lvl="3" eaLnBrk="1" hangingPunct="1"/>
            <a:endParaRPr lang="en-US" altLang="zh-CN" sz="1200" i="1" dirty="0"/>
          </a:p>
          <a:p>
            <a:r>
              <a:rPr lang="en-US" altLang="zh-CN" sz="2100" dirty="0"/>
              <a:t>Given a particular key value </a:t>
            </a:r>
            <a:r>
              <a:rPr lang="en-US" altLang="zh-CN" sz="2100" i="1" dirty="0"/>
              <a:t>K</a:t>
            </a:r>
            <a:r>
              <a:rPr lang="en-US" altLang="zh-CN" sz="2100" dirty="0"/>
              <a:t>, the </a:t>
            </a:r>
            <a:r>
              <a:rPr lang="en-US" altLang="zh-CN" sz="2100" b="1" dirty="0">
                <a:solidFill>
                  <a:srgbClr val="FF0000"/>
                </a:solidFill>
              </a:rPr>
              <a:t>search problem </a:t>
            </a:r>
            <a:r>
              <a:rPr lang="en-US" altLang="zh-CN" sz="2100" dirty="0"/>
              <a:t>is to locate a record </a:t>
            </a:r>
            <a:r>
              <a:rPr lang="en-US" altLang="zh-CN" sz="2100" dirty="0" smtClean="0">
                <a:latin typeface="Times New Roman" panose="02020603050405020304" pitchFamily="18" charset="0"/>
              </a:rPr>
              <a:t>(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</a:rPr>
              <a:t>, </a:t>
            </a:r>
            <a:r>
              <a:rPr lang="en-US" altLang="zh-CN" sz="2100" dirty="0" err="1">
                <a:latin typeface="Times New Roman" panose="02020603050405020304" pitchFamily="18" charset="0"/>
              </a:rPr>
              <a:t>I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 smtClean="0">
                <a:latin typeface="Times New Roman" panose="02020603050405020304" pitchFamily="18" charset="0"/>
              </a:rPr>
              <a:t>) </a:t>
            </a:r>
            <a:r>
              <a:rPr lang="en-US" altLang="zh-CN" sz="2100" dirty="0"/>
              <a:t>in L such that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 smtClean="0">
                <a:latin typeface="Times New Roman" panose="02020603050405020304" pitchFamily="18" charset="0"/>
              </a:rPr>
              <a:t> </a:t>
            </a:r>
            <a:r>
              <a:rPr lang="en-US" altLang="zh-CN" sz="2100" dirty="0">
                <a:latin typeface="Times New Roman" panose="02020603050405020304" pitchFamily="18" charset="0"/>
              </a:rPr>
              <a:t>= K</a:t>
            </a:r>
            <a:r>
              <a:rPr lang="en-US" altLang="zh-CN" sz="2100" dirty="0"/>
              <a:t> (if one exists)</a:t>
            </a:r>
            <a:endParaRPr lang="en-US" altLang="zh-CN" sz="2100" dirty="0"/>
          </a:p>
          <a:p>
            <a:pPr lvl="4" eaLnBrk="1" hangingPunct="1"/>
            <a:endParaRPr lang="en-US" altLang="zh-CN" sz="1200" dirty="0"/>
          </a:p>
          <a:p>
            <a:pPr eaLnBrk="1" hangingPunct="1"/>
            <a:r>
              <a:rPr lang="en-US" altLang="zh-CN" sz="2100" b="1" dirty="0">
                <a:solidFill>
                  <a:srgbClr val="FF0000"/>
                </a:solidFill>
              </a:rPr>
              <a:t>Searching</a:t>
            </a:r>
            <a:r>
              <a:rPr lang="en-US" altLang="zh-CN" sz="2100" dirty="0"/>
              <a:t> is the systematic </a:t>
            </a:r>
            <a:r>
              <a:rPr lang="en-US" altLang="zh-CN" sz="2100" dirty="0">
                <a:solidFill>
                  <a:srgbClr val="FF0000"/>
                </a:solidFill>
              </a:rPr>
              <a:t>method</a:t>
            </a:r>
            <a:r>
              <a:rPr lang="en-US" altLang="zh-CN" sz="2100" dirty="0"/>
              <a:t> for locating the record(s)  with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>
                <a:latin typeface="Times New Roman" panose="02020603050405020304" pitchFamily="18" charset="0"/>
              </a:rPr>
              <a:t>=K</a:t>
            </a:r>
            <a:r>
              <a:rPr lang="en-US" altLang="zh-CN" sz="2100" dirty="0"/>
              <a:t>.</a:t>
            </a:r>
            <a:endParaRPr lang="zh-CN" altLang="en-US" sz="2100" dirty="0"/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5257800" y="6825854"/>
            <a:ext cx="1600200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5B31F2C-F2AB-4594-8AF6-5D0599B3C112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Searching</a:t>
            </a:r>
            <a:endParaRPr lang="zh-CN" altLang="en-US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42900" y="2627785"/>
            <a:ext cx="6272454" cy="39706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100" dirty="0"/>
              <a:t>A </a:t>
            </a:r>
            <a:r>
              <a:rPr lang="en-US" altLang="zh-CN" sz="2100" dirty="0">
                <a:solidFill>
                  <a:srgbClr val="FF0000"/>
                </a:solidFill>
              </a:rPr>
              <a:t>successful</a:t>
            </a:r>
            <a:r>
              <a:rPr lang="en-US" altLang="zh-CN" sz="2100" dirty="0"/>
              <a:t> search is one in which a record with key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>
                <a:latin typeface="Times New Roman" panose="02020603050405020304" pitchFamily="18" charset="0"/>
              </a:rPr>
              <a:t> = K</a:t>
            </a:r>
            <a:r>
              <a:rPr lang="en-US" altLang="zh-CN" sz="2100" dirty="0"/>
              <a:t> is found.</a:t>
            </a:r>
            <a:endParaRPr lang="en-US" altLang="zh-CN" sz="2100" dirty="0"/>
          </a:p>
          <a:p>
            <a:pPr eaLnBrk="1" hangingPunct="1"/>
            <a:r>
              <a:rPr lang="en-US" altLang="zh-CN" sz="2100" dirty="0"/>
              <a:t>An </a:t>
            </a:r>
            <a:r>
              <a:rPr lang="en-US" altLang="zh-CN" sz="2100" dirty="0">
                <a:solidFill>
                  <a:srgbClr val="FF0000"/>
                </a:solidFill>
              </a:rPr>
              <a:t>unsuccessful</a:t>
            </a:r>
            <a:r>
              <a:rPr lang="en-US" altLang="zh-CN" sz="2100" dirty="0"/>
              <a:t> search is one in which no record with </a:t>
            </a:r>
            <a:r>
              <a:rPr lang="en-US" altLang="zh-CN" sz="2100" dirty="0" err="1">
                <a:latin typeface="Times New Roman" panose="02020603050405020304" pitchFamily="18" charset="0"/>
              </a:rPr>
              <a:t>k</a:t>
            </a:r>
            <a:r>
              <a:rPr lang="en-US" altLang="zh-CN" sz="2100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sz="2100" dirty="0">
                <a:latin typeface="Times New Roman" panose="02020603050405020304" pitchFamily="18" charset="0"/>
              </a:rPr>
              <a:t> = K</a:t>
            </a:r>
            <a:r>
              <a:rPr lang="en-US" altLang="zh-CN" sz="2100" dirty="0"/>
              <a:t> is found (and no such record exists)</a:t>
            </a:r>
            <a:endParaRPr lang="en-US" altLang="zh-CN" sz="2100" dirty="0"/>
          </a:p>
          <a:p>
            <a:pPr lvl="1" eaLnBrk="1" hangingPunct="1"/>
            <a:endParaRPr lang="en-US" altLang="zh-CN" sz="1800" dirty="0"/>
          </a:p>
          <a:p>
            <a:pPr eaLnBrk="1" hangingPunct="1"/>
            <a:r>
              <a:rPr lang="en-US" altLang="zh-CN" sz="2100" dirty="0"/>
              <a:t>An </a:t>
            </a:r>
            <a:r>
              <a:rPr lang="en-US" altLang="zh-CN" sz="2100" dirty="0">
                <a:solidFill>
                  <a:srgbClr val="FF0000"/>
                </a:solidFill>
              </a:rPr>
              <a:t>exact-match query </a:t>
            </a:r>
            <a:r>
              <a:rPr lang="en-US" altLang="zh-CN" sz="2100" dirty="0"/>
              <a:t>is a search for the record(s) whose key value matches a given key value.</a:t>
            </a:r>
            <a:endParaRPr lang="en-US" altLang="zh-CN" sz="2100" dirty="0"/>
          </a:p>
          <a:p>
            <a:pPr eaLnBrk="1" hangingPunct="1"/>
            <a:r>
              <a:rPr lang="en-US" altLang="zh-CN" sz="2100" dirty="0"/>
              <a:t>A </a:t>
            </a:r>
            <a:r>
              <a:rPr lang="en-US" altLang="zh-CN" sz="2100" dirty="0">
                <a:solidFill>
                  <a:srgbClr val="FF0000"/>
                </a:solidFill>
              </a:rPr>
              <a:t>range query</a:t>
            </a:r>
            <a:r>
              <a:rPr lang="en-US" altLang="zh-CN" sz="2100" dirty="0"/>
              <a:t> is a search for all records whose key values fall within a given range of key values.</a:t>
            </a:r>
            <a:endParaRPr lang="zh-CN" altLang="en-US" sz="2100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BD60CC7-D01F-42A0-80DF-386C54BB444E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Searching</a:t>
            </a:r>
            <a:endParaRPr lang="zh-CN" altLang="en-US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75385" y="2234961"/>
            <a:ext cx="5915025" cy="6005226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How to perform searching?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Sequential and list methods</a:t>
            </a:r>
            <a:endParaRPr lang="en-US" altLang="zh-CN" dirty="0" smtClean="0"/>
          </a:p>
          <a:p>
            <a:pPr lvl="2" eaLnBrk="1" hangingPunct="1"/>
            <a:r>
              <a:rPr lang="en-US" altLang="zh-CN" dirty="0" smtClean="0"/>
              <a:t>Appropriate for searching data stored in RAM</a:t>
            </a:r>
            <a:endParaRPr lang="en-US" altLang="zh-CN" dirty="0" smtClean="0"/>
          </a:p>
          <a:p>
            <a:pPr lvl="4" eaLnBrk="1" hangingPunct="1"/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Direct access by key value (hashing)</a:t>
            </a:r>
            <a:endParaRPr lang="en-US" altLang="zh-CN" dirty="0" smtClean="0"/>
          </a:p>
          <a:p>
            <a:pPr lvl="2" eaLnBrk="1" hangingPunct="1"/>
            <a:r>
              <a:rPr lang="en-US" altLang="zh-CN" dirty="0" smtClean="0"/>
              <a:t>For searching data stored either in RAM or on disk</a:t>
            </a:r>
            <a:endParaRPr lang="en-US" altLang="zh-CN" dirty="0" smtClean="0"/>
          </a:p>
          <a:p>
            <a:pPr lvl="3" eaLnBrk="1" hangingPunct="1"/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Tree </a:t>
            </a:r>
            <a:r>
              <a:rPr lang="en-US" altLang="zh-CN" smtClean="0"/>
              <a:t>indexing methods</a:t>
            </a:r>
            <a:endParaRPr lang="en-US" altLang="zh-CN" dirty="0" smtClean="0"/>
          </a:p>
          <a:p>
            <a:pPr lvl="2" eaLnBrk="1" hangingPunct="1"/>
            <a:r>
              <a:rPr lang="en-US" altLang="zh-CN" dirty="0" smtClean="0"/>
              <a:t>Mainly for searching data on disk</a:t>
            </a:r>
            <a:endParaRPr lang="zh-CN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0E14AC1-B23D-4070-929F-92927237E58B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Searching Unsorted Arrays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263AF8"/>
                    </a:solidFill>
                  </a:rPr>
                  <a:t>Sequential search </a:t>
                </a:r>
                <a:r>
                  <a:rPr lang="en-US" altLang="zh-CN" dirty="0"/>
                  <a:t>on unsorted lists requires </a:t>
                </a:r>
                <a:r>
                  <a:rPr lang="el-GR" altLang="zh-CN" dirty="0"/>
                  <a:t>Θ</a:t>
                </a:r>
                <a:r>
                  <a:rPr lang="en-US" altLang="zh-CN" dirty="0"/>
                  <a:t>(n) time in the worst case</a:t>
                </a:r>
                <a:endParaRPr lang="en-US" altLang="zh-CN" dirty="0"/>
              </a:p>
              <a:p>
                <a:pPr lvl="3"/>
                <a:endParaRPr lang="en-US" altLang="zh-CN" dirty="0"/>
              </a:p>
              <a:p>
                <a:r>
                  <a:rPr lang="en-US" altLang="zh-CN" dirty="0"/>
                  <a:t>The cost of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linear search </a:t>
                </a:r>
                <a:r>
                  <a:rPr lang="en-US" altLang="zh-CN" dirty="0"/>
                  <a:t>on average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p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 is the probability that K is in position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of list L with 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∈</a:t>
                </a:r>
                <a:r>
                  <a:rPr lang="en-US" altLang="zh-CN" dirty="0"/>
                  <a:t>[0, n-1];</a:t>
                </a:r>
                <a:endParaRPr lang="en-US" altLang="zh-CN" dirty="0"/>
              </a:p>
              <a:p>
                <a:pPr lvl="1"/>
                <a:r>
                  <a:rPr lang="en-US" altLang="zh-CN" dirty="0" err="1"/>
                  <a:t>p</a:t>
                </a:r>
                <a:r>
                  <a:rPr lang="en-US" altLang="zh-CN" baseline="-25000" dirty="0" err="1"/>
                  <a:t>n</a:t>
                </a:r>
                <a:r>
                  <a:rPr lang="en-US" altLang="zh-CN" dirty="0"/>
                  <a:t> is the probability that K is not in L</a:t>
                </a:r>
                <a:r>
                  <a:rPr lang="en-US" altLang="zh-CN" dirty="0" smtClean="0"/>
                  <a:t>.</a:t>
                </a:r>
                <a:endParaRPr lang="en-US" altLang="zh-CN" dirty="0" smtClean="0"/>
              </a:p>
              <a:p>
                <a:pPr lvl="1"/>
                <a:endParaRPr lang="en-US" altLang="zh-CN" sz="700" dirty="0"/>
              </a:p>
              <a:p>
                <a:pPr lvl="1"/>
                <a:r>
                  <a:rPr lang="en-US" altLang="zh-CN" dirty="0"/>
                  <a:t>When K is in position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(i+1) comparisons </a:t>
                </a:r>
                <a:r>
                  <a:rPr lang="en-US" altLang="zh-CN" dirty="0"/>
                  <a:t>are needed</a:t>
                </a:r>
                <a:r>
                  <a:rPr lang="en-US" altLang="zh-CN" dirty="0" smtClean="0"/>
                  <a:t>.</a:t>
                </a:r>
                <a:endParaRPr lang="en-US" altLang="zh-CN" dirty="0" smtClean="0"/>
              </a:p>
              <a:p>
                <a:pPr lvl="1"/>
                <a:endParaRPr lang="en-US" altLang="zh-CN" sz="500" dirty="0"/>
              </a:p>
              <a:p>
                <a:pPr lvl="1"/>
                <a:r>
                  <a:rPr lang="en-US" altLang="zh-CN" dirty="0"/>
                  <a:t>When K is not in L,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n comparisons </a:t>
                </a:r>
                <a:r>
                  <a:rPr lang="en-US" altLang="zh-CN" dirty="0"/>
                  <a:t>are needed.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The average cost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 smtClean="0"/>
              </a:p>
              <a:p>
                <a:pPr lvl="2"/>
                <a:r>
                  <a:rPr lang="en-US" altLang="zh-CN" dirty="0"/>
                  <a:t>If all the p</a:t>
                </a:r>
                <a:r>
                  <a:rPr lang="en-US" altLang="zh-CN" baseline="-25000" dirty="0"/>
                  <a:t>i</a:t>
                </a:r>
                <a:r>
                  <a:rPr lang="en-US" altLang="zh-CN" dirty="0"/>
                  <a:t>’s are equal (except </a:t>
                </a:r>
                <a:r>
                  <a:rPr lang="en-US" altLang="zh-CN" b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altLang="zh-CN" b="1" baseline="-25000" dirty="0" err="1">
                    <a:solidFill>
                      <a:srgbClr val="FF0000"/>
                    </a:solidFill>
                  </a:rPr>
                  <a:t>n</a:t>
                </a:r>
                <a:r>
                  <a:rPr lang="en-US" altLang="zh-CN" dirty="0"/>
                  <a:t>), i.e., </a:t>
                </a:r>
                <a:r>
                  <a:rPr lang="en-US" altLang="zh-CN" dirty="0" smtClean="0"/>
                  <a:t>n*</a:t>
                </a:r>
                <a:r>
                  <a:rPr lang="en-US" altLang="zh-CN" dirty="0" err="1" smtClean="0"/>
                  <a:t>p+p</a:t>
                </a:r>
                <a:r>
                  <a:rPr lang="en-US" altLang="zh-CN" baseline="-25000" dirty="0" err="1" smtClean="0"/>
                  <a:t>n</a:t>
                </a:r>
                <a:r>
                  <a:rPr lang="en-US" altLang="zh-CN" dirty="0" smtClean="0"/>
                  <a:t>=1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2584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lvl="2"/>
                <a:r>
                  <a:rPr lang="en-US" altLang="zh-CN" dirty="0"/>
                  <a:t>Depending on the value of </a:t>
                </a:r>
                <a:r>
                  <a:rPr lang="en-US" altLang="zh-CN" dirty="0" err="1"/>
                  <a:t>p</a:t>
                </a:r>
                <a:r>
                  <a:rPr lang="en-US" altLang="zh-CN" baseline="-25000" dirty="0" err="1"/>
                  <a:t>n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  <a:p>
                <a:pPr marL="258445" lvl="1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7" t="-405" r="7" b="-5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Searching Sorted Arrays</a:t>
            </a:r>
            <a:endParaRPr lang="zh-CN" altLang="en-US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739" y="2234960"/>
                <a:ext cx="6272454" cy="5937440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defRPr/>
                </a:pPr>
                <a:r>
                  <a:rPr lang="en-US" altLang="zh-CN" sz="2100" dirty="0"/>
                  <a:t>When the array elements are sorted</a:t>
                </a:r>
                <a:endParaRPr lang="en-US" altLang="zh-CN" sz="2100" dirty="0"/>
              </a:p>
              <a:p>
                <a:pPr lvl="1" eaLnBrk="1" hangingPunct="1">
                  <a:defRPr/>
                </a:pPr>
                <a:r>
                  <a:rPr lang="en-US" altLang="zh-CN" sz="1800" dirty="0"/>
                  <a:t>One comparison between element </a:t>
                </a:r>
                <a:r>
                  <a:rPr lang="en-US" altLang="zh-CN" sz="1800" dirty="0" err="1"/>
                  <a:t>i</a:t>
                </a:r>
                <a:r>
                  <a:rPr lang="en-US" altLang="zh-CN" sz="1800" dirty="0"/>
                  <a:t> and K may rule out elements from position 0 to i-1 (or elements from position i+1 to n);</a:t>
                </a:r>
                <a:endParaRPr lang="en-US" altLang="zh-CN" sz="1800" dirty="0"/>
              </a:p>
              <a:p>
                <a:pPr lvl="3" eaLnBrk="1" hangingPunct="1">
                  <a:defRPr/>
                </a:pPr>
                <a:endParaRPr lang="en-US" altLang="zh-CN" sz="675" dirty="0"/>
              </a:p>
              <a:p>
                <a:pPr eaLnBrk="1" hangingPunct="1">
                  <a:defRPr/>
                </a:pPr>
                <a:r>
                  <a:rPr lang="en-US" altLang="zh-CN" sz="2100" dirty="0"/>
                  <a:t>Jump search</a:t>
                </a:r>
                <a:endParaRPr lang="en-US" altLang="zh-CN" sz="2100" dirty="0"/>
              </a:p>
              <a:p>
                <a:pPr lvl="1" eaLnBrk="1" hangingPunct="1">
                  <a:defRPr/>
                </a:pPr>
                <a:r>
                  <a:rPr lang="en-US" altLang="zh-CN" sz="1800" dirty="0"/>
                  <a:t>For some value j, we check every </a:t>
                </a:r>
                <a:r>
                  <a:rPr lang="en-US" altLang="zh-CN" sz="1800" dirty="0" err="1"/>
                  <a:t>j’th</a:t>
                </a:r>
                <a:r>
                  <a:rPr lang="en-US" altLang="zh-CN" sz="1800" dirty="0"/>
                  <a:t> element in L, i.e., L[j], L[2j], and so on</a:t>
                </a:r>
                <a:r>
                  <a:rPr lang="zh-CN" altLang="en-US" sz="1800" dirty="0"/>
                  <a:t>。</a:t>
                </a:r>
                <a:endParaRPr lang="en-US" altLang="zh-CN" sz="1800" dirty="0"/>
              </a:p>
              <a:p>
                <a:pPr lvl="1" eaLnBrk="1" hangingPunct="1">
                  <a:defRPr/>
                </a:pPr>
                <a:r>
                  <a:rPr lang="en-US" altLang="zh-CN" sz="1800" dirty="0"/>
                  <a:t>So long as K is greater than the values being checked, we continue</a:t>
                </a:r>
                <a:endParaRPr lang="en-US" altLang="zh-CN" sz="1800" dirty="0"/>
              </a:p>
              <a:p>
                <a:pPr lvl="1" eaLnBrk="1" hangingPunct="1">
                  <a:defRPr/>
                </a:pPr>
                <a:r>
                  <a:rPr lang="en-US" altLang="zh-CN" sz="1800" dirty="0"/>
                  <a:t>If L[</a:t>
                </a:r>
                <a:r>
                  <a:rPr lang="en-US" altLang="zh-CN" sz="1800" dirty="0" err="1"/>
                  <a:t>mj</a:t>
                </a:r>
                <a:r>
                  <a:rPr lang="en-US" altLang="zh-CN" sz="1800" dirty="0"/>
                  <a:t>]&lt;K&lt;L[(m+1)j], we search j-1 elements in the range (L[</a:t>
                </a:r>
                <a:r>
                  <a:rPr lang="en-US" altLang="zh-CN" sz="1800" dirty="0" err="1"/>
                  <a:t>mj</a:t>
                </a:r>
                <a:r>
                  <a:rPr lang="en-US" altLang="zh-CN" sz="1800" dirty="0"/>
                  <a:t>], L[(m+1)j</a:t>
                </a:r>
                <a:r>
                  <a:rPr lang="en-US" altLang="zh-CN" sz="1800" dirty="0" smtClean="0"/>
                  <a:t>])</a:t>
                </a:r>
                <a:endParaRPr lang="en-US" altLang="zh-CN" sz="1800" dirty="0" smtClean="0"/>
              </a:p>
              <a:p>
                <a:pPr lvl="1" eaLnBrk="1" hangingPunct="1">
                  <a:defRPr/>
                </a:pPr>
                <a:endParaRPr lang="en-US" altLang="zh-CN" sz="1800" dirty="0"/>
              </a:p>
              <a:p>
                <a:pPr lvl="1" eaLnBrk="1" hangingPunct="1">
                  <a:defRPr/>
                </a:pPr>
                <a:endParaRPr lang="en-US" altLang="zh-CN" sz="1800" dirty="0" smtClean="0"/>
              </a:p>
              <a:p>
                <a:pPr lvl="1" eaLnBrk="1" hangingPunct="1">
                  <a:defRPr/>
                </a:pPr>
                <a:endParaRPr lang="en-US" altLang="zh-CN" sz="1800" dirty="0"/>
              </a:p>
              <a:p>
                <a:pPr lvl="1" eaLnBrk="1" hangingPunct="1">
                  <a:defRPr/>
                </a:pPr>
                <a:endParaRPr lang="en-US" altLang="zh-CN" sz="1800" dirty="0" smtClean="0"/>
              </a:p>
              <a:p>
                <a:pPr lvl="1" eaLnBrk="1" hangingPunct="1">
                  <a:defRPr/>
                </a:pPr>
                <a:endParaRPr lang="en-US" altLang="zh-CN" sz="1800" dirty="0"/>
              </a:p>
              <a:p>
                <a:pPr lvl="1" eaLnBrk="1" hangingPunct="1">
                  <a:defRPr/>
                </a:pPr>
                <a:endParaRPr lang="en-US" altLang="zh-CN" sz="1800" dirty="0" smtClean="0"/>
              </a:p>
              <a:p>
                <a:pPr lvl="1">
                  <a:defRPr/>
                </a:pPr>
                <a:r>
                  <a:rPr lang="en-US" altLang="zh-CN" sz="1800" dirty="0"/>
                  <a:t>The total cost (number of comparisons) is </a:t>
                </a:r>
                <a:endParaRPr lang="en-US" altLang="zh-CN" sz="1800" dirty="0"/>
              </a:p>
              <a:p>
                <a:pPr marL="258445" lvl="1" indent="0">
                  <a:buNone/>
                  <a:defRPr/>
                </a:pPr>
                <a:r>
                  <a:rPr lang="en-US" altLang="zh-CN" sz="1800" b="1" dirty="0"/>
                  <a:t>		T(n, j) = m + j - 1 = ⌊n/j⌋ + j – 1</a:t>
                </a:r>
                <a:endParaRPr lang="en-US" altLang="zh-CN" sz="1800" b="1" dirty="0"/>
              </a:p>
              <a:p>
                <a:pPr lvl="1">
                  <a:defRPr/>
                </a:pPr>
                <a:endParaRPr lang="en-US" altLang="zh-CN" sz="1800" dirty="0">
                  <a:solidFill>
                    <a:srgbClr val="FF0000"/>
                  </a:solidFill>
                </a:endParaRPr>
              </a:p>
              <a:p>
                <a:pPr lvl="1">
                  <a:defRPr/>
                </a:pPr>
                <a:r>
                  <a:rPr lang="en-US" altLang="zh-CN" sz="18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altLang="zh-CN" sz="1800" dirty="0"/>
                  <a:t>, T(n, j) is minimum.</a:t>
                </a:r>
                <a:endParaRPr lang="zh-CN" altLang="en-US" sz="1800" baseline="30000" dirty="0"/>
              </a:p>
              <a:p>
                <a:pPr lvl="1" eaLnBrk="1" hangingPunct="1">
                  <a:defRPr/>
                </a:pPr>
                <a:endParaRPr lang="en-US" altLang="zh-CN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739" y="2234960"/>
                <a:ext cx="6272454" cy="5937440"/>
              </a:xfrm>
              <a:blipFill rotWithShape="1">
                <a:blip r:embed="rId1"/>
                <a:stretch>
                  <a:fillRect l="-8" t="-691" r="7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4" name="AutoShape 4" descr="\lfloor x\rfloor "/>
          <p:cNvSpPr>
            <a:spLocks noChangeAspect="1" noChangeArrowheads="1"/>
          </p:cNvSpPr>
          <p:nvPr/>
        </p:nvSpPr>
        <p:spPr bwMode="auto">
          <a:xfrm>
            <a:off x="126206" y="1863328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 sz="1350"/>
          </a:p>
        </p:txBody>
      </p:sp>
      <p:sp>
        <p:nvSpPr>
          <p:cNvPr id="20485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86D7DAC-6114-45FA-8F70-C9B6E5C70AEF}" type="slidenum">
              <a:rPr lang="en-US" altLang="zh-CN" smtClean="0"/>
            </a:fld>
            <a:endParaRPr lang="en-US" altLang="zh-CN" smtClean="0"/>
          </a:p>
        </p:txBody>
      </p:sp>
      <p:graphicFrame>
        <p:nvGraphicFramePr>
          <p:cNvPr id="17" name="Table 7"/>
          <p:cNvGraphicFramePr>
            <a:graphicFrameLocks noGrp="1"/>
          </p:cNvGraphicFramePr>
          <p:nvPr/>
        </p:nvGraphicFramePr>
        <p:xfrm>
          <a:off x="731444" y="5663507"/>
          <a:ext cx="5793900" cy="278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  <a:gridCol w="193130"/>
              </a:tblGrid>
              <a:tr h="278130"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8" name="TextBox 8"/>
          <p:cNvSpPr txBox="1"/>
          <p:nvPr/>
        </p:nvSpPr>
        <p:spPr>
          <a:xfrm>
            <a:off x="1487528" y="5900110"/>
            <a:ext cx="486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j</a:t>
            </a:r>
            <a:endParaRPr lang="zh-CN" altLang="en-US" i="1" dirty="0"/>
          </a:p>
        </p:txBody>
      </p:sp>
      <p:sp>
        <p:nvSpPr>
          <p:cNvPr id="19" name="TextBox 9"/>
          <p:cNvSpPr txBox="1"/>
          <p:nvPr/>
        </p:nvSpPr>
        <p:spPr>
          <a:xfrm>
            <a:off x="2405630" y="5941637"/>
            <a:ext cx="486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2j</a:t>
            </a:r>
            <a:endParaRPr lang="zh-CN" altLang="en-US" i="1" dirty="0"/>
          </a:p>
        </p:txBody>
      </p:sp>
      <p:grpSp>
        <p:nvGrpSpPr>
          <p:cNvPr id="20" name="Group 24"/>
          <p:cNvGrpSpPr/>
          <p:nvPr/>
        </p:nvGrpSpPr>
        <p:grpSpPr>
          <a:xfrm>
            <a:off x="731445" y="5436096"/>
            <a:ext cx="4734836" cy="542498"/>
            <a:chOff x="611560" y="1973658"/>
            <a:chExt cx="6313115" cy="723330"/>
          </a:xfrm>
        </p:grpSpPr>
        <p:sp>
          <p:nvSpPr>
            <p:cNvPr id="21" name="Arc 17"/>
            <p:cNvSpPr/>
            <p:nvPr/>
          </p:nvSpPr>
          <p:spPr>
            <a:xfrm>
              <a:off x="611560" y="1973658"/>
              <a:ext cx="1193304" cy="723330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Arc 18"/>
            <p:cNvSpPr/>
            <p:nvPr/>
          </p:nvSpPr>
          <p:spPr>
            <a:xfrm>
              <a:off x="1763688" y="1973658"/>
              <a:ext cx="1239652" cy="723330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Arc 19"/>
            <p:cNvSpPr/>
            <p:nvPr/>
          </p:nvSpPr>
          <p:spPr>
            <a:xfrm>
              <a:off x="3003340" y="1973658"/>
              <a:ext cx="1352636" cy="673595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Arc 20"/>
            <p:cNvSpPr/>
            <p:nvPr/>
          </p:nvSpPr>
          <p:spPr>
            <a:xfrm>
              <a:off x="5667636" y="1973658"/>
              <a:ext cx="1257039" cy="663254"/>
            </a:xfrm>
            <a:prstGeom prst="arc">
              <a:avLst>
                <a:gd name="adj1" fmla="val 10839643"/>
                <a:gd name="adj2" fmla="val 21422810"/>
              </a:avLst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5" name="TextBox 21"/>
          <p:cNvSpPr txBox="1"/>
          <p:nvPr/>
        </p:nvSpPr>
        <p:spPr>
          <a:xfrm>
            <a:off x="4295840" y="5910751"/>
            <a:ext cx="486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/>
              <a:t>mj</a:t>
            </a:r>
            <a:endParaRPr lang="zh-CN" altLang="en-US" i="1" dirty="0"/>
          </a:p>
        </p:txBody>
      </p:sp>
      <p:sp>
        <p:nvSpPr>
          <p:cNvPr id="26" name="TextBox 22"/>
          <p:cNvSpPr txBox="1"/>
          <p:nvPr/>
        </p:nvSpPr>
        <p:spPr>
          <a:xfrm>
            <a:off x="5105930" y="5911324"/>
            <a:ext cx="891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(m+1)j</a:t>
            </a:r>
            <a:endParaRPr lang="zh-CN" altLang="en-US" i="1" dirty="0"/>
          </a:p>
        </p:txBody>
      </p:sp>
      <p:graphicFrame>
        <p:nvGraphicFramePr>
          <p:cNvPr id="27" name="Table 23"/>
          <p:cNvGraphicFramePr>
            <a:graphicFrameLocks noGrp="1"/>
          </p:cNvGraphicFramePr>
          <p:nvPr/>
        </p:nvGraphicFramePr>
        <p:xfrm>
          <a:off x="4603439" y="5663507"/>
          <a:ext cx="772520" cy="278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130"/>
                <a:gridCol w="193130"/>
                <a:gridCol w="193130"/>
                <a:gridCol w="193130"/>
              </a:tblGrid>
              <a:tr h="278130"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 marL="68580" marR="68580" marT="34290" marB="3429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Searching Sorted </a:t>
            </a:r>
            <a:r>
              <a:rPr lang="en-US" altLang="zh-CN" dirty="0" smtClean="0"/>
              <a:t>Arrays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2432051"/>
            <a:ext cx="5933210" cy="5808136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Basic principle</a:t>
            </a:r>
            <a:r>
              <a:rPr lang="zh-CN" altLang="en-US" dirty="0" smtClean="0"/>
              <a:t>：</a:t>
            </a:r>
            <a:r>
              <a:rPr lang="en-US" altLang="zh-CN" dirty="0"/>
              <a:t>divide and </a:t>
            </a:r>
            <a:r>
              <a:rPr lang="en-US" altLang="zh-CN" dirty="0" smtClean="0"/>
              <a:t>conquer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selecting</a:t>
            </a:r>
            <a:r>
              <a:rPr lang="en-US" altLang="zh-CN" dirty="0"/>
              <a:t> a </a:t>
            </a:r>
            <a:r>
              <a:rPr lang="en-US" altLang="zh-CN" dirty="0" err="1" smtClean="0"/>
              <a:t>sublist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searching</a:t>
            </a:r>
            <a:r>
              <a:rPr lang="en-US" altLang="zh-CN" dirty="0"/>
              <a:t> a </a:t>
            </a:r>
            <a:r>
              <a:rPr lang="en-US" altLang="zh-CN" dirty="0" err="1" smtClean="0"/>
              <a:t>sublist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Find a strategy to </a:t>
            </a:r>
            <a:r>
              <a:rPr lang="en-US" altLang="zh-CN" dirty="0" smtClean="0">
                <a:solidFill>
                  <a:srgbClr val="FF0000"/>
                </a:solidFill>
              </a:rPr>
              <a:t>balance</a:t>
            </a:r>
            <a:r>
              <a:rPr lang="en-US" altLang="zh-CN" dirty="0" smtClean="0"/>
              <a:t> the ‘selecting’ with the ‘searching’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en-US" altLang="zh-CN" dirty="0"/>
              <a:t>If we know nothing about the distribution of key values, </a:t>
            </a:r>
            <a:r>
              <a:rPr lang="en-US" altLang="zh-CN" dirty="0">
                <a:solidFill>
                  <a:srgbClr val="FF0000"/>
                </a:solidFill>
              </a:rPr>
              <a:t>binary search </a:t>
            </a:r>
            <a:r>
              <a:rPr lang="en-US" altLang="zh-CN" dirty="0"/>
              <a:t>is the best for searching a sorted array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If something about the expected key distribution is known, “</a:t>
            </a:r>
            <a:r>
              <a:rPr lang="en-US" altLang="zh-CN" dirty="0">
                <a:solidFill>
                  <a:srgbClr val="263AF8"/>
                </a:solidFill>
              </a:rPr>
              <a:t>computed</a:t>
            </a:r>
            <a:r>
              <a:rPr lang="en-US" altLang="zh-CN" dirty="0"/>
              <a:t>” binary search (or called dictionary </a:t>
            </a:r>
            <a:r>
              <a:rPr lang="en-US" altLang="zh-CN" dirty="0" smtClean="0"/>
              <a:t>search) </a:t>
            </a:r>
            <a:r>
              <a:rPr lang="en-US" altLang="zh-CN" dirty="0"/>
              <a:t>is usually called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Ex.  </a:t>
            </a:r>
            <a:r>
              <a:rPr lang="en-US" altLang="zh-CN" dirty="0"/>
              <a:t>if look up for a word starting with ‘S”, jump 19/26 ≈ ¾ of the dictionary</a:t>
            </a:r>
            <a:endParaRPr lang="en-US" altLang="zh-CN" dirty="0"/>
          </a:p>
          <a:p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pPr lvl="1"/>
            <a:endParaRPr lang="zh-CN" altLang="en-US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Self-Organizing Lists</a:t>
            </a:r>
            <a:endParaRPr lang="zh-CN" altLang="en-US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Order records by </a:t>
            </a:r>
            <a:r>
              <a:rPr lang="en-US" altLang="zh-CN" dirty="0">
                <a:solidFill>
                  <a:srgbClr val="FF0000"/>
                </a:solidFill>
              </a:rPr>
              <a:t>expected frequency of access</a:t>
            </a:r>
            <a:r>
              <a:rPr lang="en-US" altLang="zh-CN" dirty="0"/>
              <a:t>, instead of key values.</a:t>
            </a:r>
            <a:endParaRPr lang="en-US" altLang="zh-CN" dirty="0"/>
          </a:p>
          <a:p>
            <a:pPr lvl="1"/>
            <a:endParaRPr lang="en-US" altLang="zh-CN" sz="1800" dirty="0"/>
          </a:p>
          <a:p>
            <a:r>
              <a:rPr lang="en-US" altLang="zh-CN" dirty="0"/>
              <a:t>Assume 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i</a:t>
            </a:r>
            <a:r>
              <a:rPr lang="en-US" altLang="zh-CN" dirty="0"/>
              <a:t> is the probability that the record with key </a:t>
            </a:r>
            <a:r>
              <a:rPr lang="en-US" altLang="zh-CN" i="1" dirty="0" err="1"/>
              <a:t>k</a:t>
            </a:r>
            <a:r>
              <a:rPr lang="en-US" altLang="zh-CN" i="1" baseline="-25000" dirty="0" err="1"/>
              <a:t>i</a:t>
            </a:r>
            <a:r>
              <a:rPr lang="en-US" altLang="zh-CN" dirty="0"/>
              <a:t> will be requested.</a:t>
            </a:r>
            <a:endParaRPr lang="en-US" altLang="zh-CN" dirty="0"/>
          </a:p>
          <a:p>
            <a:pPr lvl="1"/>
            <a:r>
              <a:rPr lang="en-US" altLang="zh-CN" sz="1800" dirty="0"/>
              <a:t>The most frequently requested record is ordered first in the list; the next most frequently requested record is followed, and so on.</a:t>
            </a:r>
            <a:endParaRPr lang="en-US" altLang="zh-CN" sz="1800" dirty="0"/>
          </a:p>
          <a:p>
            <a:endParaRPr lang="en-US" altLang="zh-CN" dirty="0"/>
          </a:p>
          <a:p>
            <a:r>
              <a:rPr lang="en-US" altLang="zh-CN" dirty="0"/>
              <a:t>Sequential search is performed beginning with the first position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1D54396-9AD9-4F3D-A409-1E7E8F7F5F75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Self-Organizing </a:t>
            </a:r>
            <a:r>
              <a:rPr lang="en-US" altLang="zh-CN" dirty="0" smtClean="0"/>
              <a:t>Lists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130" y="2454275"/>
            <a:ext cx="6267450" cy="5801995"/>
          </a:xfrm>
        </p:spPr>
        <p:txBody>
          <a:bodyPr>
            <a:normAutofit/>
          </a:bodyPr>
          <a:lstStyle/>
          <a:p>
            <a:r>
              <a:rPr lang="en-US" altLang="zh-CN" dirty="0"/>
              <a:t>The expected number of comparisons required for one search is </a:t>
            </a:r>
            <a:endParaRPr lang="en-US" altLang="zh-CN" dirty="0" smtClean="0"/>
          </a:p>
          <a:p>
            <a:r>
              <a:rPr lang="en-US" altLang="zh-CN" sz="1200" dirty="0"/>
              <a:t>	</a:t>
            </a:r>
            <a:endParaRPr lang="en-US" altLang="zh-CN" sz="900" baseline="-25000" dirty="0"/>
          </a:p>
          <a:p>
            <a:pPr lvl="3"/>
            <a:endParaRPr lang="en-US" altLang="zh-CN" sz="1200" dirty="0"/>
          </a:p>
          <a:p>
            <a:pPr lvl="1"/>
            <a:r>
              <a:rPr lang="en-US" altLang="zh-CN" sz="1800" dirty="0"/>
              <a:t>1p</a:t>
            </a:r>
            <a:r>
              <a:rPr lang="en-US" altLang="zh-CN" sz="1800" baseline="-25000" dirty="0"/>
              <a:t>0</a:t>
            </a:r>
            <a:r>
              <a:rPr lang="en-US" altLang="zh-CN" sz="1800" dirty="0"/>
              <a:t> – the number of comparisons to access L[0] is 1, the probability that </a:t>
            </a:r>
            <a:r>
              <a:rPr lang="en-US" altLang="zh-CN" sz="1800" i="1" dirty="0"/>
              <a:t>k</a:t>
            </a:r>
            <a:r>
              <a:rPr lang="en-US" altLang="zh-CN" sz="1800" i="1" baseline="-25000" dirty="0"/>
              <a:t>0</a:t>
            </a:r>
            <a:r>
              <a:rPr lang="en-US" altLang="zh-CN" sz="1800" dirty="0"/>
              <a:t> is requested is p</a:t>
            </a:r>
            <a:r>
              <a:rPr lang="en-US" altLang="zh-CN" sz="1800" baseline="-25000" dirty="0"/>
              <a:t>0</a:t>
            </a:r>
            <a:r>
              <a:rPr lang="en-US" altLang="zh-CN" sz="1800" dirty="0" smtClean="0"/>
              <a:t>.</a:t>
            </a:r>
            <a:endParaRPr lang="en-US" altLang="zh-CN" sz="1800" dirty="0" smtClean="0"/>
          </a:p>
          <a:p>
            <a:pPr lvl="1"/>
            <a:endParaRPr lang="en-US" altLang="zh-CN" sz="1800" dirty="0"/>
          </a:p>
          <a:p>
            <a:r>
              <a:rPr lang="en-US" altLang="zh-CN" dirty="0" err="1"/>
              <a:t>Zipf</a:t>
            </a:r>
            <a:r>
              <a:rPr lang="en-US" altLang="zh-CN" dirty="0"/>
              <a:t> Distributions</a:t>
            </a:r>
            <a:endParaRPr lang="en-US" altLang="zh-CN" dirty="0"/>
          </a:p>
          <a:p>
            <a:pPr lvl="1"/>
            <a:r>
              <a:rPr lang="en-US" altLang="zh-CN" dirty="0"/>
              <a:t>The distribution of data follows the </a:t>
            </a:r>
            <a:r>
              <a:rPr lang="en-US" altLang="zh-CN" dirty="0">
                <a:solidFill>
                  <a:srgbClr val="FF0000"/>
                </a:solidFill>
              </a:rPr>
              <a:t>80/20 rule</a:t>
            </a:r>
            <a:r>
              <a:rPr lang="en-US" altLang="zh-CN" dirty="0"/>
              <a:t>.</a:t>
            </a:r>
            <a:endParaRPr lang="en-US" altLang="zh-CN" dirty="0"/>
          </a:p>
          <a:p>
            <a:pPr lvl="1"/>
            <a:r>
              <a:rPr lang="en-US" altLang="zh-CN" dirty="0"/>
              <a:t>80% of the records accesses are to 20% of the </a:t>
            </a:r>
            <a:r>
              <a:rPr lang="en-US" altLang="zh-CN" dirty="0" smtClean="0"/>
              <a:t>records</a:t>
            </a:r>
            <a:endParaRPr lang="en-US" altLang="zh-CN" dirty="0" smtClean="0"/>
          </a:p>
          <a:p>
            <a:pPr lvl="1"/>
            <a:r>
              <a:rPr lang="en-US" altLang="zh-CN" dirty="0"/>
              <a:t>If the </a:t>
            </a:r>
            <a:r>
              <a:rPr lang="en-US" altLang="zh-CN" dirty="0" err="1"/>
              <a:t>Zipf</a:t>
            </a:r>
            <a:r>
              <a:rPr lang="en-US" altLang="zh-CN" dirty="0"/>
              <a:t> frequency for item </a:t>
            </a:r>
            <a:r>
              <a:rPr lang="en-US" altLang="zh-CN" dirty="0" err="1"/>
              <a:t>i</a:t>
            </a:r>
            <a:r>
              <a:rPr lang="en-US" altLang="zh-CN" dirty="0"/>
              <a:t> in the distribution for n records is 1/(</a:t>
            </a:r>
            <a:r>
              <a:rPr lang="en-US" altLang="zh-CN" dirty="0" err="1"/>
              <a:t>iH</a:t>
            </a:r>
            <a:r>
              <a:rPr lang="en-US" altLang="zh-CN" baseline="-25000" dirty="0" err="1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r>
              <a:rPr lang="en-US" altLang="zh-CN" dirty="0"/>
              <a:t>The expected cost will be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 average search looks at about 10-15% of the records in a list ordered by frequency.</a:t>
            </a:r>
            <a:endParaRPr lang="en-US" altLang="zh-CN" dirty="0"/>
          </a:p>
          <a:p>
            <a:pPr lvl="1"/>
            <a:endParaRPr lang="en-US" altLang="zh-CN" dirty="0"/>
          </a:p>
          <a:p>
            <a:pPr lvl="4"/>
            <a:endParaRPr lang="en-US" altLang="zh-CN" sz="1600" dirty="0"/>
          </a:p>
          <a:p>
            <a:pPr lvl="1"/>
            <a:endParaRPr lang="en-US" altLang="zh-CN" sz="1800" dirty="0"/>
          </a:p>
          <a:p>
            <a:pPr lvl="5"/>
            <a:endParaRPr lang="en-US" altLang="zh-CN" sz="11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801323" y="3205200"/>
          <a:ext cx="2840831" cy="37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1" imgW="1587500" imgH="241300" progId="Equation.3">
                  <p:embed/>
                </p:oleObj>
              </mc:Choice>
              <mc:Fallback>
                <p:oleObj name="Equation" r:id="rId1" imgW="1587500" imgH="241300" progId="Equation.3">
                  <p:embed/>
                  <p:pic>
                    <p:nvPicPr>
                      <p:cNvPr id="0" name="Picture 10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323" y="3205200"/>
                        <a:ext cx="2840831" cy="378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1574016" y="6659721"/>
          <a:ext cx="37719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3" imgW="2108200" imgH="431800" progId="Equation.3">
                  <p:embed/>
                </p:oleObj>
              </mc:Choice>
              <mc:Fallback>
                <p:oleObj name="Equation" r:id="rId3" imgW="2108200" imgH="431800" progId="Equation.3">
                  <p:embed/>
                  <p:pic>
                    <p:nvPicPr>
                      <p:cNvPr id="0" name="Picture 1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016" y="6659721"/>
                        <a:ext cx="37719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Self-Organizing Lists </a:t>
            </a:r>
            <a:endParaRPr lang="zh-CN" altLang="en-US" dirty="0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42900" y="2483769"/>
            <a:ext cx="6380560" cy="4114676"/>
          </a:xfrm>
        </p:spPr>
        <p:txBody>
          <a:bodyPr>
            <a:noAutofit/>
          </a:bodyPr>
          <a:lstStyle/>
          <a:p>
            <a:r>
              <a:rPr lang="en-US" altLang="zh-CN" dirty="0"/>
              <a:t>In most applications, we have </a:t>
            </a:r>
            <a:r>
              <a:rPr lang="en-US" altLang="zh-CN" dirty="0">
                <a:solidFill>
                  <a:srgbClr val="FF0000"/>
                </a:solidFill>
              </a:rPr>
              <a:t>no means of knowing in advance</a:t>
            </a:r>
            <a:r>
              <a:rPr lang="en-US" altLang="zh-CN" dirty="0"/>
              <a:t> the frequencies of access for the data records.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probability of access for records might change over time.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Self-organizing lists </a:t>
            </a:r>
            <a:r>
              <a:rPr lang="en-US" altLang="zh-CN" dirty="0"/>
              <a:t>uses heuristic strategies for deciding how to reorder the list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263AF8"/>
                </a:solidFill>
              </a:rPr>
              <a:t>Count</a:t>
            </a:r>
            <a:r>
              <a:rPr lang="en-US" altLang="zh-CN" dirty="0"/>
              <a:t>: store a count of accesses to each record and always maintain records in this </a:t>
            </a:r>
            <a:r>
              <a:rPr lang="en-US" altLang="zh-CN" dirty="0" smtClean="0"/>
              <a:t>order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CC0000"/>
                </a:solidFill>
              </a:rPr>
              <a:t>Move-to-front</a:t>
            </a:r>
            <a:r>
              <a:rPr lang="en-US" altLang="zh-CN" dirty="0">
                <a:solidFill>
                  <a:srgbClr val="CC0000"/>
                </a:solidFill>
              </a:rPr>
              <a:t>:</a:t>
            </a:r>
            <a:r>
              <a:rPr lang="en-US" altLang="zh-CN" dirty="0"/>
              <a:t> bring a record to the front of the list when it is found. 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008000"/>
                </a:solidFill>
              </a:rPr>
              <a:t>Transpose</a:t>
            </a:r>
            <a:r>
              <a:rPr lang="en-US" altLang="zh-CN" dirty="0"/>
              <a:t>: swap any record found with the record immediately preceding it in the list.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0A7E7407-30B8-4FB8-8A09-49622A34F611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C657E3A-7AD9-41EE-808A-8C619909439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522982B-6CC6-41A5-99D5-96B794C7698E}" type="slidenum">
              <a:rPr lang="en-US" altLang="zh-CN" sz="1050"/>
            </a:fld>
            <a:endParaRPr lang="en-US" altLang="zh-CN" sz="105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Sitka Heading" panose="02000505000000020004" pitchFamily="2" charset="0"/>
                <a:ea typeface="宋体" pitchFamily="2" charset="-122"/>
              </a:rPr>
              <a:t>Readings</a:t>
            </a:r>
            <a:endParaRPr lang="en-US" altLang="zh-CN" dirty="0" smtClean="0">
              <a:latin typeface="Sitka Heading" panose="02000505000000020004" pitchFamily="2" charset="0"/>
              <a:ea typeface="宋体" pitchFamily="2" charset="-122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395"/>
              </a:spcBef>
              <a:spcAft>
                <a:spcPts val="395"/>
              </a:spcAft>
            </a:pPr>
            <a:r>
              <a:rPr lang="en-US" altLang="zh-CN" sz="2800" dirty="0" smtClean="0">
                <a:latin typeface="Sitka Text" panose="02000505000000020004" pitchFamily="2" charset="0"/>
                <a:ea typeface="宋体" pitchFamily="2" charset="-122"/>
              </a:rPr>
              <a:t>Reading </a:t>
            </a:r>
            <a:endParaRPr lang="en-US" altLang="zh-CN" sz="2800" dirty="0" smtClean="0"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spcBef>
                <a:spcPts val="395"/>
              </a:spcBef>
              <a:spcAft>
                <a:spcPts val="395"/>
              </a:spcAft>
            </a:pPr>
            <a:r>
              <a:rPr lang="en-US" altLang="zh-CN" sz="2400" dirty="0">
                <a:latin typeface="Sitka Text" panose="02000505000000020004" pitchFamily="2" charset="0"/>
                <a:ea typeface="宋体" pitchFamily="2" charset="-122"/>
              </a:rPr>
              <a:t>Chapter </a:t>
            </a:r>
            <a:r>
              <a:rPr lang="en-US" altLang="zh-CN" sz="2400" dirty="0" smtClean="0">
                <a:latin typeface="Sitka Text" panose="02000505000000020004" pitchFamily="2" charset="0"/>
                <a:ea typeface="宋体" pitchFamily="2" charset="-122"/>
              </a:rPr>
              <a:t>5 Hashing</a:t>
            </a:r>
            <a:endParaRPr lang="en-US" altLang="zh-CN" sz="2400" dirty="0">
              <a:latin typeface="Sitka Text" panose="02000505000000020004" pitchFamily="2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BA8F2EE-FC4B-4839-9AED-086A98359EF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D3D1F11-5764-4045-B019-51E2E8EF3EBC}" type="slidenum">
              <a:rPr lang="en-US" altLang="zh-CN" sz="1050"/>
            </a:fld>
            <a:endParaRPr lang="en-US" altLang="zh-CN" sz="1050"/>
          </a:p>
        </p:txBody>
      </p:sp>
      <p:sp>
        <p:nvSpPr>
          <p:cNvPr id="71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The Need for Speed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717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800" dirty="0">
                <a:ea typeface="宋体" pitchFamily="2" charset="-122"/>
              </a:rPr>
              <a:t>Data structures we have looked at so far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Use comparison operations to find items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Need O(log N) time for Find and </a:t>
            </a:r>
            <a:r>
              <a:rPr lang="en-US" altLang="zh-CN" sz="2400" dirty="0" smtClean="0">
                <a:ea typeface="宋体" pitchFamily="2" charset="-122"/>
              </a:rPr>
              <a:t>Insert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In real world applications, N is typically between 100 and 100,000 (or more)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log N is between 6.6 and </a:t>
            </a:r>
            <a:r>
              <a:rPr lang="en-US" altLang="zh-CN" sz="2400" dirty="0" smtClean="0">
                <a:ea typeface="宋体" pitchFamily="2" charset="-122"/>
              </a:rPr>
              <a:t>16.6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Hash tables</a:t>
            </a:r>
            <a:r>
              <a:rPr lang="en-US" altLang="zh-CN" sz="2800" dirty="0">
                <a:ea typeface="宋体" pitchFamily="2" charset="-122"/>
              </a:rPr>
              <a:t> are an abstract data type designed for </a:t>
            </a:r>
            <a:r>
              <a:rPr lang="en-US" altLang="zh-CN" sz="2800" b="1" dirty="0">
                <a:solidFill>
                  <a:srgbClr val="FF0000"/>
                </a:solidFill>
                <a:ea typeface="宋体" pitchFamily="2" charset="-122"/>
              </a:rPr>
              <a:t>O(1)</a:t>
            </a:r>
            <a:r>
              <a:rPr lang="en-US" altLang="zh-CN" sz="2800" dirty="0">
                <a:ea typeface="宋体" pitchFamily="2" charset="-122"/>
              </a:rPr>
              <a:t> Find and Inserts</a:t>
            </a:r>
            <a:endParaRPr lang="en-US" altLang="zh-CN" sz="2800" dirty="0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661E7B7-08BD-4056-8198-2D6B428EF9C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39950E4-7CC7-4990-BCD0-BBBA9F18308A}" type="slidenum">
              <a:rPr lang="en-US" altLang="zh-CN" sz="1050"/>
            </a:fld>
            <a:endParaRPr lang="en-US" altLang="zh-CN" sz="1050"/>
          </a:p>
        </p:txBody>
      </p:sp>
      <p:sp>
        <p:nvSpPr>
          <p:cNvPr id="819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Fewer Functions Faster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19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50" y="2555776"/>
            <a:ext cx="6286500" cy="3086100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itchFamily="2" charset="-122"/>
              </a:rPr>
              <a:t>compare lists and stacks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by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reducing the flexibility</a:t>
            </a:r>
            <a:r>
              <a:rPr lang="en-US" altLang="zh-CN" sz="2400" dirty="0">
                <a:ea typeface="宋体" pitchFamily="2" charset="-122"/>
              </a:rPr>
              <a:t> of what we are allowed to do, we can increase the performance of the remaining operations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insert(L,X)</a:t>
            </a:r>
            <a:r>
              <a:rPr lang="en-US" altLang="zh-CN" sz="2400" dirty="0">
                <a:ea typeface="宋体" pitchFamily="2" charset="-122"/>
              </a:rPr>
              <a:t> into a list versus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push(S,X)</a:t>
            </a:r>
            <a:r>
              <a:rPr lang="en-US" altLang="zh-CN" sz="2400" dirty="0">
                <a:ea typeface="宋体" pitchFamily="2" charset="-122"/>
              </a:rPr>
              <a:t> onto a </a:t>
            </a:r>
            <a:r>
              <a:rPr lang="en-US" altLang="zh-CN" sz="2400" dirty="0" smtClean="0">
                <a:ea typeface="宋体" pitchFamily="2" charset="-122"/>
              </a:rPr>
              <a:t>stack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compare trees and hash </a:t>
            </a:r>
            <a:r>
              <a:rPr lang="en-US" altLang="zh-CN" sz="2800" dirty="0" smtClean="0">
                <a:ea typeface="宋体" pitchFamily="2" charset="-122"/>
              </a:rPr>
              <a:t>tables </a:t>
            </a:r>
            <a:r>
              <a:rPr lang="en-US" altLang="zh-CN" sz="2800" dirty="0">
                <a:solidFill>
                  <a:srgbClr val="5252D4"/>
                </a:solidFill>
              </a:rPr>
              <a:t>b</a:t>
            </a:r>
            <a:endParaRPr lang="en-US" altLang="zh-CN" sz="2800" dirty="0">
              <a:solidFill>
                <a:srgbClr val="5252D4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5252D4"/>
                </a:solidFill>
                <a:ea typeface="宋体" pitchFamily="2" charset="-122"/>
              </a:rPr>
              <a:t>trees</a:t>
            </a:r>
            <a:r>
              <a:rPr lang="en-US" altLang="zh-CN" sz="2400" dirty="0">
                <a:ea typeface="宋体" pitchFamily="2" charset="-122"/>
              </a:rPr>
              <a:t> provide for known </a:t>
            </a:r>
            <a:r>
              <a:rPr lang="en-US" altLang="zh-CN" sz="2400" dirty="0">
                <a:solidFill>
                  <a:srgbClr val="5252D4"/>
                </a:solidFill>
                <a:ea typeface="宋体" pitchFamily="2" charset="-122"/>
              </a:rPr>
              <a:t>ordering of all elements</a:t>
            </a:r>
            <a:endParaRPr lang="en-US" altLang="zh-CN" sz="2400" dirty="0">
              <a:solidFill>
                <a:srgbClr val="5252D4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hash tables just let you (quickly) find an element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A22F081-9DC4-4682-811B-0FB2BABD5DE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63EA0FA-C444-400A-A6BC-D27C5EAFD243}" type="slidenum">
              <a:rPr lang="en-US" altLang="zh-CN" sz="1050"/>
            </a:fld>
            <a:endParaRPr lang="en-US" altLang="zh-CN" sz="1050"/>
          </a:p>
        </p:txBody>
      </p:sp>
      <p:sp>
        <p:nvSpPr>
          <p:cNvPr id="922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Limited Set of Hash Operations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922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宋体" pitchFamily="2" charset="-122"/>
              </a:rPr>
              <a:t>For many applications, a limited set of operations is all that is needed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Insert, Find, and Delete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CC0099"/>
                </a:solidFill>
                <a:ea typeface="宋体" pitchFamily="2" charset="-122"/>
              </a:rPr>
              <a:t>Note that no ordering of elements is implied</a:t>
            </a:r>
            <a:endParaRPr lang="en-US" altLang="zh-CN" sz="2400" dirty="0">
              <a:solidFill>
                <a:srgbClr val="CC0099"/>
              </a:solidFill>
              <a:ea typeface="宋体" pitchFamily="2" charset="-122"/>
            </a:endParaRPr>
          </a:p>
          <a:p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5619956-92A3-4BEE-A202-5A20F775B34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DFFE136-6ED2-4C1C-9EC8-35BB158E7136}" type="slidenum">
              <a:rPr lang="en-US" altLang="zh-CN" sz="1050"/>
            </a:fld>
            <a:endParaRPr lang="en-US" altLang="zh-CN" sz="1050"/>
          </a:p>
        </p:txBody>
      </p:sp>
      <p:sp>
        <p:nvSpPr>
          <p:cNvPr id="1024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Direct Address Tables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024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00050" y="2699792"/>
            <a:ext cx="6057900" cy="4968552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itchFamily="2" charset="-122"/>
              </a:rPr>
              <a:t>Direct addressing using an array is very fast</a:t>
            </a:r>
            <a:endParaRPr lang="en-US" altLang="zh-CN" sz="28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Assume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keys </a:t>
            </a:r>
            <a:r>
              <a:rPr lang="en-US" altLang="zh-CN" sz="2400" dirty="0">
                <a:ea typeface="宋体" pitchFamily="2" charset="-122"/>
              </a:rPr>
              <a:t>are integers in the set U={0,1,…</a:t>
            </a:r>
            <a:r>
              <a:rPr lang="en-US" altLang="zh-CN" sz="2400" i="1" dirty="0">
                <a:ea typeface="宋体" pitchFamily="2" charset="-122"/>
              </a:rPr>
              <a:t>m</a:t>
            </a:r>
            <a:r>
              <a:rPr lang="en-US" altLang="zh-CN" sz="2400" dirty="0">
                <a:ea typeface="宋体" pitchFamily="2" charset="-122"/>
              </a:rPr>
              <a:t>-1</a:t>
            </a:r>
            <a:r>
              <a:rPr lang="en-US" altLang="zh-CN" sz="2400" dirty="0" smtClean="0">
                <a:ea typeface="宋体" pitchFamily="2" charset="-122"/>
              </a:rPr>
              <a:t>}, </a:t>
            </a:r>
            <a:r>
              <a:rPr lang="en-US" altLang="zh-CN" sz="2400" i="1" dirty="0" smtClean="0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is small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no two elements have the same </a:t>
            </a:r>
            <a:r>
              <a:rPr lang="en-US" altLang="zh-CN" sz="2400" dirty="0" smtClean="0">
                <a:ea typeface="宋体" pitchFamily="2" charset="-122"/>
              </a:rPr>
              <a:t>key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Then just store each element at the array location 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array[key]</a:t>
            </a:r>
            <a:endParaRPr lang="en-US" altLang="zh-CN" sz="2800" dirty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search, insert, and delete are trivial</a:t>
            </a:r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2E1E55F-6D00-425C-8EB8-DE06DF10969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E445C4F-ED65-4E5C-8B28-0E37C74CCF4D}" type="slidenum">
              <a:rPr lang="en-US" altLang="zh-CN" sz="1050"/>
            </a:fld>
            <a:endParaRPr lang="en-US" altLang="zh-CN" sz="1050"/>
          </a:p>
        </p:txBody>
      </p:sp>
      <p:sp>
        <p:nvSpPr>
          <p:cNvPr id="1126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Direct Access Table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81" name="Oval 1028"/>
          <p:cNvSpPr>
            <a:spLocks noChangeArrowheads="1"/>
          </p:cNvSpPr>
          <p:nvPr/>
        </p:nvSpPr>
        <p:spPr bwMode="auto">
          <a:xfrm>
            <a:off x="105432" y="2605275"/>
            <a:ext cx="3352800" cy="28194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2" name="Text Box 1030"/>
          <p:cNvSpPr txBox="1">
            <a:spLocks noChangeArrowheads="1"/>
          </p:cNvSpPr>
          <p:nvPr/>
        </p:nvSpPr>
        <p:spPr bwMode="auto">
          <a:xfrm>
            <a:off x="1012388" y="2555776"/>
            <a:ext cx="16706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itchFamily="2" charset="-122"/>
              </a:rPr>
              <a:t>U</a:t>
            </a:r>
            <a:endParaRPr lang="en-US" altLang="zh-CN" sz="1600">
              <a:latin typeface="Times New Roman" panose="02020603050405020304" pitchFamily="18" charset="0"/>
              <a:ea typeface="宋体" pitchFamily="2" charset="-122"/>
            </a:endParaRPr>
          </a:p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itchFamily="2" charset="-122"/>
              </a:rPr>
              <a:t>(universe of keys)</a:t>
            </a:r>
            <a:endParaRPr lang="en-US" altLang="zh-CN" sz="16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3" name="Oval 1031"/>
          <p:cNvSpPr>
            <a:spLocks noChangeArrowheads="1"/>
          </p:cNvSpPr>
          <p:nvPr/>
        </p:nvSpPr>
        <p:spPr bwMode="auto">
          <a:xfrm>
            <a:off x="410232" y="3672075"/>
            <a:ext cx="2667000" cy="1447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84" name="Text Box 1032"/>
          <p:cNvSpPr txBox="1">
            <a:spLocks noChangeArrowheads="1"/>
          </p:cNvSpPr>
          <p:nvPr/>
        </p:nvSpPr>
        <p:spPr bwMode="auto">
          <a:xfrm>
            <a:off x="488726" y="3975000"/>
            <a:ext cx="12987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itchFamily="2" charset="-122"/>
              </a:rPr>
              <a:t>K</a:t>
            </a:r>
            <a:endParaRPr lang="en-US" altLang="zh-CN" sz="1600">
              <a:latin typeface="Times New Roman" panose="02020603050405020304" pitchFamily="18" charset="0"/>
              <a:ea typeface="宋体" pitchFamily="2" charset="-122"/>
            </a:endParaRPr>
          </a:p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itchFamily="2" charset="-122"/>
              </a:rPr>
              <a:t>(Actual keys)</a:t>
            </a:r>
            <a:endParaRPr lang="en-US" altLang="zh-CN" sz="16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5" name="Text Box 1033"/>
          <p:cNvSpPr txBox="1">
            <a:spLocks noChangeArrowheads="1"/>
          </p:cNvSpPr>
          <p:nvPr/>
        </p:nvSpPr>
        <p:spPr bwMode="auto">
          <a:xfrm>
            <a:off x="1781142" y="37467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6" name="Text Box 1034"/>
          <p:cNvSpPr txBox="1">
            <a:spLocks noChangeArrowheads="1"/>
          </p:cNvSpPr>
          <p:nvPr/>
        </p:nvSpPr>
        <p:spPr bwMode="auto">
          <a:xfrm>
            <a:off x="1857342" y="45087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7" name="Text Box 1035"/>
          <p:cNvSpPr txBox="1">
            <a:spLocks noChangeArrowheads="1"/>
          </p:cNvSpPr>
          <p:nvPr/>
        </p:nvSpPr>
        <p:spPr bwMode="auto">
          <a:xfrm>
            <a:off x="1318282" y="4757925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8" name="Text Box 1036"/>
          <p:cNvSpPr txBox="1">
            <a:spLocks noChangeArrowheads="1"/>
          </p:cNvSpPr>
          <p:nvPr/>
        </p:nvSpPr>
        <p:spPr bwMode="auto">
          <a:xfrm>
            <a:off x="2162142" y="40515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9" name="Text Box 1037"/>
          <p:cNvSpPr txBox="1">
            <a:spLocks noChangeArrowheads="1"/>
          </p:cNvSpPr>
          <p:nvPr/>
        </p:nvSpPr>
        <p:spPr bwMode="auto">
          <a:xfrm>
            <a:off x="333342" y="3518189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0" name="Text Box 1038"/>
          <p:cNvSpPr txBox="1">
            <a:spLocks noChangeArrowheads="1"/>
          </p:cNvSpPr>
          <p:nvPr/>
        </p:nvSpPr>
        <p:spPr bwMode="auto">
          <a:xfrm>
            <a:off x="638142" y="3060989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1" name="Text Box 1039"/>
          <p:cNvSpPr txBox="1">
            <a:spLocks noChangeArrowheads="1"/>
          </p:cNvSpPr>
          <p:nvPr/>
        </p:nvSpPr>
        <p:spPr bwMode="auto">
          <a:xfrm>
            <a:off x="1171542" y="32895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2" name="Text Box 1040"/>
          <p:cNvSpPr txBox="1">
            <a:spLocks noChangeArrowheads="1"/>
          </p:cNvSpPr>
          <p:nvPr/>
        </p:nvSpPr>
        <p:spPr bwMode="auto">
          <a:xfrm>
            <a:off x="1628742" y="30609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3" name="Text Box 1041"/>
          <p:cNvSpPr txBox="1">
            <a:spLocks noChangeArrowheads="1"/>
          </p:cNvSpPr>
          <p:nvPr/>
        </p:nvSpPr>
        <p:spPr bwMode="auto">
          <a:xfrm>
            <a:off x="2085942" y="32133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4" name="Text Box 1042"/>
          <p:cNvSpPr txBox="1">
            <a:spLocks noChangeArrowheads="1"/>
          </p:cNvSpPr>
          <p:nvPr/>
        </p:nvSpPr>
        <p:spPr bwMode="auto">
          <a:xfrm>
            <a:off x="2466942" y="34419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5" name="Oval 1043"/>
          <p:cNvSpPr>
            <a:spLocks noChangeArrowheads="1"/>
          </p:cNvSpPr>
          <p:nvPr/>
        </p:nvSpPr>
        <p:spPr bwMode="auto">
          <a:xfrm>
            <a:off x="1727859" y="4877782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6" name="Oval 1044"/>
          <p:cNvSpPr>
            <a:spLocks noChangeArrowheads="1"/>
          </p:cNvSpPr>
          <p:nvPr/>
        </p:nvSpPr>
        <p:spPr bwMode="auto">
          <a:xfrm>
            <a:off x="2086632" y="45864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7" name="Oval 1045"/>
          <p:cNvSpPr>
            <a:spLocks noChangeArrowheads="1"/>
          </p:cNvSpPr>
          <p:nvPr/>
        </p:nvSpPr>
        <p:spPr bwMode="auto">
          <a:xfrm>
            <a:off x="2391432" y="42054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8" name="Oval 1046"/>
          <p:cNvSpPr>
            <a:spLocks noChangeArrowheads="1"/>
          </p:cNvSpPr>
          <p:nvPr/>
        </p:nvSpPr>
        <p:spPr bwMode="auto">
          <a:xfrm>
            <a:off x="2010432" y="38244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99" name="Oval 1047"/>
          <p:cNvSpPr>
            <a:spLocks noChangeArrowheads="1"/>
          </p:cNvSpPr>
          <p:nvPr/>
        </p:nvSpPr>
        <p:spPr bwMode="auto">
          <a:xfrm>
            <a:off x="562632" y="35958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0" name="Oval 1048"/>
          <p:cNvSpPr>
            <a:spLocks noChangeArrowheads="1"/>
          </p:cNvSpPr>
          <p:nvPr/>
        </p:nvSpPr>
        <p:spPr bwMode="auto">
          <a:xfrm>
            <a:off x="867432" y="31386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1" name="Oval 1049"/>
          <p:cNvSpPr>
            <a:spLocks noChangeArrowheads="1"/>
          </p:cNvSpPr>
          <p:nvPr/>
        </p:nvSpPr>
        <p:spPr bwMode="auto">
          <a:xfrm>
            <a:off x="1400832" y="33672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2" name="Oval 1050"/>
          <p:cNvSpPr>
            <a:spLocks noChangeArrowheads="1"/>
          </p:cNvSpPr>
          <p:nvPr/>
        </p:nvSpPr>
        <p:spPr bwMode="auto">
          <a:xfrm>
            <a:off x="1858032" y="32148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" name="Oval 1051"/>
          <p:cNvSpPr>
            <a:spLocks noChangeArrowheads="1"/>
          </p:cNvSpPr>
          <p:nvPr/>
        </p:nvSpPr>
        <p:spPr bwMode="auto">
          <a:xfrm>
            <a:off x="2315232" y="33672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4" name="Oval 1052"/>
          <p:cNvSpPr>
            <a:spLocks noChangeArrowheads="1"/>
          </p:cNvSpPr>
          <p:nvPr/>
        </p:nvSpPr>
        <p:spPr bwMode="auto">
          <a:xfrm>
            <a:off x="2696232" y="351967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5" name="Rectangle 1053"/>
          <p:cNvSpPr>
            <a:spLocks noChangeArrowheads="1"/>
          </p:cNvSpPr>
          <p:nvPr/>
        </p:nvSpPr>
        <p:spPr bwMode="auto">
          <a:xfrm>
            <a:off x="3920696" y="42054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6" name="Line 1054"/>
          <p:cNvSpPr>
            <a:spLocks noChangeShapeType="1"/>
          </p:cNvSpPr>
          <p:nvPr/>
        </p:nvSpPr>
        <p:spPr bwMode="auto">
          <a:xfrm flipV="1">
            <a:off x="4225496" y="42054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1055"/>
          <p:cNvSpPr>
            <a:spLocks noChangeArrowheads="1"/>
          </p:cNvSpPr>
          <p:nvPr/>
        </p:nvSpPr>
        <p:spPr bwMode="auto">
          <a:xfrm>
            <a:off x="3920696" y="45102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8" name="Line 1056"/>
          <p:cNvSpPr>
            <a:spLocks noChangeShapeType="1"/>
          </p:cNvSpPr>
          <p:nvPr/>
        </p:nvSpPr>
        <p:spPr bwMode="auto">
          <a:xfrm flipV="1">
            <a:off x="4225496" y="45102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Rectangle 1057"/>
          <p:cNvSpPr>
            <a:spLocks noChangeArrowheads="1"/>
          </p:cNvSpPr>
          <p:nvPr/>
        </p:nvSpPr>
        <p:spPr bwMode="auto">
          <a:xfrm>
            <a:off x="3920696" y="4815075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0" name="Rectangle 1059"/>
          <p:cNvSpPr>
            <a:spLocks noChangeArrowheads="1"/>
          </p:cNvSpPr>
          <p:nvPr/>
        </p:nvSpPr>
        <p:spPr bwMode="auto">
          <a:xfrm>
            <a:off x="3920696" y="5119875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1" name="Rectangle 1061"/>
          <p:cNvSpPr>
            <a:spLocks noChangeArrowheads="1"/>
          </p:cNvSpPr>
          <p:nvPr/>
        </p:nvSpPr>
        <p:spPr bwMode="auto">
          <a:xfrm>
            <a:off x="3920696" y="54246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2" name="Line 1062"/>
          <p:cNvSpPr>
            <a:spLocks noChangeShapeType="1"/>
          </p:cNvSpPr>
          <p:nvPr/>
        </p:nvSpPr>
        <p:spPr bwMode="auto">
          <a:xfrm flipV="1">
            <a:off x="4225496" y="54246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" name="Rectangle 1063"/>
          <p:cNvSpPr>
            <a:spLocks noChangeArrowheads="1"/>
          </p:cNvSpPr>
          <p:nvPr/>
        </p:nvSpPr>
        <p:spPr bwMode="auto">
          <a:xfrm>
            <a:off x="3920696" y="5729475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4" name="Rectangle 1065"/>
          <p:cNvSpPr>
            <a:spLocks noChangeArrowheads="1"/>
          </p:cNvSpPr>
          <p:nvPr/>
        </p:nvSpPr>
        <p:spPr bwMode="auto">
          <a:xfrm>
            <a:off x="3920696" y="60342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5" name="Line 1066"/>
          <p:cNvSpPr>
            <a:spLocks noChangeShapeType="1"/>
          </p:cNvSpPr>
          <p:nvPr/>
        </p:nvSpPr>
        <p:spPr bwMode="auto">
          <a:xfrm flipV="1">
            <a:off x="4225496" y="60342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" name="Rectangle 1067"/>
          <p:cNvSpPr>
            <a:spLocks noChangeArrowheads="1"/>
          </p:cNvSpPr>
          <p:nvPr/>
        </p:nvSpPr>
        <p:spPr bwMode="auto">
          <a:xfrm>
            <a:off x="3920696" y="63390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7" name="Line 1068"/>
          <p:cNvSpPr>
            <a:spLocks noChangeShapeType="1"/>
          </p:cNvSpPr>
          <p:nvPr/>
        </p:nvSpPr>
        <p:spPr bwMode="auto">
          <a:xfrm flipV="1">
            <a:off x="4225496" y="63390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" name="Rectangle 1069"/>
          <p:cNvSpPr>
            <a:spLocks noChangeArrowheads="1"/>
          </p:cNvSpPr>
          <p:nvPr/>
        </p:nvSpPr>
        <p:spPr bwMode="auto">
          <a:xfrm>
            <a:off x="3920696" y="6643875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9" name="Rectangle 1071"/>
          <p:cNvSpPr>
            <a:spLocks noChangeArrowheads="1"/>
          </p:cNvSpPr>
          <p:nvPr/>
        </p:nvSpPr>
        <p:spPr bwMode="auto">
          <a:xfrm>
            <a:off x="3920696" y="6948675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0" name="Line 1072"/>
          <p:cNvSpPr>
            <a:spLocks noChangeShapeType="1"/>
          </p:cNvSpPr>
          <p:nvPr/>
        </p:nvSpPr>
        <p:spPr bwMode="auto">
          <a:xfrm flipV="1">
            <a:off x="4225496" y="6948675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Text Box 1073"/>
          <p:cNvSpPr txBox="1">
            <a:spLocks noChangeArrowheads="1"/>
          </p:cNvSpPr>
          <p:nvPr/>
        </p:nvSpPr>
        <p:spPr bwMode="auto">
          <a:xfrm>
            <a:off x="4834406" y="42039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2" name="Text Box 1074"/>
          <p:cNvSpPr txBox="1">
            <a:spLocks noChangeArrowheads="1"/>
          </p:cNvSpPr>
          <p:nvPr/>
        </p:nvSpPr>
        <p:spPr bwMode="auto">
          <a:xfrm>
            <a:off x="4834406" y="45087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3" name="Text Box 1075"/>
          <p:cNvSpPr txBox="1">
            <a:spLocks noChangeArrowheads="1"/>
          </p:cNvSpPr>
          <p:nvPr/>
        </p:nvSpPr>
        <p:spPr bwMode="auto">
          <a:xfrm>
            <a:off x="4834406" y="48135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4" name="Text Box 1076"/>
          <p:cNvSpPr txBox="1">
            <a:spLocks noChangeArrowheads="1"/>
          </p:cNvSpPr>
          <p:nvPr/>
        </p:nvSpPr>
        <p:spPr bwMode="auto">
          <a:xfrm>
            <a:off x="4834406" y="51183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5" name="Text Box 1077"/>
          <p:cNvSpPr txBox="1">
            <a:spLocks noChangeArrowheads="1"/>
          </p:cNvSpPr>
          <p:nvPr/>
        </p:nvSpPr>
        <p:spPr bwMode="auto">
          <a:xfrm>
            <a:off x="4834406" y="54231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6" name="Text Box 1078"/>
          <p:cNvSpPr txBox="1">
            <a:spLocks noChangeArrowheads="1"/>
          </p:cNvSpPr>
          <p:nvPr/>
        </p:nvSpPr>
        <p:spPr bwMode="auto">
          <a:xfrm>
            <a:off x="4834406" y="57279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7" name="Text Box 1079"/>
          <p:cNvSpPr txBox="1">
            <a:spLocks noChangeArrowheads="1"/>
          </p:cNvSpPr>
          <p:nvPr/>
        </p:nvSpPr>
        <p:spPr bwMode="auto">
          <a:xfrm>
            <a:off x="4834406" y="60327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8" name="Text Box 1080"/>
          <p:cNvSpPr txBox="1">
            <a:spLocks noChangeArrowheads="1"/>
          </p:cNvSpPr>
          <p:nvPr/>
        </p:nvSpPr>
        <p:spPr bwMode="auto">
          <a:xfrm>
            <a:off x="4834406" y="63375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9" name="Text Box 1081"/>
          <p:cNvSpPr txBox="1">
            <a:spLocks noChangeArrowheads="1"/>
          </p:cNvSpPr>
          <p:nvPr/>
        </p:nvSpPr>
        <p:spPr bwMode="auto">
          <a:xfrm>
            <a:off x="4834406" y="66423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0" name="Text Box 1082"/>
          <p:cNvSpPr txBox="1">
            <a:spLocks noChangeArrowheads="1"/>
          </p:cNvSpPr>
          <p:nvPr/>
        </p:nvSpPr>
        <p:spPr bwMode="auto">
          <a:xfrm>
            <a:off x="4834406" y="6947190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131" name="AutoShape 1083"/>
          <p:cNvCxnSpPr>
            <a:cxnSpLocks noChangeShapeType="1"/>
            <a:stCxn id="98" idx="6"/>
            <a:endCxn id="109" idx="1"/>
          </p:cNvCxnSpPr>
          <p:nvPr/>
        </p:nvCxnSpPr>
        <p:spPr bwMode="auto">
          <a:xfrm>
            <a:off x="2086632" y="3862575"/>
            <a:ext cx="1834064" cy="11049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AutoShape 1084"/>
          <p:cNvCxnSpPr>
            <a:cxnSpLocks noChangeShapeType="1"/>
            <a:stCxn id="97" idx="6"/>
            <a:endCxn id="110" idx="1"/>
          </p:cNvCxnSpPr>
          <p:nvPr/>
        </p:nvCxnSpPr>
        <p:spPr bwMode="auto">
          <a:xfrm>
            <a:off x="2467632" y="4243575"/>
            <a:ext cx="1453064" cy="1028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AutoShape 1085"/>
          <p:cNvCxnSpPr>
            <a:cxnSpLocks noChangeShapeType="1"/>
            <a:stCxn id="96" idx="6"/>
            <a:endCxn id="113" idx="1"/>
          </p:cNvCxnSpPr>
          <p:nvPr/>
        </p:nvCxnSpPr>
        <p:spPr bwMode="auto">
          <a:xfrm>
            <a:off x="2162832" y="4624575"/>
            <a:ext cx="1757864" cy="1257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AutoShape 1086"/>
          <p:cNvCxnSpPr>
            <a:cxnSpLocks noChangeShapeType="1"/>
            <a:stCxn id="95" idx="6"/>
            <a:endCxn id="118" idx="1"/>
          </p:cNvCxnSpPr>
          <p:nvPr/>
        </p:nvCxnSpPr>
        <p:spPr bwMode="auto">
          <a:xfrm>
            <a:off x="1804059" y="4915882"/>
            <a:ext cx="2116637" cy="18803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Text Box 1087"/>
          <p:cNvSpPr txBox="1">
            <a:spLocks noChangeArrowheads="1"/>
          </p:cNvSpPr>
          <p:nvPr/>
        </p:nvSpPr>
        <p:spPr bwMode="auto">
          <a:xfrm>
            <a:off x="5525662" y="4586478"/>
            <a:ext cx="301625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6" name="Text Box 1088"/>
          <p:cNvSpPr txBox="1">
            <a:spLocks noChangeArrowheads="1"/>
          </p:cNvSpPr>
          <p:nvPr/>
        </p:nvSpPr>
        <p:spPr bwMode="auto">
          <a:xfrm>
            <a:off x="5520898" y="5802502"/>
            <a:ext cx="301625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7" name="Text Box 1089"/>
          <p:cNvSpPr txBox="1">
            <a:spLocks noChangeArrowheads="1"/>
          </p:cNvSpPr>
          <p:nvPr/>
        </p:nvSpPr>
        <p:spPr bwMode="auto">
          <a:xfrm>
            <a:off x="5520896" y="6643878"/>
            <a:ext cx="304800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8" name="Rectangle 1090"/>
          <p:cNvSpPr>
            <a:spLocks noChangeArrowheads="1"/>
          </p:cNvSpPr>
          <p:nvPr/>
        </p:nvSpPr>
        <p:spPr bwMode="auto">
          <a:xfrm>
            <a:off x="5825696" y="4586475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9" name="Rectangle 1091"/>
          <p:cNvSpPr>
            <a:spLocks noChangeArrowheads="1"/>
          </p:cNvSpPr>
          <p:nvPr/>
        </p:nvSpPr>
        <p:spPr bwMode="auto">
          <a:xfrm>
            <a:off x="5825696" y="580250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0" name="Rectangle 1092"/>
          <p:cNvSpPr>
            <a:spLocks noChangeArrowheads="1"/>
          </p:cNvSpPr>
          <p:nvPr/>
        </p:nvSpPr>
        <p:spPr bwMode="auto">
          <a:xfrm>
            <a:off x="5825696" y="6643875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1" name="Text Box 1093"/>
          <p:cNvSpPr txBox="1">
            <a:spLocks noChangeArrowheads="1"/>
          </p:cNvSpPr>
          <p:nvPr/>
        </p:nvSpPr>
        <p:spPr bwMode="auto">
          <a:xfrm>
            <a:off x="5520898" y="5192902"/>
            <a:ext cx="301625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2" name="Rectangle 1094"/>
          <p:cNvSpPr>
            <a:spLocks noChangeArrowheads="1"/>
          </p:cNvSpPr>
          <p:nvPr/>
        </p:nvSpPr>
        <p:spPr bwMode="auto">
          <a:xfrm>
            <a:off x="5820935" y="5192902"/>
            <a:ext cx="914400" cy="3841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3" name="Oval 1095"/>
          <p:cNvSpPr>
            <a:spLocks noChangeArrowheads="1"/>
          </p:cNvSpPr>
          <p:nvPr/>
        </p:nvSpPr>
        <p:spPr bwMode="auto">
          <a:xfrm>
            <a:off x="4330271" y="49389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4" name="Oval 1096"/>
          <p:cNvSpPr>
            <a:spLocks noChangeArrowheads="1"/>
          </p:cNvSpPr>
          <p:nvPr/>
        </p:nvSpPr>
        <p:spPr bwMode="auto">
          <a:xfrm>
            <a:off x="4349321" y="522465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5" name="Oval 1097"/>
          <p:cNvSpPr>
            <a:spLocks noChangeArrowheads="1"/>
          </p:cNvSpPr>
          <p:nvPr/>
        </p:nvSpPr>
        <p:spPr bwMode="auto">
          <a:xfrm>
            <a:off x="4330271" y="58533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6" name="Oval 1098"/>
          <p:cNvSpPr>
            <a:spLocks noChangeArrowheads="1"/>
          </p:cNvSpPr>
          <p:nvPr/>
        </p:nvSpPr>
        <p:spPr bwMode="auto">
          <a:xfrm>
            <a:off x="4363609" y="674865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cxnSp>
        <p:nvCxnSpPr>
          <p:cNvPr id="147" name="AutoShape 1099"/>
          <p:cNvCxnSpPr>
            <a:cxnSpLocks noChangeShapeType="1"/>
            <a:stCxn id="143" idx="6"/>
            <a:endCxn id="135" idx="1"/>
          </p:cNvCxnSpPr>
          <p:nvPr/>
        </p:nvCxnSpPr>
        <p:spPr bwMode="auto">
          <a:xfrm flipV="1">
            <a:off x="4406472" y="4778564"/>
            <a:ext cx="1119188" cy="198437"/>
          </a:xfrm>
          <a:prstGeom prst="curvedConnector3">
            <a:avLst>
              <a:gd name="adj1" fmla="val 49931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AutoShape 1100"/>
          <p:cNvCxnSpPr>
            <a:cxnSpLocks noChangeShapeType="1"/>
            <a:stCxn id="144" idx="6"/>
            <a:endCxn id="141" idx="1"/>
          </p:cNvCxnSpPr>
          <p:nvPr/>
        </p:nvCxnSpPr>
        <p:spPr bwMode="auto">
          <a:xfrm>
            <a:off x="4425523" y="5262751"/>
            <a:ext cx="1095375" cy="122239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AutoShape 1101"/>
          <p:cNvCxnSpPr>
            <a:cxnSpLocks noChangeShapeType="1"/>
            <a:stCxn id="145" idx="6"/>
            <a:endCxn id="136" idx="1"/>
          </p:cNvCxnSpPr>
          <p:nvPr/>
        </p:nvCxnSpPr>
        <p:spPr bwMode="auto">
          <a:xfrm>
            <a:off x="4406473" y="5891401"/>
            <a:ext cx="1114425" cy="1031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AutoShape 1102"/>
          <p:cNvCxnSpPr>
            <a:cxnSpLocks noChangeShapeType="1"/>
            <a:stCxn id="146" idx="6"/>
            <a:endCxn id="137" idx="1"/>
          </p:cNvCxnSpPr>
          <p:nvPr/>
        </p:nvCxnSpPr>
        <p:spPr bwMode="auto">
          <a:xfrm>
            <a:off x="4439811" y="6786752"/>
            <a:ext cx="1081087" cy="49213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1" name="Text Box 1103"/>
          <p:cNvSpPr txBox="1">
            <a:spLocks noChangeArrowheads="1"/>
          </p:cNvSpPr>
          <p:nvPr/>
        </p:nvSpPr>
        <p:spPr bwMode="auto">
          <a:xfrm>
            <a:off x="5975453" y="3975874"/>
            <a:ext cx="6783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data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52" name="Text Box 1104"/>
          <p:cNvSpPr txBox="1">
            <a:spLocks noChangeArrowheads="1"/>
          </p:cNvSpPr>
          <p:nvPr/>
        </p:nvSpPr>
        <p:spPr bwMode="auto">
          <a:xfrm>
            <a:off x="5366450" y="3975874"/>
            <a:ext cx="55496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key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53" name="Text Box 1105"/>
          <p:cNvSpPr txBox="1">
            <a:spLocks noChangeArrowheads="1"/>
          </p:cNvSpPr>
          <p:nvPr/>
        </p:nvSpPr>
        <p:spPr bwMode="auto">
          <a:xfrm>
            <a:off x="3993656" y="3671074"/>
            <a:ext cx="8018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table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154" name="AutoShape 1106"/>
          <p:cNvCxnSpPr>
            <a:cxnSpLocks noChangeShapeType="1"/>
            <a:stCxn id="152" idx="2"/>
            <a:endCxn id="135" idx="0"/>
          </p:cNvCxnSpPr>
          <p:nvPr/>
        </p:nvCxnSpPr>
        <p:spPr bwMode="auto">
          <a:xfrm>
            <a:off x="5643930" y="4314428"/>
            <a:ext cx="32545" cy="2720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AutoShape 1107"/>
          <p:cNvCxnSpPr>
            <a:cxnSpLocks noChangeShapeType="1"/>
            <a:stCxn id="151" idx="2"/>
            <a:endCxn id="138" idx="0"/>
          </p:cNvCxnSpPr>
          <p:nvPr/>
        </p:nvCxnSpPr>
        <p:spPr bwMode="auto">
          <a:xfrm flipH="1">
            <a:off x="6282896" y="4314428"/>
            <a:ext cx="31753" cy="2720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Text Box 1"/>
          <p:cNvSpPr txBox="1"/>
          <p:nvPr/>
        </p:nvSpPr>
        <p:spPr>
          <a:xfrm>
            <a:off x="4869180" y="7379970"/>
            <a:ext cx="551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slot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DD2FF32-D882-497F-9E79-202D0B13639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F922FA5-448E-4C4B-A426-F88BA31896EC}" type="slidenum">
              <a:rPr lang="en-US" altLang="zh-CN" sz="1050"/>
            </a:fld>
            <a:endParaRPr lang="en-US" altLang="zh-CN" sz="1050"/>
          </a:p>
        </p:txBody>
      </p:sp>
      <p:sp>
        <p:nvSpPr>
          <p:cNvPr id="1229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Direct Address Implementation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229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75385" y="2627784"/>
            <a:ext cx="5915025" cy="561240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b="1" dirty="0">
                <a:latin typeface="Courier New" panose="02070609020205090404" pitchFamily="49" charset="0"/>
                <a:ea typeface="宋体" pitchFamily="2" charset="-122"/>
              </a:rPr>
              <a:t>Delete(Table T, </a:t>
            </a:r>
            <a:r>
              <a:rPr lang="en-US" altLang="zh-CN" sz="1800" b="1" dirty="0" err="1">
                <a:latin typeface="Courier New" panose="02070609020205090404" pitchFamily="49" charset="0"/>
                <a:ea typeface="宋体" pitchFamily="2" charset="-122"/>
              </a:rPr>
              <a:t>ElementType</a:t>
            </a:r>
            <a:r>
              <a:rPr lang="en-US" altLang="zh-CN" sz="1800" b="1" dirty="0">
                <a:latin typeface="Courier New" panose="02070609020205090404" pitchFamily="49" charset="0"/>
                <a:ea typeface="宋体" pitchFamily="2" charset="-122"/>
              </a:rPr>
              <a:t> x)</a:t>
            </a:r>
            <a:endParaRPr lang="en-US" altLang="zh-CN" sz="1800" b="1" dirty="0">
              <a:latin typeface="Courier New" panose="02070609020205090404" pitchFamily="49" charset="0"/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sz="1800" b="1" dirty="0">
                <a:latin typeface="Courier New" panose="02070609020205090404" pitchFamily="49" charset="0"/>
                <a:ea typeface="宋体" pitchFamily="2" charset="-122"/>
              </a:rPr>
              <a:t>T[key[x]] = NULL  </a:t>
            </a:r>
            <a:r>
              <a:rPr lang="en-US" altLang="zh-CN" sz="1800" b="1" dirty="0" smtClean="0">
                <a:solidFill>
                  <a:srgbClr val="008000"/>
                </a:solidFill>
                <a:latin typeface="Courier New" panose="02070609020205090404" pitchFamily="49" charset="0"/>
                <a:ea typeface="宋体" pitchFamily="2" charset="-122"/>
              </a:rPr>
              <a:t>//</a:t>
            </a:r>
            <a:r>
              <a:rPr lang="en-US" altLang="zh-CN" sz="1800" b="1" dirty="0">
                <a:solidFill>
                  <a:srgbClr val="008000"/>
                </a:solidFill>
                <a:latin typeface="Courier New" panose="02070609020205090404" pitchFamily="49" charset="0"/>
                <a:ea typeface="宋体" pitchFamily="2" charset="-122"/>
              </a:rPr>
              <a:t>key[x] is </a:t>
            </a:r>
            <a:r>
              <a:rPr lang="en-US" altLang="zh-CN" sz="1800" b="1" dirty="0" smtClean="0">
                <a:solidFill>
                  <a:srgbClr val="008000"/>
                </a:solidFill>
                <a:latin typeface="Courier New" panose="02070609020205090404" pitchFamily="49" charset="0"/>
                <a:ea typeface="宋体" pitchFamily="2" charset="-122"/>
              </a:rPr>
              <a:t>an integer</a:t>
            </a:r>
            <a:endParaRPr lang="en-US" altLang="zh-CN" sz="1800" b="1" dirty="0">
              <a:solidFill>
                <a:srgbClr val="008000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>
              <a:buFontTx/>
              <a:buNone/>
            </a:pPr>
            <a:endParaRPr lang="en-US" altLang="zh-CN" sz="1800" b="1" dirty="0" smtClean="0">
              <a:solidFill>
                <a:srgbClr val="5252D4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1800" b="1" dirty="0" smtClean="0">
                <a:solidFill>
                  <a:srgbClr val="5252D4"/>
                </a:solidFill>
                <a:latin typeface="Courier New" panose="02070609020205090404" pitchFamily="49" charset="0"/>
                <a:ea typeface="宋体" pitchFamily="2" charset="-122"/>
              </a:rPr>
              <a:t>Insert(Table T, </a:t>
            </a:r>
            <a:r>
              <a:rPr lang="en-US" altLang="zh-CN" sz="1800" b="1" dirty="0" err="1">
                <a:solidFill>
                  <a:srgbClr val="5252D4"/>
                </a:solidFill>
                <a:latin typeface="Courier New" panose="02070609020205090404" pitchFamily="49" charset="0"/>
                <a:ea typeface="宋体" pitchFamily="2" charset="-122"/>
              </a:rPr>
              <a:t>ElementType</a:t>
            </a:r>
            <a:r>
              <a:rPr lang="en-US" altLang="zh-CN" sz="1800" b="1" dirty="0">
                <a:solidFill>
                  <a:srgbClr val="5252D4"/>
                </a:solidFill>
                <a:latin typeface="Courier New" panose="02070609020205090404" pitchFamily="49" charset="0"/>
                <a:ea typeface="宋体" pitchFamily="2" charset="-122"/>
              </a:rPr>
              <a:t> x)</a:t>
            </a:r>
            <a:endParaRPr lang="en-US" altLang="zh-CN" sz="1800" b="1" dirty="0">
              <a:solidFill>
                <a:srgbClr val="5252D4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sz="1800" b="1" dirty="0">
                <a:solidFill>
                  <a:srgbClr val="5252D4"/>
                </a:solidFill>
                <a:latin typeface="Courier New" panose="02070609020205090404" pitchFamily="49" charset="0"/>
                <a:ea typeface="宋体" pitchFamily="2" charset="-122"/>
              </a:rPr>
              <a:t>T[key[x]] = x</a:t>
            </a:r>
            <a:endParaRPr lang="en-US" altLang="zh-CN" sz="1800" b="1" dirty="0">
              <a:solidFill>
                <a:srgbClr val="5252D4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b="1" dirty="0">
              <a:solidFill>
                <a:schemeClr val="accent2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Find(Table </a:t>
            </a:r>
            <a:r>
              <a:rPr lang="en-US" altLang="zh-CN" sz="1800" b="1" dirty="0" smtClean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T, 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Key k)</a:t>
            </a:r>
            <a:endParaRPr lang="en-US" altLang="zh-CN" sz="18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 lvl="1"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return T[k]</a:t>
            </a:r>
            <a:endParaRPr lang="en-US" altLang="zh-CN" sz="18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E9B4972-2BCE-4AB4-B62F-61C03808A5B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235D447-47CE-4DA7-805D-5B5494F552DA}" type="slidenum">
              <a:rPr lang="en-US" altLang="zh-CN" sz="1050"/>
            </a:fld>
            <a:endParaRPr lang="en-US" altLang="zh-CN" sz="1050"/>
          </a:p>
        </p:txBody>
      </p:sp>
      <p:sp>
        <p:nvSpPr>
          <p:cNvPr id="1331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An Issue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33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93032" y="2239447"/>
            <a:ext cx="6057900" cy="4302224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itchFamily="2" charset="-122"/>
              </a:rPr>
              <a:t>If most keys in U are used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direct addressing can work very well (m small</a:t>
            </a:r>
            <a:r>
              <a:rPr lang="en-US" altLang="zh-CN" sz="2400" dirty="0" smtClean="0">
                <a:ea typeface="宋体" pitchFamily="2" charset="-122"/>
              </a:rPr>
              <a:t>)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1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The largest possible key in U , say m, may be much larger than the number of elements actually stored (|U| much greater than |K|)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the table is very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sparse</a:t>
            </a:r>
            <a:r>
              <a:rPr lang="en-US" altLang="zh-CN" sz="2400" dirty="0">
                <a:ea typeface="宋体" pitchFamily="2" charset="-122"/>
              </a:rPr>
              <a:t> and wastes space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in worst case, table too large to have in </a:t>
            </a:r>
            <a:r>
              <a:rPr lang="en-US" altLang="zh-CN" sz="2400" dirty="0" smtClean="0">
                <a:ea typeface="宋体" pitchFamily="2" charset="-122"/>
              </a:rPr>
              <a:t>memory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1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If most keys in U are not used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need to map U to a smaller set closer in size to K</a:t>
            </a:r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5F568D9-A2A1-4AE6-8904-B7B5BE57F72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E83E868-7DBE-4EE3-BF23-7BE9CDC6FBD0}" type="slidenum">
              <a:rPr lang="en-US" altLang="zh-CN" sz="1050"/>
            </a:fld>
            <a:endParaRPr lang="en-US" altLang="zh-CN" sz="1050"/>
          </a:p>
        </p:txBody>
      </p:sp>
      <p:sp>
        <p:nvSpPr>
          <p:cNvPr id="143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Mapping the Keys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111" name="Oval 1103"/>
          <p:cNvSpPr>
            <a:spLocks noChangeArrowheads="1"/>
          </p:cNvSpPr>
          <p:nvPr/>
        </p:nvSpPr>
        <p:spPr bwMode="auto">
          <a:xfrm>
            <a:off x="187352" y="2147953"/>
            <a:ext cx="4495800" cy="19812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2" name="Oval 1027"/>
          <p:cNvSpPr>
            <a:spLocks noChangeArrowheads="1"/>
          </p:cNvSpPr>
          <p:nvPr/>
        </p:nvSpPr>
        <p:spPr bwMode="auto">
          <a:xfrm>
            <a:off x="1283228" y="4201528"/>
            <a:ext cx="2590800" cy="24384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2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3" name="Text Box 1028"/>
          <p:cNvSpPr txBox="1">
            <a:spLocks noChangeArrowheads="1"/>
          </p:cNvSpPr>
          <p:nvPr/>
        </p:nvSpPr>
        <p:spPr bwMode="auto">
          <a:xfrm>
            <a:off x="2067570" y="2115201"/>
            <a:ext cx="33214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宋体" pitchFamily="2" charset="-122"/>
              </a:rPr>
              <a:t>U</a:t>
            </a:r>
            <a:endParaRPr lang="en-US" altLang="zh-CN" sz="16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4" name="Oval 1029"/>
          <p:cNvSpPr>
            <a:spLocks noChangeArrowheads="1"/>
          </p:cNvSpPr>
          <p:nvPr/>
        </p:nvSpPr>
        <p:spPr bwMode="auto">
          <a:xfrm>
            <a:off x="1892828" y="4887328"/>
            <a:ext cx="1600200" cy="1447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15" name="Text Box 1031"/>
          <p:cNvSpPr txBox="1">
            <a:spLocks noChangeArrowheads="1"/>
          </p:cNvSpPr>
          <p:nvPr/>
        </p:nvSpPr>
        <p:spPr bwMode="auto">
          <a:xfrm>
            <a:off x="2389407" y="4997912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4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6" name="Text Box 1032"/>
          <p:cNvSpPr txBox="1">
            <a:spLocks noChangeArrowheads="1"/>
          </p:cNvSpPr>
          <p:nvPr/>
        </p:nvSpPr>
        <p:spPr bwMode="auto">
          <a:xfrm>
            <a:off x="2273138" y="57240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7" name="Text Box 1033"/>
          <p:cNvSpPr txBox="1">
            <a:spLocks noChangeArrowheads="1"/>
          </p:cNvSpPr>
          <p:nvPr/>
        </p:nvSpPr>
        <p:spPr bwMode="auto">
          <a:xfrm>
            <a:off x="2806538" y="58002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8" name="Text Box 1034"/>
          <p:cNvSpPr txBox="1">
            <a:spLocks noChangeArrowheads="1"/>
          </p:cNvSpPr>
          <p:nvPr/>
        </p:nvSpPr>
        <p:spPr bwMode="auto">
          <a:xfrm>
            <a:off x="2577938" y="52668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9" name="Text Box 1035"/>
          <p:cNvSpPr txBox="1">
            <a:spLocks noChangeArrowheads="1"/>
          </p:cNvSpPr>
          <p:nvPr/>
        </p:nvSpPr>
        <p:spPr bwMode="auto">
          <a:xfrm>
            <a:off x="1358738" y="53430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0" name="Text Box 1036"/>
          <p:cNvSpPr txBox="1">
            <a:spLocks noChangeArrowheads="1"/>
          </p:cNvSpPr>
          <p:nvPr/>
        </p:nvSpPr>
        <p:spPr bwMode="auto">
          <a:xfrm>
            <a:off x="1663538" y="48858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1" name="Text Box 1037"/>
          <p:cNvSpPr txBox="1">
            <a:spLocks noChangeArrowheads="1"/>
          </p:cNvSpPr>
          <p:nvPr/>
        </p:nvSpPr>
        <p:spPr bwMode="auto">
          <a:xfrm>
            <a:off x="1587338" y="45048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2" name="Text Box 1038"/>
          <p:cNvSpPr txBox="1">
            <a:spLocks noChangeArrowheads="1"/>
          </p:cNvSpPr>
          <p:nvPr/>
        </p:nvSpPr>
        <p:spPr bwMode="auto">
          <a:xfrm>
            <a:off x="2044538" y="42762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3" name="Text Box 1039"/>
          <p:cNvSpPr txBox="1">
            <a:spLocks noChangeArrowheads="1"/>
          </p:cNvSpPr>
          <p:nvPr/>
        </p:nvSpPr>
        <p:spPr bwMode="auto">
          <a:xfrm>
            <a:off x="2501738" y="44286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4" name="Text Box 1040"/>
          <p:cNvSpPr txBox="1">
            <a:spLocks noChangeArrowheads="1"/>
          </p:cNvSpPr>
          <p:nvPr/>
        </p:nvSpPr>
        <p:spPr bwMode="auto">
          <a:xfrm>
            <a:off x="2882738" y="4657243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5" name="Oval 1041"/>
          <p:cNvSpPr>
            <a:spLocks noChangeArrowheads="1"/>
          </p:cNvSpPr>
          <p:nvPr/>
        </p:nvSpPr>
        <p:spPr bwMode="auto">
          <a:xfrm>
            <a:off x="3035828" y="58779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6" name="Oval 1042"/>
          <p:cNvSpPr>
            <a:spLocks noChangeArrowheads="1"/>
          </p:cNvSpPr>
          <p:nvPr/>
        </p:nvSpPr>
        <p:spPr bwMode="auto">
          <a:xfrm>
            <a:off x="2502428" y="58017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7" name="Oval 1043"/>
          <p:cNvSpPr>
            <a:spLocks noChangeArrowheads="1"/>
          </p:cNvSpPr>
          <p:nvPr/>
        </p:nvSpPr>
        <p:spPr bwMode="auto">
          <a:xfrm>
            <a:off x="2807228" y="54207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8" name="Oval 1044"/>
          <p:cNvSpPr>
            <a:spLocks noChangeArrowheads="1"/>
          </p:cNvSpPr>
          <p:nvPr/>
        </p:nvSpPr>
        <p:spPr bwMode="auto">
          <a:xfrm>
            <a:off x="2722976" y="5132751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29" name="Oval 1045"/>
          <p:cNvSpPr>
            <a:spLocks noChangeArrowheads="1"/>
          </p:cNvSpPr>
          <p:nvPr/>
        </p:nvSpPr>
        <p:spPr bwMode="auto">
          <a:xfrm>
            <a:off x="1588028" y="54207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0" name="Oval 1046"/>
          <p:cNvSpPr>
            <a:spLocks noChangeArrowheads="1"/>
          </p:cNvSpPr>
          <p:nvPr/>
        </p:nvSpPr>
        <p:spPr bwMode="auto">
          <a:xfrm>
            <a:off x="1892828" y="49635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1" name="Oval 1047"/>
          <p:cNvSpPr>
            <a:spLocks noChangeArrowheads="1"/>
          </p:cNvSpPr>
          <p:nvPr/>
        </p:nvSpPr>
        <p:spPr bwMode="auto">
          <a:xfrm>
            <a:off x="1816628" y="45825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2" name="Oval 1048"/>
          <p:cNvSpPr>
            <a:spLocks noChangeArrowheads="1"/>
          </p:cNvSpPr>
          <p:nvPr/>
        </p:nvSpPr>
        <p:spPr bwMode="auto">
          <a:xfrm>
            <a:off x="2273828" y="44301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3" name="Oval 1049"/>
          <p:cNvSpPr>
            <a:spLocks noChangeArrowheads="1"/>
          </p:cNvSpPr>
          <p:nvPr/>
        </p:nvSpPr>
        <p:spPr bwMode="auto">
          <a:xfrm>
            <a:off x="2731028" y="45825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4" name="Oval 1050"/>
          <p:cNvSpPr>
            <a:spLocks noChangeArrowheads="1"/>
          </p:cNvSpPr>
          <p:nvPr/>
        </p:nvSpPr>
        <p:spPr bwMode="auto">
          <a:xfrm>
            <a:off x="3112028" y="47349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5" name="Rectangle 1051"/>
          <p:cNvSpPr>
            <a:spLocks noChangeArrowheads="1"/>
          </p:cNvSpPr>
          <p:nvPr/>
        </p:nvSpPr>
        <p:spPr bwMode="auto">
          <a:xfrm>
            <a:off x="4018136" y="49705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6" name="Line 1052"/>
          <p:cNvSpPr>
            <a:spLocks noChangeShapeType="1"/>
          </p:cNvSpPr>
          <p:nvPr/>
        </p:nvSpPr>
        <p:spPr bwMode="auto">
          <a:xfrm flipV="1">
            <a:off x="4322936" y="49705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Rectangle 1053"/>
          <p:cNvSpPr>
            <a:spLocks noChangeArrowheads="1"/>
          </p:cNvSpPr>
          <p:nvPr/>
        </p:nvSpPr>
        <p:spPr bwMode="auto">
          <a:xfrm>
            <a:off x="4018136" y="52753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8" name="Line 1054"/>
          <p:cNvSpPr>
            <a:spLocks noChangeShapeType="1"/>
          </p:cNvSpPr>
          <p:nvPr/>
        </p:nvSpPr>
        <p:spPr bwMode="auto">
          <a:xfrm flipV="1">
            <a:off x="4322936" y="52753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" name="Rectangle 1055"/>
          <p:cNvSpPr>
            <a:spLocks noChangeArrowheads="1"/>
          </p:cNvSpPr>
          <p:nvPr/>
        </p:nvSpPr>
        <p:spPr bwMode="auto">
          <a:xfrm>
            <a:off x="4018136" y="5580112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0" name="Rectangle 1056"/>
          <p:cNvSpPr>
            <a:spLocks noChangeArrowheads="1"/>
          </p:cNvSpPr>
          <p:nvPr/>
        </p:nvSpPr>
        <p:spPr bwMode="auto">
          <a:xfrm>
            <a:off x="4018136" y="5884912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1" name="Rectangle 1057"/>
          <p:cNvSpPr>
            <a:spLocks noChangeArrowheads="1"/>
          </p:cNvSpPr>
          <p:nvPr/>
        </p:nvSpPr>
        <p:spPr bwMode="auto">
          <a:xfrm>
            <a:off x="4018136" y="61897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2" name="Line 1058"/>
          <p:cNvSpPr>
            <a:spLocks noChangeShapeType="1"/>
          </p:cNvSpPr>
          <p:nvPr/>
        </p:nvSpPr>
        <p:spPr bwMode="auto">
          <a:xfrm flipV="1">
            <a:off x="4322936" y="61897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" name="Rectangle 1059"/>
          <p:cNvSpPr>
            <a:spLocks noChangeArrowheads="1"/>
          </p:cNvSpPr>
          <p:nvPr/>
        </p:nvSpPr>
        <p:spPr bwMode="auto">
          <a:xfrm>
            <a:off x="4018136" y="6494512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4" name="Rectangle 1060"/>
          <p:cNvSpPr>
            <a:spLocks noChangeArrowheads="1"/>
          </p:cNvSpPr>
          <p:nvPr/>
        </p:nvSpPr>
        <p:spPr bwMode="auto">
          <a:xfrm>
            <a:off x="4018136" y="67993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5" name="Line 1061"/>
          <p:cNvSpPr>
            <a:spLocks noChangeShapeType="1"/>
          </p:cNvSpPr>
          <p:nvPr/>
        </p:nvSpPr>
        <p:spPr bwMode="auto">
          <a:xfrm flipV="1">
            <a:off x="4322936" y="67993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Rectangle 1062"/>
          <p:cNvSpPr>
            <a:spLocks noChangeArrowheads="1"/>
          </p:cNvSpPr>
          <p:nvPr/>
        </p:nvSpPr>
        <p:spPr bwMode="auto">
          <a:xfrm>
            <a:off x="4018136" y="71041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7" name="Line 1063"/>
          <p:cNvSpPr>
            <a:spLocks noChangeShapeType="1"/>
          </p:cNvSpPr>
          <p:nvPr/>
        </p:nvSpPr>
        <p:spPr bwMode="auto">
          <a:xfrm flipV="1">
            <a:off x="4322936" y="71041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8" name="Rectangle 1064"/>
          <p:cNvSpPr>
            <a:spLocks noChangeArrowheads="1"/>
          </p:cNvSpPr>
          <p:nvPr/>
        </p:nvSpPr>
        <p:spPr bwMode="auto">
          <a:xfrm>
            <a:off x="4018136" y="7408912"/>
            <a:ext cx="9144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49" name="Rectangle 1065"/>
          <p:cNvSpPr>
            <a:spLocks noChangeArrowheads="1"/>
          </p:cNvSpPr>
          <p:nvPr/>
        </p:nvSpPr>
        <p:spPr bwMode="auto">
          <a:xfrm>
            <a:off x="4018136" y="7713712"/>
            <a:ext cx="914400" cy="304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50" name="Line 1066"/>
          <p:cNvSpPr>
            <a:spLocks noChangeShapeType="1"/>
          </p:cNvSpPr>
          <p:nvPr/>
        </p:nvSpPr>
        <p:spPr bwMode="auto">
          <a:xfrm flipV="1">
            <a:off x="4322936" y="7713712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Text Box 1067"/>
          <p:cNvSpPr txBox="1">
            <a:spLocks noChangeArrowheads="1"/>
          </p:cNvSpPr>
          <p:nvPr/>
        </p:nvSpPr>
        <p:spPr bwMode="auto">
          <a:xfrm>
            <a:off x="4931846" y="49690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2" name="Text Box 1068"/>
          <p:cNvSpPr txBox="1">
            <a:spLocks noChangeArrowheads="1"/>
          </p:cNvSpPr>
          <p:nvPr/>
        </p:nvSpPr>
        <p:spPr bwMode="auto">
          <a:xfrm>
            <a:off x="4931846" y="52738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3" name="Text Box 1069"/>
          <p:cNvSpPr txBox="1">
            <a:spLocks noChangeArrowheads="1"/>
          </p:cNvSpPr>
          <p:nvPr/>
        </p:nvSpPr>
        <p:spPr bwMode="auto">
          <a:xfrm>
            <a:off x="4931846" y="55786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4" name="Text Box 1070"/>
          <p:cNvSpPr txBox="1">
            <a:spLocks noChangeArrowheads="1"/>
          </p:cNvSpPr>
          <p:nvPr/>
        </p:nvSpPr>
        <p:spPr bwMode="auto">
          <a:xfrm>
            <a:off x="4931846" y="58834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5" name="Text Box 1071"/>
          <p:cNvSpPr txBox="1">
            <a:spLocks noChangeArrowheads="1"/>
          </p:cNvSpPr>
          <p:nvPr/>
        </p:nvSpPr>
        <p:spPr bwMode="auto">
          <a:xfrm>
            <a:off x="4931846" y="61882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6" name="Text Box 1072"/>
          <p:cNvSpPr txBox="1">
            <a:spLocks noChangeArrowheads="1"/>
          </p:cNvSpPr>
          <p:nvPr/>
        </p:nvSpPr>
        <p:spPr bwMode="auto">
          <a:xfrm>
            <a:off x="4931846" y="64930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7" name="Text Box 1073"/>
          <p:cNvSpPr txBox="1">
            <a:spLocks noChangeArrowheads="1"/>
          </p:cNvSpPr>
          <p:nvPr/>
        </p:nvSpPr>
        <p:spPr bwMode="auto">
          <a:xfrm>
            <a:off x="4931846" y="67978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8" name="Text Box 1074"/>
          <p:cNvSpPr txBox="1">
            <a:spLocks noChangeArrowheads="1"/>
          </p:cNvSpPr>
          <p:nvPr/>
        </p:nvSpPr>
        <p:spPr bwMode="auto">
          <a:xfrm>
            <a:off x="4931846" y="71026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7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9" name="Text Box 1075"/>
          <p:cNvSpPr txBox="1">
            <a:spLocks noChangeArrowheads="1"/>
          </p:cNvSpPr>
          <p:nvPr/>
        </p:nvSpPr>
        <p:spPr bwMode="auto">
          <a:xfrm>
            <a:off x="4931846" y="74074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0" name="Text Box 1076"/>
          <p:cNvSpPr txBox="1">
            <a:spLocks noChangeArrowheads="1"/>
          </p:cNvSpPr>
          <p:nvPr/>
        </p:nvSpPr>
        <p:spPr bwMode="auto">
          <a:xfrm>
            <a:off x="4931846" y="7712226"/>
            <a:ext cx="2744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9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161" name="AutoShape 1077"/>
          <p:cNvCxnSpPr>
            <a:cxnSpLocks noChangeShapeType="1"/>
            <a:stCxn id="128" idx="6"/>
            <a:endCxn id="139" idx="1"/>
          </p:cNvCxnSpPr>
          <p:nvPr/>
        </p:nvCxnSpPr>
        <p:spPr bwMode="auto">
          <a:xfrm>
            <a:off x="2799176" y="5170851"/>
            <a:ext cx="1218960" cy="5616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2" name="AutoShape 1078"/>
          <p:cNvCxnSpPr>
            <a:cxnSpLocks noChangeShapeType="1"/>
            <a:stCxn id="127" idx="6"/>
            <a:endCxn id="140" idx="1"/>
          </p:cNvCxnSpPr>
          <p:nvPr/>
        </p:nvCxnSpPr>
        <p:spPr bwMode="auto">
          <a:xfrm>
            <a:off x="2883428" y="5458828"/>
            <a:ext cx="1134708" cy="5784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AutoShape 1079"/>
          <p:cNvCxnSpPr>
            <a:cxnSpLocks noChangeShapeType="1"/>
            <a:stCxn id="126" idx="6"/>
            <a:endCxn id="143" idx="1"/>
          </p:cNvCxnSpPr>
          <p:nvPr/>
        </p:nvCxnSpPr>
        <p:spPr bwMode="auto">
          <a:xfrm>
            <a:off x="2578628" y="5839828"/>
            <a:ext cx="1439508" cy="8070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" name="AutoShape 1080"/>
          <p:cNvCxnSpPr>
            <a:cxnSpLocks noChangeShapeType="1"/>
            <a:stCxn id="125" idx="6"/>
            <a:endCxn id="148" idx="1"/>
          </p:cNvCxnSpPr>
          <p:nvPr/>
        </p:nvCxnSpPr>
        <p:spPr bwMode="auto">
          <a:xfrm>
            <a:off x="3112028" y="5916028"/>
            <a:ext cx="906108" cy="164528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5" name="Text Box 1081"/>
          <p:cNvSpPr txBox="1">
            <a:spLocks noChangeArrowheads="1"/>
          </p:cNvSpPr>
          <p:nvPr/>
        </p:nvSpPr>
        <p:spPr bwMode="auto">
          <a:xfrm>
            <a:off x="5623100" y="5351513"/>
            <a:ext cx="452437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254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6" name="Rectangle 1084"/>
          <p:cNvSpPr>
            <a:spLocks noChangeArrowheads="1"/>
          </p:cNvSpPr>
          <p:nvPr/>
        </p:nvSpPr>
        <p:spPr bwMode="auto">
          <a:xfrm>
            <a:off x="6075536" y="5351512"/>
            <a:ext cx="7620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67" name="Oval 1089"/>
          <p:cNvSpPr>
            <a:spLocks noChangeArrowheads="1"/>
          </p:cNvSpPr>
          <p:nvPr/>
        </p:nvSpPr>
        <p:spPr bwMode="auto">
          <a:xfrm>
            <a:off x="4427711" y="570393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68" name="Oval 1090"/>
          <p:cNvSpPr>
            <a:spLocks noChangeArrowheads="1"/>
          </p:cNvSpPr>
          <p:nvPr/>
        </p:nvSpPr>
        <p:spPr bwMode="auto">
          <a:xfrm>
            <a:off x="4446761" y="5989687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69" name="Oval 1091"/>
          <p:cNvSpPr>
            <a:spLocks noChangeArrowheads="1"/>
          </p:cNvSpPr>
          <p:nvPr/>
        </p:nvSpPr>
        <p:spPr bwMode="auto">
          <a:xfrm>
            <a:off x="4427711" y="661833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70" name="Oval 1092"/>
          <p:cNvSpPr>
            <a:spLocks noChangeArrowheads="1"/>
          </p:cNvSpPr>
          <p:nvPr/>
        </p:nvSpPr>
        <p:spPr bwMode="auto">
          <a:xfrm>
            <a:off x="4461049" y="7513687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cxnSp>
        <p:nvCxnSpPr>
          <p:cNvPr id="171" name="AutoShape 1093"/>
          <p:cNvCxnSpPr>
            <a:cxnSpLocks noChangeShapeType="1"/>
            <a:stCxn id="167" idx="6"/>
            <a:endCxn id="165" idx="1"/>
          </p:cNvCxnSpPr>
          <p:nvPr/>
        </p:nvCxnSpPr>
        <p:spPr bwMode="auto">
          <a:xfrm flipV="1">
            <a:off x="4503912" y="5543602"/>
            <a:ext cx="1119188" cy="198437"/>
          </a:xfrm>
          <a:prstGeom prst="curvedConnector3">
            <a:avLst>
              <a:gd name="adj1" fmla="val 49931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AutoShape 1094"/>
          <p:cNvCxnSpPr>
            <a:cxnSpLocks noChangeShapeType="1"/>
            <a:stCxn id="168" idx="6"/>
          </p:cNvCxnSpPr>
          <p:nvPr/>
        </p:nvCxnSpPr>
        <p:spPr bwMode="auto">
          <a:xfrm>
            <a:off x="4522963" y="6027789"/>
            <a:ext cx="1095375" cy="122239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AutoShape 1095"/>
          <p:cNvCxnSpPr>
            <a:cxnSpLocks noChangeShapeType="1"/>
            <a:stCxn id="169" idx="6"/>
          </p:cNvCxnSpPr>
          <p:nvPr/>
        </p:nvCxnSpPr>
        <p:spPr bwMode="auto">
          <a:xfrm>
            <a:off x="4503913" y="6656438"/>
            <a:ext cx="1114425" cy="1031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" name="AutoShape 1096"/>
          <p:cNvCxnSpPr>
            <a:cxnSpLocks noChangeShapeType="1"/>
            <a:stCxn id="170" idx="6"/>
          </p:cNvCxnSpPr>
          <p:nvPr/>
        </p:nvCxnSpPr>
        <p:spPr bwMode="auto">
          <a:xfrm>
            <a:off x="4537251" y="7551788"/>
            <a:ext cx="1081087" cy="49213"/>
          </a:xfrm>
          <a:prstGeom prst="curvedConnector3">
            <a:avLst>
              <a:gd name="adj1" fmla="val 49926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5" name="Text Box 1097"/>
          <p:cNvSpPr txBox="1">
            <a:spLocks noChangeArrowheads="1"/>
          </p:cNvSpPr>
          <p:nvPr/>
        </p:nvSpPr>
        <p:spPr bwMode="auto">
          <a:xfrm>
            <a:off x="6072893" y="4740911"/>
            <a:ext cx="6783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data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76" name="Text Box 1098"/>
          <p:cNvSpPr txBox="1">
            <a:spLocks noChangeArrowheads="1"/>
          </p:cNvSpPr>
          <p:nvPr/>
        </p:nvSpPr>
        <p:spPr bwMode="auto">
          <a:xfrm>
            <a:off x="5463889" y="4740911"/>
            <a:ext cx="55495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key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177" name="Text Box 1099"/>
          <p:cNvSpPr txBox="1">
            <a:spLocks noChangeArrowheads="1"/>
          </p:cNvSpPr>
          <p:nvPr/>
        </p:nvSpPr>
        <p:spPr bwMode="auto">
          <a:xfrm>
            <a:off x="4091096" y="4436111"/>
            <a:ext cx="8018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Courier New" panose="02070609020205090404" pitchFamily="49" charset="0"/>
                <a:ea typeface="宋体" pitchFamily="2" charset="-122"/>
              </a:rPr>
              <a:t>table</a:t>
            </a:r>
            <a:endParaRPr lang="en-US" altLang="zh-CN" sz="1600"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178" name="AutoShape 1100"/>
          <p:cNvCxnSpPr>
            <a:cxnSpLocks noChangeShapeType="1"/>
            <a:stCxn id="176" idx="2"/>
            <a:endCxn id="165" idx="0"/>
          </p:cNvCxnSpPr>
          <p:nvPr/>
        </p:nvCxnSpPr>
        <p:spPr bwMode="auto">
          <a:xfrm>
            <a:off x="5741369" y="5079465"/>
            <a:ext cx="107950" cy="27204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AutoShape 1101"/>
          <p:cNvCxnSpPr>
            <a:cxnSpLocks noChangeShapeType="1"/>
            <a:stCxn id="175" idx="2"/>
            <a:endCxn id="166" idx="0"/>
          </p:cNvCxnSpPr>
          <p:nvPr/>
        </p:nvCxnSpPr>
        <p:spPr bwMode="auto">
          <a:xfrm>
            <a:off x="6412089" y="5079465"/>
            <a:ext cx="44447" cy="27204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" name="Oval 1104"/>
          <p:cNvSpPr>
            <a:spLocks noChangeArrowheads="1"/>
          </p:cNvSpPr>
          <p:nvPr/>
        </p:nvSpPr>
        <p:spPr bwMode="auto">
          <a:xfrm>
            <a:off x="826028" y="2525128"/>
            <a:ext cx="1600200" cy="1447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81" name="Text Box 1105"/>
          <p:cNvSpPr txBox="1">
            <a:spLocks noChangeArrowheads="1"/>
          </p:cNvSpPr>
          <p:nvPr/>
        </p:nvSpPr>
        <p:spPr bwMode="auto">
          <a:xfrm>
            <a:off x="1129268" y="2828443"/>
            <a:ext cx="4539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254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2" name="Text Box 1106"/>
          <p:cNvSpPr txBox="1">
            <a:spLocks noChangeArrowheads="1"/>
          </p:cNvSpPr>
          <p:nvPr/>
        </p:nvSpPr>
        <p:spPr bwMode="auto">
          <a:xfrm>
            <a:off x="902229" y="3361841"/>
            <a:ext cx="7302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itchFamily="2" charset="-122"/>
              </a:rPr>
              <a:t>54724</a:t>
            </a:r>
            <a:endParaRPr lang="en-US" altLang="zh-CN" sz="14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3" name="Text Box 1107"/>
          <p:cNvSpPr txBox="1">
            <a:spLocks noChangeArrowheads="1"/>
          </p:cNvSpPr>
          <p:nvPr/>
        </p:nvSpPr>
        <p:spPr bwMode="auto">
          <a:xfrm>
            <a:off x="1847254" y="3438043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4" name="Text Box 1108"/>
          <p:cNvSpPr txBox="1">
            <a:spLocks noChangeArrowheads="1"/>
          </p:cNvSpPr>
          <p:nvPr/>
        </p:nvSpPr>
        <p:spPr bwMode="auto">
          <a:xfrm>
            <a:off x="1687634" y="2980843"/>
            <a:ext cx="5437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3456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5" name="Text Box 1109"/>
          <p:cNvSpPr txBox="1">
            <a:spLocks noChangeArrowheads="1"/>
          </p:cNvSpPr>
          <p:nvPr/>
        </p:nvSpPr>
        <p:spPr bwMode="auto">
          <a:xfrm>
            <a:off x="2315304" y="3684784"/>
            <a:ext cx="8064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103673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6" name="Text Box 1110"/>
          <p:cNvSpPr txBox="1">
            <a:spLocks noChangeArrowheads="1"/>
          </p:cNvSpPr>
          <p:nvPr/>
        </p:nvSpPr>
        <p:spPr bwMode="auto">
          <a:xfrm>
            <a:off x="3455006" y="3325482"/>
            <a:ext cx="7302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928104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7" name="Text Box 1111"/>
          <p:cNvSpPr txBox="1">
            <a:spLocks noChangeArrowheads="1"/>
          </p:cNvSpPr>
          <p:nvPr/>
        </p:nvSpPr>
        <p:spPr bwMode="auto">
          <a:xfrm>
            <a:off x="3096540" y="2832887"/>
            <a:ext cx="4539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432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8" name="Text Box 1112"/>
          <p:cNvSpPr txBox="1">
            <a:spLocks noChangeArrowheads="1"/>
          </p:cNvSpPr>
          <p:nvPr/>
        </p:nvSpPr>
        <p:spPr bwMode="auto">
          <a:xfrm>
            <a:off x="3707010" y="2604287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0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9" name="Text Box 1113"/>
          <p:cNvSpPr txBox="1">
            <a:spLocks noChangeArrowheads="1"/>
          </p:cNvSpPr>
          <p:nvPr/>
        </p:nvSpPr>
        <p:spPr bwMode="auto">
          <a:xfrm>
            <a:off x="2312876" y="2541785"/>
            <a:ext cx="633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72345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0" name="Text Box 1114"/>
          <p:cNvSpPr txBox="1">
            <a:spLocks noChangeArrowheads="1"/>
          </p:cNvSpPr>
          <p:nvPr/>
        </p:nvSpPr>
        <p:spPr bwMode="auto">
          <a:xfrm>
            <a:off x="2561830" y="3151385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52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1" name="Oval 1115"/>
          <p:cNvSpPr>
            <a:spLocks noChangeArrowheads="1"/>
          </p:cNvSpPr>
          <p:nvPr/>
        </p:nvSpPr>
        <p:spPr bwMode="auto">
          <a:xfrm>
            <a:off x="2121428" y="35157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2" name="Oval 1116"/>
          <p:cNvSpPr>
            <a:spLocks noChangeArrowheads="1"/>
          </p:cNvSpPr>
          <p:nvPr/>
        </p:nvSpPr>
        <p:spPr bwMode="auto">
          <a:xfrm>
            <a:off x="1588028" y="34395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3" name="Oval 1117"/>
          <p:cNvSpPr>
            <a:spLocks noChangeArrowheads="1"/>
          </p:cNvSpPr>
          <p:nvPr/>
        </p:nvSpPr>
        <p:spPr bwMode="auto">
          <a:xfrm>
            <a:off x="2197628" y="30585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4" name="Oval 1118"/>
          <p:cNvSpPr>
            <a:spLocks noChangeArrowheads="1"/>
          </p:cNvSpPr>
          <p:nvPr/>
        </p:nvSpPr>
        <p:spPr bwMode="auto">
          <a:xfrm>
            <a:off x="1511828" y="290612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5" name="Oval 1119"/>
          <p:cNvSpPr>
            <a:spLocks noChangeArrowheads="1"/>
          </p:cNvSpPr>
          <p:nvPr/>
        </p:nvSpPr>
        <p:spPr bwMode="auto">
          <a:xfrm>
            <a:off x="3077304" y="3762471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6" name="Oval 1120"/>
          <p:cNvSpPr>
            <a:spLocks noChangeArrowheads="1"/>
          </p:cNvSpPr>
          <p:nvPr/>
        </p:nvSpPr>
        <p:spPr bwMode="auto">
          <a:xfrm>
            <a:off x="4140806" y="3403169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7" name="Oval 1121"/>
          <p:cNvSpPr>
            <a:spLocks noChangeArrowheads="1"/>
          </p:cNvSpPr>
          <p:nvPr/>
        </p:nvSpPr>
        <p:spPr bwMode="auto">
          <a:xfrm>
            <a:off x="3479100" y="291057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8" name="Oval 1122"/>
          <p:cNvSpPr>
            <a:spLocks noChangeArrowheads="1"/>
          </p:cNvSpPr>
          <p:nvPr/>
        </p:nvSpPr>
        <p:spPr bwMode="auto">
          <a:xfrm>
            <a:off x="3936300" y="275817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99" name="Oval 1123"/>
          <p:cNvSpPr>
            <a:spLocks noChangeArrowheads="1"/>
          </p:cNvSpPr>
          <p:nvPr/>
        </p:nvSpPr>
        <p:spPr bwMode="auto">
          <a:xfrm>
            <a:off x="2848704" y="2695671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00" name="Oval 1124"/>
          <p:cNvSpPr>
            <a:spLocks noChangeArrowheads="1"/>
          </p:cNvSpPr>
          <p:nvPr/>
        </p:nvSpPr>
        <p:spPr bwMode="auto">
          <a:xfrm>
            <a:off x="2924904" y="3229071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01" name="Freeform 1126"/>
          <p:cNvSpPr/>
          <p:nvPr/>
        </p:nvSpPr>
        <p:spPr bwMode="auto">
          <a:xfrm>
            <a:off x="2197630" y="3591928"/>
            <a:ext cx="1231900" cy="2286000"/>
          </a:xfrm>
          <a:custGeom>
            <a:avLst/>
            <a:gdLst>
              <a:gd name="T0" fmla="*/ 0 w 776"/>
              <a:gd name="T1" fmla="*/ 0 h 1440"/>
              <a:gd name="T2" fmla="*/ 708025 w 776"/>
              <a:gd name="T3" fmla="*/ 460375 h 1440"/>
              <a:gd name="T4" fmla="*/ 1196975 w 776"/>
              <a:gd name="T5" fmla="*/ 1371600 h 1440"/>
              <a:gd name="T6" fmla="*/ 914400 w 776"/>
              <a:gd name="T7" fmla="*/ 228600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76" h="1440">
                <a:moveTo>
                  <a:pt x="0" y="0"/>
                </a:moveTo>
                <a:cubicBezTo>
                  <a:pt x="74" y="48"/>
                  <a:pt x="320" y="146"/>
                  <a:pt x="446" y="290"/>
                </a:cubicBezTo>
                <a:cubicBezTo>
                  <a:pt x="572" y="434"/>
                  <a:pt x="732" y="672"/>
                  <a:pt x="754" y="864"/>
                </a:cubicBezTo>
                <a:cubicBezTo>
                  <a:pt x="776" y="1056"/>
                  <a:pt x="613" y="1320"/>
                  <a:pt x="576" y="144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" name="Freeform 1127"/>
          <p:cNvSpPr/>
          <p:nvPr/>
        </p:nvSpPr>
        <p:spPr bwMode="auto">
          <a:xfrm>
            <a:off x="2273828" y="3134728"/>
            <a:ext cx="1106488" cy="2286000"/>
          </a:xfrm>
          <a:custGeom>
            <a:avLst/>
            <a:gdLst>
              <a:gd name="T0" fmla="*/ 0 w 697"/>
              <a:gd name="T1" fmla="*/ 0 h 1440"/>
              <a:gd name="T2" fmla="*/ 849313 w 697"/>
              <a:gd name="T3" fmla="*/ 522288 h 1440"/>
              <a:gd name="T4" fmla="*/ 1066800 w 697"/>
              <a:gd name="T5" fmla="*/ 1081088 h 1440"/>
              <a:gd name="T6" fmla="*/ 609600 w 697"/>
              <a:gd name="T7" fmla="*/ 228600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97" h="1440">
                <a:moveTo>
                  <a:pt x="0" y="0"/>
                </a:moveTo>
                <a:cubicBezTo>
                  <a:pt x="89" y="55"/>
                  <a:pt x="423" y="216"/>
                  <a:pt x="535" y="329"/>
                </a:cubicBezTo>
                <a:cubicBezTo>
                  <a:pt x="647" y="442"/>
                  <a:pt x="697" y="496"/>
                  <a:pt x="672" y="681"/>
                </a:cubicBezTo>
                <a:cubicBezTo>
                  <a:pt x="647" y="866"/>
                  <a:pt x="444" y="1282"/>
                  <a:pt x="384" y="1440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3" name="Line 1128"/>
          <p:cNvSpPr>
            <a:spLocks noChangeShapeType="1"/>
          </p:cNvSpPr>
          <p:nvPr/>
        </p:nvSpPr>
        <p:spPr bwMode="auto">
          <a:xfrm>
            <a:off x="1588028" y="2982328"/>
            <a:ext cx="1134746" cy="210512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" name="Freeform 1129"/>
          <p:cNvSpPr/>
          <p:nvPr/>
        </p:nvSpPr>
        <p:spPr bwMode="auto">
          <a:xfrm>
            <a:off x="1395942" y="3534778"/>
            <a:ext cx="1006475" cy="2217739"/>
          </a:xfrm>
          <a:custGeom>
            <a:avLst/>
            <a:gdLst>
              <a:gd name="T0" fmla="*/ 188913 w 634"/>
              <a:gd name="T1" fmla="*/ 0 h 1397"/>
              <a:gd name="T2" fmla="*/ 25400 w 634"/>
              <a:gd name="T3" fmla="*/ 1033463 h 1397"/>
              <a:gd name="T4" fmla="*/ 339725 w 634"/>
              <a:gd name="T5" fmla="*/ 1755775 h 1397"/>
              <a:gd name="T6" fmla="*/ 1006475 w 634"/>
              <a:gd name="T7" fmla="*/ 2217738 h 13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34" h="1397">
                <a:moveTo>
                  <a:pt x="119" y="0"/>
                </a:moveTo>
                <a:cubicBezTo>
                  <a:pt x="102" y="108"/>
                  <a:pt x="0" y="467"/>
                  <a:pt x="16" y="651"/>
                </a:cubicBezTo>
                <a:cubicBezTo>
                  <a:pt x="32" y="835"/>
                  <a:pt x="111" y="982"/>
                  <a:pt x="214" y="1106"/>
                </a:cubicBezTo>
                <a:cubicBezTo>
                  <a:pt x="317" y="1230"/>
                  <a:pt x="547" y="1337"/>
                  <a:pt x="634" y="1397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" name="Text Box 1030"/>
          <p:cNvSpPr txBox="1">
            <a:spLocks noChangeArrowheads="1"/>
          </p:cNvSpPr>
          <p:nvPr/>
        </p:nvSpPr>
        <p:spPr bwMode="auto">
          <a:xfrm>
            <a:off x="1663259" y="2524127"/>
            <a:ext cx="33214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>
                <a:latin typeface="Times New Roman" panose="02020603050405020304" pitchFamily="18" charset="0"/>
                <a:ea typeface="宋体" pitchFamily="2" charset="-122"/>
              </a:rPr>
              <a:t>K</a:t>
            </a:r>
            <a:endParaRPr lang="en-US" altLang="zh-CN" sz="16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6" name="Text Box 1130"/>
          <p:cNvSpPr txBox="1">
            <a:spLocks noChangeArrowheads="1"/>
          </p:cNvSpPr>
          <p:nvPr/>
        </p:nvSpPr>
        <p:spPr bwMode="auto">
          <a:xfrm>
            <a:off x="92415" y="4285708"/>
            <a:ext cx="1318712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b="1" dirty="0">
                <a:solidFill>
                  <a:srgbClr val="008000"/>
                </a:solidFill>
                <a:ea typeface="宋体" pitchFamily="2" charset="-122"/>
              </a:rPr>
              <a:t>Hash Function</a:t>
            </a:r>
            <a:endParaRPr lang="en-US" altLang="zh-CN" b="1" dirty="0">
              <a:solidFill>
                <a:srgbClr val="008000"/>
              </a:solidFill>
              <a:ea typeface="宋体" pitchFamily="2" charset="-122"/>
            </a:endParaRPr>
          </a:p>
          <a:p>
            <a:r>
              <a:rPr lang="en-US" altLang="zh-CN" b="1" i="1" dirty="0">
                <a:solidFill>
                  <a:srgbClr val="008000"/>
                </a:solidFill>
                <a:latin typeface="Arial Bold Italic" panose="020B0604020202090204" charset="0"/>
                <a:ea typeface="宋体" pitchFamily="2" charset="-122"/>
                <a:cs typeface="Arial Bold Italic" panose="020B0604020202090204" charset="0"/>
              </a:rPr>
              <a:t>h</a:t>
            </a:r>
            <a:endParaRPr lang="en-US" altLang="zh-CN" b="1" i="1" dirty="0">
              <a:solidFill>
                <a:srgbClr val="008000"/>
              </a:solidFill>
              <a:latin typeface="Arial Bold Italic" panose="020B0604020202090204" charset="0"/>
              <a:ea typeface="宋体" pitchFamily="2" charset="-122"/>
              <a:cs typeface="Arial Bold Italic" panose="020B0604020202090204" charset="0"/>
            </a:endParaRPr>
          </a:p>
        </p:txBody>
      </p:sp>
      <p:sp>
        <p:nvSpPr>
          <p:cNvPr id="207" name="Line 1131"/>
          <p:cNvSpPr>
            <a:spLocks noChangeShapeType="1"/>
          </p:cNvSpPr>
          <p:nvPr/>
        </p:nvSpPr>
        <p:spPr bwMode="auto">
          <a:xfrm flipV="1">
            <a:off x="718773" y="4247608"/>
            <a:ext cx="685800" cy="762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8" name="Text Box 1132"/>
          <p:cNvSpPr txBox="1">
            <a:spLocks noChangeArrowheads="1"/>
          </p:cNvSpPr>
          <p:nvPr/>
        </p:nvSpPr>
        <p:spPr bwMode="auto">
          <a:xfrm>
            <a:off x="5623100" y="5976989"/>
            <a:ext cx="452437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3456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9" name="Rectangle 1133"/>
          <p:cNvSpPr>
            <a:spLocks noChangeArrowheads="1"/>
          </p:cNvSpPr>
          <p:nvPr/>
        </p:nvSpPr>
        <p:spPr bwMode="auto">
          <a:xfrm>
            <a:off x="6075536" y="5976987"/>
            <a:ext cx="7620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0" name="Text Box 1134"/>
          <p:cNvSpPr txBox="1">
            <a:spLocks noChangeArrowheads="1"/>
          </p:cNvSpPr>
          <p:nvPr/>
        </p:nvSpPr>
        <p:spPr bwMode="auto">
          <a:xfrm>
            <a:off x="5623100" y="6662789"/>
            <a:ext cx="452437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54724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1" name="Rectangle 1135"/>
          <p:cNvSpPr>
            <a:spLocks noChangeArrowheads="1"/>
          </p:cNvSpPr>
          <p:nvPr/>
        </p:nvSpPr>
        <p:spPr bwMode="auto">
          <a:xfrm>
            <a:off x="6075536" y="6662787"/>
            <a:ext cx="7620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2" name="Text Box 1136"/>
          <p:cNvSpPr txBox="1">
            <a:spLocks noChangeArrowheads="1"/>
          </p:cNvSpPr>
          <p:nvPr/>
        </p:nvSpPr>
        <p:spPr bwMode="auto">
          <a:xfrm>
            <a:off x="5623100" y="7424789"/>
            <a:ext cx="452437" cy="38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400">
                <a:latin typeface="Times New Roman" panose="02020603050405020304" pitchFamily="18" charset="0"/>
                <a:ea typeface="宋体" pitchFamily="2" charset="-122"/>
              </a:rPr>
              <a:t>81</a:t>
            </a:r>
            <a:endParaRPr lang="en-US" altLang="zh-CN" sz="140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13" name="Rectangle 1137"/>
          <p:cNvSpPr>
            <a:spLocks noChangeArrowheads="1"/>
          </p:cNvSpPr>
          <p:nvPr/>
        </p:nvSpPr>
        <p:spPr bwMode="auto">
          <a:xfrm>
            <a:off x="6075536" y="7424787"/>
            <a:ext cx="7620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14" name="Text Box 1138"/>
          <p:cNvSpPr txBox="1">
            <a:spLocks noChangeArrowheads="1"/>
          </p:cNvSpPr>
          <p:nvPr/>
        </p:nvSpPr>
        <p:spPr bwMode="auto">
          <a:xfrm>
            <a:off x="3997353" y="2071753"/>
            <a:ext cx="1710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Key Universe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15" name="Text Box 1139"/>
          <p:cNvSpPr txBox="1">
            <a:spLocks noChangeArrowheads="1"/>
          </p:cNvSpPr>
          <p:nvPr/>
        </p:nvSpPr>
        <p:spPr bwMode="auto">
          <a:xfrm>
            <a:off x="211470" y="5586649"/>
            <a:ext cx="98456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Table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indices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9F64DDC-30E4-467F-8D4E-A60B2FC1742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29E113F-EC2D-4996-8718-715BA26A4432}" type="slidenum">
              <a:rPr lang="en-US" altLang="zh-CN" sz="1050"/>
            </a:fld>
            <a:endParaRPr lang="en-US" altLang="zh-CN" sz="105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Hashing Schemes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</a:rPr>
              <a:t>We want to store N items in a table of size M, at a location computed from the key K </a:t>
            </a:r>
            <a:r>
              <a:rPr lang="en-US" altLang="zh-CN" sz="2800" dirty="0" smtClean="0">
                <a:solidFill>
                  <a:srgbClr val="FF0000"/>
                </a:solidFill>
                <a:ea typeface="宋体" pitchFamily="2" charset="-122"/>
              </a:rPr>
              <a:t>(which may not be numeric!)</a:t>
            </a:r>
            <a:endParaRPr lang="en-US" altLang="zh-CN" sz="2800" dirty="0" smtClean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b="1" dirty="0" smtClean="0">
                <a:solidFill>
                  <a:srgbClr val="3A3AB9"/>
                </a:solidFill>
                <a:ea typeface="宋体" pitchFamily="2" charset="-122"/>
              </a:rPr>
              <a:t>Hash function </a:t>
            </a:r>
            <a:r>
              <a:rPr lang="en-US" altLang="zh-CN" sz="2800" b="1" i="1" dirty="0" smtClean="0">
                <a:solidFill>
                  <a:srgbClr val="3A3AB9"/>
                </a:solidFill>
                <a:ea typeface="宋体" pitchFamily="2" charset="-122"/>
              </a:rPr>
              <a:t>h</a:t>
            </a:r>
            <a:endParaRPr lang="en-US" altLang="zh-CN" sz="2800" b="1" dirty="0" smtClean="0">
              <a:solidFill>
                <a:srgbClr val="3A3AB9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宋体" pitchFamily="2" charset="-122"/>
              </a:rPr>
              <a:t>Method for computing table index from key</a:t>
            </a:r>
            <a:endParaRPr lang="en-US" altLang="zh-CN" sz="24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</a:rPr>
              <a:t>Need of a</a:t>
            </a:r>
            <a:r>
              <a:rPr lang="en-US" altLang="zh-CN" sz="2800" dirty="0" smtClean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ea typeface="宋体" pitchFamily="2" charset="-122"/>
              </a:rPr>
              <a:t>collision resolution strategy</a:t>
            </a:r>
            <a:endParaRPr lang="en-US" altLang="zh-CN" sz="2800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宋体" pitchFamily="2" charset="-122"/>
              </a:rPr>
              <a:t>How to handle two keys that hash to the same index</a:t>
            </a:r>
            <a:endParaRPr lang="en-US" altLang="zh-CN" sz="24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CC65DA1-733C-434D-8FD9-E7BC65BF8EF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16DC5D4-5E09-438F-9605-9CF407479A7F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“Find”  an Element in an Array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639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</a:rPr>
              <a:t>Data records can be stored in arrays.</a:t>
            </a: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A[0] = {“</a:t>
            </a:r>
            <a:r>
              <a:rPr lang="en-US" altLang="zh-CN" sz="2400" u="sng" dirty="0" smtClean="0">
                <a:solidFill>
                  <a:srgbClr val="5D26F8"/>
                </a:solidFill>
                <a:ea typeface="宋体" pitchFamily="2" charset="-122"/>
              </a:rPr>
              <a:t>CHEM 110</a:t>
            </a: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”, Size 89}</a:t>
            </a:r>
            <a:endParaRPr lang="en-US" altLang="zh-CN" sz="2400" dirty="0" smtClean="0">
              <a:solidFill>
                <a:srgbClr val="5D26F8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A[3] = {“</a:t>
            </a:r>
            <a:r>
              <a:rPr lang="en-US" altLang="zh-CN" sz="2400" u="sng" dirty="0" smtClean="0">
                <a:solidFill>
                  <a:srgbClr val="5D26F8"/>
                </a:solidFill>
                <a:ea typeface="宋体" pitchFamily="2" charset="-122"/>
              </a:rPr>
              <a:t>CSE 142</a:t>
            </a: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”, Size 251} </a:t>
            </a:r>
            <a:endParaRPr lang="en-US" altLang="zh-CN" sz="2400" dirty="0" smtClean="0">
              <a:solidFill>
                <a:srgbClr val="5D26F8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A[17] = {“</a:t>
            </a:r>
            <a:r>
              <a:rPr lang="en-US" altLang="zh-CN" sz="2400" u="sng" dirty="0" smtClean="0">
                <a:solidFill>
                  <a:srgbClr val="5D26F8"/>
                </a:solidFill>
                <a:ea typeface="宋体" pitchFamily="2" charset="-122"/>
              </a:rPr>
              <a:t>CSE 373</a:t>
            </a:r>
            <a:r>
              <a:rPr lang="en-US" altLang="zh-CN" sz="2400" dirty="0" smtClean="0">
                <a:solidFill>
                  <a:srgbClr val="5D26F8"/>
                </a:solidFill>
                <a:ea typeface="宋体" pitchFamily="2" charset="-122"/>
              </a:rPr>
              <a:t>”, Size 85}</a:t>
            </a:r>
            <a:endParaRPr lang="en-US" altLang="zh-CN" sz="2400" dirty="0" smtClean="0">
              <a:solidFill>
                <a:srgbClr val="5D26F8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 smtClean="0">
              <a:solidFill>
                <a:schemeClr val="accent2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</a:rPr>
              <a:t>Class size for CSE 373?</a:t>
            </a:r>
            <a:endParaRPr lang="en-US" altLang="zh-CN" sz="28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Linear search the array – O(N) worst case time</a:t>
            </a:r>
            <a:endParaRPr lang="en-US" altLang="zh-CN" sz="2400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Binary search - O(log N) worst case</a:t>
            </a:r>
            <a:endParaRPr lang="en-US" altLang="zh-CN" sz="2400" dirty="0" smtClean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D127724-3BD8-4EFB-90FE-6CA1E9E3021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9DACD1F-BD51-4F46-9FCC-388CC215F4B4}" type="slidenum">
              <a:rPr lang="en-US" altLang="zh-CN" sz="1050"/>
            </a:fld>
            <a:endParaRPr lang="en-US" altLang="zh-CN" sz="105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Go Directly to the Element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>
                <a:ea typeface="宋体" pitchFamily="2" charset="-122"/>
              </a:rPr>
              <a:t>What if we could directly index into the array using the </a:t>
            </a:r>
            <a:r>
              <a:rPr lang="en-US" altLang="zh-CN" sz="2800" dirty="0" smtClean="0">
                <a:solidFill>
                  <a:srgbClr val="263AF8"/>
                </a:solidFill>
                <a:ea typeface="宋体" pitchFamily="2" charset="-122"/>
              </a:rPr>
              <a:t>key</a:t>
            </a:r>
            <a:r>
              <a:rPr lang="en-US" altLang="zh-CN" sz="2800" dirty="0" smtClean="0">
                <a:ea typeface="宋体" pitchFamily="2" charset="-122"/>
              </a:rPr>
              <a:t>?</a:t>
            </a:r>
            <a:endParaRPr lang="en-US" altLang="zh-CN" sz="28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ea typeface="宋体" pitchFamily="2" charset="-122"/>
              </a:rPr>
              <a:t>A[“</a:t>
            </a:r>
            <a:r>
              <a:rPr lang="en-US" altLang="zh-CN" sz="2400" dirty="0" smtClean="0">
                <a:solidFill>
                  <a:srgbClr val="0000FF"/>
                </a:solidFill>
                <a:ea typeface="宋体" pitchFamily="2" charset="-122"/>
              </a:rPr>
              <a:t>CSE 373</a:t>
            </a:r>
            <a:r>
              <a:rPr lang="en-US" altLang="zh-CN" sz="2400" dirty="0" smtClean="0">
                <a:ea typeface="宋体" pitchFamily="2" charset="-122"/>
              </a:rPr>
              <a:t>”]</a:t>
            </a:r>
            <a:r>
              <a:rPr lang="en-US" altLang="zh-CN" sz="2400" dirty="0" smtClean="0">
                <a:solidFill>
                  <a:srgbClr val="0000FF"/>
                </a:solidFill>
                <a:ea typeface="宋体" pitchFamily="2" charset="-122"/>
              </a:rPr>
              <a:t> </a:t>
            </a:r>
            <a:r>
              <a:rPr lang="en-US" altLang="zh-CN" sz="2400" dirty="0" smtClean="0">
                <a:ea typeface="宋体" pitchFamily="2" charset="-122"/>
              </a:rPr>
              <a:t>= {Size 85}</a:t>
            </a:r>
            <a:endParaRPr lang="en-US" altLang="zh-CN" sz="2400" dirty="0" smtClean="0">
              <a:ea typeface="宋体" pitchFamily="2" charset="-122"/>
            </a:endParaRPr>
          </a:p>
          <a:p>
            <a:pPr lvl="1"/>
            <a:endParaRPr lang="en-US" altLang="zh-CN" sz="2400" dirty="0" smtClean="0">
              <a:ea typeface="宋体" pitchFamily="2" charset="-122"/>
            </a:endParaRPr>
          </a:p>
          <a:p>
            <a:r>
              <a:rPr lang="en-US" altLang="zh-CN" sz="2800" dirty="0" smtClean="0">
                <a:ea typeface="宋体" pitchFamily="2" charset="-122"/>
              </a:rPr>
              <a:t>Main idea behind hash tables</a:t>
            </a:r>
            <a:endParaRPr lang="en-US" altLang="zh-CN" sz="2800" dirty="0" smtClean="0"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Use a key based on some aspect of the data to index directly into an array</a:t>
            </a:r>
            <a:endParaRPr lang="en-US" altLang="zh-CN" sz="2400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endParaRPr lang="en-US" altLang="zh-CN" sz="300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  <a:ea typeface="宋体" pitchFamily="2" charset="-122"/>
              </a:rPr>
              <a:t>O(1) time to access records</a:t>
            </a:r>
            <a:endParaRPr lang="en-US" altLang="zh-CN" sz="2400" dirty="0" smtClean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833B571-4F17-4ED2-90FD-BA4538F650E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03FD8EB-994C-4BEB-AC0E-7D8F5A9DAF10}" type="slidenum">
              <a:rPr lang="en-US" altLang="zh-CN" sz="1050"/>
            </a:fld>
            <a:endParaRPr lang="en-US" altLang="zh-CN" sz="105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Indexing into Hash Table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6955" y="2627784"/>
            <a:ext cx="6204347" cy="4115917"/>
          </a:xfrm>
        </p:spPr>
        <p:txBody>
          <a:bodyPr>
            <a:noAutofit/>
          </a:bodyPr>
          <a:lstStyle/>
          <a:p>
            <a:r>
              <a:rPr lang="en-US" altLang="zh-CN" sz="2800" dirty="0">
                <a:ea typeface="宋体" pitchFamily="2" charset="-122"/>
              </a:rPr>
              <a:t>Need a fast </a:t>
            </a:r>
            <a:r>
              <a:rPr lang="en-US" altLang="zh-CN" sz="2800" i="1" dirty="0">
                <a:solidFill>
                  <a:srgbClr val="0000FF"/>
                </a:solidFill>
                <a:ea typeface="宋体" pitchFamily="2" charset="-122"/>
              </a:rPr>
              <a:t>hash function</a:t>
            </a:r>
            <a:r>
              <a:rPr lang="en-US" altLang="zh-CN" sz="2800" dirty="0">
                <a:ea typeface="宋体" pitchFamily="2" charset="-122"/>
              </a:rPr>
              <a:t> to convert the element key (string or number) to an integer (the </a:t>
            </a:r>
            <a:r>
              <a:rPr lang="en-US" altLang="zh-CN" sz="2800" i="1" dirty="0">
                <a:solidFill>
                  <a:srgbClr val="0000FF"/>
                </a:solidFill>
                <a:ea typeface="宋体" pitchFamily="2" charset="-122"/>
              </a:rPr>
              <a:t>hash value</a:t>
            </a:r>
            <a:r>
              <a:rPr lang="en-US" altLang="zh-CN" sz="2800" dirty="0">
                <a:ea typeface="宋体" pitchFamily="2" charset="-122"/>
              </a:rPr>
              <a:t>)  (</a:t>
            </a:r>
            <a:r>
              <a:rPr lang="en-US" altLang="zh-CN" sz="2800" dirty="0" err="1">
                <a:ea typeface="宋体" pitchFamily="2" charset="-122"/>
              </a:rPr>
              <a:t>i.e</a:t>
            </a:r>
            <a:r>
              <a:rPr lang="en-US" altLang="zh-CN" sz="2800" dirty="0">
                <a:ea typeface="宋体" pitchFamily="2" charset="-122"/>
              </a:rPr>
              <a:t>, map from U to index)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Then use this value to index into an array</a:t>
            </a:r>
            <a:endParaRPr lang="en-US" altLang="zh-CN" sz="24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Hash(“CSE 373”) = 157, Hash(“CSE 143”) = 101</a:t>
            </a:r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Output of the hash function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must always be less than size of array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should be as evenly distributed as possible</a:t>
            </a:r>
            <a:endParaRPr lang="en-US" altLang="zh-CN" sz="24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D91BDF4-0C0C-416D-AF8C-0E35B2A0564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C3CEA95-E97C-4927-8773-4017A924A4C5}" type="slidenum">
              <a:rPr lang="en-US" altLang="zh-CN" sz="1050"/>
            </a:fld>
            <a:endParaRPr lang="en-US" altLang="zh-CN" sz="1050"/>
          </a:p>
        </p:txBody>
      </p:sp>
      <p:sp>
        <p:nvSpPr>
          <p:cNvPr id="19461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Choosing the Hash Function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19462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</a:rPr>
              <a:t>What properties do we want from a hash function?</a:t>
            </a:r>
            <a:endParaRPr lang="en-US" altLang="zh-CN" sz="28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263AF8"/>
                </a:solidFill>
                <a:latin typeface="Sitka Text" panose="02000505000000020004" pitchFamily="2" charset="0"/>
                <a:ea typeface="宋体" pitchFamily="2" charset="-122"/>
                <a:cs typeface="+mn-cs"/>
              </a:rPr>
              <a:t>Want universe of hash values to be distributed randomly to minimize collisions</a:t>
            </a:r>
            <a:endParaRPr lang="en-US" altLang="zh-CN" sz="2400" dirty="0">
              <a:solidFill>
                <a:srgbClr val="263AF8"/>
              </a:solidFill>
              <a:latin typeface="Sitka Text" panose="02000505000000020004" pitchFamily="2" charset="0"/>
              <a:ea typeface="宋体" pitchFamily="2" charset="-122"/>
              <a:cs typeface="+mn-cs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solidFill>
                  <a:srgbClr val="CC0099"/>
                </a:solidFill>
                <a:latin typeface="Sitka Text" panose="02000505000000020004" pitchFamily="2" charset="0"/>
                <a:ea typeface="宋体" pitchFamily="2" charset="-122"/>
              </a:rPr>
              <a:t>Don’t want systematic nonrandom pattern in selection of keys to lead to systematic collisions</a:t>
            </a:r>
            <a:endParaRPr lang="en-US" altLang="zh-CN" sz="2400" dirty="0" smtClean="0">
              <a:solidFill>
                <a:srgbClr val="CC0099"/>
              </a:solidFill>
              <a:latin typeface="Sitka Text" panose="02000505000000020004" pitchFamily="2" charset="0"/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006600"/>
                </a:solidFill>
                <a:latin typeface="Sitka Text" panose="02000505000000020004" pitchFamily="2" charset="0"/>
                <a:ea typeface="宋体" pitchFamily="2" charset="-122"/>
                <a:cs typeface="+mn-cs"/>
              </a:rPr>
              <a:t>Want hash value to depend on all values in entire key and their positions</a:t>
            </a:r>
            <a:endParaRPr lang="en-US" altLang="zh-CN" sz="2400" dirty="0">
              <a:solidFill>
                <a:srgbClr val="006600"/>
              </a:solidFill>
              <a:latin typeface="Sitka Text" panose="02000505000000020004" pitchFamily="2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E81914E-4339-4A57-99B8-7D096CDC01B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251B55E-C7A4-46BE-99A6-5FE7103D872A}" type="slidenum">
              <a:rPr lang="en-US" altLang="zh-CN" sz="1050"/>
            </a:fld>
            <a:endParaRPr lang="en-US" altLang="zh-CN" sz="105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The Key Values are Important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Notice that one issue with all the hash functions is that the actual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content of the key set</a:t>
            </a:r>
            <a:r>
              <a:rPr lang="en-US" altLang="zh-CN" dirty="0" smtClean="0">
                <a:ea typeface="宋体" pitchFamily="2" charset="-122"/>
              </a:rPr>
              <a:t> matters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solidFill>
                  <a:srgbClr val="006600"/>
                </a:solidFill>
                <a:ea typeface="宋体" pitchFamily="2" charset="-122"/>
              </a:rPr>
              <a:t>The elements in K (the keys that are used) are quite possibly a restricted subset of U, not just a random collection</a:t>
            </a:r>
            <a:endParaRPr lang="en-US" altLang="zh-CN" dirty="0" smtClean="0">
              <a:solidFill>
                <a:srgbClr val="006600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variable names, words in the English language, reserved keywords, telephone numbers, </a:t>
            </a:r>
            <a:r>
              <a:rPr lang="en-US" altLang="zh-CN" dirty="0" err="1" smtClean="0">
                <a:ea typeface="宋体" pitchFamily="2" charset="-122"/>
              </a:rPr>
              <a:t>etc</a:t>
            </a:r>
            <a:r>
              <a:rPr lang="en-US" altLang="zh-CN" dirty="0" smtClean="0">
                <a:ea typeface="宋体" pitchFamily="2" charset="-122"/>
              </a:rPr>
              <a:t>, </a:t>
            </a:r>
            <a:r>
              <a:rPr lang="en-US" altLang="zh-CN" dirty="0" err="1" smtClean="0">
                <a:ea typeface="宋体" pitchFamily="2" charset="-122"/>
              </a:rPr>
              <a:t>etc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1417DB6-72A1-4DC4-8F3E-9AB6731E389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CF0393A-E3FE-4B21-8D6B-23A9F3799430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Simple Hashes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263AF8"/>
                </a:solidFill>
                <a:ea typeface="宋体" pitchFamily="2" charset="-122"/>
              </a:rPr>
              <a:t>It's possible to have very simple hash functions if you are certain of your keys</a:t>
            </a:r>
            <a:endParaRPr lang="en-US" altLang="zh-CN" sz="2800" dirty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For example, </a:t>
            </a:r>
            <a:endParaRPr lang="en-US" altLang="zh-CN" sz="2800" dirty="0">
              <a:ea typeface="宋体" pitchFamily="2" charset="-122"/>
            </a:endParaRPr>
          </a:p>
          <a:p>
            <a:pPr lvl="1"/>
            <a:r>
              <a:rPr lang="en-US" altLang="zh-CN" sz="2400" dirty="0">
                <a:ea typeface="宋体" pitchFamily="2" charset="-122"/>
              </a:rPr>
              <a:t>suppose we know that the keys </a:t>
            </a:r>
            <a:r>
              <a:rPr lang="en-US" altLang="zh-CN" sz="2400" i="1" dirty="0">
                <a:ea typeface="宋体" pitchFamily="2" charset="-122"/>
              </a:rPr>
              <a:t>s</a:t>
            </a:r>
            <a:r>
              <a:rPr lang="en-US" altLang="zh-CN" sz="2400" dirty="0">
                <a:ea typeface="宋体" pitchFamily="2" charset="-122"/>
              </a:rPr>
              <a:t> will be real numbers </a:t>
            </a:r>
            <a:r>
              <a:rPr lang="en-US" altLang="zh-CN" sz="2400" dirty="0">
                <a:solidFill>
                  <a:srgbClr val="263AF8"/>
                </a:solidFill>
                <a:ea typeface="宋体" pitchFamily="2" charset="-122"/>
              </a:rPr>
              <a:t>uniformly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263AF8"/>
                </a:solidFill>
                <a:ea typeface="宋体" pitchFamily="2" charset="-122"/>
              </a:rPr>
              <a:t>distributed over 0 </a:t>
            </a:r>
            <a:r>
              <a:rPr lang="en-US" altLang="zh-CN" sz="2400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i="1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s </a:t>
            </a:r>
            <a:r>
              <a:rPr lang="en-US" altLang="zh-CN" sz="2400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&lt; 1</a:t>
            </a:r>
            <a:endParaRPr lang="en-US" altLang="zh-CN" sz="2400" dirty="0">
              <a:solidFill>
                <a:srgbClr val="263AF8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ea typeface="宋体" pitchFamily="2" charset="-122"/>
                <a:sym typeface="Symbol" panose="05050102010706020507" pitchFamily="18" charset="2"/>
              </a:rPr>
              <a:t>Then a very fast, very good hash function is </a:t>
            </a:r>
            <a:endParaRPr lang="en-US" altLang="zh-CN" sz="2400" dirty="0">
              <a:ea typeface="宋体" pitchFamily="2" charset="-122"/>
              <a:sym typeface="Symbol" panose="05050102010706020507" pitchFamily="18" charset="2"/>
            </a:endParaRPr>
          </a:p>
          <a:p>
            <a:pPr lvl="2"/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hash(s) = floor(</a:t>
            </a:r>
            <a:r>
              <a:rPr lang="en-US" altLang="zh-CN" sz="2000" i="1" dirty="0" err="1">
                <a:solidFill>
                  <a:srgbClr val="FF0000"/>
                </a:solidFill>
                <a:ea typeface="宋体" pitchFamily="2" charset="-122"/>
              </a:rPr>
              <a:t>s·m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)</a:t>
            </a:r>
            <a:endParaRPr lang="en-US" altLang="zh-CN" sz="2000" dirty="0">
              <a:solidFill>
                <a:srgbClr val="FF0000"/>
              </a:solidFill>
              <a:ea typeface="宋体" pitchFamily="2" charset="-122"/>
            </a:endParaRPr>
          </a:p>
          <a:p>
            <a:pPr lvl="2"/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where </a:t>
            </a:r>
            <a:r>
              <a:rPr lang="en-US" altLang="zh-CN" sz="2000" i="1" dirty="0">
                <a:solidFill>
                  <a:srgbClr val="FF0000"/>
                </a:solidFill>
                <a:ea typeface="宋体" pitchFamily="2" charset="-122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 is the size of the table</a:t>
            </a:r>
            <a:endParaRPr lang="en-US" altLang="zh-CN" sz="2000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231DC12-0E07-4E9D-86E2-94875260EBD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FB3A6C2-DFE2-405D-97FB-DB6FA972840D}" type="slidenum">
              <a:rPr lang="en-US" altLang="zh-CN" sz="1050"/>
            </a:fld>
            <a:endParaRPr lang="en-US" altLang="zh-CN" sz="105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Example of a Very Simple Mapping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986975"/>
            <a:ext cx="5829300" cy="74295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hash(s) = floor(</a:t>
            </a:r>
            <a:r>
              <a:rPr lang="en-US" altLang="zh-CN" i="1" dirty="0" err="1">
                <a:ea typeface="宋体" pitchFamily="2" charset="-122"/>
              </a:rPr>
              <a:t>s·m</a:t>
            </a:r>
            <a:r>
              <a:rPr lang="en-US" altLang="zh-CN" dirty="0">
                <a:ea typeface="宋体" pitchFamily="2" charset="-122"/>
              </a:rPr>
              <a:t>) maps from 0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 dirty="0">
                <a:ea typeface="宋体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&lt; 1</a:t>
            </a:r>
            <a:r>
              <a:rPr lang="en-US" altLang="zh-CN" dirty="0">
                <a:ea typeface="宋体" pitchFamily="2" charset="-122"/>
              </a:rPr>
              <a:t> to 0..m-1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 smtClean="0">
                <a:ea typeface="宋体" pitchFamily="2" charset="-122"/>
              </a:rPr>
              <a:t>m = 10</a:t>
            </a:r>
            <a:endParaRPr lang="en-US" altLang="zh-CN" sz="2400" dirty="0" smtClean="0">
              <a:ea typeface="宋体" pitchFamily="2" charset="-122"/>
            </a:endParaRPr>
          </a:p>
        </p:txBody>
      </p:sp>
      <p:sp>
        <p:nvSpPr>
          <p:cNvPr id="22577" name="Text Box 53"/>
          <p:cNvSpPr txBox="1">
            <a:spLocks noChangeArrowheads="1"/>
          </p:cNvSpPr>
          <p:nvPr/>
        </p:nvSpPr>
        <p:spPr bwMode="auto">
          <a:xfrm>
            <a:off x="1277369" y="6348138"/>
            <a:ext cx="447740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Note the even distribution.  There are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  <a:ea typeface="宋体" pitchFamily="2" charset="-122"/>
              </a:rPr>
              <a:t>collisions</a:t>
            </a:r>
            <a:r>
              <a:rPr lang="en-US" altLang="zh-CN" dirty="0">
                <a:latin typeface="Sitka Text" panose="02000505000000020004" pitchFamily="2" charset="0"/>
                <a:ea typeface="宋体" pitchFamily="2" charset="-122"/>
              </a:rPr>
              <a:t>, but we will deal with them later.</a:t>
            </a:r>
            <a:endParaRPr lang="en-US" altLang="zh-CN" dirty="0">
              <a:latin typeface="Sitka Text" panose="02000505000000020004" pitchFamily="2" charset="0"/>
              <a:ea typeface="宋体" pitchFamily="2" charset="-122"/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14712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5"/>
          <p:cNvSpPr txBox="1">
            <a:spLocks noChangeArrowheads="1"/>
          </p:cNvSpPr>
          <p:nvPr/>
        </p:nvSpPr>
        <p:spPr bwMode="auto">
          <a:xfrm>
            <a:off x="20046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25380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30714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36048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0.4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6" name="Text Box 9"/>
          <p:cNvSpPr txBox="1">
            <a:spLocks noChangeArrowheads="1"/>
          </p:cNvSpPr>
          <p:nvPr/>
        </p:nvSpPr>
        <p:spPr bwMode="auto">
          <a:xfrm>
            <a:off x="41382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46716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8" name="Text Box 11"/>
          <p:cNvSpPr txBox="1">
            <a:spLocks noChangeArrowheads="1"/>
          </p:cNvSpPr>
          <p:nvPr/>
        </p:nvSpPr>
        <p:spPr bwMode="auto">
          <a:xfrm>
            <a:off x="52050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57384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0.8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0" name="Text Box 13"/>
          <p:cNvSpPr txBox="1">
            <a:spLocks noChangeArrowheads="1"/>
          </p:cNvSpPr>
          <p:nvPr/>
        </p:nvSpPr>
        <p:spPr bwMode="auto">
          <a:xfrm>
            <a:off x="6271821" y="4406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0.9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1" name="Text Box 16"/>
          <p:cNvSpPr txBox="1">
            <a:spLocks noChangeArrowheads="1"/>
          </p:cNvSpPr>
          <p:nvPr/>
        </p:nvSpPr>
        <p:spPr bwMode="auto">
          <a:xfrm>
            <a:off x="14712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2" name="Text Box 17"/>
          <p:cNvSpPr txBox="1">
            <a:spLocks noChangeArrowheads="1"/>
          </p:cNvSpPr>
          <p:nvPr/>
        </p:nvSpPr>
        <p:spPr bwMode="auto">
          <a:xfrm>
            <a:off x="20046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25380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4" name="Text Box 19"/>
          <p:cNvSpPr txBox="1">
            <a:spLocks noChangeArrowheads="1"/>
          </p:cNvSpPr>
          <p:nvPr/>
        </p:nvSpPr>
        <p:spPr bwMode="auto">
          <a:xfrm>
            <a:off x="30714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36048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41382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7" name="Text Box 22"/>
          <p:cNvSpPr txBox="1">
            <a:spLocks noChangeArrowheads="1"/>
          </p:cNvSpPr>
          <p:nvPr/>
        </p:nvSpPr>
        <p:spPr bwMode="auto">
          <a:xfrm>
            <a:off x="46716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8" name="Text Box 23"/>
          <p:cNvSpPr txBox="1">
            <a:spLocks noChangeArrowheads="1"/>
          </p:cNvSpPr>
          <p:nvPr/>
        </p:nvSpPr>
        <p:spPr bwMode="auto">
          <a:xfrm>
            <a:off x="52050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57384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0" name="Text Box 25"/>
          <p:cNvSpPr txBox="1">
            <a:spLocks noChangeArrowheads="1"/>
          </p:cNvSpPr>
          <p:nvPr/>
        </p:nvSpPr>
        <p:spPr bwMode="auto">
          <a:xfrm>
            <a:off x="6271821" y="5549546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1" name="Text Box 28"/>
          <p:cNvSpPr txBox="1">
            <a:spLocks noChangeArrowheads="1"/>
          </p:cNvSpPr>
          <p:nvPr/>
        </p:nvSpPr>
        <p:spPr bwMode="auto">
          <a:xfrm>
            <a:off x="0" y="4406546"/>
            <a:ext cx="1277369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s</a:t>
            </a:r>
            <a:endParaRPr lang="en-US" altLang="zh-CN" sz="1600" b="1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2" name="Text Box 29"/>
          <p:cNvSpPr txBox="1">
            <a:spLocks noChangeArrowheads="1"/>
          </p:cNvSpPr>
          <p:nvPr/>
        </p:nvSpPr>
        <p:spPr bwMode="auto">
          <a:xfrm>
            <a:off x="0" y="5549546"/>
            <a:ext cx="127737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floor(s*m)</a:t>
            </a:r>
            <a:endParaRPr lang="en-US" altLang="zh-CN" sz="1600" b="1">
              <a:solidFill>
                <a:srgbClr val="263AF8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73" name="AutoShape 30"/>
          <p:cNvCxnSpPr>
            <a:cxnSpLocks noChangeShapeType="1"/>
            <a:stCxn id="51" idx="2"/>
            <a:endCxn id="61" idx="0"/>
          </p:cNvCxnSpPr>
          <p:nvPr/>
        </p:nvCxnSpPr>
        <p:spPr bwMode="auto">
          <a:xfrm>
            <a:off x="17379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31"/>
          <p:cNvCxnSpPr>
            <a:cxnSpLocks noChangeShapeType="1"/>
            <a:stCxn id="52" idx="2"/>
            <a:endCxn id="62" idx="0"/>
          </p:cNvCxnSpPr>
          <p:nvPr/>
        </p:nvCxnSpPr>
        <p:spPr bwMode="auto">
          <a:xfrm>
            <a:off x="22713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32"/>
          <p:cNvCxnSpPr>
            <a:cxnSpLocks noChangeShapeType="1"/>
            <a:stCxn id="53" idx="2"/>
            <a:endCxn id="63" idx="0"/>
          </p:cNvCxnSpPr>
          <p:nvPr/>
        </p:nvCxnSpPr>
        <p:spPr bwMode="auto">
          <a:xfrm>
            <a:off x="28047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33"/>
          <p:cNvCxnSpPr>
            <a:cxnSpLocks noChangeShapeType="1"/>
            <a:stCxn id="54" idx="2"/>
            <a:endCxn id="64" idx="0"/>
          </p:cNvCxnSpPr>
          <p:nvPr/>
        </p:nvCxnSpPr>
        <p:spPr bwMode="auto">
          <a:xfrm>
            <a:off x="33381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AutoShape 34"/>
          <p:cNvCxnSpPr>
            <a:cxnSpLocks noChangeShapeType="1"/>
            <a:stCxn id="55" idx="2"/>
            <a:endCxn id="65" idx="0"/>
          </p:cNvCxnSpPr>
          <p:nvPr/>
        </p:nvCxnSpPr>
        <p:spPr bwMode="auto">
          <a:xfrm>
            <a:off x="38715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35"/>
          <p:cNvCxnSpPr>
            <a:cxnSpLocks noChangeShapeType="1"/>
            <a:stCxn id="56" idx="2"/>
            <a:endCxn id="66" idx="0"/>
          </p:cNvCxnSpPr>
          <p:nvPr/>
        </p:nvCxnSpPr>
        <p:spPr bwMode="auto">
          <a:xfrm>
            <a:off x="44049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36"/>
          <p:cNvCxnSpPr>
            <a:cxnSpLocks noChangeShapeType="1"/>
            <a:stCxn id="57" idx="2"/>
            <a:endCxn id="67" idx="0"/>
          </p:cNvCxnSpPr>
          <p:nvPr/>
        </p:nvCxnSpPr>
        <p:spPr bwMode="auto">
          <a:xfrm>
            <a:off x="49383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37"/>
          <p:cNvCxnSpPr>
            <a:cxnSpLocks noChangeShapeType="1"/>
            <a:stCxn id="58" idx="2"/>
            <a:endCxn id="68" idx="0"/>
          </p:cNvCxnSpPr>
          <p:nvPr/>
        </p:nvCxnSpPr>
        <p:spPr bwMode="auto">
          <a:xfrm>
            <a:off x="54717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38"/>
          <p:cNvCxnSpPr>
            <a:cxnSpLocks noChangeShapeType="1"/>
            <a:stCxn id="59" idx="2"/>
            <a:endCxn id="69" idx="0"/>
          </p:cNvCxnSpPr>
          <p:nvPr/>
        </p:nvCxnSpPr>
        <p:spPr bwMode="auto">
          <a:xfrm>
            <a:off x="60051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39"/>
          <p:cNvCxnSpPr>
            <a:cxnSpLocks noChangeShapeType="1"/>
            <a:stCxn id="60" idx="2"/>
            <a:endCxn id="70" idx="0"/>
          </p:cNvCxnSpPr>
          <p:nvPr/>
        </p:nvCxnSpPr>
        <p:spPr bwMode="auto">
          <a:xfrm>
            <a:off x="6538521" y="4711346"/>
            <a:ext cx="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Line 43"/>
          <p:cNvSpPr>
            <a:spLocks noChangeShapeType="1"/>
          </p:cNvSpPr>
          <p:nvPr/>
        </p:nvSpPr>
        <p:spPr bwMode="auto">
          <a:xfrm>
            <a:off x="41382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4" name="Line 44"/>
          <p:cNvSpPr>
            <a:spLocks noChangeShapeType="1"/>
          </p:cNvSpPr>
          <p:nvPr/>
        </p:nvSpPr>
        <p:spPr bwMode="auto">
          <a:xfrm>
            <a:off x="25380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5" name="Line 45"/>
          <p:cNvSpPr>
            <a:spLocks noChangeShapeType="1"/>
          </p:cNvSpPr>
          <p:nvPr/>
        </p:nvSpPr>
        <p:spPr bwMode="auto">
          <a:xfrm>
            <a:off x="46716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6" name="Line 46"/>
          <p:cNvSpPr>
            <a:spLocks noChangeShapeType="1"/>
          </p:cNvSpPr>
          <p:nvPr/>
        </p:nvSpPr>
        <p:spPr bwMode="auto">
          <a:xfrm>
            <a:off x="52050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7" name="Line 47"/>
          <p:cNvSpPr>
            <a:spLocks noChangeShapeType="1"/>
          </p:cNvSpPr>
          <p:nvPr/>
        </p:nvSpPr>
        <p:spPr bwMode="auto">
          <a:xfrm>
            <a:off x="62718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8" name="Line 48"/>
          <p:cNvSpPr>
            <a:spLocks noChangeShapeType="1"/>
          </p:cNvSpPr>
          <p:nvPr/>
        </p:nvSpPr>
        <p:spPr bwMode="auto">
          <a:xfrm>
            <a:off x="2995221" y="4711346"/>
            <a:ext cx="0" cy="762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89" name="Line 49"/>
          <p:cNvSpPr>
            <a:spLocks noChangeShapeType="1"/>
          </p:cNvSpPr>
          <p:nvPr/>
        </p:nvSpPr>
        <p:spPr bwMode="auto">
          <a:xfrm>
            <a:off x="36048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sp>
        <p:nvSpPr>
          <p:cNvPr id="90" name="Line 50"/>
          <p:cNvSpPr>
            <a:spLocks noChangeShapeType="1"/>
          </p:cNvSpPr>
          <p:nvPr/>
        </p:nvSpPr>
        <p:spPr bwMode="auto">
          <a:xfrm>
            <a:off x="1852221" y="4711346"/>
            <a:ext cx="0" cy="76200"/>
          </a:xfrm>
          <a:prstGeom prst="line">
            <a:avLst/>
          </a:prstGeom>
          <a:noFill/>
          <a:ln w="19050">
            <a:solidFill>
              <a:srgbClr val="263AF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  <p:cxnSp>
        <p:nvCxnSpPr>
          <p:cNvPr id="91" name="AutoShape 51"/>
          <p:cNvCxnSpPr>
            <a:cxnSpLocks noChangeShapeType="1"/>
            <a:stCxn id="90" idx="1"/>
            <a:endCxn id="61" idx="0"/>
          </p:cNvCxnSpPr>
          <p:nvPr/>
        </p:nvCxnSpPr>
        <p:spPr bwMode="auto">
          <a:xfrm flipH="1">
            <a:off x="1737921" y="4787546"/>
            <a:ext cx="114300" cy="762000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AutoShape 52"/>
          <p:cNvCxnSpPr>
            <a:cxnSpLocks noChangeShapeType="1"/>
            <a:stCxn id="88" idx="1"/>
            <a:endCxn id="63" idx="0"/>
          </p:cNvCxnSpPr>
          <p:nvPr/>
        </p:nvCxnSpPr>
        <p:spPr bwMode="auto">
          <a:xfrm flipH="1">
            <a:off x="2804721" y="4787546"/>
            <a:ext cx="190500" cy="762000"/>
          </a:xfrm>
          <a:prstGeom prst="straightConnector1">
            <a:avLst/>
          </a:prstGeom>
          <a:noFill/>
          <a:ln w="19050">
            <a:solidFill>
              <a:srgbClr val="263AF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Line 54"/>
          <p:cNvSpPr>
            <a:spLocks noChangeShapeType="1"/>
          </p:cNvSpPr>
          <p:nvPr/>
        </p:nvSpPr>
        <p:spPr bwMode="auto">
          <a:xfrm>
            <a:off x="5738421" y="4711346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E04BAD8-03C7-4F7F-8D30-4A9A9046FD6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788CD0C-177E-483A-9F86-8B1F73A58B87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Perfect Hashing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355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02285" y="2621280"/>
            <a:ext cx="6000750" cy="219202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In some cases it's possible to map a known set of keys uniquely to a set of index values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You must know every single key beforehand and be able to derive a function that works </a:t>
            </a:r>
            <a:r>
              <a:rPr lang="en-US" altLang="zh-CN" i="1" dirty="0">
                <a:solidFill>
                  <a:srgbClr val="263AF8"/>
                </a:solidFill>
                <a:ea typeface="宋体" pitchFamily="2" charset="-122"/>
              </a:rPr>
              <a:t>one-to-one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</p:txBody>
      </p:sp>
      <p:sp>
        <p:nvSpPr>
          <p:cNvPr id="37" name="Text Box 1028"/>
          <p:cNvSpPr txBox="1">
            <a:spLocks noChangeArrowheads="1"/>
          </p:cNvSpPr>
          <p:nvPr/>
        </p:nvSpPr>
        <p:spPr bwMode="auto">
          <a:xfrm>
            <a:off x="14820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120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8" name="Text Box 1029"/>
          <p:cNvSpPr txBox="1">
            <a:spLocks noChangeArrowheads="1"/>
          </p:cNvSpPr>
          <p:nvPr/>
        </p:nvSpPr>
        <p:spPr bwMode="auto">
          <a:xfrm>
            <a:off x="20154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331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9" name="Text Box 1030"/>
          <p:cNvSpPr txBox="1">
            <a:spLocks noChangeArrowheads="1"/>
          </p:cNvSpPr>
          <p:nvPr/>
        </p:nvSpPr>
        <p:spPr bwMode="auto">
          <a:xfrm>
            <a:off x="25488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912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0" name="Text Box 1031"/>
          <p:cNvSpPr txBox="1">
            <a:spLocks noChangeArrowheads="1"/>
          </p:cNvSpPr>
          <p:nvPr/>
        </p:nvSpPr>
        <p:spPr bwMode="auto">
          <a:xfrm>
            <a:off x="30822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1" name="Text Box 1032"/>
          <p:cNvSpPr txBox="1">
            <a:spLocks noChangeArrowheads="1"/>
          </p:cNvSpPr>
          <p:nvPr/>
        </p:nvSpPr>
        <p:spPr bwMode="auto">
          <a:xfrm>
            <a:off x="36156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74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2" name="Text Box 1033"/>
          <p:cNvSpPr txBox="1">
            <a:spLocks noChangeArrowheads="1"/>
          </p:cNvSpPr>
          <p:nvPr/>
        </p:nvSpPr>
        <p:spPr bwMode="auto">
          <a:xfrm>
            <a:off x="41490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665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3" name="Text Box 1034"/>
          <p:cNvSpPr txBox="1">
            <a:spLocks noChangeArrowheads="1"/>
          </p:cNvSpPr>
          <p:nvPr/>
        </p:nvSpPr>
        <p:spPr bwMode="auto">
          <a:xfrm>
            <a:off x="46824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4" name="Text Box 1035"/>
          <p:cNvSpPr txBox="1">
            <a:spLocks noChangeArrowheads="1"/>
          </p:cNvSpPr>
          <p:nvPr/>
        </p:nvSpPr>
        <p:spPr bwMode="auto">
          <a:xfrm>
            <a:off x="52158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5" name="Text Box 1036"/>
          <p:cNvSpPr txBox="1">
            <a:spLocks noChangeArrowheads="1"/>
          </p:cNvSpPr>
          <p:nvPr/>
        </p:nvSpPr>
        <p:spPr bwMode="auto">
          <a:xfrm>
            <a:off x="57492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888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6" name="Text Box 1037"/>
          <p:cNvSpPr txBox="1">
            <a:spLocks noChangeArrowheads="1"/>
          </p:cNvSpPr>
          <p:nvPr/>
        </p:nvSpPr>
        <p:spPr bwMode="auto">
          <a:xfrm>
            <a:off x="6282680" y="56435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219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7" name="Text Box 1038"/>
          <p:cNvSpPr txBox="1">
            <a:spLocks noChangeArrowheads="1"/>
          </p:cNvSpPr>
          <p:nvPr/>
        </p:nvSpPr>
        <p:spPr bwMode="auto">
          <a:xfrm>
            <a:off x="14820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8" name="Text Box 1039"/>
          <p:cNvSpPr txBox="1">
            <a:spLocks noChangeArrowheads="1"/>
          </p:cNvSpPr>
          <p:nvPr/>
        </p:nvSpPr>
        <p:spPr bwMode="auto">
          <a:xfrm>
            <a:off x="20154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9" name="Text Box 1040"/>
          <p:cNvSpPr txBox="1">
            <a:spLocks noChangeArrowheads="1"/>
          </p:cNvSpPr>
          <p:nvPr/>
        </p:nvSpPr>
        <p:spPr bwMode="auto">
          <a:xfrm>
            <a:off x="25488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0" name="Text Box 1041"/>
          <p:cNvSpPr txBox="1">
            <a:spLocks noChangeArrowheads="1"/>
          </p:cNvSpPr>
          <p:nvPr/>
        </p:nvSpPr>
        <p:spPr bwMode="auto">
          <a:xfrm>
            <a:off x="30822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1" name="Text Box 1042"/>
          <p:cNvSpPr txBox="1">
            <a:spLocks noChangeArrowheads="1"/>
          </p:cNvSpPr>
          <p:nvPr/>
        </p:nvSpPr>
        <p:spPr bwMode="auto">
          <a:xfrm>
            <a:off x="36156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1043"/>
          <p:cNvSpPr txBox="1">
            <a:spLocks noChangeArrowheads="1"/>
          </p:cNvSpPr>
          <p:nvPr/>
        </p:nvSpPr>
        <p:spPr bwMode="auto">
          <a:xfrm>
            <a:off x="41490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3" name="Text Box 1044"/>
          <p:cNvSpPr txBox="1">
            <a:spLocks noChangeArrowheads="1"/>
          </p:cNvSpPr>
          <p:nvPr/>
        </p:nvSpPr>
        <p:spPr bwMode="auto">
          <a:xfrm>
            <a:off x="46824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4" name="Text Box 1045"/>
          <p:cNvSpPr txBox="1">
            <a:spLocks noChangeArrowheads="1"/>
          </p:cNvSpPr>
          <p:nvPr/>
        </p:nvSpPr>
        <p:spPr bwMode="auto">
          <a:xfrm>
            <a:off x="52158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5" name="Text Box 1046"/>
          <p:cNvSpPr txBox="1">
            <a:spLocks noChangeArrowheads="1"/>
          </p:cNvSpPr>
          <p:nvPr/>
        </p:nvSpPr>
        <p:spPr bwMode="auto">
          <a:xfrm>
            <a:off x="57492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8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6" name="Text Box 1047"/>
          <p:cNvSpPr txBox="1">
            <a:spLocks noChangeArrowheads="1"/>
          </p:cNvSpPr>
          <p:nvPr/>
        </p:nvSpPr>
        <p:spPr bwMode="auto">
          <a:xfrm>
            <a:off x="6282680" y="6557965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9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7" name="Text Box 1048"/>
          <p:cNvSpPr txBox="1">
            <a:spLocks noChangeArrowheads="1"/>
          </p:cNvSpPr>
          <p:nvPr/>
        </p:nvSpPr>
        <p:spPr bwMode="auto">
          <a:xfrm>
            <a:off x="167630" y="5643565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s</a:t>
            </a:r>
            <a:endParaRPr lang="en-US" altLang="zh-CN" sz="1600" b="1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8" name="Text Box 1049"/>
          <p:cNvSpPr txBox="1">
            <a:spLocks noChangeArrowheads="1"/>
          </p:cNvSpPr>
          <p:nvPr/>
        </p:nvSpPr>
        <p:spPr bwMode="auto">
          <a:xfrm>
            <a:off x="167630" y="6557965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hash(s)</a:t>
            </a:r>
            <a:endParaRPr lang="en-US" altLang="zh-CN" sz="1600" b="1">
              <a:solidFill>
                <a:srgbClr val="263AF8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59" name="AutoShape 1050"/>
          <p:cNvCxnSpPr>
            <a:cxnSpLocks noChangeShapeType="1"/>
            <a:stCxn id="37" idx="2"/>
            <a:endCxn id="47" idx="0"/>
          </p:cNvCxnSpPr>
          <p:nvPr/>
        </p:nvCxnSpPr>
        <p:spPr bwMode="auto">
          <a:xfrm>
            <a:off x="17487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AutoShape 1051"/>
          <p:cNvCxnSpPr>
            <a:cxnSpLocks noChangeShapeType="1"/>
            <a:stCxn id="38" idx="2"/>
            <a:endCxn id="48" idx="0"/>
          </p:cNvCxnSpPr>
          <p:nvPr/>
        </p:nvCxnSpPr>
        <p:spPr bwMode="auto">
          <a:xfrm>
            <a:off x="22821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AutoShape 1052"/>
          <p:cNvCxnSpPr>
            <a:cxnSpLocks noChangeShapeType="1"/>
            <a:stCxn id="39" idx="2"/>
            <a:endCxn id="49" idx="0"/>
          </p:cNvCxnSpPr>
          <p:nvPr/>
        </p:nvCxnSpPr>
        <p:spPr bwMode="auto">
          <a:xfrm>
            <a:off x="28155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AutoShape 1054"/>
          <p:cNvCxnSpPr>
            <a:cxnSpLocks noChangeShapeType="1"/>
            <a:stCxn id="41" idx="2"/>
            <a:endCxn id="51" idx="0"/>
          </p:cNvCxnSpPr>
          <p:nvPr/>
        </p:nvCxnSpPr>
        <p:spPr bwMode="auto">
          <a:xfrm>
            <a:off x="38823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AutoShape 1055"/>
          <p:cNvCxnSpPr>
            <a:cxnSpLocks noChangeShapeType="1"/>
            <a:stCxn id="42" idx="2"/>
            <a:endCxn id="52" idx="0"/>
          </p:cNvCxnSpPr>
          <p:nvPr/>
        </p:nvCxnSpPr>
        <p:spPr bwMode="auto">
          <a:xfrm>
            <a:off x="44157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AutoShape 1057"/>
          <p:cNvCxnSpPr>
            <a:cxnSpLocks noChangeShapeType="1"/>
            <a:stCxn id="44" idx="2"/>
            <a:endCxn id="54" idx="0"/>
          </p:cNvCxnSpPr>
          <p:nvPr/>
        </p:nvCxnSpPr>
        <p:spPr bwMode="auto">
          <a:xfrm>
            <a:off x="54825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AutoShape 1058"/>
          <p:cNvCxnSpPr>
            <a:cxnSpLocks noChangeShapeType="1"/>
            <a:stCxn id="45" idx="2"/>
            <a:endCxn id="55" idx="0"/>
          </p:cNvCxnSpPr>
          <p:nvPr/>
        </p:nvCxnSpPr>
        <p:spPr bwMode="auto">
          <a:xfrm>
            <a:off x="60159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1059"/>
          <p:cNvCxnSpPr>
            <a:cxnSpLocks noChangeShapeType="1"/>
            <a:stCxn id="46" idx="2"/>
            <a:endCxn id="56" idx="0"/>
          </p:cNvCxnSpPr>
          <p:nvPr/>
        </p:nvCxnSpPr>
        <p:spPr bwMode="auto">
          <a:xfrm>
            <a:off x="6549380" y="5948365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1C57028-DB26-441C-8C0D-92453F2258B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229D89B-138F-4580-8138-6AA146B33691}" type="slidenum">
              <a:rPr lang="en-US" altLang="zh-CN" sz="1050"/>
            </a:fld>
            <a:endParaRPr lang="en-US" altLang="zh-CN" sz="105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Mod Hash Function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454" y="2483768"/>
            <a:ext cx="5829300" cy="320040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One solution for a less constrained key set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modular arithmetic 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pPr>
              <a:spcBef>
                <a:spcPct val="15000"/>
              </a:spcBef>
            </a:pP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a </a:t>
            </a:r>
            <a:r>
              <a:rPr lang="en-US" altLang="zh-CN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mod</a:t>
            </a: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 size</a:t>
            </a:r>
            <a:endParaRPr lang="en-US" altLang="zh-CN" sz="2800" dirty="0">
              <a:solidFill>
                <a:srgbClr val="263AF8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 lvl="1">
              <a:spcBef>
                <a:spcPct val="15000"/>
              </a:spcBef>
            </a:pPr>
            <a:r>
              <a:rPr lang="en-US" altLang="zh-CN" dirty="0">
                <a:ea typeface="宋体" pitchFamily="2" charset="-122"/>
              </a:rPr>
              <a:t>remainder when "a" is divided by "size"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5000"/>
              </a:spcBef>
            </a:pPr>
            <a:r>
              <a:rPr lang="en-US" altLang="zh-CN" dirty="0">
                <a:ea typeface="宋体" pitchFamily="2" charset="-122"/>
              </a:rPr>
              <a:t>in C or Java this is written as </a:t>
            </a:r>
            <a:r>
              <a:rPr lang="en-US" altLang="zh-CN" b="1" dirty="0">
                <a:latin typeface="Courier New" panose="02070609020205090404" pitchFamily="49" charset="0"/>
                <a:ea typeface="宋体" pitchFamily="2" charset="-122"/>
              </a:rPr>
              <a:t>r = a % size;</a:t>
            </a:r>
            <a:endParaRPr lang="en-US" altLang="zh-CN" dirty="0">
              <a:ea typeface="宋体" pitchFamily="2" charset="-122"/>
            </a:endParaRPr>
          </a:p>
          <a:p>
            <a:pPr lvl="1">
              <a:spcBef>
                <a:spcPct val="15000"/>
              </a:spcBef>
            </a:pPr>
            <a:r>
              <a:rPr lang="en-US" altLang="zh-CN" dirty="0">
                <a:ea typeface="宋体" pitchFamily="2" charset="-122"/>
              </a:rPr>
              <a:t>If </a:t>
            </a:r>
            <a:r>
              <a:rPr lang="en-US" altLang="zh-CN" dirty="0" err="1">
                <a:ea typeface="宋体" pitchFamily="2" charset="-122"/>
              </a:rPr>
              <a:t>TableSize</a:t>
            </a:r>
            <a:r>
              <a:rPr lang="en-US" altLang="zh-CN" dirty="0">
                <a:ea typeface="宋体" pitchFamily="2" charset="-122"/>
              </a:rPr>
              <a:t> = 251</a:t>
            </a:r>
            <a:endParaRPr lang="en-US" altLang="zh-CN" dirty="0">
              <a:ea typeface="宋体" pitchFamily="2" charset="-122"/>
            </a:endParaRPr>
          </a:p>
          <a:p>
            <a:pPr lvl="2">
              <a:spcBef>
                <a:spcPct val="15000"/>
              </a:spcBef>
            </a:pP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408 mod 251 = 157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  <a:p>
            <a:pPr lvl="2">
              <a:spcBef>
                <a:spcPct val="15000"/>
              </a:spcBef>
            </a:pP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352 mod 251 = 101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1E4CFDE-B265-4BC5-9146-C64E488BDF3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783C149-0E62-4BB4-B880-A973F09DBF6E}" type="slidenum">
              <a:rPr lang="en-US" altLang="zh-CN" sz="1050"/>
            </a:fld>
            <a:endParaRPr lang="en-US" altLang="zh-CN" sz="105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Modulo Mapping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2943225"/>
            <a:ext cx="5829300" cy="1314450"/>
          </a:xfrm>
        </p:spPr>
        <p:txBody>
          <a:bodyPr>
            <a:noAutofit/>
          </a:bodyPr>
          <a:lstStyle/>
          <a:p>
            <a:r>
              <a:rPr lang="en-US" altLang="zh-CN" i="1" dirty="0" smtClean="0">
                <a:solidFill>
                  <a:srgbClr val="263AF8"/>
                </a:solidFill>
                <a:ea typeface="宋体" pitchFamily="2" charset="-122"/>
              </a:rPr>
              <a:t>a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 mod </a:t>
            </a:r>
            <a:r>
              <a:rPr lang="en-US" altLang="zh-CN" i="1" dirty="0" smtClean="0">
                <a:solidFill>
                  <a:srgbClr val="263AF8"/>
                </a:solidFill>
                <a:ea typeface="宋体" pitchFamily="2" charset="-122"/>
              </a:rPr>
              <a:t>m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maps from integers to </a:t>
            </a:r>
            <a:r>
              <a:rPr lang="en-US" altLang="zh-CN" i="1" dirty="0" smtClean="0">
                <a:ea typeface="宋体" pitchFamily="2" charset="-122"/>
              </a:rPr>
              <a:t>0..m-1</a:t>
            </a:r>
            <a:endParaRPr lang="en-US" altLang="zh-CN" i="1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one to one?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no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onto?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yes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5" name="Text Box 4"/>
          <p:cNvSpPr txBox="1">
            <a:spLocks noChangeArrowheads="1"/>
          </p:cNvSpPr>
          <p:nvPr/>
        </p:nvSpPr>
        <p:spPr bwMode="auto">
          <a:xfrm>
            <a:off x="1756531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609020205090404" pitchFamily="49" charset="0"/>
                <a:ea typeface="宋体" pitchFamily="2" charset="-122"/>
              </a:rPr>
              <a:t>-4</a:t>
            </a:r>
            <a:endParaRPr lang="en-US" altLang="zh-CN" sz="1600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2129264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609020205090404" pitchFamily="49" charset="0"/>
                <a:ea typeface="宋体" pitchFamily="2" charset="-122"/>
              </a:rPr>
              <a:t>-3</a:t>
            </a:r>
            <a:endParaRPr lang="en-US" altLang="zh-CN" sz="1600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7" name="Text Box 6"/>
          <p:cNvSpPr txBox="1">
            <a:spLocks noChangeArrowheads="1"/>
          </p:cNvSpPr>
          <p:nvPr/>
        </p:nvSpPr>
        <p:spPr bwMode="auto">
          <a:xfrm>
            <a:off x="2504341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-2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2888919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-1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3267226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0" name="Text Box 9"/>
          <p:cNvSpPr txBox="1">
            <a:spLocks noChangeArrowheads="1"/>
          </p:cNvSpPr>
          <p:nvPr/>
        </p:nvSpPr>
        <p:spPr bwMode="auto">
          <a:xfrm>
            <a:off x="3644182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4007621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11"/>
          <p:cNvSpPr txBox="1">
            <a:spLocks noChangeArrowheads="1"/>
          </p:cNvSpPr>
          <p:nvPr/>
        </p:nvSpPr>
        <p:spPr bwMode="auto">
          <a:xfrm>
            <a:off x="4379770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3" name="Text Box 12"/>
          <p:cNvSpPr txBox="1">
            <a:spLocks noChangeArrowheads="1"/>
          </p:cNvSpPr>
          <p:nvPr/>
        </p:nvSpPr>
        <p:spPr bwMode="auto">
          <a:xfrm>
            <a:off x="4750426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600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4" name="Text Box 13"/>
          <p:cNvSpPr txBox="1">
            <a:spLocks noChangeArrowheads="1"/>
          </p:cNvSpPr>
          <p:nvPr/>
        </p:nvSpPr>
        <p:spPr bwMode="auto">
          <a:xfrm>
            <a:off x="5128733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5" name="Text Box 14"/>
          <p:cNvSpPr txBox="1">
            <a:spLocks noChangeArrowheads="1"/>
          </p:cNvSpPr>
          <p:nvPr/>
        </p:nvSpPr>
        <p:spPr bwMode="auto">
          <a:xfrm>
            <a:off x="5504373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6" name="Text Box 15"/>
          <p:cNvSpPr txBox="1">
            <a:spLocks noChangeArrowheads="1"/>
          </p:cNvSpPr>
          <p:nvPr/>
        </p:nvSpPr>
        <p:spPr bwMode="auto">
          <a:xfrm>
            <a:off x="5879976" y="4661140"/>
            <a:ext cx="285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 dirty="0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600" b="1" dirty="0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1" name="Text Box 20"/>
          <p:cNvSpPr txBox="1">
            <a:spLocks noChangeArrowheads="1"/>
          </p:cNvSpPr>
          <p:nvPr/>
        </p:nvSpPr>
        <p:spPr bwMode="auto">
          <a:xfrm>
            <a:off x="3267226" y="6337540"/>
            <a:ext cx="285328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3644182" y="6337540"/>
            <a:ext cx="285328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3" name="Text Box 22"/>
          <p:cNvSpPr txBox="1">
            <a:spLocks noChangeArrowheads="1"/>
          </p:cNvSpPr>
          <p:nvPr/>
        </p:nvSpPr>
        <p:spPr bwMode="auto">
          <a:xfrm>
            <a:off x="4007621" y="6337540"/>
            <a:ext cx="285328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4" name="Text Box 23"/>
          <p:cNvSpPr txBox="1">
            <a:spLocks noChangeArrowheads="1"/>
          </p:cNvSpPr>
          <p:nvPr/>
        </p:nvSpPr>
        <p:spPr bwMode="auto">
          <a:xfrm>
            <a:off x="4379770" y="6337540"/>
            <a:ext cx="285328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6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6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9" name="Text Box 28"/>
          <p:cNvSpPr txBox="1">
            <a:spLocks noChangeArrowheads="1"/>
          </p:cNvSpPr>
          <p:nvPr/>
        </p:nvSpPr>
        <p:spPr bwMode="auto">
          <a:xfrm>
            <a:off x="379240" y="466114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x</a:t>
            </a:r>
            <a:endParaRPr lang="en-US" altLang="zh-CN" sz="1800" b="1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384047" y="6337540"/>
            <a:ext cx="1143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x mod 4</a:t>
            </a:r>
            <a:endParaRPr lang="en-US" altLang="zh-CN" sz="1800" b="1" dirty="0">
              <a:solidFill>
                <a:srgbClr val="263AF8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71" name="AutoShape 30"/>
          <p:cNvCxnSpPr>
            <a:cxnSpLocks noChangeShapeType="1"/>
            <a:stCxn id="45" idx="2"/>
            <a:endCxn id="61" idx="0"/>
          </p:cNvCxnSpPr>
          <p:nvPr/>
        </p:nvCxnSpPr>
        <p:spPr bwMode="auto">
          <a:xfrm>
            <a:off x="1899195" y="4965940"/>
            <a:ext cx="1510695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31"/>
          <p:cNvCxnSpPr>
            <a:cxnSpLocks noChangeShapeType="1"/>
            <a:stCxn id="46" idx="2"/>
            <a:endCxn id="62" idx="0"/>
          </p:cNvCxnSpPr>
          <p:nvPr/>
        </p:nvCxnSpPr>
        <p:spPr bwMode="auto">
          <a:xfrm>
            <a:off x="2271928" y="4965940"/>
            <a:ext cx="1514918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32"/>
          <p:cNvCxnSpPr>
            <a:cxnSpLocks noChangeShapeType="1"/>
            <a:stCxn id="47" idx="2"/>
            <a:endCxn id="63" idx="0"/>
          </p:cNvCxnSpPr>
          <p:nvPr/>
        </p:nvCxnSpPr>
        <p:spPr bwMode="auto">
          <a:xfrm>
            <a:off x="2647005" y="4965940"/>
            <a:ext cx="150328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33"/>
          <p:cNvCxnSpPr>
            <a:cxnSpLocks noChangeShapeType="1"/>
            <a:stCxn id="48" idx="2"/>
            <a:endCxn id="64" idx="0"/>
          </p:cNvCxnSpPr>
          <p:nvPr/>
        </p:nvCxnSpPr>
        <p:spPr bwMode="auto">
          <a:xfrm>
            <a:off x="3031583" y="4965940"/>
            <a:ext cx="1490851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34"/>
          <p:cNvCxnSpPr>
            <a:cxnSpLocks noChangeShapeType="1"/>
            <a:stCxn id="49" idx="2"/>
            <a:endCxn id="61" idx="0"/>
          </p:cNvCxnSpPr>
          <p:nvPr/>
        </p:nvCxnSpPr>
        <p:spPr bwMode="auto">
          <a:xfrm>
            <a:off x="3409890" y="4965940"/>
            <a:ext cx="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AutoShape 35"/>
          <p:cNvCxnSpPr>
            <a:cxnSpLocks noChangeShapeType="1"/>
            <a:stCxn id="50" idx="2"/>
            <a:endCxn id="62" idx="0"/>
          </p:cNvCxnSpPr>
          <p:nvPr/>
        </p:nvCxnSpPr>
        <p:spPr bwMode="auto">
          <a:xfrm>
            <a:off x="3786846" y="4965940"/>
            <a:ext cx="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AutoShape 36"/>
          <p:cNvCxnSpPr>
            <a:cxnSpLocks noChangeShapeType="1"/>
            <a:stCxn id="51" idx="2"/>
            <a:endCxn id="63" idx="0"/>
          </p:cNvCxnSpPr>
          <p:nvPr/>
        </p:nvCxnSpPr>
        <p:spPr bwMode="auto">
          <a:xfrm>
            <a:off x="4150285" y="4965940"/>
            <a:ext cx="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AutoShape 37"/>
          <p:cNvCxnSpPr>
            <a:cxnSpLocks noChangeShapeType="1"/>
            <a:stCxn id="52" idx="2"/>
            <a:endCxn id="64" idx="0"/>
          </p:cNvCxnSpPr>
          <p:nvPr/>
        </p:nvCxnSpPr>
        <p:spPr bwMode="auto">
          <a:xfrm>
            <a:off x="4522434" y="4965940"/>
            <a:ext cx="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AutoShape 38"/>
          <p:cNvCxnSpPr>
            <a:cxnSpLocks noChangeShapeType="1"/>
            <a:stCxn id="53" idx="2"/>
            <a:endCxn id="61" idx="0"/>
          </p:cNvCxnSpPr>
          <p:nvPr/>
        </p:nvCxnSpPr>
        <p:spPr bwMode="auto">
          <a:xfrm flipH="1">
            <a:off x="3409890" y="4965940"/>
            <a:ext cx="1483200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" name="AutoShape 39"/>
          <p:cNvCxnSpPr>
            <a:cxnSpLocks noChangeShapeType="1"/>
            <a:stCxn id="54" idx="2"/>
            <a:endCxn id="62" idx="0"/>
          </p:cNvCxnSpPr>
          <p:nvPr/>
        </p:nvCxnSpPr>
        <p:spPr bwMode="auto">
          <a:xfrm flipH="1">
            <a:off x="3786846" y="4965940"/>
            <a:ext cx="1484551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40"/>
          <p:cNvCxnSpPr>
            <a:cxnSpLocks noChangeShapeType="1"/>
            <a:stCxn id="55" idx="2"/>
            <a:endCxn id="63" idx="0"/>
          </p:cNvCxnSpPr>
          <p:nvPr/>
        </p:nvCxnSpPr>
        <p:spPr bwMode="auto">
          <a:xfrm flipH="1">
            <a:off x="4150285" y="4965940"/>
            <a:ext cx="1496752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41"/>
          <p:cNvCxnSpPr>
            <a:cxnSpLocks noChangeShapeType="1"/>
            <a:stCxn id="56" idx="2"/>
            <a:endCxn id="64" idx="0"/>
          </p:cNvCxnSpPr>
          <p:nvPr/>
        </p:nvCxnSpPr>
        <p:spPr bwMode="auto">
          <a:xfrm flipH="1">
            <a:off x="4522434" y="4965940"/>
            <a:ext cx="1500206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5F4AF19-205F-429E-B9A5-43FDD3F03BD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A58B3D2-3F15-4056-BB28-DC7AF5BD4436}" type="slidenum">
              <a:rPr lang="en-US" altLang="zh-CN" sz="1050"/>
            </a:fld>
            <a:endParaRPr lang="en-US" altLang="zh-CN" sz="1050"/>
          </a:p>
        </p:txBody>
      </p:sp>
      <p:sp>
        <p:nvSpPr>
          <p:cNvPr id="266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Hashing Integers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663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If keys are integers, we can use the hash function: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Hash(key) = key mod </a:t>
            </a:r>
            <a:r>
              <a:rPr lang="en-US" altLang="zh-CN" dirty="0" err="1" smtClean="0">
                <a:solidFill>
                  <a:srgbClr val="FF0000"/>
                </a:solidFill>
                <a:ea typeface="宋体" pitchFamily="2" charset="-122"/>
              </a:rPr>
              <a:t>TableSize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Problem 1</a:t>
            </a:r>
            <a:r>
              <a:rPr lang="en-US" altLang="zh-CN" dirty="0">
                <a:ea typeface="宋体" pitchFamily="2" charset="-122"/>
              </a:rPr>
              <a:t>: What if </a:t>
            </a:r>
            <a:r>
              <a:rPr lang="en-US" altLang="zh-CN" dirty="0" err="1">
                <a:ea typeface="宋体" pitchFamily="2" charset="-122"/>
              </a:rPr>
              <a:t>TableSize</a:t>
            </a:r>
            <a:r>
              <a:rPr lang="en-US" altLang="zh-CN" dirty="0">
                <a:ea typeface="宋体" pitchFamily="2" charset="-122"/>
              </a:rPr>
              <a:t> is 11 and all keys are 2 repeated digits? (</a:t>
            </a:r>
            <a:r>
              <a:rPr lang="en-US" altLang="zh-CN" dirty="0" err="1">
                <a:ea typeface="宋体" pitchFamily="2" charset="-122"/>
              </a:rPr>
              <a:t>eg</a:t>
            </a:r>
            <a:r>
              <a:rPr lang="en-US" altLang="zh-CN" dirty="0">
                <a:ea typeface="宋体" pitchFamily="2" charset="-122"/>
              </a:rPr>
              <a:t>, 22, 33, …)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solidFill>
                  <a:srgbClr val="006600"/>
                </a:solidFill>
                <a:ea typeface="宋体" pitchFamily="2" charset="-122"/>
              </a:rPr>
              <a:t>all keys map to the same index</a:t>
            </a:r>
            <a:endParaRPr lang="en-US" altLang="zh-CN" dirty="0">
              <a:solidFill>
                <a:srgbClr val="006600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solidFill>
                  <a:srgbClr val="990000"/>
                </a:solidFill>
                <a:ea typeface="宋体" pitchFamily="2" charset="-122"/>
              </a:rPr>
              <a:t>Need to pick </a:t>
            </a:r>
            <a:r>
              <a:rPr lang="en-US" altLang="zh-CN" dirty="0" err="1">
                <a:solidFill>
                  <a:srgbClr val="990000"/>
                </a:solidFill>
                <a:ea typeface="宋体" pitchFamily="2" charset="-122"/>
              </a:rPr>
              <a:t>TableSize</a:t>
            </a:r>
            <a:r>
              <a:rPr lang="en-US" altLang="zh-CN" dirty="0">
                <a:solidFill>
                  <a:srgbClr val="990000"/>
                </a:solidFill>
                <a:ea typeface="宋体" pitchFamily="2" charset="-122"/>
              </a:rPr>
              <a:t> carefully: often, a prime number</a:t>
            </a:r>
            <a:endParaRPr lang="en-US" altLang="zh-CN" dirty="0">
              <a:solidFill>
                <a:srgbClr val="99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Hash Functions (III)</a:t>
            </a:r>
            <a:endParaRPr lang="zh-C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Example 1</a:t>
            </a:r>
            <a:endParaRPr lang="en-US" altLang="zh-CN" dirty="0"/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dirty="0" err="1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int</a:t>
            </a: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 h(</a:t>
            </a:r>
            <a:r>
              <a:rPr lang="en-US" altLang="zh-CN" dirty="0" err="1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int</a:t>
            </a: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 x) {</a:t>
            </a:r>
            <a:endParaRPr lang="en-US" altLang="zh-CN" dirty="0">
              <a:solidFill>
                <a:srgbClr val="263AF8"/>
              </a:solidFill>
              <a:latin typeface="Courier New" panose="02070609020205090404" pitchFamily="49" charset="0"/>
              <a:sym typeface="Symbol" panose="05050102010706020507" pitchFamily="18" charset="2"/>
            </a:endParaRPr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  return(x % 16);</a:t>
            </a:r>
            <a:endParaRPr lang="en-US" altLang="zh-CN" dirty="0">
              <a:solidFill>
                <a:srgbClr val="263AF8"/>
              </a:solidFill>
              <a:latin typeface="Courier New" panose="02070609020205090404" pitchFamily="49" charset="0"/>
              <a:sym typeface="Symbol" panose="05050102010706020507" pitchFamily="18" charset="2"/>
            </a:endParaRPr>
          </a:p>
          <a:p>
            <a:pPr marL="719455" lvl="1" indent="-457200">
              <a:lnSpc>
                <a:spcPct val="60000"/>
              </a:lnSpc>
              <a:buNone/>
              <a:defRPr/>
            </a:pPr>
            <a:r>
              <a:rPr lang="en-US" altLang="zh-CN" dirty="0">
                <a:solidFill>
                  <a:srgbClr val="263AF8"/>
                </a:solidFill>
                <a:latin typeface="Courier New" panose="02070609020205090404" pitchFamily="49" charset="0"/>
                <a:sym typeface="Symbol" panose="05050102010706020507" pitchFamily="18" charset="2"/>
              </a:rPr>
              <a:t>}</a:t>
            </a:r>
            <a:endParaRPr lang="en-US" altLang="zh-CN" dirty="0">
              <a:solidFill>
                <a:srgbClr val="263AF8"/>
              </a:solidFill>
              <a:latin typeface="Courier New" panose="02070609020205090404" pitchFamily="49" charset="0"/>
              <a:sym typeface="Symbol" panose="05050102010706020507" pitchFamily="18" charset="2"/>
            </a:endParaRPr>
          </a:p>
          <a:p>
            <a:pPr lvl="1">
              <a:defRPr/>
            </a:pPr>
            <a:r>
              <a:rPr lang="en-US" altLang="zh-CN" dirty="0"/>
              <a:t>Depends on the least significant four bits of the key, which are likely to be poorly distributed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Example 2: mid-square method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Square the key value, and then take the middle r bits of the results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Hash values fall in the range 0 to 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r</a:t>
            </a:r>
            <a:r>
              <a:rPr lang="en-US" altLang="zh-CN" dirty="0" smtClean="0"/>
              <a:t>-1 bits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Most or all bits contribute to the result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r=2, K=4567, 4567</a:t>
            </a:r>
            <a:r>
              <a:rPr lang="en-US" altLang="zh-CN" baseline="30000" dirty="0"/>
              <a:t>2</a:t>
            </a:r>
            <a:r>
              <a:rPr lang="en-US" altLang="zh-CN" dirty="0"/>
              <a:t>=208</a:t>
            </a:r>
            <a:r>
              <a:rPr lang="en-US" altLang="zh-CN" b="1" dirty="0">
                <a:solidFill>
                  <a:srgbClr val="FF0000"/>
                </a:solidFill>
              </a:rPr>
              <a:t>57</a:t>
            </a:r>
            <a:r>
              <a:rPr lang="en-US" altLang="zh-CN" dirty="0"/>
              <a:t>489, the result is 57</a:t>
            </a:r>
            <a:endParaRPr lang="en-US" altLang="zh-CN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F7B0C35-D833-4693-BC8E-70A9B88735B6}" type="slidenum">
              <a:rPr lang="en-US" altLang="zh-CN" smtClean="0"/>
            </a:fld>
            <a:endParaRPr lang="en-US" altLang="zh-CN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1088" y="6403238"/>
            <a:ext cx="1185750" cy="2279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5EFC44C-A041-48B9-A10C-3CD974E0DE7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B6C4931-AA55-4AD9-AB00-609631F5F28C}" type="slidenum">
              <a:rPr lang="en-US" altLang="zh-CN" sz="1050"/>
            </a:fld>
            <a:endParaRPr lang="en-US" altLang="zh-CN" sz="105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a typeface="宋体" pitchFamily="2" charset="-122"/>
              </a:rPr>
              <a:t>Nonnumerical</a:t>
            </a:r>
            <a:r>
              <a:rPr lang="en-US" altLang="zh-CN" dirty="0" smtClean="0">
                <a:ea typeface="宋体" pitchFamily="2" charset="-122"/>
              </a:rPr>
              <a:t> Keys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2699792"/>
            <a:ext cx="6229350" cy="38724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Many hash functions assume that the universe of keys is the natural numbers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={0,1,…}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006600"/>
                </a:solidFill>
                <a:ea typeface="宋体" pitchFamily="2" charset="-122"/>
              </a:rPr>
              <a:t>Need to find a function to convert the actual key to a natural number quickly and effectively before or during the hash calculation</a:t>
            </a:r>
            <a:endParaRPr lang="en-US" altLang="zh-CN" dirty="0">
              <a:solidFill>
                <a:srgbClr val="006600"/>
              </a:solidFill>
              <a:ea typeface="宋体" pitchFamily="2" charset="-122"/>
            </a:endParaRPr>
          </a:p>
          <a:p>
            <a:r>
              <a:rPr lang="en-US" altLang="zh-CN" dirty="0">
                <a:solidFill>
                  <a:srgbClr val="000099"/>
                </a:solidFill>
                <a:ea typeface="宋体" pitchFamily="2" charset="-122"/>
              </a:rPr>
              <a:t>Generally work with the ASCII character codes when converting strings to numbers</a:t>
            </a:r>
            <a:endParaRPr lang="en-US" altLang="zh-CN" dirty="0">
              <a:solidFill>
                <a:srgbClr val="000099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B8B3AFA-3689-458A-8AA1-E8DB22CA44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91638FF-8231-46D6-BF64-4C2EED764B4F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726263"/>
            <a:ext cx="6457950" cy="2360087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If keys are strings can get an integer by adding up ASCII values of characters in </a:t>
            </a:r>
            <a:r>
              <a:rPr lang="en-US" altLang="zh-CN" i="1" dirty="0">
                <a:solidFill>
                  <a:srgbClr val="263AF8"/>
                </a:solidFill>
                <a:ea typeface="宋体" pitchFamily="2" charset="-122"/>
              </a:rPr>
              <a:t>key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We are converting a very large string c</a:t>
            </a:r>
            <a:r>
              <a:rPr lang="en-US" altLang="zh-CN" baseline="-25000" dirty="0">
                <a:ea typeface="宋体" pitchFamily="2" charset="-122"/>
              </a:rPr>
              <a:t>0</a:t>
            </a:r>
            <a:r>
              <a:rPr lang="en-US" altLang="zh-CN" dirty="0">
                <a:ea typeface="宋体" pitchFamily="2" charset="-122"/>
              </a:rPr>
              <a:t>c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c</a:t>
            </a:r>
            <a:r>
              <a:rPr lang="en-US" altLang="zh-CN" baseline="-25000" dirty="0">
                <a:ea typeface="宋体" pitchFamily="2" charset="-122"/>
              </a:rPr>
              <a:t>2 </a:t>
            </a:r>
            <a:r>
              <a:rPr lang="en-US" altLang="zh-CN" dirty="0">
                <a:ea typeface="宋体" pitchFamily="2" charset="-122"/>
              </a:rPr>
              <a:t>…</a:t>
            </a:r>
            <a:r>
              <a:rPr lang="en-US" altLang="zh-CN" baseline="-25000" dirty="0">
                <a:ea typeface="宋体" pitchFamily="2" charset="-122"/>
              </a:rPr>
              <a:t> </a:t>
            </a:r>
            <a:r>
              <a:rPr lang="en-US" altLang="zh-CN" dirty="0" err="1">
                <a:ea typeface="宋体" pitchFamily="2" charset="-122"/>
              </a:rPr>
              <a:t>c</a:t>
            </a:r>
            <a:r>
              <a:rPr lang="en-US" altLang="zh-CN" baseline="-25000" dirty="0" err="1">
                <a:ea typeface="宋体" pitchFamily="2" charset="-122"/>
              </a:rPr>
              <a:t>n</a:t>
            </a:r>
            <a:r>
              <a:rPr lang="en-US" altLang="zh-CN" dirty="0">
                <a:ea typeface="宋体" pitchFamily="2" charset="-122"/>
              </a:rPr>
              <a:t> to a relatively small number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(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c</a:t>
            </a:r>
            <a:r>
              <a:rPr lang="en-US" altLang="zh-CN" baseline="-25000" dirty="0" smtClean="0">
                <a:solidFill>
                  <a:srgbClr val="263AF8"/>
                </a:solidFill>
                <a:ea typeface="宋体" pitchFamily="2" charset="-122"/>
              </a:rPr>
              <a:t>0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+c</a:t>
            </a:r>
            <a:r>
              <a:rPr lang="en-US" altLang="zh-CN" baseline="-25000" dirty="0" smtClean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+c</a:t>
            </a:r>
            <a:r>
              <a:rPr lang="en-US" altLang="zh-CN" baseline="-25000" dirty="0" smtClean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+…+</a:t>
            </a:r>
            <a:r>
              <a:rPr lang="en-US" altLang="zh-CN" dirty="0" err="1" smtClean="0">
                <a:solidFill>
                  <a:srgbClr val="263AF8"/>
                </a:solidFill>
                <a:ea typeface="宋体" pitchFamily="2" charset="-122"/>
              </a:rPr>
              <a:t>c</a:t>
            </a:r>
            <a:r>
              <a:rPr lang="en-US" altLang="zh-CN" baseline="-25000" dirty="0" err="1" smtClean="0">
                <a:solidFill>
                  <a:srgbClr val="263AF8"/>
                </a:solidFill>
                <a:ea typeface="宋体" pitchFamily="2" charset="-122"/>
              </a:rPr>
              <a:t>n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) mod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size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86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Characters to Integers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9728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67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5062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83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30396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69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35730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1" name="Text Box 8"/>
          <p:cNvSpPr txBox="1">
            <a:spLocks noChangeArrowheads="1"/>
          </p:cNvSpPr>
          <p:nvPr/>
        </p:nvSpPr>
        <p:spPr bwMode="auto">
          <a:xfrm>
            <a:off x="41064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2" name="Text Box 9"/>
          <p:cNvSpPr txBox="1">
            <a:spLocks noChangeArrowheads="1"/>
          </p:cNvSpPr>
          <p:nvPr/>
        </p:nvSpPr>
        <p:spPr bwMode="auto">
          <a:xfrm>
            <a:off x="46398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19728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C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4" name="Text Box 17"/>
          <p:cNvSpPr txBox="1">
            <a:spLocks noChangeArrowheads="1"/>
          </p:cNvSpPr>
          <p:nvPr/>
        </p:nvSpPr>
        <p:spPr bwMode="auto">
          <a:xfrm>
            <a:off x="25062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S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30396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E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35730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 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41064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8" name="Text Box 21"/>
          <p:cNvSpPr txBox="1">
            <a:spLocks noChangeArrowheads="1"/>
          </p:cNvSpPr>
          <p:nvPr/>
        </p:nvSpPr>
        <p:spPr bwMode="auto">
          <a:xfrm>
            <a:off x="46398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9" name="Text Box 28"/>
          <p:cNvSpPr txBox="1">
            <a:spLocks noChangeArrowheads="1"/>
          </p:cNvSpPr>
          <p:nvPr/>
        </p:nvSpPr>
        <p:spPr bwMode="auto">
          <a:xfrm>
            <a:off x="372616" y="5928547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r>
              <a:rPr lang="en-US" altLang="zh-CN" sz="1800" b="1">
                <a:latin typeface="Times New Roman" panose="02020603050405020304" pitchFamily="18" charset="0"/>
                <a:ea typeface="宋体" pitchFamily="2" charset="-122"/>
              </a:rPr>
              <a:t>ASCII value</a:t>
            </a:r>
            <a:endParaRPr lang="en-US" altLang="zh-CN" sz="1800" b="1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372616" y="5623747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r>
              <a:rPr lang="en-US" altLang="zh-CN" sz="1800" b="1" dirty="0">
                <a:latin typeface="Times New Roman" panose="02020603050405020304" pitchFamily="18" charset="0"/>
                <a:ea typeface="宋体" pitchFamily="2" charset="-122"/>
              </a:rPr>
              <a:t>character</a:t>
            </a:r>
            <a:endParaRPr lang="en-US" altLang="zh-CN" sz="1800" b="1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1" name="AutoShape 30"/>
          <p:cNvCxnSpPr>
            <a:cxnSpLocks noChangeShapeType="1"/>
            <a:stCxn id="40" idx="3"/>
            <a:endCxn id="33" idx="1"/>
          </p:cNvCxnSpPr>
          <p:nvPr/>
        </p:nvCxnSpPr>
        <p:spPr bwMode="auto">
          <a:xfrm>
            <a:off x="1591816" y="5776147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AutoShape 31"/>
          <p:cNvCxnSpPr>
            <a:cxnSpLocks noChangeShapeType="1"/>
            <a:stCxn id="39" idx="3"/>
            <a:endCxn id="27" idx="1"/>
          </p:cNvCxnSpPr>
          <p:nvPr/>
        </p:nvCxnSpPr>
        <p:spPr bwMode="auto">
          <a:xfrm>
            <a:off x="1591816" y="6080947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51732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4" name="Text Box 33"/>
          <p:cNvSpPr txBox="1">
            <a:spLocks noChangeArrowheads="1"/>
          </p:cNvSpPr>
          <p:nvPr/>
        </p:nvSpPr>
        <p:spPr bwMode="auto">
          <a:xfrm>
            <a:off x="5706616" y="59285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51732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6" name="Text Box 35"/>
          <p:cNvSpPr txBox="1">
            <a:spLocks noChangeArrowheads="1"/>
          </p:cNvSpPr>
          <p:nvPr/>
        </p:nvSpPr>
        <p:spPr bwMode="auto">
          <a:xfrm>
            <a:off x="5706616" y="5623747"/>
            <a:ext cx="533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&lt;0&gt;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4630C16-26BA-4BE3-8641-3B523C5FF51F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E14347A-BEB1-4B26-9812-385D73404C1E}" type="slidenum">
              <a:rPr lang="en-US" altLang="zh-CN" sz="1050"/>
            </a:fld>
            <a:endParaRPr lang="en-US" altLang="zh-CN" sz="105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Hash Must be Onto Table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Problem2</a:t>
            </a:r>
            <a:r>
              <a:rPr lang="en-US" altLang="zh-CN" dirty="0" smtClean="0">
                <a:ea typeface="宋体" pitchFamily="2" charset="-122"/>
              </a:rPr>
              <a:t>: What if </a:t>
            </a:r>
            <a:r>
              <a:rPr lang="en-US" altLang="zh-CN" i="1" dirty="0" err="1" smtClean="0">
                <a:ea typeface="宋体" pitchFamily="2" charset="-122"/>
              </a:rPr>
              <a:t>TableSize</a:t>
            </a:r>
            <a:r>
              <a:rPr lang="en-US" altLang="zh-CN" dirty="0" smtClean="0">
                <a:ea typeface="宋体" pitchFamily="2" charset="-122"/>
              </a:rPr>
              <a:t> is 10,000 and all keys are 8 or less characters long?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chars have values between 0 and 127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Keys will hash only to positions 0 through 8*127 = 1016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Need to distribute keys over the entire table or the extra space is wasted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45DE875-C3BD-4453-BC8F-549422E418E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2CF3A6D-9115-423C-9CDD-BCFCE638163D}" type="slidenum">
              <a:rPr lang="en-US" altLang="zh-CN" sz="1050"/>
            </a:fld>
            <a:endParaRPr lang="en-US" altLang="zh-CN" sz="105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Problems with Adding Characters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3147" y="2771800"/>
            <a:ext cx="6151959" cy="3743301"/>
          </a:xfrm>
        </p:spPr>
        <p:txBody>
          <a:bodyPr/>
          <a:lstStyle/>
          <a:p>
            <a:pPr marL="342900" indent="-342900"/>
            <a:r>
              <a:rPr lang="en-US" altLang="zh-CN" dirty="0" smtClean="0">
                <a:ea typeface="宋体" pitchFamily="2" charset="-122"/>
              </a:rPr>
              <a:t>Problems with adding up character values for string keys</a:t>
            </a:r>
            <a:endParaRPr lang="en-US" altLang="zh-CN" dirty="0" smtClean="0">
              <a:ea typeface="宋体" pitchFamily="2" charset="-122"/>
            </a:endParaRPr>
          </a:p>
          <a:p>
            <a:pPr marL="628650" lvl="1" indent="-285750"/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If string keys are short, will not hash evenly to all of the hash table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  <a:p>
            <a:pPr marL="628650" lvl="1" indent="-285750"/>
            <a:r>
              <a:rPr lang="en-US" altLang="zh-CN" sz="2325" dirty="0">
                <a:solidFill>
                  <a:srgbClr val="006600"/>
                </a:solidFill>
                <a:ea typeface="宋体" pitchFamily="2" charset="-122"/>
              </a:rPr>
              <a:t>Different character combinations hash to same value</a:t>
            </a:r>
            <a:endParaRPr lang="en-US" altLang="zh-CN" sz="2325" dirty="0">
              <a:solidFill>
                <a:srgbClr val="006600"/>
              </a:solidFill>
              <a:ea typeface="宋体" pitchFamily="2" charset="-122"/>
            </a:endParaRPr>
          </a:p>
          <a:p>
            <a:pPr marL="928370" lvl="2" indent="-285750"/>
            <a:r>
              <a:rPr lang="en-US" altLang="zh-CN" sz="1950" dirty="0">
                <a:ea typeface="宋体" pitchFamily="2" charset="-122"/>
              </a:rPr>
              <a:t>“</a:t>
            </a:r>
            <a:r>
              <a:rPr lang="en-US" altLang="zh-CN" sz="1950" dirty="0" err="1">
                <a:ea typeface="宋体" pitchFamily="2" charset="-122"/>
              </a:rPr>
              <a:t>abc</a:t>
            </a:r>
            <a:r>
              <a:rPr lang="en-US" altLang="zh-CN" sz="1950" dirty="0">
                <a:ea typeface="宋体" pitchFamily="2" charset="-122"/>
              </a:rPr>
              <a:t>”, “</a:t>
            </a:r>
            <a:r>
              <a:rPr lang="en-US" altLang="zh-CN" sz="1950" dirty="0" err="1">
                <a:ea typeface="宋体" pitchFamily="2" charset="-122"/>
              </a:rPr>
              <a:t>bca</a:t>
            </a:r>
            <a:r>
              <a:rPr lang="en-US" altLang="zh-CN" sz="1950" dirty="0">
                <a:ea typeface="宋体" pitchFamily="2" charset="-122"/>
              </a:rPr>
              <a:t>”, and “cab” all add up to the same value (recall this was Problem 1)</a:t>
            </a:r>
            <a:endParaRPr lang="en-US" altLang="zh-CN" sz="1950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47ED357-76E1-4362-B539-44D640A6726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48997A03-E8BC-4BF6-A597-26AFCD4F9314}" type="slidenum">
              <a:rPr lang="en-US" altLang="zh-CN" sz="1050"/>
            </a:fld>
            <a:endParaRPr lang="en-US" altLang="zh-CN" sz="105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Characters as Integers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843530"/>
            <a:ext cx="5772150" cy="3994785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A character string can be thought of as a base 256 number. The string c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r>
              <a:rPr lang="en-US" altLang="zh-CN" dirty="0" smtClean="0">
                <a:ea typeface="宋体" pitchFamily="2" charset="-122"/>
              </a:rPr>
              <a:t>c</a:t>
            </a:r>
            <a:r>
              <a:rPr lang="en-US" altLang="zh-CN" baseline="-25000" dirty="0" smtClean="0">
                <a:ea typeface="宋体" pitchFamily="2" charset="-122"/>
              </a:rPr>
              <a:t>2</a:t>
            </a:r>
            <a:r>
              <a:rPr lang="en-US" altLang="zh-CN" dirty="0" smtClean="0">
                <a:ea typeface="宋体" pitchFamily="2" charset="-122"/>
              </a:rPr>
              <a:t>…</a:t>
            </a:r>
            <a:r>
              <a:rPr lang="en-US" altLang="zh-CN" dirty="0" err="1" smtClean="0">
                <a:ea typeface="宋体" pitchFamily="2" charset="-122"/>
              </a:rPr>
              <a:t>c</a:t>
            </a:r>
            <a:r>
              <a:rPr lang="en-US" altLang="zh-CN" baseline="-25000" dirty="0" err="1" smtClean="0">
                <a:ea typeface="宋体" pitchFamily="2" charset="-122"/>
              </a:rPr>
              <a:t>n</a:t>
            </a:r>
            <a:r>
              <a:rPr lang="en-US" altLang="zh-CN" dirty="0" smtClean="0">
                <a:ea typeface="宋体" pitchFamily="2" charset="-122"/>
              </a:rPr>
              <a:t> can be thought of as the number </a:t>
            </a:r>
            <a:br>
              <a:rPr lang="en-US" altLang="zh-CN" dirty="0" smtClean="0">
                <a:ea typeface="宋体" pitchFamily="2" charset="-122"/>
              </a:rPr>
            </a:br>
            <a:r>
              <a:rPr lang="en-US" altLang="zh-CN" dirty="0" err="1" smtClean="0">
                <a:ea typeface="宋体" pitchFamily="2" charset="-122"/>
              </a:rPr>
              <a:t>c</a:t>
            </a:r>
            <a:r>
              <a:rPr lang="en-US" altLang="zh-CN" baseline="-25000" dirty="0" err="1" smtClean="0">
                <a:ea typeface="宋体" pitchFamily="2" charset="-122"/>
              </a:rPr>
              <a:t>n</a:t>
            </a:r>
            <a:r>
              <a:rPr lang="en-US" altLang="zh-CN" dirty="0" smtClean="0">
                <a:ea typeface="宋体" pitchFamily="2" charset="-122"/>
              </a:rPr>
              <a:t> + 256c</a:t>
            </a:r>
            <a:r>
              <a:rPr lang="en-US" altLang="zh-CN" baseline="-25000" dirty="0" smtClean="0">
                <a:ea typeface="宋体" pitchFamily="2" charset="-122"/>
              </a:rPr>
              <a:t>n-1</a:t>
            </a:r>
            <a:r>
              <a:rPr lang="en-US" altLang="zh-CN" dirty="0" smtClean="0">
                <a:ea typeface="宋体" pitchFamily="2" charset="-122"/>
              </a:rPr>
              <a:t> + 256</a:t>
            </a:r>
            <a:r>
              <a:rPr lang="en-US" altLang="zh-CN" baseline="30000" dirty="0" smtClean="0">
                <a:ea typeface="宋体" pitchFamily="2" charset="-122"/>
              </a:rPr>
              <a:t>2</a:t>
            </a:r>
            <a:r>
              <a:rPr lang="en-US" altLang="zh-CN" dirty="0" smtClean="0">
                <a:ea typeface="宋体" pitchFamily="2" charset="-122"/>
              </a:rPr>
              <a:t>c</a:t>
            </a:r>
            <a:r>
              <a:rPr lang="en-US" altLang="zh-CN" baseline="-25000" dirty="0" smtClean="0">
                <a:ea typeface="宋体" pitchFamily="2" charset="-122"/>
              </a:rPr>
              <a:t>n-2</a:t>
            </a:r>
            <a:r>
              <a:rPr lang="en-US" altLang="zh-CN" dirty="0" smtClean="0">
                <a:ea typeface="宋体" pitchFamily="2" charset="-122"/>
              </a:rPr>
              <a:t> + … + 256</a:t>
            </a:r>
            <a:r>
              <a:rPr lang="en-US" altLang="zh-CN" baseline="30000" dirty="0" smtClean="0">
                <a:ea typeface="宋体" pitchFamily="2" charset="-122"/>
              </a:rPr>
              <a:t>n-1</a:t>
            </a:r>
            <a:r>
              <a:rPr lang="en-US" altLang="zh-CN" dirty="0" smtClean="0">
                <a:ea typeface="宋体" pitchFamily="2" charset="-122"/>
              </a:rPr>
              <a:t> c</a:t>
            </a:r>
            <a:r>
              <a:rPr lang="en-US" altLang="zh-CN" baseline="-25000" dirty="0" smtClean="0">
                <a:ea typeface="宋体" pitchFamily="2" charset="-122"/>
              </a:rPr>
              <a:t>1</a:t>
            </a:r>
            <a:endParaRPr lang="en-US" altLang="zh-CN" baseline="-25000" dirty="0" smtClean="0">
              <a:ea typeface="宋体" pitchFamily="2" charset="-122"/>
            </a:endParaRPr>
          </a:p>
          <a:p>
            <a:r>
              <a:rPr lang="en-US" altLang="zh-CN" baseline="-25000" dirty="0" smtClean="0">
                <a:ea typeface="宋体" pitchFamily="2" charset="-122"/>
              </a:rPr>
              <a:t> </a:t>
            </a:r>
            <a:endParaRPr lang="en-US" altLang="zh-CN" baseline="-25000" dirty="0" smtClean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Use Horner’s Rule to Hash! </a:t>
            </a:r>
            <a:r>
              <a:rPr lang="en-US" altLang="zh-CN" sz="1800" dirty="0">
                <a:solidFill>
                  <a:srgbClr val="263AF8"/>
                </a:solidFill>
                <a:ea typeface="宋体" pitchFamily="2" charset="-122"/>
              </a:rPr>
              <a:t>(see Ex. 2.14)</a:t>
            </a:r>
            <a:endParaRPr lang="en-US" altLang="zh-CN" sz="3200" dirty="0" smtClean="0">
              <a:solidFill>
                <a:srgbClr val="263AF8"/>
              </a:solidFill>
              <a:ea typeface="宋体" pitchFamily="2" charset="-122"/>
            </a:endParaRPr>
          </a:p>
        </p:txBody>
      </p:sp>
      <p:sp>
        <p:nvSpPr>
          <p:cNvPr id="31751" name="Text Box 4"/>
          <p:cNvSpPr txBox="1">
            <a:spLocks noChangeArrowheads="1"/>
          </p:cNvSpPr>
          <p:nvPr/>
        </p:nvSpPr>
        <p:spPr bwMode="auto">
          <a:xfrm>
            <a:off x="918349" y="5441244"/>
            <a:ext cx="47339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r= 0;</a:t>
            </a:r>
            <a:endParaRPr lang="en-US" altLang="zh-CN" sz="18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for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 = 1 to n do</a:t>
            </a:r>
            <a:endParaRPr lang="en-US" altLang="zh-CN" sz="18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r := (c[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] + 256*r) mod </a:t>
            </a:r>
            <a:r>
              <a:rPr lang="en-US" altLang="zh-CN" sz="1800" b="1" dirty="0" err="1">
                <a:solidFill>
                  <a:srgbClr val="FF0000"/>
                </a:solidFill>
                <a:latin typeface="Courier New" panose="02070609020205090404" pitchFamily="49" charset="0"/>
                <a:ea typeface="宋体" pitchFamily="2" charset="-122"/>
              </a:rPr>
              <a:t>TableSize</a:t>
            </a:r>
            <a:endParaRPr lang="en-US" altLang="zh-CN" sz="1800" b="1" dirty="0">
              <a:solidFill>
                <a:srgbClr val="FF0000"/>
              </a:solidFill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4820" y="7036108"/>
            <a:ext cx="6688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 smtClean="0">
                <a:latin typeface="Sitka Text" panose="02000505000000020004" pitchFamily="2" charset="0"/>
              </a:rPr>
              <a:t>P</a:t>
            </a:r>
            <a:r>
              <a:rPr lang="en-US" altLang="zh-CN" sz="2000" baseline="-25000" dirty="0" err="1" smtClean="0">
                <a:latin typeface="Sitka Text" panose="02000505000000020004" pitchFamily="2" charset="0"/>
              </a:rPr>
              <a:t>n</a:t>
            </a:r>
            <a:r>
              <a:rPr lang="en-US" altLang="zh-CN" sz="2000" dirty="0" smtClean="0">
                <a:latin typeface="Sitka Text" panose="02000505000000020004" pitchFamily="2" charset="0"/>
              </a:rPr>
              <a:t>(x) = 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a</a:t>
            </a:r>
            <a:r>
              <a:rPr lang="en-US" altLang="zh-CN" sz="2000" baseline="-25000" dirty="0" err="1" smtClean="0">
                <a:latin typeface="Sitka Text" panose="02000505000000020004" pitchFamily="2" charset="0"/>
              </a:rPr>
              <a:t>n</a:t>
            </a:r>
            <a:r>
              <a:rPr lang="en-US" altLang="zh-CN" sz="2000" dirty="0" err="1" smtClean="0">
                <a:latin typeface="Sitka Text" panose="02000505000000020004" pitchFamily="2" charset="0"/>
              </a:rPr>
              <a:t>x</a:t>
            </a:r>
            <a:r>
              <a:rPr lang="en-US" altLang="zh-CN" sz="2000" baseline="30000" dirty="0" err="1" smtClean="0">
                <a:latin typeface="Sitka Text" panose="02000505000000020004" pitchFamily="2" charset="0"/>
              </a:rPr>
              <a:t>n</a:t>
            </a:r>
            <a:r>
              <a:rPr lang="en-US" altLang="zh-CN" sz="2000" dirty="0" smtClean="0">
                <a:latin typeface="Sitka Text" panose="02000505000000020004" pitchFamily="2" charset="0"/>
              </a:rPr>
              <a:t> +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n-1</a:t>
            </a:r>
            <a:r>
              <a:rPr lang="en-US" altLang="zh-CN" sz="2000" dirty="0" smtClean="0">
                <a:latin typeface="Sitka Text" panose="02000505000000020004" pitchFamily="2" charset="0"/>
              </a:rPr>
              <a:t>x</a:t>
            </a:r>
            <a:r>
              <a:rPr lang="en-US" altLang="zh-CN" sz="2000" baseline="30000" dirty="0" smtClean="0">
                <a:latin typeface="Sitka Text" panose="02000505000000020004" pitchFamily="2" charset="0"/>
              </a:rPr>
              <a:t>n-1 </a:t>
            </a:r>
            <a:r>
              <a:rPr lang="en-US" altLang="zh-CN" sz="2000" dirty="0" smtClean="0">
                <a:latin typeface="Sitka Text" panose="02000505000000020004" pitchFamily="2" charset="0"/>
              </a:rPr>
              <a:t>+ …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1</a:t>
            </a:r>
            <a:r>
              <a:rPr lang="en-US" altLang="zh-CN" sz="2000" dirty="0" smtClean="0">
                <a:latin typeface="Sitka Text" panose="02000505000000020004" pitchFamily="2" charset="0"/>
              </a:rPr>
              <a:t>x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0</a:t>
            </a:r>
            <a:endParaRPr lang="en-US" altLang="zh-CN" sz="2000" baseline="-25000" dirty="0" smtClean="0">
              <a:latin typeface="Sitka Text" panose="02000505000000020004" pitchFamily="2" charset="0"/>
            </a:endParaRPr>
          </a:p>
          <a:p>
            <a:r>
              <a:rPr lang="en-US" altLang="zh-CN" sz="2000" dirty="0" smtClean="0">
                <a:latin typeface="Sitka Text" panose="02000505000000020004" pitchFamily="2" charset="0"/>
              </a:rPr>
              <a:t>= </a:t>
            </a:r>
            <a:r>
              <a:rPr lang="en-US" altLang="zh-CN" sz="2000" dirty="0">
                <a:latin typeface="Sitka Text" panose="02000505000000020004" pitchFamily="2" charset="0"/>
              </a:rPr>
              <a:t>((…(((</a:t>
            </a:r>
            <a:r>
              <a:rPr lang="en-US" altLang="zh-CN" sz="2000" dirty="0" err="1">
                <a:latin typeface="Sitka Text" panose="02000505000000020004" pitchFamily="2" charset="0"/>
              </a:rPr>
              <a:t>a</a:t>
            </a:r>
            <a:r>
              <a:rPr lang="en-US" altLang="zh-CN" sz="2000" baseline="-25000" dirty="0" err="1">
                <a:latin typeface="Sitka Text" panose="02000505000000020004" pitchFamily="2" charset="0"/>
              </a:rPr>
              <a:t>n</a:t>
            </a:r>
            <a:r>
              <a:rPr lang="en-US" altLang="zh-CN" sz="2000" dirty="0" err="1">
                <a:latin typeface="Sitka Text" panose="02000505000000020004" pitchFamily="2" charset="0"/>
              </a:rPr>
              <a:t>x</a:t>
            </a:r>
            <a:r>
              <a:rPr lang="en-US" altLang="zh-CN" sz="2000" dirty="0">
                <a:latin typeface="Sitka Text" panose="02000505000000020004" pitchFamily="2" charset="0"/>
              </a:rPr>
              <a:t> </a:t>
            </a:r>
            <a:r>
              <a:rPr lang="en-US" altLang="zh-CN" sz="2000" dirty="0" smtClean="0">
                <a:latin typeface="Sitka Text" panose="02000505000000020004" pitchFamily="2" charset="0"/>
              </a:rPr>
              <a:t>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n</a:t>
            </a:r>
            <a:r>
              <a:rPr lang="zh-CN" altLang="en-US" sz="2000" baseline="-25000" dirty="0">
                <a:latin typeface="Sitka Text" panose="02000505000000020004" pitchFamily="2" charset="0"/>
              </a:rPr>
              <a:t>－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1</a:t>
            </a:r>
            <a:r>
              <a:rPr lang="en-US" altLang="zh-CN" sz="2000" dirty="0" smtClean="0">
                <a:latin typeface="Sitka Text" panose="02000505000000020004" pitchFamily="2" charset="0"/>
              </a:rPr>
              <a:t>)x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n</a:t>
            </a:r>
            <a:r>
              <a:rPr lang="zh-CN" altLang="en-US" sz="2000" baseline="-25000" dirty="0">
                <a:latin typeface="Sitka Text" panose="02000505000000020004" pitchFamily="2" charset="0"/>
              </a:rPr>
              <a:t>－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2</a:t>
            </a:r>
            <a:r>
              <a:rPr lang="en-US" altLang="zh-CN" sz="2000" dirty="0" smtClean="0">
                <a:latin typeface="Sitka Text" panose="02000505000000020004" pitchFamily="2" charset="0"/>
              </a:rPr>
              <a:t>)x + </a:t>
            </a:r>
            <a:r>
              <a:rPr lang="en-US" altLang="zh-CN" sz="2000" dirty="0">
                <a:latin typeface="Sitka Text" panose="02000505000000020004" pitchFamily="2" charset="0"/>
              </a:rPr>
              <a:t>a</a:t>
            </a:r>
            <a:r>
              <a:rPr lang="en-US" altLang="zh-CN" sz="2000" baseline="-25000" dirty="0">
                <a:latin typeface="Sitka Text" panose="02000505000000020004" pitchFamily="2" charset="0"/>
              </a:rPr>
              <a:t>n</a:t>
            </a:r>
            <a:r>
              <a:rPr lang="zh-CN" altLang="en-US" sz="2000" baseline="-25000" dirty="0" smtClean="0">
                <a:latin typeface="Sitka Text" panose="02000505000000020004" pitchFamily="2" charset="0"/>
              </a:rPr>
              <a:t>－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3</a:t>
            </a:r>
            <a:r>
              <a:rPr lang="en-US" altLang="zh-CN" sz="2000" dirty="0" smtClean="0">
                <a:latin typeface="Sitka Text" panose="02000505000000020004" pitchFamily="2" charset="0"/>
              </a:rPr>
              <a:t>)…)x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1</a:t>
            </a:r>
            <a:r>
              <a:rPr lang="en-US" altLang="zh-CN" sz="2000" dirty="0" smtClean="0">
                <a:latin typeface="Sitka Text" panose="02000505000000020004" pitchFamily="2" charset="0"/>
              </a:rPr>
              <a:t>)x + a</a:t>
            </a:r>
            <a:r>
              <a:rPr lang="en-US" altLang="zh-CN" sz="2000" baseline="-25000" dirty="0" smtClean="0">
                <a:latin typeface="Sitka Text" panose="02000505000000020004" pitchFamily="2" charset="0"/>
              </a:rPr>
              <a:t>0</a:t>
            </a:r>
            <a:endParaRPr lang="zh-CN" altLang="en-US" sz="2000" baseline="-25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63D13C5-0220-4123-917B-6E7DD9ADC98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BB604A3-10E6-47EA-AE55-8965768B740C}" type="slidenum">
              <a:rPr lang="en-US" altLang="zh-CN" sz="1050"/>
            </a:fld>
            <a:endParaRPr lang="en-US" altLang="zh-CN" sz="105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itchFamily="2" charset="-122"/>
              </a:rPr>
              <a:t>Collisions</a:t>
            </a:r>
            <a:endParaRPr lang="en-US" altLang="zh-CN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A </a:t>
            </a:r>
            <a:r>
              <a:rPr lang="en-US" altLang="zh-CN" dirty="0" smtClean="0">
                <a:solidFill>
                  <a:srgbClr val="0000FF"/>
                </a:solidFill>
                <a:ea typeface="宋体" pitchFamily="2" charset="-122"/>
              </a:rPr>
              <a:t>collision</a:t>
            </a:r>
            <a:r>
              <a:rPr lang="en-US" altLang="zh-CN" dirty="0" smtClean="0">
                <a:ea typeface="宋体" pitchFamily="2" charset="-122"/>
              </a:rPr>
              <a:t> occurs when two different keys hash to the same value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E.g. For </a:t>
            </a:r>
            <a:r>
              <a:rPr lang="en-US" altLang="zh-CN" i="1" dirty="0" err="1" smtClean="0">
                <a:ea typeface="宋体" pitchFamily="2" charset="-122"/>
              </a:rPr>
              <a:t>TableSize</a:t>
            </a:r>
            <a:r>
              <a:rPr lang="en-US" altLang="zh-CN" dirty="0" smtClean="0">
                <a:ea typeface="宋体" pitchFamily="2" charset="-122"/>
              </a:rPr>
              <a:t> = 17, the keys 18 and 35 hash to the same value for the mod17 hash function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18 mod 17 = 1 and 35 mod 17 = 1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Cannot store both data records in the same slot in array!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sz="2625" dirty="0"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08A4E22-4660-43F1-8545-8390B6751FA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47AFD8A-204F-488C-B5B5-9C8E11D15273}" type="slidenum">
              <a:rPr lang="en-US" altLang="zh-CN" sz="1050"/>
            </a:fld>
            <a:endParaRPr lang="en-US" altLang="zh-CN" sz="105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Collision Resolution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Separate Chaining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Use data structure (such as a linked list) to store multiple items that hash to the same slot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Open addressing (or probing)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search for empty slots using a second function and store item in first empty slot that is found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EF7F870-4667-40C3-AF37-E21DEF85AD2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D6623C6-2CD4-4E2B-BF2C-48BC56428B17}" type="slidenum">
              <a:rPr lang="en-US" altLang="zh-CN" sz="1050"/>
            </a:fld>
            <a:endParaRPr lang="en-US" altLang="zh-CN" sz="1050"/>
          </a:p>
        </p:txBody>
      </p:sp>
      <p:sp>
        <p:nvSpPr>
          <p:cNvPr id="34821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Resolution by Chaining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4822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36334" y="2551910"/>
            <a:ext cx="6005081" cy="3815308"/>
          </a:xfrm>
        </p:spPr>
        <p:txBody>
          <a:bodyPr>
            <a:noAutofit/>
          </a:bodyPr>
          <a:lstStyle/>
          <a:p>
            <a:r>
              <a:rPr lang="en-US" altLang="zh-CN" sz="2000" dirty="0">
                <a:ea typeface="宋体" pitchFamily="2" charset="-122"/>
              </a:rPr>
              <a:t>Each hash table cell holds pointer to linked list of records with same hash value </a:t>
            </a:r>
            <a:endParaRPr lang="en-US" altLang="zh-CN" sz="2000" dirty="0"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263AF8"/>
                </a:solidFill>
                <a:ea typeface="宋体" pitchFamily="2" charset="-122"/>
              </a:rPr>
              <a:t>Collision: Insert item into linked list</a:t>
            </a:r>
            <a:endParaRPr lang="en-US" altLang="zh-CN" sz="2000" dirty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sz="2000" b="1" dirty="0">
                <a:solidFill>
                  <a:srgbClr val="CC0099"/>
                </a:solidFill>
                <a:ea typeface="宋体" pitchFamily="2" charset="-122"/>
              </a:rPr>
              <a:t>To Find an item</a:t>
            </a:r>
            <a:r>
              <a:rPr lang="en-US" altLang="zh-CN" sz="2000" dirty="0">
                <a:solidFill>
                  <a:srgbClr val="CC0099"/>
                </a:solidFill>
                <a:ea typeface="宋体" pitchFamily="2" charset="-122"/>
              </a:rPr>
              <a:t>: compute hash value, then do Find on linked list</a:t>
            </a:r>
            <a:endParaRPr lang="en-US" altLang="zh-CN" sz="2000" dirty="0">
              <a:solidFill>
                <a:srgbClr val="CC0099"/>
              </a:solidFill>
              <a:ea typeface="宋体" pitchFamily="2" charset="-122"/>
            </a:endParaRPr>
          </a:p>
          <a:p>
            <a:r>
              <a:rPr lang="en-US" altLang="zh-CN" sz="2000" dirty="0">
                <a:ea typeface="宋体" pitchFamily="2" charset="-122"/>
              </a:rPr>
              <a:t>Note that there are potentially as many as </a:t>
            </a:r>
            <a:r>
              <a:rPr lang="en-US" altLang="zh-CN" sz="2000" dirty="0" err="1">
                <a:ea typeface="宋体" pitchFamily="2" charset="-122"/>
              </a:rPr>
              <a:t>TableSize</a:t>
            </a:r>
            <a:r>
              <a:rPr lang="en-US" altLang="zh-CN" sz="2000" dirty="0">
                <a:ea typeface="宋体" pitchFamily="2" charset="-122"/>
              </a:rPr>
              <a:t> lists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1809006" y="5083724"/>
            <a:ext cx="320675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0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8" name="Text Box 6"/>
          <p:cNvSpPr txBox="1">
            <a:spLocks noChangeArrowheads="1"/>
          </p:cNvSpPr>
          <p:nvPr/>
        </p:nvSpPr>
        <p:spPr bwMode="auto">
          <a:xfrm>
            <a:off x="1809006" y="5450437"/>
            <a:ext cx="320675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1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1809006" y="5817149"/>
            <a:ext cx="320675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2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1809006" y="6183862"/>
            <a:ext cx="320675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3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1809006" y="6545812"/>
            <a:ext cx="320675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4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1809006" y="6912524"/>
            <a:ext cx="320675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5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1809006" y="7279237"/>
            <a:ext cx="320675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6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4" name="Text Box 12"/>
          <p:cNvSpPr txBox="1">
            <a:spLocks noChangeArrowheads="1"/>
          </p:cNvSpPr>
          <p:nvPr/>
        </p:nvSpPr>
        <p:spPr bwMode="auto">
          <a:xfrm>
            <a:off x="1809006" y="7645949"/>
            <a:ext cx="320675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7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5" name="Line 13"/>
          <p:cNvSpPr>
            <a:spLocks noChangeShapeType="1"/>
          </p:cNvSpPr>
          <p:nvPr/>
        </p:nvSpPr>
        <p:spPr bwMode="auto">
          <a:xfrm>
            <a:off x="1809006" y="801266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>
            <a:off x="2132856" y="801266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2132856" y="5083724"/>
            <a:ext cx="6858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8" name="Text Box 16"/>
          <p:cNvSpPr txBox="1">
            <a:spLocks noChangeArrowheads="1"/>
          </p:cNvSpPr>
          <p:nvPr/>
        </p:nvSpPr>
        <p:spPr bwMode="auto">
          <a:xfrm>
            <a:off x="2132856" y="5450437"/>
            <a:ext cx="6858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49" name="Text Box 17"/>
          <p:cNvSpPr txBox="1">
            <a:spLocks noChangeArrowheads="1"/>
          </p:cNvSpPr>
          <p:nvPr/>
        </p:nvSpPr>
        <p:spPr bwMode="auto">
          <a:xfrm>
            <a:off x="2132856" y="5817149"/>
            <a:ext cx="6858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2132856" y="6183862"/>
            <a:ext cx="6858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1" name="Text Box 19"/>
          <p:cNvSpPr txBox="1">
            <a:spLocks noChangeArrowheads="1"/>
          </p:cNvSpPr>
          <p:nvPr/>
        </p:nvSpPr>
        <p:spPr bwMode="auto">
          <a:xfrm>
            <a:off x="2132856" y="6545812"/>
            <a:ext cx="6858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2" name="Text Box 20"/>
          <p:cNvSpPr txBox="1">
            <a:spLocks noChangeArrowheads="1"/>
          </p:cNvSpPr>
          <p:nvPr/>
        </p:nvSpPr>
        <p:spPr bwMode="auto">
          <a:xfrm>
            <a:off x="2132856" y="6912524"/>
            <a:ext cx="6858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3" name="Text Box 21"/>
          <p:cNvSpPr txBox="1">
            <a:spLocks noChangeArrowheads="1"/>
          </p:cNvSpPr>
          <p:nvPr/>
        </p:nvSpPr>
        <p:spPr bwMode="auto">
          <a:xfrm>
            <a:off x="2132856" y="7279237"/>
            <a:ext cx="6858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4" name="Text Box 22"/>
          <p:cNvSpPr txBox="1">
            <a:spLocks noChangeArrowheads="1"/>
          </p:cNvSpPr>
          <p:nvPr/>
        </p:nvSpPr>
        <p:spPr bwMode="auto">
          <a:xfrm>
            <a:off x="2132856" y="7645949"/>
            <a:ext cx="6858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55" name="Line 23"/>
          <p:cNvSpPr>
            <a:spLocks noChangeShapeType="1"/>
          </p:cNvSpPr>
          <p:nvPr/>
        </p:nvSpPr>
        <p:spPr bwMode="auto">
          <a:xfrm>
            <a:off x="2818656" y="8012662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56" name="Text Box 24"/>
          <p:cNvSpPr txBox="1">
            <a:spLocks noChangeArrowheads="1"/>
          </p:cNvSpPr>
          <p:nvPr/>
        </p:nvSpPr>
        <p:spPr bwMode="auto">
          <a:xfrm>
            <a:off x="3366344" y="5193262"/>
            <a:ext cx="8382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bug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cxnSp>
        <p:nvCxnSpPr>
          <p:cNvPr id="57" name="AutoShape 30"/>
          <p:cNvCxnSpPr>
            <a:cxnSpLocks noChangeShapeType="1"/>
            <a:stCxn id="59" idx="6"/>
            <a:endCxn id="56" idx="1"/>
          </p:cNvCxnSpPr>
          <p:nvPr/>
        </p:nvCxnSpPr>
        <p:spPr bwMode="auto">
          <a:xfrm>
            <a:off x="2513856" y="5269462"/>
            <a:ext cx="852488" cy="107950"/>
          </a:xfrm>
          <a:prstGeom prst="curvedConnector3">
            <a:avLst>
              <a:gd name="adj1" fmla="val 49907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AutoShape 31"/>
          <p:cNvCxnSpPr>
            <a:cxnSpLocks noChangeShapeType="1"/>
            <a:stCxn id="60" idx="6"/>
          </p:cNvCxnSpPr>
          <p:nvPr/>
        </p:nvCxnSpPr>
        <p:spPr bwMode="auto">
          <a:xfrm>
            <a:off x="2513856" y="6717262"/>
            <a:ext cx="819150" cy="12223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Oval 33"/>
          <p:cNvSpPr>
            <a:spLocks noChangeArrowheads="1"/>
          </p:cNvSpPr>
          <p:nvPr/>
        </p:nvSpPr>
        <p:spPr bwMode="auto">
          <a:xfrm>
            <a:off x="2361456" y="5193262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b="1">
              <a:ea typeface="宋体" pitchFamily="2" charset="-122"/>
            </a:endParaRPr>
          </a:p>
        </p:txBody>
      </p:sp>
      <p:sp>
        <p:nvSpPr>
          <p:cNvPr id="60" name="Oval 34"/>
          <p:cNvSpPr>
            <a:spLocks noChangeArrowheads="1"/>
          </p:cNvSpPr>
          <p:nvPr/>
        </p:nvSpPr>
        <p:spPr bwMode="auto">
          <a:xfrm>
            <a:off x="2361456" y="6641062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 b="1">
              <a:ea typeface="宋体" pitchFamily="2" charset="-122"/>
            </a:endParaRPr>
          </a:p>
        </p:txBody>
      </p:sp>
      <p:sp>
        <p:nvSpPr>
          <p:cNvPr id="61" name="Text Box 37"/>
          <p:cNvSpPr txBox="1">
            <a:spLocks noChangeArrowheads="1"/>
          </p:cNvSpPr>
          <p:nvPr/>
        </p:nvSpPr>
        <p:spPr bwMode="auto">
          <a:xfrm>
            <a:off x="4204544" y="5193262"/>
            <a:ext cx="2286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2" name="Text Box 38"/>
          <p:cNvSpPr txBox="1">
            <a:spLocks noChangeArrowheads="1"/>
          </p:cNvSpPr>
          <p:nvPr/>
        </p:nvSpPr>
        <p:spPr bwMode="auto">
          <a:xfrm>
            <a:off x="3366344" y="6641062"/>
            <a:ext cx="8382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zurg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3" name="Text Box 39"/>
          <p:cNvSpPr txBox="1">
            <a:spLocks noChangeArrowheads="1"/>
          </p:cNvSpPr>
          <p:nvPr/>
        </p:nvSpPr>
        <p:spPr bwMode="auto">
          <a:xfrm>
            <a:off x="4204544" y="6641062"/>
            <a:ext cx="228600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4" name="Text Box 40"/>
          <p:cNvSpPr txBox="1">
            <a:spLocks noChangeArrowheads="1"/>
          </p:cNvSpPr>
          <p:nvPr/>
        </p:nvSpPr>
        <p:spPr bwMode="auto">
          <a:xfrm>
            <a:off x="4037856" y="7445924"/>
            <a:ext cx="8382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sz="1800" b="1">
                <a:latin typeface="Courier New" panose="02070609020205090404" pitchFamily="49" charset="0"/>
                <a:ea typeface="宋体" pitchFamily="2" charset="-122"/>
              </a:rPr>
              <a:t>hoppi</a:t>
            </a:r>
            <a:endParaRPr lang="en-US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5" name="Text Box 41"/>
          <p:cNvSpPr txBox="1">
            <a:spLocks noChangeArrowheads="1"/>
          </p:cNvSpPr>
          <p:nvPr/>
        </p:nvSpPr>
        <p:spPr bwMode="auto">
          <a:xfrm>
            <a:off x="4876056" y="7445924"/>
            <a:ext cx="228600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endParaRPr lang="zh-CN" altLang="zh-CN" sz="1800" b="1">
              <a:latin typeface="Courier New" panose="02070609020205090404" pitchFamily="49" charset="0"/>
              <a:ea typeface="宋体" pitchFamily="2" charset="-122"/>
            </a:endParaRPr>
          </a:p>
        </p:txBody>
      </p:sp>
      <p:sp>
        <p:nvSpPr>
          <p:cNvPr id="66" name="Line 42"/>
          <p:cNvSpPr>
            <a:spLocks noChangeShapeType="1"/>
          </p:cNvSpPr>
          <p:nvPr/>
        </p:nvSpPr>
        <p:spPr bwMode="auto">
          <a:xfrm flipH="1">
            <a:off x="4190256" y="6869662"/>
            <a:ext cx="90488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5F6BAA6-62CC-48C6-996E-02A40012CD1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6972590-917D-4231-B2B9-D205A431705C}" type="slidenum">
              <a:rPr lang="en-US" altLang="zh-CN" sz="1050"/>
            </a:fld>
            <a:endParaRPr lang="en-US" altLang="zh-CN" sz="105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Why Lists?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Can use List ADT for Find/Insert/Delete in linked list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O(N) runtime where N is the number of elements in the particular chain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Can also use Binary Search Trees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O(log N) time instead of O(N)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But the number of elements to search through should be </a:t>
            </a:r>
            <a:r>
              <a:rPr lang="en-US" altLang="zh-CN" u="sng" dirty="0">
                <a:ea typeface="宋体" pitchFamily="2" charset="-122"/>
              </a:rPr>
              <a:t>small </a:t>
            </a:r>
            <a:r>
              <a:rPr lang="en-US" altLang="zh-CN" dirty="0">
                <a:ea typeface="宋体" pitchFamily="2" charset="-122"/>
              </a:rPr>
              <a:t>(otherwise the hashing function is bad or the table is too small)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generally not worth the overhead of BSTs</a:t>
            </a:r>
            <a:endParaRPr lang="en-US" altLang="zh-CN" sz="24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DB24512-0849-4852-8914-5896B7F177E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A1D5F69-ED3F-4E45-9378-73B409949E8F}" type="slidenum">
              <a:rPr lang="en-US" altLang="zh-CN" sz="1050"/>
            </a:fld>
            <a:endParaRPr lang="en-US" altLang="zh-CN" sz="1050"/>
          </a:p>
        </p:txBody>
      </p:sp>
      <p:sp>
        <p:nvSpPr>
          <p:cNvPr id="3686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Load Factor of a Hash Table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687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Let N = number of items to be stored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Load factor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</a:t>
            </a:r>
            <a:r>
              <a:rPr lang="en-US" altLang="zh-CN" dirty="0">
                <a:ea typeface="宋体" pitchFamily="2" charset="-122"/>
              </a:rPr>
              <a:t> = N/</a:t>
            </a:r>
            <a:r>
              <a:rPr lang="en-US" altLang="zh-CN" dirty="0" err="1">
                <a:ea typeface="宋体" pitchFamily="2" charset="-122"/>
              </a:rPr>
              <a:t>TableSize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err="1">
                <a:ea typeface="宋体" pitchFamily="2" charset="-122"/>
              </a:rPr>
              <a:t>TableSize</a:t>
            </a:r>
            <a:r>
              <a:rPr lang="en-US" altLang="zh-CN" dirty="0">
                <a:ea typeface="宋体" pitchFamily="2" charset="-122"/>
              </a:rPr>
              <a:t> = 101 and N =505, then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 = 5</a:t>
            </a: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err="1">
                <a:ea typeface="宋体" pitchFamily="2" charset="-122"/>
              </a:rPr>
              <a:t>TableSize</a:t>
            </a:r>
            <a:r>
              <a:rPr lang="en-US" altLang="zh-CN" dirty="0">
                <a:ea typeface="宋体" pitchFamily="2" charset="-122"/>
              </a:rPr>
              <a:t> = 101 and N = 10, then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 = </a:t>
            </a:r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0.1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Average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itchFamily="2" charset="-122"/>
                <a:sym typeface="Symbol" panose="05050102010706020507" pitchFamily="18" charset="2"/>
              </a:rPr>
              <a:t>length of chained list =  and so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verage time</a:t>
            </a:r>
            <a:r>
              <a:rPr lang="en-US" altLang="zh-CN" dirty="0">
                <a:ea typeface="宋体" pitchFamily="2" charset="-122"/>
              </a:rPr>
              <a:t> for accessing an item =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O(1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) + O(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Symbol" panose="05050102010706020507" pitchFamily="18" charset="2"/>
              </a:rPr>
              <a:t>)</a:t>
            </a:r>
            <a:endParaRPr lang="en-US" altLang="zh-CN" dirty="0">
              <a:solidFill>
                <a:srgbClr val="FF0000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6600"/>
                </a:solidFill>
                <a:ea typeface="宋体" pitchFamily="2" charset="-122"/>
              </a:rPr>
              <a:t>Want </a:t>
            </a:r>
            <a:r>
              <a:rPr lang="en-US" altLang="zh-CN" dirty="0">
                <a:solidFill>
                  <a:srgbClr val="006600"/>
                </a:solidFill>
                <a:ea typeface="宋体" pitchFamily="2" charset="-122"/>
                <a:sym typeface="Symbol" panose="05050102010706020507" pitchFamily="18" charset="2"/>
              </a:rPr>
              <a:t> to be smaller than 1 but close to 1 if good hashing function (i.e. </a:t>
            </a:r>
            <a:r>
              <a:rPr lang="en-US" altLang="zh-CN" dirty="0" err="1">
                <a:solidFill>
                  <a:srgbClr val="006600"/>
                </a:solidFill>
                <a:ea typeface="宋体" pitchFamily="2" charset="-122"/>
                <a:sym typeface="Symbol" panose="05050102010706020507" pitchFamily="18" charset="2"/>
              </a:rPr>
              <a:t>TableSize</a:t>
            </a:r>
            <a:r>
              <a:rPr lang="en-US" altLang="zh-CN" dirty="0">
                <a:solidFill>
                  <a:srgbClr val="006600"/>
                </a:solidFill>
                <a:ea typeface="宋体" pitchFamily="2" charset="-122"/>
                <a:sym typeface="Symbol" panose="05050102010706020507" pitchFamily="18" charset="2"/>
              </a:rPr>
              <a:t>  N)</a:t>
            </a:r>
            <a:endParaRPr lang="en-US" altLang="zh-CN" dirty="0">
              <a:solidFill>
                <a:srgbClr val="006600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006600"/>
                </a:solidFill>
                <a:ea typeface="宋体" pitchFamily="2" charset="-122"/>
              </a:rPr>
              <a:t>With chaining hashing continues to work for </a:t>
            </a:r>
            <a:r>
              <a:rPr lang="en-US" altLang="zh-CN" dirty="0">
                <a:solidFill>
                  <a:srgbClr val="006600"/>
                </a:solidFill>
                <a:ea typeface="宋体" pitchFamily="2" charset="-122"/>
                <a:sym typeface="Symbol" panose="05050102010706020507" pitchFamily="18" charset="2"/>
              </a:rPr>
              <a:t> &gt; 1 </a:t>
            </a:r>
            <a:endParaRPr lang="en-US" altLang="zh-CN" dirty="0">
              <a:solidFill>
                <a:srgbClr val="0066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67D3A1E-B2D6-44EC-A1CE-3242D9E2A53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4124BF8-F137-4269-9C18-01D78588A5EF}" type="slidenum">
              <a:rPr lang="en-US" altLang="zh-CN" sz="1050"/>
            </a:fld>
            <a:endParaRPr lang="en-US" altLang="zh-CN" sz="105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" y="827584"/>
            <a:ext cx="6343650" cy="857250"/>
          </a:xfrm>
        </p:spPr>
        <p:txBody>
          <a:bodyPr vert="horz" wrap="square" lIns="68575" tIns="34288" rIns="68575" bIns="34288" numCol="1" rtlCol="0" anchor="ctr" anchorCtr="0" compatLnSpc="1">
            <a:normAutofit fontScale="90000"/>
          </a:bodyPr>
          <a:lstStyle/>
          <a:p>
            <a:r>
              <a:rPr lang="en-US" altLang="zh-CN" dirty="0" smtClean="0">
                <a:ea typeface="宋体" pitchFamily="2" charset="-122"/>
              </a:rPr>
              <a:t>Resolution by Open Addressing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No links, all keys are in the table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reduced overhead saves space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When searching for </a:t>
            </a:r>
            <a:r>
              <a:rPr lang="en-US" altLang="zh-CN" sz="21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X</a:t>
            </a:r>
            <a:r>
              <a:rPr lang="en-US" altLang="zh-CN" dirty="0" smtClean="0">
                <a:ea typeface="宋体" pitchFamily="2" charset="-122"/>
              </a:rPr>
              <a:t>, check locations </a:t>
            </a:r>
            <a:r>
              <a:rPr lang="en-US" altLang="zh-CN" sz="21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h</a:t>
            </a:r>
            <a:r>
              <a:rPr lang="en-US" altLang="zh-CN" sz="2100" b="1" baseline="-25000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1</a:t>
            </a:r>
            <a:r>
              <a:rPr lang="en-US" altLang="zh-CN" sz="21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(X), h</a:t>
            </a:r>
            <a:r>
              <a:rPr lang="en-US" altLang="zh-CN" sz="2100" b="1" baseline="-25000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2</a:t>
            </a:r>
            <a:r>
              <a:rPr lang="en-US" altLang="zh-CN" sz="21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(X), h</a:t>
            </a:r>
            <a:r>
              <a:rPr lang="en-US" altLang="zh-CN" sz="2100" b="1" baseline="-25000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3</a:t>
            </a:r>
            <a:r>
              <a:rPr lang="en-US" altLang="zh-CN" sz="21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(X), …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until either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b="1" dirty="0" smtClean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X</a:t>
            </a:r>
            <a:r>
              <a:rPr lang="en-US" altLang="zh-CN" dirty="0" smtClean="0">
                <a:ea typeface="宋体" pitchFamily="2" charset="-122"/>
              </a:rPr>
              <a:t> is found; or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we find an empty location (</a:t>
            </a:r>
            <a:r>
              <a:rPr lang="en-US" altLang="zh-CN" b="1" dirty="0" smtClean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X</a:t>
            </a:r>
            <a:r>
              <a:rPr lang="en-US" altLang="zh-CN" dirty="0" smtClean="0">
                <a:ea typeface="宋体" pitchFamily="2" charset="-122"/>
              </a:rPr>
              <a:t> not present)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Various flavors of open addressing differ in which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probe sequence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they use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/>
              <a:t>When </a:t>
            </a:r>
            <a:r>
              <a:rPr lang="en-US" altLang="zh-CN" dirty="0">
                <a:solidFill>
                  <a:srgbClr val="FF0000"/>
                </a:solidFill>
              </a:rPr>
              <a:t>inserting</a:t>
            </a:r>
            <a:r>
              <a:rPr lang="en-US" altLang="zh-CN" dirty="0"/>
              <a:t> a record and its home position is occupied, the collision resolution method searches </a:t>
            </a:r>
            <a:r>
              <a:rPr lang="en-US" altLang="zh-CN" dirty="0">
                <a:solidFill>
                  <a:srgbClr val="263AF8"/>
                </a:solidFill>
              </a:rPr>
              <a:t>a sequence of slots </a:t>
            </a:r>
            <a:r>
              <a:rPr lang="en-US" altLang="zh-CN" dirty="0"/>
              <a:t>and tries to find a free one for the </a:t>
            </a:r>
            <a:r>
              <a:rPr lang="en-US" altLang="zh-CN" dirty="0" smtClean="0"/>
              <a:t>record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Searching</a:t>
            </a:r>
            <a:r>
              <a:rPr lang="en-US" altLang="zh-CN" dirty="0"/>
              <a:t> in a hash table should follow </a:t>
            </a:r>
            <a:r>
              <a:rPr lang="en-US" altLang="zh-CN" dirty="0">
                <a:solidFill>
                  <a:srgbClr val="263AF8"/>
                </a:solidFill>
              </a:rPr>
              <a:t>the same probe sequence</a:t>
            </a:r>
            <a:r>
              <a:rPr lang="en-US" altLang="zh-CN" dirty="0"/>
              <a:t> used for inserting records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908A2A1-4715-497C-A6ED-ACB58047BB15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353869A-61A1-42C2-9D8E-69E64B0926A7}" type="slidenum">
              <a:rPr lang="en-US" altLang="zh-CN" sz="1050"/>
            </a:fld>
            <a:endParaRPr lang="en-US" altLang="zh-CN" sz="105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502285" y="467360"/>
            <a:ext cx="6176645" cy="1767205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Cell Full?  Keep Looking.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5385" y="2438403"/>
            <a:ext cx="6121967" cy="5801783"/>
          </a:xfrm>
        </p:spPr>
        <p:txBody>
          <a:bodyPr/>
          <a:lstStyle/>
          <a:p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h</a:t>
            </a:r>
            <a:r>
              <a:rPr lang="en-US" altLang="zh-CN" sz="2100" b="1" baseline="-25000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i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(X)=(Hash(X</a:t>
            </a:r>
            <a:r>
              <a:rPr lang="en-US" altLang="zh-CN" sz="2100" b="1" dirty="0" smtClean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)+</a:t>
            </a:r>
            <a:r>
              <a:rPr lang="en-US" altLang="zh-CN" sz="2100" b="1" dirty="0" smtClean="0">
                <a:solidFill>
                  <a:srgbClr val="0000FF"/>
                </a:solidFill>
                <a:latin typeface="Courier New" panose="02070609020205090404" pitchFamily="49" charset="0"/>
              </a:rPr>
              <a:t>p(</a:t>
            </a:r>
            <a:r>
              <a:rPr lang="en-US" altLang="zh-CN" sz="2100" b="1" dirty="0" err="1" smtClean="0">
                <a:solidFill>
                  <a:srgbClr val="0000FF"/>
                </a:solidFill>
                <a:latin typeface="Courier New" panose="02070609020205090404" pitchFamily="49" charset="0"/>
              </a:rPr>
              <a:t>X,i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)) mod </a:t>
            </a:r>
            <a:r>
              <a:rPr lang="en-US" altLang="zh-CN" sz="2100" b="1" dirty="0" err="1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TableSize</a:t>
            </a:r>
            <a:r>
              <a:rPr lang="en-US" altLang="zh-CN" b="1" i="1" dirty="0" smtClean="0">
                <a:solidFill>
                  <a:srgbClr val="0000FF"/>
                </a:solidFill>
                <a:ea typeface="宋体" pitchFamily="2" charset="-122"/>
              </a:rPr>
              <a:t> </a:t>
            </a:r>
            <a:endParaRPr lang="en-US" altLang="zh-CN" i="1" dirty="0" smtClean="0">
              <a:solidFill>
                <a:srgbClr val="0000FF"/>
              </a:solidFill>
              <a:ea typeface="宋体" pitchFamily="2" charset="-122"/>
            </a:endParaRPr>
          </a:p>
          <a:p>
            <a:pPr lvl="1"/>
            <a:r>
              <a:rPr lang="en-US" altLang="zh-CN" sz="2325" dirty="0">
                <a:ea typeface="宋体" pitchFamily="2" charset="-122"/>
              </a:rPr>
              <a:t>Define </a:t>
            </a:r>
            <a:r>
              <a:rPr lang="en-US" altLang="zh-CN" sz="2325" dirty="0" smtClean="0">
                <a:ea typeface="宋体" pitchFamily="2" charset="-122"/>
              </a:rPr>
              <a:t>p(X,0</a:t>
            </a:r>
            <a:r>
              <a:rPr lang="en-US" altLang="zh-CN" sz="2325" dirty="0">
                <a:ea typeface="宋体" pitchFamily="2" charset="-122"/>
              </a:rPr>
              <a:t>) = </a:t>
            </a:r>
            <a:r>
              <a:rPr lang="en-US" altLang="zh-CN" sz="2325" dirty="0" smtClean="0">
                <a:ea typeface="宋体" pitchFamily="2" charset="-122"/>
              </a:rPr>
              <a:t>0</a:t>
            </a:r>
            <a:endParaRPr lang="en-US" altLang="zh-CN" sz="2325" dirty="0" smtClean="0">
              <a:ea typeface="宋体" pitchFamily="2" charset="-122"/>
            </a:endParaRPr>
          </a:p>
          <a:p>
            <a:pPr lvl="1"/>
            <a:endParaRPr lang="en-US" altLang="zh-CN" sz="2325" dirty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p is the collision resolution function. Some possibilities: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Linear:</a:t>
            </a:r>
            <a:r>
              <a:rPr lang="en-US" altLang="zh-CN" sz="2325" dirty="0">
                <a:ea typeface="宋体" pitchFamily="2" charset="-122"/>
              </a:rPr>
              <a:t> </a:t>
            </a:r>
            <a:r>
              <a:rPr lang="en-US" altLang="zh-CN" sz="2325" dirty="0" smtClean="0">
                <a:ea typeface="宋体" pitchFamily="2" charset="-122"/>
              </a:rPr>
              <a:t>p(</a:t>
            </a:r>
            <a:r>
              <a:rPr lang="en-US" altLang="zh-CN" sz="2325" dirty="0" err="1" smtClean="0">
                <a:ea typeface="宋体" pitchFamily="2" charset="-122"/>
              </a:rPr>
              <a:t>X,i</a:t>
            </a:r>
            <a:r>
              <a:rPr lang="en-US" altLang="zh-CN" sz="2325" dirty="0">
                <a:ea typeface="宋体" pitchFamily="2" charset="-122"/>
              </a:rPr>
              <a:t>) = </a:t>
            </a:r>
            <a:r>
              <a:rPr lang="en-US" altLang="zh-CN" sz="2325" dirty="0" err="1">
                <a:ea typeface="宋体" pitchFamily="2" charset="-122"/>
              </a:rPr>
              <a:t>i</a:t>
            </a:r>
            <a:r>
              <a:rPr lang="en-US" altLang="zh-CN" sz="2325" dirty="0">
                <a:ea typeface="宋体" pitchFamily="2" charset="-122"/>
              </a:rPr>
              <a:t> </a:t>
            </a:r>
            <a:endParaRPr lang="en-US" altLang="zh-CN" sz="2325" dirty="0" smtClean="0">
              <a:ea typeface="宋体" pitchFamily="2" charset="-122"/>
            </a:endParaRPr>
          </a:p>
          <a:p>
            <a:pPr lvl="1"/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Pseudo-random </a:t>
            </a:r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probing</a:t>
            </a:r>
            <a:endParaRPr lang="en-US" altLang="zh-CN" sz="2100" b="1" dirty="0">
              <a:solidFill>
                <a:srgbClr val="0000FF"/>
              </a:solidFill>
              <a:latin typeface="Courier New" panose="02070609020205090404" pitchFamily="49" charset="0"/>
              <a:ea typeface="宋体" pitchFamily="2" charset="-122"/>
            </a:endParaRPr>
          </a:p>
          <a:p>
            <a:pPr lvl="1"/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Quadratic:</a:t>
            </a:r>
            <a:r>
              <a:rPr lang="en-US" altLang="zh-CN" sz="2325" dirty="0">
                <a:ea typeface="宋体" pitchFamily="2" charset="-122"/>
              </a:rPr>
              <a:t> </a:t>
            </a:r>
            <a:r>
              <a:rPr lang="en-US" altLang="zh-CN" sz="2325" dirty="0" smtClean="0">
                <a:ea typeface="宋体" pitchFamily="2" charset="-122"/>
              </a:rPr>
              <a:t>p(</a:t>
            </a:r>
            <a:r>
              <a:rPr lang="en-US" altLang="zh-CN" sz="2325" dirty="0" err="1" smtClean="0">
                <a:ea typeface="宋体" pitchFamily="2" charset="-122"/>
              </a:rPr>
              <a:t>X,i</a:t>
            </a:r>
            <a:r>
              <a:rPr lang="en-US" altLang="zh-CN" sz="2325" dirty="0">
                <a:ea typeface="宋体" pitchFamily="2" charset="-122"/>
              </a:rPr>
              <a:t>) = i</a:t>
            </a:r>
            <a:r>
              <a:rPr lang="en-US" altLang="zh-CN" sz="2325" baseline="30000" dirty="0">
                <a:ea typeface="宋体" pitchFamily="2" charset="-122"/>
              </a:rPr>
              <a:t>2</a:t>
            </a:r>
            <a:r>
              <a:rPr lang="en-US" altLang="zh-CN" sz="2325" dirty="0">
                <a:ea typeface="宋体" pitchFamily="2" charset="-122"/>
              </a:rPr>
              <a:t> </a:t>
            </a:r>
            <a:endParaRPr lang="en-US" altLang="zh-CN" sz="2325" dirty="0">
              <a:ea typeface="宋体" pitchFamily="2" charset="-122"/>
            </a:endParaRPr>
          </a:p>
          <a:p>
            <a:pPr lvl="1"/>
            <a:r>
              <a:rPr lang="en-US" altLang="zh-CN" sz="2100" b="1" dirty="0">
                <a:solidFill>
                  <a:srgbClr val="0000FF"/>
                </a:solidFill>
                <a:latin typeface="Courier New" panose="02070609020205090404" pitchFamily="49" charset="0"/>
                <a:ea typeface="宋体" pitchFamily="2" charset="-122"/>
              </a:rPr>
              <a:t>Double Hashing: </a:t>
            </a:r>
            <a:r>
              <a:rPr lang="en-US" altLang="zh-CN" sz="2325" dirty="0" smtClean="0">
                <a:ea typeface="宋体" pitchFamily="2" charset="-122"/>
              </a:rPr>
              <a:t>p(</a:t>
            </a:r>
            <a:r>
              <a:rPr lang="en-US" altLang="zh-CN" sz="2325" dirty="0" err="1" smtClean="0">
                <a:ea typeface="宋体" pitchFamily="2" charset="-122"/>
              </a:rPr>
              <a:t>X,i</a:t>
            </a:r>
            <a:r>
              <a:rPr lang="en-US" altLang="zh-CN" sz="2325" dirty="0">
                <a:ea typeface="宋体" pitchFamily="2" charset="-122"/>
              </a:rPr>
              <a:t>) = i</a:t>
            </a:r>
            <a:r>
              <a:rPr lang="en-US" altLang="zh-CN" sz="2325" dirty="0">
                <a:ea typeface="宋体" pitchFamily="2" charset="-122"/>
                <a:sym typeface="r_symbol" pitchFamily="49" charset="2"/>
              </a:rPr>
              <a:t>·</a:t>
            </a:r>
            <a:r>
              <a:rPr lang="en-US" altLang="zh-CN" sz="2325" dirty="0">
                <a:ea typeface="宋体" pitchFamily="2" charset="-122"/>
              </a:rPr>
              <a:t>Hash</a:t>
            </a:r>
            <a:r>
              <a:rPr lang="en-US" altLang="zh-CN" sz="2325" baseline="-25000" dirty="0">
                <a:ea typeface="宋体" pitchFamily="2" charset="-122"/>
              </a:rPr>
              <a:t>2</a:t>
            </a:r>
            <a:r>
              <a:rPr lang="en-US" altLang="zh-CN" sz="2325" dirty="0">
                <a:ea typeface="宋体" pitchFamily="2" charset="-122"/>
              </a:rPr>
              <a:t>(X)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039D286-2E4C-47CF-A19C-6DD4D7BE3FB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611A97E-7B94-4C8F-B87E-7DC2D98B7795}" type="slidenum">
              <a:rPr lang="en-US" altLang="zh-CN" sz="1050"/>
            </a:fld>
            <a:endParaRPr lang="en-US" altLang="zh-CN" sz="105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smtClean="0">
                <a:ea typeface="宋体" pitchFamily="2" charset="-122"/>
              </a:rPr>
              <a:t>Linear Probing</a:t>
            </a:r>
            <a:endParaRPr lang="en-US" altLang="zh-CN" smtClean="0">
              <a:ea typeface="宋体" pitchFamily="2" charset="-122"/>
            </a:endParaRP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627784"/>
            <a:ext cx="5829300" cy="5472608"/>
          </a:xfrm>
        </p:spPr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p(</a:t>
            </a:r>
            <a:r>
              <a:rPr lang="en-US" altLang="zh-CN" dirty="0" err="1" smtClean="0">
                <a:solidFill>
                  <a:srgbClr val="FF0000"/>
                </a:solidFill>
                <a:ea typeface="宋体" pitchFamily="2" charset="-122"/>
              </a:rPr>
              <a:t>X,i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) = </a:t>
            </a:r>
            <a:r>
              <a:rPr lang="en-US" altLang="zh-CN" dirty="0" err="1" smtClean="0">
                <a:solidFill>
                  <a:srgbClr val="FF0000"/>
                </a:solidFill>
                <a:ea typeface="宋体" pitchFamily="2" charset="-122"/>
              </a:rPr>
              <a:t>i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When </a:t>
            </a:r>
            <a:r>
              <a:rPr lang="en-US" altLang="zh-CN" dirty="0">
                <a:ea typeface="宋体" pitchFamily="2" charset="-122"/>
              </a:rPr>
              <a:t>searching for </a:t>
            </a:r>
            <a:r>
              <a:rPr lang="en-US" altLang="zh-CN" sz="20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, check </a:t>
            </a:r>
            <a:r>
              <a:rPr lang="en-US" altLang="zh-CN" dirty="0" smtClean="0">
                <a:ea typeface="宋体" pitchFamily="2" charset="-122"/>
              </a:rPr>
              <a:t>locations</a:t>
            </a:r>
            <a:endParaRPr lang="en-US" altLang="zh-CN" dirty="0" smtClean="0">
              <a:ea typeface="宋体" pitchFamily="2" charset="-122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sz="1800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h(K), h(K)+1, h(K)+2, …</a:t>
            </a:r>
            <a:r>
              <a:rPr lang="en-US" altLang="zh-CN" sz="2000" dirty="0">
                <a:solidFill>
                  <a:srgbClr val="263AF8"/>
                </a:solidFill>
                <a:ea typeface="宋体" pitchFamily="2" charset="-122"/>
              </a:rPr>
              <a:t>  mod </a:t>
            </a:r>
            <a:r>
              <a:rPr lang="en-US" altLang="zh-CN" sz="2000" dirty="0" err="1">
                <a:solidFill>
                  <a:srgbClr val="263AF8"/>
                </a:solidFill>
                <a:ea typeface="宋体" pitchFamily="2" charset="-122"/>
              </a:rPr>
              <a:t>TableSize</a:t>
            </a:r>
            <a:r>
              <a:rPr lang="en-US" altLang="zh-CN" sz="2000" dirty="0">
                <a:solidFill>
                  <a:srgbClr val="263AF8"/>
                </a:solidFill>
                <a:ea typeface="宋体" pitchFamily="2" charset="-122"/>
              </a:rPr>
              <a:t> 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until </a:t>
            </a:r>
            <a:r>
              <a:rPr lang="en-US" altLang="zh-CN" dirty="0">
                <a:ea typeface="宋体" pitchFamily="2" charset="-122"/>
              </a:rPr>
              <a:t>either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 is found; or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we find an empty location (</a:t>
            </a:r>
            <a:r>
              <a:rPr lang="en-US" altLang="zh-CN" b="1" dirty="0">
                <a:solidFill>
                  <a:srgbClr val="263AF8"/>
                </a:solidFill>
                <a:latin typeface="Courier New" panose="02070609020205090404" pitchFamily="49" charset="0"/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 not present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990000"/>
                </a:solidFill>
                <a:ea typeface="宋体" pitchFamily="2" charset="-122"/>
              </a:rPr>
              <a:t>If table is very sparse, almost like separate chaining.</a:t>
            </a:r>
            <a:endParaRPr lang="en-US" altLang="zh-CN" dirty="0">
              <a:solidFill>
                <a:srgbClr val="990000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6600"/>
                </a:solidFill>
                <a:ea typeface="宋体" pitchFamily="2" charset="-122"/>
              </a:rPr>
              <a:t>When table starts filling, we get clustering but still constant average search time.</a:t>
            </a:r>
            <a:endParaRPr lang="en-US" altLang="zh-CN" dirty="0">
              <a:solidFill>
                <a:srgbClr val="006600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CC0099"/>
                </a:solidFill>
                <a:ea typeface="宋体" pitchFamily="2" charset="-122"/>
              </a:rPr>
              <a:t>Full table </a:t>
            </a:r>
            <a:r>
              <a:rPr lang="en-US" altLang="zh-CN" dirty="0">
                <a:solidFill>
                  <a:srgbClr val="CC0099"/>
                </a:solidFill>
                <a:ea typeface="宋体" pitchFamily="2" charset="-122"/>
                <a:sym typeface="Symbol" panose="05050102010706020507" pitchFamily="18" charset="2"/>
              </a:rPr>
              <a:t> </a:t>
            </a:r>
            <a:r>
              <a:rPr lang="en-US" altLang="zh-CN" dirty="0">
                <a:solidFill>
                  <a:srgbClr val="CC0099"/>
                </a:solidFill>
                <a:ea typeface="宋体" pitchFamily="2" charset="-122"/>
              </a:rPr>
              <a:t>infinite loop.</a:t>
            </a:r>
            <a:r>
              <a:rPr lang="en-US" altLang="zh-CN" dirty="0">
                <a:ea typeface="宋体" pitchFamily="2" charset="-122"/>
              </a:rPr>
              <a:t> 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B89C84A-F3C0-4E02-A633-4C7F9A262B0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EC0FBCD-A81E-49AB-95F9-A8A534501A28}" type="slidenum">
              <a:rPr lang="en-US" altLang="zh-CN" sz="1050"/>
            </a:fld>
            <a:endParaRPr lang="en-US" altLang="zh-CN" sz="1050"/>
          </a:p>
        </p:txBody>
      </p:sp>
      <p:sp>
        <p:nvSpPr>
          <p:cNvPr id="40965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3162" tIns="31581" rIns="63162" bIns="31581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Primary Clustering Problem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096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3162" tIns="31581" rIns="63162" bIns="31581" numCol="1" rtlCol="0" anchor="t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Once a block of a few contiguous occupied positions emerges in table, it becomes a “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target</a:t>
            </a:r>
            <a:r>
              <a:rPr lang="en-US" altLang="zh-CN" dirty="0">
                <a:ea typeface="宋体" pitchFamily="2" charset="-122"/>
              </a:rPr>
              <a:t>” for subsequent collisions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solidFill>
                <a:schemeClr val="accent2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As clusters grow, they also merge to form larger clusters.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>
              <a:solidFill>
                <a:schemeClr val="accent2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Primary clustering:</a:t>
            </a:r>
            <a:r>
              <a:rPr lang="en-US" altLang="zh-CN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elements that hash to different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slots 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probe same alternative </a:t>
            </a:r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slots</a:t>
            </a:r>
            <a:endParaRPr lang="en-US" altLang="zh-CN" dirty="0">
              <a:solidFill>
                <a:srgbClr val="263AF8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B89C84A-F3C0-4E02-A633-4C7F9A262B0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EC0FBCD-A81E-49AB-95F9-A8A534501A28}" type="slidenum">
              <a:rPr lang="en-US" altLang="zh-CN" sz="1050"/>
            </a:fld>
            <a:endParaRPr lang="en-US" altLang="zh-CN" sz="1050"/>
          </a:p>
        </p:txBody>
      </p:sp>
      <p:sp>
        <p:nvSpPr>
          <p:cNvPr id="40965" name="Rectangle 102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3162" tIns="31581" rIns="63162" bIns="31581" numCol="1" rtlCol="0" anchor="ctr" anchorCtr="0" compatLnSpc="1">
            <a:normAutofit/>
          </a:bodyPr>
          <a:lstStyle/>
          <a:p>
            <a:r>
              <a:rPr lang="en-US" altLang="zh-CN" smtClean="0">
                <a:ea typeface="宋体" pitchFamily="2" charset="-122"/>
              </a:rPr>
              <a:t>Primary Clustering Problem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096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75386" y="2438403"/>
            <a:ext cx="4371974" cy="5801783"/>
          </a:xfrm>
        </p:spPr>
        <p:txBody>
          <a:bodyPr vert="horz" wrap="square" lIns="63162" tIns="31581" rIns="63162" bIns="31581" numCol="1" rtlCol="0" anchor="t" anchorCtr="0" compatLnSpc="1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 smtClean="0"/>
              <a:t>Hash </a:t>
            </a:r>
            <a:r>
              <a:rPr lang="en-US" altLang="zh-CN" sz="2000" dirty="0"/>
              <a:t>table size M=10</a:t>
            </a:r>
            <a:endParaRPr lang="en-US" altLang="zh-CN" sz="2000" dirty="0"/>
          </a:p>
          <a:p>
            <a:r>
              <a:rPr lang="en-US" altLang="zh-CN" sz="2000" dirty="0"/>
              <a:t>Hash function h(K) = K mod 10</a:t>
            </a:r>
            <a:endParaRPr lang="en-US" altLang="zh-CN" sz="2000" dirty="0"/>
          </a:p>
          <a:p>
            <a:r>
              <a:rPr lang="en-US" altLang="zh-CN" sz="2000" dirty="0"/>
              <a:t>Probe function </a:t>
            </a:r>
            <a:r>
              <a:rPr lang="en-US" altLang="zh-CN" sz="2000" dirty="0" smtClean="0"/>
              <a:t>p(</a:t>
            </a:r>
            <a:r>
              <a:rPr lang="en-US" altLang="zh-CN" sz="2000" dirty="0" err="1" smtClean="0"/>
              <a:t>K,i</a:t>
            </a:r>
            <a:r>
              <a:rPr lang="en-US" altLang="zh-CN" sz="2000" dirty="0"/>
              <a:t>)</a:t>
            </a:r>
            <a:r>
              <a:rPr lang="en-US" altLang="zh-CN" sz="2000" dirty="0" smtClean="0"/>
              <a:t>=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endParaRPr lang="en-US" altLang="zh-CN" sz="2000" dirty="0">
              <a:solidFill>
                <a:srgbClr val="263AF8"/>
              </a:solidFill>
            </a:endParaRPr>
          </a:p>
          <a:p>
            <a:r>
              <a:rPr lang="en-US" altLang="zh-CN" sz="2000" dirty="0"/>
              <a:t>When the next key value whose home position is </a:t>
            </a:r>
            <a:r>
              <a:rPr lang="en-US" altLang="zh-CN" sz="2000" dirty="0" smtClean="0"/>
              <a:t> 7</a:t>
            </a:r>
            <a:r>
              <a:rPr lang="en-US" altLang="zh-CN" sz="2000" dirty="0"/>
              <a:t>, 8, 9, 0, 1, and 2, it will end up in slot 2. </a:t>
            </a:r>
            <a:endParaRPr lang="en-US" altLang="zh-CN" sz="2000" dirty="0"/>
          </a:p>
          <a:p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263AF8"/>
                </a:solidFill>
              </a:rPr>
              <a:t>probability</a:t>
            </a:r>
            <a:r>
              <a:rPr lang="en-US" altLang="zh-CN" sz="2000" dirty="0"/>
              <a:t> that the next record inserted will end </a:t>
            </a:r>
            <a:r>
              <a:rPr lang="en-US" altLang="zh-CN" sz="2000" dirty="0" smtClean="0"/>
              <a:t>up in </a:t>
            </a:r>
            <a:r>
              <a:rPr lang="en-US" altLang="zh-CN" sz="2000" dirty="0"/>
              <a:t>slot 2 is </a:t>
            </a:r>
            <a:r>
              <a:rPr lang="en-US" altLang="zh-CN" sz="2000" dirty="0">
                <a:solidFill>
                  <a:srgbClr val="FF0000"/>
                </a:solidFill>
              </a:rPr>
              <a:t>6/10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263AF8"/>
                </a:solidFill>
              </a:rPr>
              <a:t>probability</a:t>
            </a:r>
            <a:r>
              <a:rPr lang="en-US" altLang="zh-CN" sz="2000" dirty="0"/>
              <a:t> that the next record inserted will end up </a:t>
            </a:r>
            <a:r>
              <a:rPr lang="en-US" altLang="zh-CN" sz="2000" dirty="0" smtClean="0"/>
              <a:t>in slot </a:t>
            </a:r>
            <a:r>
              <a:rPr lang="en-US" altLang="zh-CN" sz="2000" dirty="0"/>
              <a:t>3, 4, 5, or, 6 is </a:t>
            </a:r>
            <a:r>
              <a:rPr lang="en-US" altLang="zh-CN" sz="2000" dirty="0">
                <a:solidFill>
                  <a:srgbClr val="FF0000"/>
                </a:solidFill>
              </a:rPr>
              <a:t>1/10</a:t>
            </a:r>
            <a:r>
              <a:rPr lang="en-US" altLang="zh-CN" sz="2000" dirty="0"/>
              <a:t> </a:t>
            </a:r>
            <a:endParaRPr lang="en-US" altLang="zh-CN" sz="2000" dirty="0">
              <a:ea typeface="宋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183" y="2843808"/>
            <a:ext cx="1225402" cy="452972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Improved Collision Resolution</a:t>
            </a:r>
            <a:endParaRPr lang="zh-CN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Use linear probing but to skip slots by a </a:t>
            </a:r>
            <a:r>
              <a:rPr lang="en-US" altLang="zh-CN" dirty="0">
                <a:solidFill>
                  <a:srgbClr val="FF0000"/>
                </a:solidFill>
              </a:rPr>
              <a:t>constant </a:t>
            </a:r>
            <a:r>
              <a:rPr lang="en-US" altLang="zh-CN" i="1" dirty="0">
                <a:solidFill>
                  <a:srgbClr val="FF0000"/>
                </a:solidFill>
              </a:rPr>
              <a:t>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other than 1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Probe function: </a:t>
            </a:r>
            <a:r>
              <a:rPr lang="en-US" altLang="zh-CN" dirty="0">
                <a:cs typeface="Courier New" panose="02070609020205090404" pitchFamily="49" charset="0"/>
              </a:rPr>
              <a:t>p(K, </a:t>
            </a:r>
            <a:r>
              <a:rPr lang="en-US" altLang="zh-CN" dirty="0" err="1">
                <a:cs typeface="Courier New" panose="02070609020205090404" pitchFamily="49" charset="0"/>
              </a:rPr>
              <a:t>i</a:t>
            </a:r>
            <a:r>
              <a:rPr lang="en-US" altLang="zh-CN" dirty="0">
                <a:cs typeface="Courier New" panose="02070609020205090404" pitchFamily="49" charset="0"/>
              </a:rPr>
              <a:t>) = </a:t>
            </a:r>
            <a:r>
              <a:rPr lang="en-US" altLang="zh-CN" i="1" dirty="0">
                <a:cs typeface="Courier New" panose="02070609020205090404" pitchFamily="49" charset="0"/>
              </a:rPr>
              <a:t>ci</a:t>
            </a:r>
            <a:endParaRPr lang="en-US" altLang="zh-CN" i="1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The </a:t>
            </a:r>
            <a:r>
              <a:rPr lang="en-US" altLang="zh-CN" i="1" dirty="0" err="1">
                <a:cs typeface="Courier New" panose="02070609020205090404" pitchFamily="49" charset="0"/>
              </a:rPr>
              <a:t>i</a:t>
            </a:r>
            <a:r>
              <a:rPr lang="en-US" altLang="zh-CN" dirty="0" err="1">
                <a:cs typeface="Courier New" panose="02070609020205090404" pitchFamily="49" charset="0"/>
              </a:rPr>
              <a:t>th</a:t>
            </a:r>
            <a:r>
              <a:rPr lang="en-US" altLang="zh-CN" dirty="0">
                <a:cs typeface="Courier New" panose="02070609020205090404" pitchFamily="49" charset="0"/>
              </a:rPr>
              <a:t> slot in the probe sequence </a:t>
            </a:r>
            <a:r>
              <a:rPr lang="en-US" altLang="zh-CN" dirty="0">
                <a:sym typeface="Symbol" panose="05050102010706020507" pitchFamily="18" charset="2"/>
              </a:rPr>
              <a:t>(h(K)+c</a:t>
            </a:r>
            <a:r>
              <a:rPr lang="en-US" altLang="zh-CN" i="1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))%M</a:t>
            </a:r>
            <a:r>
              <a:rPr lang="en-US" altLang="zh-CN" dirty="0">
                <a:cs typeface="Courier New" panose="02070609020205090404" pitchFamily="49" charset="0"/>
              </a:rPr>
              <a:t> 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3">
              <a:defRPr/>
            </a:pPr>
            <a:endParaRPr lang="en-US" altLang="zh-CN" dirty="0">
              <a:latin typeface="+mj-lt"/>
              <a:cs typeface="Courier New" panose="02070609020205090404" pitchFamily="49" charset="0"/>
            </a:endParaRPr>
          </a:p>
          <a:p>
            <a:pPr>
              <a:defRPr/>
            </a:pPr>
            <a:r>
              <a:rPr lang="en-US" altLang="zh-CN" dirty="0">
                <a:cs typeface="Courier New" panose="02070609020205090404" pitchFamily="49" charset="0"/>
              </a:rPr>
              <a:t>How to choose a better </a:t>
            </a:r>
            <a:r>
              <a:rPr lang="en-US" altLang="zh-CN" i="1" dirty="0">
                <a:cs typeface="Courier New" panose="02070609020205090404" pitchFamily="49" charset="0"/>
              </a:rPr>
              <a:t>c</a:t>
            </a:r>
            <a:r>
              <a:rPr lang="en-US" altLang="zh-CN" dirty="0">
                <a:cs typeface="Courier New" panose="02070609020205090404" pitchFamily="49" charset="0"/>
              </a:rPr>
              <a:t> value?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A good probe sequence is that it will 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cycle through all slots in the hash table before returning to the home position</a:t>
            </a:r>
            <a:r>
              <a:rPr lang="en-US" altLang="zh-CN" dirty="0">
                <a:cs typeface="Courier New" panose="02070609020205090404" pitchFamily="49" charset="0"/>
              </a:rPr>
              <a:t>.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endParaRPr lang="en-US" altLang="zh-CN" dirty="0" smtClean="0">
              <a:latin typeface="+mj-lt"/>
              <a:cs typeface="Courier New" panose="02070609020205090404" pitchFamily="49" charset="0"/>
            </a:endParaRPr>
          </a:p>
          <a:p>
            <a:pPr>
              <a:defRPr/>
            </a:pPr>
            <a:r>
              <a:rPr lang="en-US" altLang="zh-CN" dirty="0">
                <a:cs typeface="Courier New" panose="02070609020205090404" pitchFamily="49" charset="0"/>
              </a:rPr>
              <a:t>Better to make c be </a:t>
            </a:r>
            <a:r>
              <a:rPr lang="en-US" altLang="zh-CN" dirty="0">
                <a:solidFill>
                  <a:srgbClr val="263AF8"/>
                </a:solidFill>
                <a:cs typeface="Courier New" panose="02070609020205090404" pitchFamily="49" charset="0"/>
              </a:rPr>
              <a:t>relatively prime </a:t>
            </a:r>
            <a:r>
              <a:rPr lang="en-US" altLang="zh-CN" dirty="0">
                <a:cs typeface="Courier New" panose="02070609020205090404" pitchFamily="49" charset="0"/>
              </a:rPr>
              <a:t>to M.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A linear probing sequence may visit all slots in the table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If M=10, c can be 1, 3, 7, or 9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If M=11, c can be any value between 1 and 10</a:t>
            </a:r>
            <a:endParaRPr lang="en-US" altLang="zh-CN" dirty="0">
              <a:cs typeface="Courier New" panose="02070609020205090404" pitchFamily="49" charset="0"/>
            </a:endParaRPr>
          </a:p>
          <a:p>
            <a:pPr>
              <a:defRPr/>
            </a:pPr>
            <a:endParaRPr lang="en-US" altLang="zh-CN" dirty="0">
              <a:latin typeface="+mj-lt"/>
              <a:cs typeface="Courier New" panose="02070609020205090404" pitchFamily="49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961F4F3-C930-4FAF-A8D3-4C2D63C9128E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336346" y="683568"/>
            <a:ext cx="6272213" cy="97155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Improved Collision Resolution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339752"/>
            <a:ext cx="6272213" cy="4258693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cs typeface="Courier New" panose="02070609020205090404" pitchFamily="49" charset="0"/>
              </a:rPr>
              <a:t>Does </a:t>
            </a:r>
            <a:r>
              <a:rPr lang="en-US" altLang="zh-CN" dirty="0">
                <a:cs typeface="Courier New" panose="02070609020205090404" pitchFamily="49" charset="0"/>
              </a:rPr>
              <a:t>the linear probing with a value of c&gt;1 solve the problem of primary clustering?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/>
            <a:r>
              <a:rPr lang="en-US" altLang="zh-CN" dirty="0">
                <a:cs typeface="Courier New" panose="02070609020205090404" pitchFamily="49" charset="0"/>
              </a:rPr>
              <a:t>Sadly, no!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/>
            <a:r>
              <a:rPr lang="en-US" altLang="zh-CN" dirty="0">
                <a:cs typeface="Courier New" panose="02070609020205090404" pitchFamily="49" charset="0"/>
              </a:rPr>
              <a:t>With c=2, the probe sequence with h(k</a:t>
            </a:r>
            <a:r>
              <a:rPr lang="en-US" altLang="zh-CN" baseline="-25000" dirty="0">
                <a:cs typeface="Courier New" panose="02070609020205090404" pitchFamily="49" charset="0"/>
              </a:rPr>
              <a:t>1</a:t>
            </a:r>
            <a:r>
              <a:rPr lang="en-US" altLang="zh-CN" dirty="0">
                <a:cs typeface="Courier New" panose="02070609020205090404" pitchFamily="49" charset="0"/>
              </a:rPr>
              <a:t>)=3 is 3, 5, 7, 9,… and the probe sequence with h(k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)=5 is 5, 7, 9, …</a:t>
            </a:r>
            <a:endParaRPr lang="zh-CN" altLang="en-US" dirty="0">
              <a:cs typeface="Courier New" panose="02070609020205090404" pitchFamily="49" charset="0"/>
            </a:endParaRPr>
          </a:p>
          <a:p>
            <a:endParaRPr lang="zh-CN" altLang="en-US" dirty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8DD8B12-A391-457A-A5D8-1C12FAC2726B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342900" y="755576"/>
            <a:ext cx="6326460" cy="97155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Improved Collision Resolution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570" y="2411730"/>
            <a:ext cx="6426835" cy="4919980"/>
          </a:xfrm>
        </p:spPr>
        <p:txBody>
          <a:bodyPr>
            <a:noAutofit/>
          </a:bodyPr>
          <a:lstStyle/>
          <a:p>
            <a:r>
              <a:rPr lang="en-US" altLang="zh-CN" dirty="0"/>
              <a:t>The ideal probe function selects the next position on the probe sequence </a:t>
            </a:r>
            <a:r>
              <a:rPr lang="en-US" altLang="zh-CN" dirty="0">
                <a:solidFill>
                  <a:srgbClr val="FF0000"/>
                </a:solidFill>
              </a:rPr>
              <a:t>at random from among the unvisited slots</a:t>
            </a:r>
            <a:r>
              <a:rPr lang="en-US" altLang="zh-CN" dirty="0"/>
              <a:t>.</a:t>
            </a:r>
            <a:endParaRPr lang="en-US" altLang="zh-CN" dirty="0"/>
          </a:p>
          <a:p>
            <a:pPr lvl="5"/>
            <a:endParaRPr lang="en-US" altLang="zh-CN" sz="1200" dirty="0">
              <a:latin typeface="Sitka Text" panose="02000505000000020004" pitchFamily="2" charset="0"/>
            </a:endParaRPr>
          </a:p>
          <a:p>
            <a:r>
              <a:rPr lang="en-US" altLang="zh-CN" dirty="0"/>
              <a:t>The probe sequence be a </a:t>
            </a:r>
            <a:r>
              <a:rPr lang="en-US" altLang="zh-CN" dirty="0">
                <a:solidFill>
                  <a:srgbClr val="FF0000"/>
                </a:solidFill>
              </a:rPr>
              <a:t>random permutation </a:t>
            </a:r>
            <a:r>
              <a:rPr lang="en-US" altLang="zh-CN" dirty="0"/>
              <a:t>of the hash table positions</a:t>
            </a:r>
            <a:endParaRPr lang="en-US" altLang="zh-CN" sz="1600" dirty="0"/>
          </a:p>
          <a:p>
            <a:pPr lvl="1"/>
            <a:r>
              <a:rPr lang="en-US" altLang="zh-CN" dirty="0">
                <a:solidFill>
                  <a:srgbClr val="263AF8"/>
                </a:solidFill>
              </a:rPr>
              <a:t>Pure randomness</a:t>
            </a:r>
            <a:r>
              <a:rPr lang="en-US" altLang="zh-CN" dirty="0"/>
              <a:t>? </a:t>
            </a:r>
            <a:r>
              <a:rPr lang="en-US" altLang="zh-CN" dirty="0">
                <a:solidFill>
                  <a:srgbClr val="FF0000"/>
                </a:solidFill>
              </a:rPr>
              <a:t>No</a:t>
            </a:r>
            <a:r>
              <a:rPr lang="en-US" altLang="zh-CN" dirty="0"/>
              <a:t>, the same probe sequence cannot be duplicated when searching for the key</a:t>
            </a:r>
            <a:endParaRPr lang="en-US" altLang="zh-CN" dirty="0"/>
          </a:p>
          <a:p>
            <a:pPr lvl="4"/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Pseudo-random </a:t>
            </a:r>
            <a:r>
              <a:rPr lang="en-US" altLang="zh-CN" dirty="0" smtClean="0">
                <a:solidFill>
                  <a:srgbClr val="FF0000"/>
                </a:solidFill>
              </a:rPr>
              <a:t>probing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p(K, </a:t>
            </a:r>
            <a:r>
              <a:rPr lang="en-US" altLang="zh-CN" dirty="0" err="1">
                <a:solidFill>
                  <a:srgbClr val="FF0000"/>
                </a:solidFill>
                <a:cs typeface="Courier New" panose="02070609020205090404" pitchFamily="49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) = Perm[i-1]</a:t>
            </a:r>
            <a:endParaRPr lang="en-US" altLang="zh-CN" dirty="0">
              <a:solidFill>
                <a:srgbClr val="FF0000"/>
              </a:solidFill>
              <a:cs typeface="Courier New" panose="02070609020205090404" pitchFamily="49" charset="0"/>
            </a:endParaRPr>
          </a:p>
          <a:p>
            <a:pPr lvl="1"/>
            <a:r>
              <a:rPr lang="en-US" altLang="zh-CN" dirty="0"/>
              <a:t>The </a:t>
            </a:r>
            <a:r>
              <a:rPr lang="en-US" altLang="zh-CN" i="1" dirty="0" err="1"/>
              <a:t>i</a:t>
            </a:r>
            <a:r>
              <a:rPr lang="en-US" altLang="zh-CN" dirty="0" err="1"/>
              <a:t>th</a:t>
            </a:r>
            <a:r>
              <a:rPr lang="en-US" altLang="zh-CN" dirty="0"/>
              <a:t> slot in the probe sequence is </a:t>
            </a:r>
            <a:r>
              <a:rPr lang="en-US" altLang="zh-CN" b="1" dirty="0">
                <a:cs typeface="Courier New" panose="02070609020205090404" pitchFamily="49" charset="0"/>
              </a:rPr>
              <a:t>(h(K)+ Perm[i-1]) % M</a:t>
            </a:r>
            <a:r>
              <a:rPr lang="en-US" altLang="zh-CN" dirty="0"/>
              <a:t>. </a:t>
            </a:r>
            <a:endParaRPr lang="en-US" altLang="zh-CN" dirty="0"/>
          </a:p>
          <a:p>
            <a:pPr lvl="1"/>
            <a:r>
              <a:rPr lang="en-US" altLang="zh-CN" dirty="0"/>
              <a:t>All insertions and search operations use </a:t>
            </a:r>
            <a:r>
              <a:rPr lang="en-US" altLang="zh-CN" dirty="0">
                <a:solidFill>
                  <a:srgbClr val="FF0000"/>
                </a:solidFill>
              </a:rPr>
              <a:t>the same random permutation.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ABA5D3D-A1C7-471F-87B1-17A47B94CF9C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269406" y="611560"/>
            <a:ext cx="6326981" cy="97155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Improved Collision Resolution</a:t>
            </a:r>
            <a:endParaRPr lang="zh-CN" altLang="en-US" dirty="0" smtClean="0"/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Pseudo-random probing example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hash table with size M=101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Perm[0] </a:t>
            </a:r>
            <a:r>
              <a:rPr lang="en-US" altLang="zh-CN" dirty="0" smtClean="0"/>
              <a:t>= 5, </a:t>
            </a:r>
            <a:r>
              <a:rPr lang="en-US" altLang="zh-CN" dirty="0" smtClean="0"/>
              <a:t>perm[1] </a:t>
            </a:r>
            <a:r>
              <a:rPr lang="en-US" altLang="zh-CN" dirty="0" smtClean="0"/>
              <a:t>= 2, </a:t>
            </a:r>
            <a:r>
              <a:rPr lang="en-US" altLang="zh-CN" dirty="0" smtClean="0"/>
              <a:t>perm[2] </a:t>
            </a:r>
            <a:r>
              <a:rPr lang="en-US" altLang="zh-CN" dirty="0" smtClean="0"/>
              <a:t>= 32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Assume h(k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) = 30 and h(k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) = 35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The probe sequence for k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 is 30, </a:t>
            </a:r>
            <a:r>
              <a:rPr lang="en-US" altLang="zh-CN" b="1" dirty="0" smtClean="0">
                <a:solidFill>
                  <a:srgbClr val="FF0000"/>
                </a:solidFill>
              </a:rPr>
              <a:t>35</a:t>
            </a:r>
            <a:r>
              <a:rPr lang="en-US" altLang="zh-CN" dirty="0" smtClean="0"/>
              <a:t>, 32, and 62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probe sequence for k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is </a:t>
            </a:r>
            <a:r>
              <a:rPr lang="en-US" altLang="zh-CN" b="1" dirty="0" smtClean="0">
                <a:solidFill>
                  <a:srgbClr val="FF0000"/>
                </a:solidFill>
              </a:rPr>
              <a:t>35</a:t>
            </a:r>
            <a:r>
              <a:rPr lang="en-US" altLang="zh-CN" dirty="0" smtClean="0"/>
              <a:t>, 40, 37, and 67</a:t>
            </a:r>
            <a:endParaRPr lang="zh-CN" alt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4EBBFB2-6777-433F-9C52-26A5761A1827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5C153F5-8FA2-406E-92E1-6CDBC1A5E2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8757676-058F-42F6-A59A-CB3D7627903C}" type="slidenum">
              <a:rPr lang="en-US" altLang="zh-CN" sz="1050"/>
            </a:fld>
            <a:endParaRPr lang="en-US" altLang="zh-CN" sz="105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Quadratic Probing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8575" tIns="34288" rIns="68575" bIns="34288" numCol="1" rtlCol="0" anchor="t" anchorCtr="0" compatLnSpc="1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600" dirty="0" smtClean="0">
                <a:ea typeface="宋体" pitchFamily="2" charset="-122"/>
              </a:rPr>
              <a:t>When searching for 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sz="2600" dirty="0" smtClean="0">
                <a:ea typeface="宋体" pitchFamily="2" charset="-122"/>
              </a:rPr>
              <a:t>, check locations 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h</a:t>
            </a:r>
            <a:r>
              <a:rPr lang="en-US" altLang="zh-CN" sz="22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(X), h</a:t>
            </a:r>
            <a:r>
              <a:rPr lang="en-US" altLang="zh-CN" sz="22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(X)+ 1</a:t>
            </a:r>
            <a:r>
              <a:rPr lang="en-US" altLang="zh-CN" sz="2200" b="1" baseline="30000" dirty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, h</a:t>
            </a:r>
            <a:r>
              <a:rPr lang="en-US" altLang="zh-CN" sz="22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(X)+2</a:t>
            </a:r>
            <a:r>
              <a:rPr lang="en-US" altLang="zh-CN" sz="2200" b="1" baseline="30000" dirty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sz="2200" b="1" dirty="0">
                <a:solidFill>
                  <a:srgbClr val="263AF8"/>
                </a:solidFill>
                <a:ea typeface="宋体" pitchFamily="2" charset="-122"/>
              </a:rPr>
              <a:t>,… mod </a:t>
            </a:r>
            <a:r>
              <a:rPr lang="en-US" altLang="zh-CN" sz="2200" b="1" dirty="0" err="1">
                <a:solidFill>
                  <a:srgbClr val="263AF8"/>
                </a:solidFill>
                <a:ea typeface="宋体" pitchFamily="2" charset="-122"/>
              </a:rPr>
              <a:t>TableSize</a:t>
            </a:r>
            <a:r>
              <a:rPr lang="en-US" altLang="zh-CN" sz="2600" dirty="0" smtClean="0">
                <a:solidFill>
                  <a:srgbClr val="263AF8"/>
                </a:solidFill>
                <a:ea typeface="宋体" pitchFamily="2" charset="-122"/>
              </a:rPr>
              <a:t> </a:t>
            </a:r>
            <a:r>
              <a:rPr lang="en-US" altLang="zh-CN" sz="2600" dirty="0" smtClean="0">
                <a:ea typeface="宋体" pitchFamily="2" charset="-122"/>
              </a:rPr>
              <a:t>until either</a:t>
            </a:r>
            <a:endParaRPr lang="en-US" altLang="zh-CN" sz="26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b="1" dirty="0" smtClean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sz="2200" dirty="0" smtClean="0">
                <a:ea typeface="宋体" pitchFamily="2" charset="-122"/>
              </a:rPr>
              <a:t> is found; or</a:t>
            </a:r>
            <a:endParaRPr lang="en-US" altLang="zh-CN" sz="22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200" dirty="0" smtClean="0">
                <a:ea typeface="宋体" pitchFamily="2" charset="-122"/>
              </a:rPr>
              <a:t>we find an empty location (</a:t>
            </a:r>
            <a:r>
              <a:rPr lang="en-US" altLang="zh-CN" sz="2200" b="1" dirty="0" smtClean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sz="2200" dirty="0" smtClean="0">
                <a:ea typeface="宋体" pitchFamily="2" charset="-122"/>
              </a:rPr>
              <a:t> not present)</a:t>
            </a:r>
            <a:endParaRPr lang="en-US" altLang="zh-CN" sz="22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ea typeface="宋体" pitchFamily="2" charset="-122"/>
            </a:endParaRPr>
          </a:p>
          <a:p>
            <a:r>
              <a:rPr lang="en-US" altLang="zh-CN" dirty="0"/>
              <a:t>The probe function is some </a:t>
            </a:r>
            <a:r>
              <a:rPr lang="en-US" altLang="zh-CN" dirty="0">
                <a:solidFill>
                  <a:srgbClr val="263AF8"/>
                </a:solidFill>
              </a:rPr>
              <a:t>quadratic function</a:t>
            </a:r>
            <a:br>
              <a:rPr lang="en-US" altLang="zh-CN" dirty="0">
                <a:solidFill>
                  <a:srgbClr val="263AF8"/>
                </a:solidFill>
              </a:rPr>
            </a:br>
            <a:r>
              <a:rPr lang="en-US" altLang="zh-CN" dirty="0"/>
              <a:t>		</a:t>
            </a:r>
            <a:r>
              <a:rPr lang="en-US" altLang="zh-CN" dirty="0">
                <a:cs typeface="Courier New" panose="02070609020205090404" pitchFamily="49" charset="0"/>
              </a:rPr>
              <a:t>p(K, </a:t>
            </a:r>
            <a:r>
              <a:rPr lang="en-US" altLang="zh-CN" dirty="0" err="1">
                <a:cs typeface="Courier New" panose="02070609020205090404" pitchFamily="49" charset="0"/>
              </a:rPr>
              <a:t>i</a:t>
            </a:r>
            <a:r>
              <a:rPr lang="en-US" altLang="zh-CN" dirty="0">
                <a:cs typeface="Courier New" panose="02070609020205090404" pitchFamily="49" charset="0"/>
              </a:rPr>
              <a:t>) = c</a:t>
            </a:r>
            <a:r>
              <a:rPr lang="en-US" altLang="zh-CN" baseline="-25000" dirty="0">
                <a:cs typeface="Courier New" panose="02070609020205090404" pitchFamily="49" charset="0"/>
              </a:rPr>
              <a:t>1</a:t>
            </a:r>
            <a:r>
              <a:rPr lang="en-US" altLang="zh-CN" dirty="0">
                <a:cs typeface="Courier New" panose="02070609020205090404" pitchFamily="49" charset="0"/>
              </a:rPr>
              <a:t>i</a:t>
            </a:r>
            <a:r>
              <a:rPr lang="en-US" altLang="zh-CN" baseline="30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+c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i+c</a:t>
            </a:r>
            <a:r>
              <a:rPr lang="en-US" altLang="zh-CN" baseline="-25000" dirty="0">
                <a:cs typeface="Courier New" panose="02070609020205090404" pitchFamily="49" charset="0"/>
              </a:rPr>
              <a:t>3</a:t>
            </a:r>
            <a:br>
              <a:rPr lang="en-US" altLang="zh-CN" baseline="-25000" dirty="0">
                <a:latin typeface="Courier New" panose="02070609020205090404" pitchFamily="49" charset="0"/>
                <a:cs typeface="Courier New" panose="02070609020205090404" pitchFamily="49" charset="0"/>
              </a:rPr>
            </a:br>
            <a:r>
              <a:rPr lang="en-US" altLang="zh-CN" dirty="0"/>
              <a:t>for some constants c</a:t>
            </a:r>
            <a:r>
              <a:rPr lang="en-US" altLang="zh-CN" baseline="-25000" dirty="0"/>
              <a:t>1</a:t>
            </a:r>
            <a:r>
              <a:rPr lang="en-US" altLang="zh-CN" dirty="0"/>
              <a:t>, c</a:t>
            </a:r>
            <a:r>
              <a:rPr lang="en-US" altLang="zh-CN" baseline="-25000" dirty="0"/>
              <a:t>2</a:t>
            </a:r>
            <a:r>
              <a:rPr lang="en-US" altLang="zh-CN" dirty="0"/>
              <a:t>, and c</a:t>
            </a:r>
            <a:r>
              <a:rPr lang="en-US" altLang="zh-CN" baseline="-25000" dirty="0"/>
              <a:t>3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 smtClean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sz="2200" dirty="0" smtClean="0"/>
              <a:t>Example</a:t>
            </a:r>
            <a:r>
              <a:rPr lang="en-US" altLang="zh-CN" sz="2200" dirty="0"/>
              <a:t>: </a:t>
            </a:r>
            <a:r>
              <a:rPr lang="en-US" altLang="zh-CN" sz="2200" dirty="0">
                <a:cs typeface="Courier New" panose="02070609020205090404" pitchFamily="49" charset="0"/>
              </a:rPr>
              <a:t>p(K, </a:t>
            </a:r>
            <a:r>
              <a:rPr lang="en-US" altLang="zh-CN" sz="2200" dirty="0" err="1">
                <a:cs typeface="Courier New" panose="02070609020205090404" pitchFamily="49" charset="0"/>
              </a:rPr>
              <a:t>i</a:t>
            </a:r>
            <a:r>
              <a:rPr lang="en-US" altLang="zh-CN" sz="2200" dirty="0">
                <a:cs typeface="Courier New" panose="02070609020205090404" pitchFamily="49" charset="0"/>
              </a:rPr>
              <a:t>)=i</a:t>
            </a:r>
            <a:r>
              <a:rPr lang="en-US" altLang="zh-CN" sz="2200" baseline="30000" dirty="0">
                <a:cs typeface="Courier New" panose="02070609020205090404" pitchFamily="49" charset="0"/>
              </a:rPr>
              <a:t>2</a:t>
            </a:r>
            <a:r>
              <a:rPr lang="en-US" altLang="zh-CN" sz="2200" dirty="0">
                <a:cs typeface="Courier New" panose="02070609020205090404" pitchFamily="49" charset="0"/>
              </a:rPr>
              <a:t>, the </a:t>
            </a:r>
            <a:r>
              <a:rPr lang="en-US" altLang="zh-CN" sz="2200" i="1" dirty="0" err="1">
                <a:cs typeface="Courier New" panose="02070609020205090404" pitchFamily="49" charset="0"/>
              </a:rPr>
              <a:t>i</a:t>
            </a:r>
            <a:r>
              <a:rPr lang="en-US" altLang="zh-CN" sz="2200" dirty="0" err="1">
                <a:cs typeface="Courier New" panose="02070609020205090404" pitchFamily="49" charset="0"/>
              </a:rPr>
              <a:t>th</a:t>
            </a:r>
            <a:r>
              <a:rPr lang="en-US" altLang="zh-CN" sz="2200" dirty="0">
                <a:cs typeface="Courier New" panose="02070609020205090404" pitchFamily="49" charset="0"/>
              </a:rPr>
              <a:t> probing is (h(K)+i</a:t>
            </a:r>
            <a:r>
              <a:rPr lang="en-US" altLang="zh-CN" sz="2200" baseline="30000" dirty="0">
                <a:cs typeface="Courier New" panose="02070609020205090404" pitchFamily="49" charset="0"/>
              </a:rPr>
              <a:t>2</a:t>
            </a:r>
            <a:r>
              <a:rPr lang="en-US" altLang="zh-CN" sz="2200" dirty="0">
                <a:cs typeface="Courier New" panose="02070609020205090404" pitchFamily="49" charset="0"/>
              </a:rPr>
              <a:t>)%M.</a:t>
            </a:r>
            <a:endParaRPr lang="en-US" altLang="zh-CN" sz="2200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sz="2200" dirty="0">
                <a:cs typeface="Courier New" panose="02070609020205090404" pitchFamily="49" charset="0"/>
              </a:rPr>
              <a:t>The probe sequence for h(k</a:t>
            </a:r>
            <a:r>
              <a:rPr lang="en-US" altLang="zh-CN" sz="2200" baseline="-25000" dirty="0">
                <a:cs typeface="Courier New" panose="02070609020205090404" pitchFamily="49" charset="0"/>
              </a:rPr>
              <a:t>1</a:t>
            </a:r>
            <a:r>
              <a:rPr lang="en-US" altLang="zh-CN" sz="2200" dirty="0">
                <a:cs typeface="Courier New" panose="02070609020205090404" pitchFamily="49" charset="0"/>
              </a:rPr>
              <a:t>)=30 is 30, 31, 34, 39, …</a:t>
            </a:r>
            <a:endParaRPr lang="en-US" altLang="zh-CN" sz="2200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sz="2200" dirty="0">
                <a:cs typeface="Courier New" panose="02070609020205090404" pitchFamily="49" charset="0"/>
              </a:rPr>
              <a:t>The probe sequence for h(k</a:t>
            </a:r>
            <a:r>
              <a:rPr lang="en-US" altLang="zh-CN" sz="2200" baseline="-25000" dirty="0">
                <a:cs typeface="Courier New" panose="02070609020205090404" pitchFamily="49" charset="0"/>
              </a:rPr>
              <a:t>2</a:t>
            </a:r>
            <a:r>
              <a:rPr lang="en-US" altLang="zh-CN" sz="2200" dirty="0">
                <a:cs typeface="Courier New" panose="02070609020205090404" pitchFamily="49" charset="0"/>
              </a:rPr>
              <a:t>)=29 is 29, 30, 33, 38,…</a:t>
            </a:r>
            <a:endParaRPr lang="en-US" altLang="zh-CN" sz="2200" dirty="0">
              <a:cs typeface="Courier New" panose="02070609020205090404" pitchFamily="49" charset="0"/>
            </a:endParaRPr>
          </a:p>
          <a:p>
            <a:pPr lvl="4">
              <a:defRPr/>
            </a:pPr>
            <a:endParaRPr lang="en-US" altLang="zh-CN" sz="2200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sz="2200" dirty="0">
                <a:cs typeface="Courier New" panose="02070609020205090404" pitchFamily="49" charset="0"/>
              </a:rPr>
              <a:t>Two keys with different home positions will have diverging probe sequences.</a:t>
            </a:r>
            <a:endParaRPr lang="en-US" altLang="zh-CN" sz="2200" dirty="0">
              <a:cs typeface="Courier New" panose="02070609020205090404" pitchFamily="49" charset="0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5C153F5-8FA2-406E-92E1-6CDBC1A5E2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8757676-058F-42F6-A59A-CB3D7627903C}" type="slidenum">
              <a:rPr lang="en-US" altLang="zh-CN" sz="1050"/>
            </a:fld>
            <a:endParaRPr lang="en-US" altLang="zh-CN" sz="105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Quadratic Probing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pPr>
              <a:defRPr/>
            </a:pPr>
            <a:r>
              <a:rPr lang="en-US" altLang="zh-CN" sz="2600" dirty="0" smtClean="0"/>
              <a:t>Quadratic </a:t>
            </a:r>
            <a:r>
              <a:rPr lang="en-US" altLang="zh-CN" sz="2600" dirty="0"/>
              <a:t>probing can </a:t>
            </a:r>
            <a:r>
              <a:rPr lang="en-US" altLang="zh-CN" sz="2600" dirty="0">
                <a:solidFill>
                  <a:srgbClr val="FF0000"/>
                </a:solidFill>
              </a:rPr>
              <a:t>eliminate primary </a:t>
            </a:r>
            <a:r>
              <a:rPr lang="en-US" altLang="zh-CN" sz="2600" dirty="0" smtClean="0">
                <a:solidFill>
                  <a:srgbClr val="FF0000"/>
                </a:solidFill>
              </a:rPr>
              <a:t>clustering</a:t>
            </a:r>
            <a:endParaRPr lang="en-US" altLang="zh-CN" sz="2600" dirty="0" smtClean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sz="2600" dirty="0" smtClean="0">
              <a:solidFill>
                <a:srgbClr val="FF0000"/>
              </a:solidFill>
            </a:endParaRPr>
          </a:p>
          <a:p>
            <a:r>
              <a:rPr lang="en-US" altLang="zh-CN" dirty="0"/>
              <a:t>If quadratic probing is used, and the table size is prime, then a new element can </a:t>
            </a:r>
            <a:r>
              <a:rPr lang="en-US" altLang="zh-CN" dirty="0" smtClean="0"/>
              <a:t>always be </a:t>
            </a:r>
            <a:r>
              <a:rPr lang="en-US" altLang="zh-CN" dirty="0"/>
              <a:t>inserted if the table is at least half </a:t>
            </a:r>
            <a:r>
              <a:rPr lang="en-US" altLang="zh-CN" dirty="0" smtClean="0"/>
              <a:t>empty(textbook page204)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altLang="zh-CN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5C153F5-8FA2-406E-92E1-6CDBC1A5E258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8757676-058F-42F6-A59A-CB3D7627903C}" type="slidenum">
              <a:rPr lang="en-US" altLang="zh-CN" sz="1050"/>
            </a:fld>
            <a:endParaRPr lang="en-US" altLang="zh-CN" sz="105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Quadratic Probing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</a:rPr>
              <a:t>No primary clustering but </a:t>
            </a:r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secondary clustering</a:t>
            </a:r>
            <a:r>
              <a:rPr lang="en-US" altLang="zh-CN" dirty="0" smtClean="0">
                <a:ea typeface="宋体" pitchFamily="2" charset="-122"/>
              </a:rPr>
              <a:t> possible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secondary </a:t>
            </a:r>
            <a:r>
              <a:rPr lang="en-US" altLang="zh-CN" dirty="0" smtClean="0">
                <a:solidFill>
                  <a:srgbClr val="FF0000"/>
                </a:solidFill>
              </a:rPr>
              <a:t>clustering: </a:t>
            </a:r>
            <a:r>
              <a:rPr lang="en-US" altLang="zh-CN" dirty="0" smtClean="0"/>
              <a:t>If </a:t>
            </a:r>
            <a:r>
              <a:rPr lang="en-US" altLang="zh-CN" dirty="0"/>
              <a:t>two keys hash to the same home position, they will </a:t>
            </a:r>
            <a:r>
              <a:rPr lang="en-US" altLang="zh-CN" dirty="0">
                <a:solidFill>
                  <a:srgbClr val="FF0000"/>
                </a:solidFill>
              </a:rPr>
              <a:t>always follow the same probe sequence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r>
              <a:rPr lang="en-US" altLang="zh-CN" dirty="0"/>
              <a:t>Secondary clustering </a:t>
            </a:r>
            <a:r>
              <a:rPr lang="en-US" altLang="zh-CN" dirty="0" smtClean="0"/>
              <a:t>remains </a:t>
            </a:r>
            <a:r>
              <a:rPr lang="en-US" altLang="zh-CN" dirty="0"/>
              <a:t>under </a:t>
            </a:r>
            <a:r>
              <a:rPr lang="en-US" altLang="zh-CN" dirty="0">
                <a:solidFill>
                  <a:srgbClr val="263AF8"/>
                </a:solidFill>
              </a:rPr>
              <a:t>pseudo-random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263AF8"/>
                </a:solidFill>
              </a:rPr>
              <a:t>quadratic probing</a:t>
            </a:r>
            <a:endParaRPr lang="en-US" altLang="zh-CN" dirty="0">
              <a:solidFill>
                <a:srgbClr val="263AF8"/>
              </a:solidFill>
            </a:endParaRPr>
          </a:p>
          <a:p>
            <a:pPr>
              <a:lnSpc>
                <a:spcPct val="90000"/>
              </a:lnSpc>
            </a:pPr>
            <a:endParaRPr lang="en-US" altLang="zh-CN" sz="2625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B076EA3-FEE3-471F-BCAC-7B063CFD8B3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E8EC1BE-6FFF-4832-82F7-5B41068CA012}" type="slidenum">
              <a:rPr lang="en-US" altLang="zh-CN" sz="1050"/>
            </a:fld>
            <a:endParaRPr lang="en-US" altLang="zh-CN" sz="105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Double Hashing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483768"/>
            <a:ext cx="6343650" cy="4088482"/>
          </a:xfrm>
        </p:spPr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When searching for </a:t>
            </a:r>
            <a:r>
              <a:rPr lang="en-US" altLang="zh-CN" sz="2000" b="1" dirty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dirty="0">
                <a:ea typeface="宋体" pitchFamily="2" charset="-122"/>
              </a:rPr>
              <a:t>, check locations 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h</a:t>
            </a:r>
            <a:r>
              <a:rPr lang="en-US" altLang="zh-CN" sz="18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(X), h</a:t>
            </a:r>
            <a:r>
              <a:rPr lang="en-US" altLang="zh-CN" sz="18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(X)+ h</a:t>
            </a:r>
            <a:r>
              <a:rPr lang="en-US" altLang="zh-CN" sz="1800" b="1" baseline="-25000" dirty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(X),h</a:t>
            </a:r>
            <a:r>
              <a:rPr lang="en-US" altLang="zh-CN" sz="1800" b="1" baseline="-25000" dirty="0">
                <a:solidFill>
                  <a:srgbClr val="263AF8"/>
                </a:solidFill>
                <a:ea typeface="宋体" pitchFamily="2" charset="-122"/>
              </a:rPr>
              <a:t>1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(X)+2*h</a:t>
            </a:r>
            <a:r>
              <a:rPr lang="en-US" altLang="zh-CN" sz="1800" b="1" baseline="-25000" dirty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sz="1800" b="1" dirty="0">
                <a:solidFill>
                  <a:srgbClr val="263AF8"/>
                </a:solidFill>
                <a:ea typeface="宋体" pitchFamily="2" charset="-122"/>
              </a:rPr>
              <a:t>(X),… mod </a:t>
            </a:r>
            <a:r>
              <a:rPr lang="en-US" altLang="zh-CN" sz="1800" b="1" dirty="0" err="1">
                <a:solidFill>
                  <a:srgbClr val="263AF8"/>
                </a:solidFill>
                <a:ea typeface="宋体" pitchFamily="2" charset="-122"/>
              </a:rPr>
              <a:t>Tablesize</a:t>
            </a:r>
            <a:r>
              <a:rPr lang="en-US" altLang="zh-CN" sz="2000" dirty="0">
                <a:solidFill>
                  <a:srgbClr val="263AF8"/>
                </a:solidFill>
                <a:ea typeface="宋体" pitchFamily="2" charset="-122"/>
              </a:rPr>
              <a:t> 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until </a:t>
            </a:r>
            <a:r>
              <a:rPr lang="en-US" altLang="zh-CN" dirty="0">
                <a:ea typeface="宋体" pitchFamily="2" charset="-122"/>
              </a:rPr>
              <a:t>either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b="1" dirty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dirty="0">
                <a:ea typeface="宋体" pitchFamily="2" charset="-122"/>
              </a:rPr>
              <a:t> is found; or</a:t>
            </a:r>
            <a:endParaRPr lang="en-US" altLang="zh-CN" dirty="0"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we find an empty location (</a:t>
            </a:r>
            <a:r>
              <a:rPr lang="en-US" altLang="zh-CN" b="1" dirty="0">
                <a:solidFill>
                  <a:srgbClr val="263AF8"/>
                </a:solidFill>
                <a:ea typeface="宋体" pitchFamily="2" charset="-122"/>
              </a:rPr>
              <a:t>X</a:t>
            </a:r>
            <a:r>
              <a:rPr lang="en-US" altLang="zh-CN" dirty="0">
                <a:ea typeface="宋体" pitchFamily="2" charset="-122"/>
              </a:rPr>
              <a:t> not present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p(K, </a:t>
            </a:r>
            <a:r>
              <a:rPr lang="en-US" altLang="zh-CN" dirty="0" err="1">
                <a:solidFill>
                  <a:srgbClr val="FF0000"/>
                </a:solidFill>
                <a:cs typeface="Courier New" panose="02070609020205090404" pitchFamily="49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)= 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  <a:sym typeface="+mn-ea"/>
              </a:rPr>
              <a:t>h</a:t>
            </a:r>
            <a:r>
              <a:rPr lang="en-US" altLang="zh-CN" baseline="-25000" dirty="0">
                <a:solidFill>
                  <a:srgbClr val="FF0000"/>
                </a:solidFill>
                <a:cs typeface="Courier New" panose="02070609020205090404" pitchFamily="49" charset="0"/>
                <a:sym typeface="+mn-ea"/>
              </a:rPr>
              <a:t>1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  <a:sym typeface="+mn-ea"/>
              </a:rPr>
              <a:t>(K</a:t>
            </a:r>
            <a:r>
              <a:rPr lang="en-US" altLang="zh-CN" dirty="0" smtClean="0">
                <a:solidFill>
                  <a:srgbClr val="FF0000"/>
                </a:solidFill>
                <a:cs typeface="Courier New" panose="02070609020205090404" pitchFamily="49" charset="0"/>
                <a:sym typeface="+mn-ea"/>
              </a:rPr>
              <a:t>)+</a:t>
            </a:r>
            <a:r>
              <a:rPr lang="en-US" altLang="zh-CN" dirty="0" err="1">
                <a:solidFill>
                  <a:srgbClr val="FF0000"/>
                </a:solidFill>
                <a:cs typeface="Courier New" panose="02070609020205090404" pitchFamily="49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*h</a:t>
            </a:r>
            <a:r>
              <a:rPr lang="en-US" altLang="zh-CN" baseline="-25000" dirty="0">
                <a:solidFill>
                  <a:srgbClr val="FF0000"/>
                </a:solidFill>
                <a:cs typeface="Courier New" panose="02070609020205090404" pitchFamily="49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cs typeface="Courier New" panose="02070609020205090404" pitchFamily="49" charset="0"/>
              </a:rPr>
              <a:t>(K</a:t>
            </a:r>
            <a:r>
              <a:rPr lang="en-US" altLang="zh-CN" dirty="0" smtClean="0">
                <a:solidFill>
                  <a:srgbClr val="FF0000"/>
                </a:solidFill>
                <a:cs typeface="Courier New" panose="02070609020205090404" pitchFamily="49" charset="0"/>
              </a:rPr>
              <a:t>)</a:t>
            </a:r>
            <a:r>
              <a:rPr lang="en-US" altLang="zh-CN" dirty="0" smtClean="0">
                <a:latin typeface="Courier New" panose="02070609020205090404" pitchFamily="49" charset="0"/>
                <a:cs typeface="Courier New" panose="02070609020205090404" pitchFamily="49" charset="0"/>
              </a:rPr>
              <a:t>	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Must be careful about </a:t>
            </a:r>
            <a:r>
              <a:rPr lang="en-US" altLang="zh-CN" b="1" dirty="0">
                <a:solidFill>
                  <a:srgbClr val="263AF8"/>
                </a:solidFill>
                <a:ea typeface="宋体" pitchFamily="2" charset="-122"/>
              </a:rPr>
              <a:t>h</a:t>
            </a:r>
            <a:r>
              <a:rPr lang="en-US" altLang="zh-CN" b="1" baseline="-25000" dirty="0">
                <a:solidFill>
                  <a:srgbClr val="263AF8"/>
                </a:solidFill>
                <a:ea typeface="宋体" pitchFamily="2" charset="-122"/>
              </a:rPr>
              <a:t>2</a:t>
            </a:r>
            <a:r>
              <a:rPr lang="en-US" altLang="zh-CN" b="1" dirty="0">
                <a:solidFill>
                  <a:srgbClr val="263AF8"/>
                </a:solidFill>
                <a:ea typeface="宋体" pitchFamily="2" charset="-122"/>
              </a:rPr>
              <a:t>(X)</a:t>
            </a:r>
            <a:endParaRPr lang="en-US" altLang="zh-CN" b="1" dirty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Not 0 and not a divisor of</a:t>
            </a:r>
            <a:r>
              <a:rPr lang="en-US" altLang="zh-CN" b="1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263AF8"/>
                </a:solidFill>
                <a:ea typeface="宋体" pitchFamily="2" charset="-122"/>
              </a:rPr>
              <a:t>M</a:t>
            </a:r>
            <a:endParaRPr lang="en-US" altLang="zh-CN" b="1" dirty="0">
              <a:solidFill>
                <a:srgbClr val="263AF8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242888" y="2411760"/>
            <a:ext cx="6550819" cy="4186685"/>
          </a:xfrm>
        </p:spPr>
        <p:txBody>
          <a:bodyPr>
            <a:noAutofit/>
          </a:bodyPr>
          <a:lstStyle/>
          <a:p>
            <a:pPr lvl="4">
              <a:defRPr/>
            </a:pPr>
            <a:endParaRPr lang="en-US" altLang="zh-CN" sz="1600" dirty="0">
              <a:cs typeface="Courier New" panose="02070609020205090404" pitchFamily="49" charset="0"/>
            </a:endParaRPr>
          </a:p>
          <a:p>
            <a:pPr>
              <a:defRPr/>
            </a:pPr>
            <a:r>
              <a:rPr lang="en-US" altLang="zh-CN" dirty="0">
                <a:cs typeface="Courier New" panose="02070609020205090404" pitchFamily="49" charset="0"/>
              </a:rPr>
              <a:t>Example: a hash table with size M=101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h(k</a:t>
            </a:r>
            <a:r>
              <a:rPr lang="en-US" altLang="zh-CN" baseline="-25000" dirty="0">
                <a:cs typeface="Courier New" panose="02070609020205090404" pitchFamily="49" charset="0"/>
              </a:rPr>
              <a:t>1</a:t>
            </a:r>
            <a:r>
              <a:rPr lang="en-US" altLang="zh-CN" dirty="0">
                <a:cs typeface="Courier New" panose="02070609020205090404" pitchFamily="49" charset="0"/>
              </a:rPr>
              <a:t>)=30, h(k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)=28, h(k</a:t>
            </a:r>
            <a:r>
              <a:rPr lang="en-US" altLang="zh-CN" baseline="-25000" dirty="0">
                <a:cs typeface="Courier New" panose="02070609020205090404" pitchFamily="49" charset="0"/>
              </a:rPr>
              <a:t>3</a:t>
            </a:r>
            <a:r>
              <a:rPr lang="en-US" altLang="zh-CN" dirty="0">
                <a:cs typeface="Courier New" panose="02070609020205090404" pitchFamily="49" charset="0"/>
              </a:rPr>
              <a:t>)=30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h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(k</a:t>
            </a:r>
            <a:r>
              <a:rPr lang="en-US" altLang="zh-CN" baseline="-25000" dirty="0">
                <a:cs typeface="Courier New" panose="02070609020205090404" pitchFamily="49" charset="0"/>
              </a:rPr>
              <a:t>1</a:t>
            </a:r>
            <a:r>
              <a:rPr lang="en-US" altLang="zh-CN" dirty="0">
                <a:cs typeface="Courier New" panose="02070609020205090404" pitchFamily="49" charset="0"/>
              </a:rPr>
              <a:t>)=2, h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(k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)=5, h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(k</a:t>
            </a:r>
            <a:r>
              <a:rPr lang="en-US" altLang="zh-CN" baseline="-25000" dirty="0">
                <a:cs typeface="Courier New" panose="02070609020205090404" pitchFamily="49" charset="0"/>
              </a:rPr>
              <a:t>3</a:t>
            </a:r>
            <a:r>
              <a:rPr lang="en-US" altLang="zh-CN" dirty="0">
                <a:cs typeface="Courier New" panose="02070609020205090404" pitchFamily="49" charset="0"/>
              </a:rPr>
              <a:t>)=</a:t>
            </a:r>
            <a:r>
              <a:rPr lang="en-US" altLang="zh-CN" dirty="0" smtClean="0">
                <a:cs typeface="Courier New" panose="02070609020205090404" pitchFamily="49" charset="0"/>
              </a:rPr>
              <a:t>5</a:t>
            </a:r>
            <a:endParaRPr lang="en-US" altLang="zh-CN" dirty="0" smtClean="0">
              <a:cs typeface="Courier New" panose="02070609020205090404" pitchFamily="49" charset="0"/>
            </a:endParaRPr>
          </a:p>
          <a:p>
            <a:pPr lvl="1">
              <a:defRPr/>
            </a:pP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609020205090404" pitchFamily="49" charset="0"/>
              </a:rPr>
              <a:t>1</a:t>
            </a:r>
            <a:r>
              <a:rPr lang="en-US" altLang="zh-CN" dirty="0">
                <a:cs typeface="Courier New" panose="02070609020205090404" pitchFamily="49" charset="0"/>
              </a:rPr>
              <a:t>: 30, 32, 34, 36, …; 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609020205090404" pitchFamily="49" charset="0"/>
              </a:rPr>
              <a:t>2</a:t>
            </a:r>
            <a:r>
              <a:rPr lang="en-US" altLang="zh-CN" dirty="0">
                <a:cs typeface="Courier New" panose="02070609020205090404" pitchFamily="49" charset="0"/>
              </a:rPr>
              <a:t>: 28, 33, 38, 43, …; 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r>
              <a:rPr lang="en-US" altLang="zh-CN" dirty="0">
                <a:cs typeface="Courier New" panose="02070609020205090404" pitchFamily="49" charset="0"/>
              </a:rPr>
              <a:t>The probe sequence for k</a:t>
            </a:r>
            <a:r>
              <a:rPr lang="en-US" altLang="zh-CN" baseline="-25000" dirty="0">
                <a:cs typeface="Courier New" panose="02070609020205090404" pitchFamily="49" charset="0"/>
              </a:rPr>
              <a:t>3</a:t>
            </a:r>
            <a:r>
              <a:rPr lang="en-US" altLang="zh-CN" dirty="0">
                <a:cs typeface="Courier New" panose="02070609020205090404" pitchFamily="49" charset="0"/>
              </a:rPr>
              <a:t>: 30, 35, 40, 45, …</a:t>
            </a:r>
            <a:endParaRPr lang="en-US" altLang="zh-CN" dirty="0">
              <a:cs typeface="Courier New" panose="02070609020205090404" pitchFamily="49" charset="0"/>
            </a:endParaRPr>
          </a:p>
          <a:p>
            <a:pPr lvl="1">
              <a:defRPr/>
            </a:pPr>
            <a:endParaRPr lang="zh-CN" altLang="en-US" sz="2400" dirty="0">
              <a:cs typeface="Courier New" panose="02070609020205090404" pitchFamily="49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4A7AE46-3404-4B55-8289-74604BEAE5D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Double Hashing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BF0630D5-8F02-4DFE-A782-2179678D913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55B5E85-829F-4627-8A1E-CB32A65FBDF3}" type="slidenum">
              <a:rPr lang="en-US" altLang="zh-CN" sz="1050"/>
            </a:fld>
            <a:endParaRPr lang="en-US" altLang="zh-CN" sz="105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Rules of Thumb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843808"/>
            <a:ext cx="6326460" cy="3749875"/>
          </a:xfrm>
        </p:spPr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Separate chaining is simple but wastes space… 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Linear probing uses space better, is fast when tables are sparse</a:t>
            </a:r>
            <a:endParaRPr lang="en-US" altLang="zh-CN" dirty="0" smtClean="0">
              <a:ea typeface="宋体" pitchFamily="2" charset="-122"/>
            </a:endParaRPr>
          </a:p>
          <a:p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Double hashing is space efficient, fast (get initial hash and increment at the same time), needs careful implementation</a:t>
            </a:r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CA934C29-0141-40FC-A027-AEDEE441623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7E3B301-4C5F-4EB7-975D-728EFF9678AD}" type="slidenum">
              <a:rPr lang="en-US" altLang="zh-CN" sz="1050"/>
            </a:fld>
            <a:endParaRPr lang="en-US" altLang="zh-CN" sz="1050"/>
          </a:p>
        </p:txBody>
      </p:sp>
      <p:sp>
        <p:nvSpPr>
          <p:cNvPr id="45061" name="Rectangle 4"/>
          <p:cNvSpPr>
            <a:spLocks noGrp="1" noChangeArrowheads="1"/>
          </p:cNvSpPr>
          <p:nvPr>
            <p:ph type="title"/>
          </p:nvPr>
        </p:nvSpPr>
        <p:spPr>
          <a:xfrm>
            <a:off x="285750" y="683568"/>
            <a:ext cx="6286500" cy="85725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Rehashing – Rebuild the Table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506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Need to use lazy </a:t>
            </a:r>
            <a:r>
              <a:rPr lang="en-US" altLang="zh-CN" dirty="0" smtClean="0">
                <a:ea typeface="宋体" pitchFamily="2" charset="-122"/>
              </a:rPr>
              <a:t>deletion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Need to mark array slots as deleted after Delete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</a:rPr>
              <a:t>consequently</a:t>
            </a:r>
            <a:r>
              <a:rPr lang="en-US" altLang="zh-CN" dirty="0">
                <a:ea typeface="宋体" pitchFamily="2" charset="-122"/>
              </a:rPr>
              <a:t>, deleting doesn’t make the table any less full than it was before the delete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rgbClr val="263AF8"/>
                </a:solidFill>
                <a:ea typeface="宋体" pitchFamily="2" charset="-122"/>
              </a:rPr>
              <a:t>If table gets too full (</a:t>
            </a:r>
            <a:r>
              <a:rPr lang="en-US" altLang="zh-CN" dirty="0">
                <a:solidFill>
                  <a:srgbClr val="263AF8"/>
                </a:solidFill>
                <a:ea typeface="宋体" pitchFamily="2" charset="-122"/>
                <a:sym typeface="Symbol" panose="05050102010706020507" pitchFamily="18" charset="2"/>
              </a:rPr>
              <a:t>  1) or if many deletions have occurred, running time gets too long and Inserts may fail</a:t>
            </a:r>
            <a:endParaRPr lang="en-US" altLang="zh-CN" dirty="0">
              <a:solidFill>
                <a:srgbClr val="263AF8"/>
              </a:solidFill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0A97AE7-938A-4168-B25C-04B5080468F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F36DD43-631B-4161-90FD-4323FB968EE0}" type="slidenum">
              <a:rPr lang="en-US" altLang="zh-CN" sz="1050"/>
            </a:fld>
            <a:endParaRPr lang="en-US" altLang="zh-CN" sz="105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Rehashing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483768"/>
            <a:ext cx="6286500" cy="5256584"/>
          </a:xfrm>
        </p:spPr>
        <p:txBody>
          <a:bodyPr>
            <a:noAutofit/>
          </a:bodyPr>
          <a:lstStyle/>
          <a:p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Symbol" panose="05050102010706020507" pitchFamily="18" charset="2"/>
              </a:rPr>
              <a:t>Build a bigger hash table of approximately twice the size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when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Symbol" panose="05050102010706020507" pitchFamily="18" charset="2"/>
              </a:rPr>
              <a:t> exceeds a particular value</a:t>
            </a:r>
            <a:endParaRPr lang="en-US" altLang="zh-CN" sz="2800" dirty="0">
              <a:solidFill>
                <a:srgbClr val="FF0000"/>
              </a:solidFill>
              <a:ea typeface="宋体" pitchFamily="2" charset="-122"/>
            </a:endParaRPr>
          </a:p>
          <a:p>
            <a:pPr lvl="1"/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Go through old hash table, ignoring items marked deleted</a:t>
            </a:r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r>
              <a:rPr lang="en-US" altLang="zh-CN" dirty="0" err="1">
                <a:ea typeface="宋体" pitchFamily="2" charset="-122"/>
                <a:sym typeface="Wingdings" panose="05000000000000000000" pitchFamily="2" charset="2"/>
              </a:rPr>
              <a:t>Recompute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 hash value for each non-deleted key and put the item in new position in new table</a:t>
            </a:r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ea typeface="宋体" pitchFamily="2" charset="-122"/>
              </a:rPr>
              <a:t>Cannot just copy data from old table </a:t>
            </a:r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because the bigger table has a new hash </a:t>
            </a:r>
            <a:r>
              <a:rPr lang="en-US" altLang="zh-CN" dirty="0" smtClean="0">
                <a:ea typeface="宋体" pitchFamily="2" charset="-122"/>
                <a:sym typeface="Wingdings" panose="05000000000000000000" pitchFamily="2" charset="2"/>
              </a:rPr>
              <a:t>function</a:t>
            </a:r>
            <a:endParaRPr lang="en-US" altLang="zh-CN" dirty="0" smtClean="0"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solidFill>
                  <a:srgbClr val="FF0000"/>
                </a:solidFill>
                <a:ea typeface="宋体" pitchFamily="2" charset="-122"/>
                <a:sym typeface="Wingdings" panose="05000000000000000000" pitchFamily="2" charset="2"/>
              </a:rPr>
              <a:t>Running time is O(N) but happens very infrequently</a:t>
            </a:r>
            <a:endParaRPr lang="en-US" altLang="zh-CN" dirty="0">
              <a:solidFill>
                <a:srgbClr val="FF0000"/>
              </a:solidFill>
              <a:ea typeface="宋体" pitchFamily="2" charset="-122"/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ea typeface="宋体" pitchFamily="2" charset="-122"/>
                <a:sym typeface="Wingdings" panose="05000000000000000000" pitchFamily="2" charset="2"/>
              </a:rPr>
              <a:t>Not good for real-time safety critical applications</a:t>
            </a:r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D4C3E2C2-BB80-47E2-9ECF-AEFFB9F47B33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CDA6CED-02F7-4289-8C5C-7B638011FE6A}" type="slidenum">
              <a:rPr lang="en-US" altLang="zh-CN" sz="1050"/>
            </a:fld>
            <a:endParaRPr lang="en-US" altLang="zh-CN" sz="105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Rehashing Example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5" y="2603379"/>
            <a:ext cx="5829300" cy="86303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Open hashing – h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(x) = x mod 5 rehashes to h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(x) = x mod 11.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2363788" y="4559488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2820988" y="4559488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3278188" y="4559488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3735388" y="4559488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4192588" y="4559488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2271713" y="4189600"/>
            <a:ext cx="22383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</a:rPr>
              <a:t> 0    1    2     3     4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2287588" y="4864288"/>
            <a:ext cx="19223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3716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8288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2860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buFontTx/>
              <a:buAutoNum type="arabicPlain" startAt="25"/>
            </a:pPr>
            <a:r>
              <a:rPr lang="en-US" altLang="zh-CN" dirty="0">
                <a:ea typeface="宋体" pitchFamily="2" charset="-122"/>
              </a:rPr>
              <a:t>      </a:t>
            </a:r>
            <a:r>
              <a:rPr lang="en-US" altLang="zh-CN" dirty="0" smtClean="0">
                <a:ea typeface="宋体" pitchFamily="2" charset="-122"/>
              </a:rPr>
              <a:t> 37  83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             </a:t>
            </a:r>
            <a:r>
              <a:rPr lang="en-US" altLang="zh-CN" dirty="0" smtClean="0">
                <a:ea typeface="宋体" pitchFamily="2" charset="-122"/>
              </a:rPr>
              <a:t>52   98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36" name="Text Box 11"/>
          <p:cNvSpPr txBox="1">
            <a:spLocks noChangeArrowheads="1"/>
          </p:cNvSpPr>
          <p:nvPr/>
        </p:nvSpPr>
        <p:spPr bwMode="auto">
          <a:xfrm>
            <a:off x="1052513" y="4494400"/>
            <a:ext cx="758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  <a:sym typeface="Symbol" panose="05050102010706020507" pitchFamily="18" charset="2"/>
              </a:rPr>
              <a:t> = 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15097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19669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24241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0" name="Rectangle 15"/>
          <p:cNvSpPr>
            <a:spLocks noChangeArrowheads="1"/>
          </p:cNvSpPr>
          <p:nvPr/>
        </p:nvSpPr>
        <p:spPr bwMode="auto">
          <a:xfrm>
            <a:off x="28813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1" name="Rectangle 16"/>
          <p:cNvSpPr>
            <a:spLocks noChangeArrowheads="1"/>
          </p:cNvSpPr>
          <p:nvPr/>
        </p:nvSpPr>
        <p:spPr bwMode="auto">
          <a:xfrm>
            <a:off x="33385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1417638" y="5877113"/>
            <a:ext cx="51419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ea typeface="宋体" pitchFamily="2" charset="-122"/>
              </a:rPr>
              <a:t> 0    1    2     3     4    5     6    7     8    9   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10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37957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42529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47101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6" name="Rectangle 21"/>
          <p:cNvSpPr>
            <a:spLocks noChangeArrowheads="1"/>
          </p:cNvSpPr>
          <p:nvPr/>
        </p:nvSpPr>
        <p:spPr bwMode="auto">
          <a:xfrm>
            <a:off x="51673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7" name="Rectangle 22"/>
          <p:cNvSpPr>
            <a:spLocks noChangeArrowheads="1"/>
          </p:cNvSpPr>
          <p:nvPr/>
        </p:nvSpPr>
        <p:spPr bwMode="auto">
          <a:xfrm>
            <a:off x="56245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8" name="Rectangle 23"/>
          <p:cNvSpPr>
            <a:spLocks noChangeArrowheads="1"/>
          </p:cNvSpPr>
          <p:nvPr/>
        </p:nvSpPr>
        <p:spPr bwMode="auto">
          <a:xfrm>
            <a:off x="6081713" y="6247000"/>
            <a:ext cx="304800" cy="304800"/>
          </a:xfrm>
          <a:prstGeom prst="rect">
            <a:avLst/>
          </a:prstGeom>
          <a:solidFill>
            <a:srgbClr val="CC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endParaRPr lang="zh-CN" altLang="en-US">
              <a:ea typeface="宋体" pitchFamily="2" charset="-122"/>
            </a:endParaRPr>
          </a:p>
        </p:txBody>
      </p:sp>
      <p:sp>
        <p:nvSpPr>
          <p:cNvPr id="49" name="Text Box 24"/>
          <p:cNvSpPr txBox="1">
            <a:spLocks noChangeArrowheads="1"/>
          </p:cNvSpPr>
          <p:nvPr/>
        </p:nvSpPr>
        <p:spPr bwMode="auto">
          <a:xfrm>
            <a:off x="2805113" y="6551800"/>
            <a:ext cx="36925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9144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3716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8288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286000" indent="-4572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buFontTx/>
              <a:buAutoNum type="arabicPlain" startAt="25"/>
            </a:pPr>
            <a:r>
              <a:rPr lang="en-US" altLang="zh-CN">
                <a:ea typeface="宋体" pitchFamily="2" charset="-122"/>
              </a:rPr>
              <a:t>37         83         52         98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50" name="Text Box 25"/>
          <p:cNvSpPr txBox="1">
            <a:spLocks noChangeArrowheads="1"/>
          </p:cNvSpPr>
          <p:nvPr/>
        </p:nvSpPr>
        <p:spPr bwMode="auto">
          <a:xfrm>
            <a:off x="290513" y="6247000"/>
            <a:ext cx="10953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>
                <a:ea typeface="宋体" pitchFamily="2" charset="-122"/>
                <a:sym typeface="Symbol" panose="05050102010706020507" pitchFamily="18" charset="2"/>
              </a:rPr>
              <a:t> = 5/11</a:t>
            </a:r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F0A97AE7-938A-4168-B25C-04B5080468F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F36DD43-631B-4161-90FD-4323FB968EE0}" type="slidenum">
              <a:rPr lang="en-US" altLang="zh-CN" sz="1050"/>
            </a:fld>
            <a:endParaRPr lang="en-US" altLang="zh-CN" sz="105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Rehashing</a:t>
            </a:r>
            <a:endParaRPr lang="en-US" altLang="zh-CN" dirty="0" smtClean="0">
              <a:ea typeface="宋体" pitchFamily="2" charset="-122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483768"/>
            <a:ext cx="6286500" cy="5256584"/>
          </a:xfrm>
        </p:spPr>
        <p:txBody>
          <a:bodyPr>
            <a:noAutofit/>
          </a:bodyPr>
          <a:lstStyle/>
          <a:p>
            <a:r>
              <a:rPr lang="en-US" altLang="zh-CN" dirty="0" smtClean="0">
                <a:sym typeface="Symbol" panose="05050102010706020507" pitchFamily="18" charset="2"/>
              </a:rPr>
              <a:t>Strategies of Rehashing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 build </a:t>
            </a:r>
            <a:r>
              <a:rPr lang="en-US" altLang="zh-CN" dirty="0" smtClean="0">
                <a:sym typeface="Symbol" panose="05050102010706020507" pitchFamily="18" charset="2"/>
              </a:rPr>
              <a:t>new </a:t>
            </a:r>
            <a:r>
              <a:rPr lang="en-US" altLang="zh-CN" dirty="0">
                <a:sym typeface="Symbol" panose="05050102010706020507" pitchFamily="18" charset="2"/>
              </a:rPr>
              <a:t>table that is about twice as </a:t>
            </a:r>
            <a:r>
              <a:rPr lang="en-US" altLang="zh-CN" dirty="0" smtClean="0">
                <a:sym typeface="Symbol" panose="05050102010706020507" pitchFamily="18" charset="2"/>
              </a:rPr>
              <a:t>big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endParaRPr lang="en-US" altLang="zh-CN" dirty="0" smtClean="0">
              <a:sym typeface="Symbol" panose="05050102010706020507" pitchFamily="18" charset="2"/>
            </a:endParaRPr>
          </a:p>
          <a:p>
            <a:pPr lvl="1"/>
            <a:r>
              <a:rPr lang="en-US" altLang="zh-CN" dirty="0" smtClean="0">
                <a:ea typeface="宋体" pitchFamily="2" charset="-122"/>
                <a:sym typeface="Symbol" panose="05050102010706020507" pitchFamily="18" charset="2"/>
              </a:rPr>
              <a:t>When?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rehash as soon as the table is </a:t>
            </a:r>
            <a:r>
              <a:rPr lang="en-US" altLang="zh-CN" dirty="0">
                <a:solidFill>
                  <a:srgbClr val="263AF8"/>
                </a:solidFill>
                <a:sym typeface="Symbol" panose="05050102010706020507" pitchFamily="18" charset="2"/>
              </a:rPr>
              <a:t>half </a:t>
            </a:r>
            <a:r>
              <a:rPr lang="en-US" altLang="zh-CN" dirty="0" smtClean="0">
                <a:solidFill>
                  <a:srgbClr val="263AF8"/>
                </a:solidFill>
                <a:sym typeface="Symbol" panose="05050102010706020507" pitchFamily="18" charset="2"/>
              </a:rPr>
              <a:t>full</a:t>
            </a:r>
            <a:endParaRPr lang="en-US" altLang="zh-CN" dirty="0" smtClean="0">
              <a:solidFill>
                <a:srgbClr val="263AF8"/>
              </a:solidFill>
              <a:sym typeface="Symbol" panose="05050102010706020507" pitchFamily="18" charset="2"/>
            </a:endParaRP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rehash only when </a:t>
            </a:r>
            <a:r>
              <a:rPr lang="en-US" altLang="zh-CN" dirty="0" smtClean="0">
                <a:sym typeface="Symbol" panose="05050102010706020507" pitchFamily="18" charset="2"/>
              </a:rPr>
              <a:t>an insertion fails</a:t>
            </a:r>
            <a:endParaRPr lang="en-US" altLang="zh-CN" dirty="0" smtClean="0">
              <a:sym typeface="Symbol" panose="05050102010706020507" pitchFamily="18" charset="2"/>
            </a:endParaRPr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middle-of-the-road </a:t>
            </a:r>
            <a:r>
              <a:rPr lang="en-US" altLang="zh-CN" dirty="0" smtClean="0">
                <a:solidFill>
                  <a:srgbClr val="263AF8"/>
                </a:solidFill>
              </a:rPr>
              <a:t>strategy </a:t>
            </a:r>
            <a:r>
              <a:rPr lang="en-US" altLang="zh-CN" dirty="0" smtClean="0"/>
              <a:t>(best)</a:t>
            </a:r>
            <a:endParaRPr lang="en-US" altLang="zh-CN" dirty="0" smtClean="0"/>
          </a:p>
          <a:p>
            <a:pPr lvl="3"/>
            <a:r>
              <a:rPr lang="en-US" altLang="zh-CN" dirty="0">
                <a:sym typeface="Symbol" panose="05050102010706020507" pitchFamily="18" charset="2"/>
              </a:rPr>
              <a:t>rehash when the table reaches </a:t>
            </a:r>
            <a:r>
              <a:rPr lang="en-US" altLang="zh-CN" dirty="0" smtClean="0">
                <a:sym typeface="Symbol" panose="05050102010706020507" pitchFamily="18" charset="2"/>
              </a:rPr>
              <a:t>a certain </a:t>
            </a:r>
            <a:r>
              <a:rPr lang="en-US" altLang="zh-CN" dirty="0">
                <a:sym typeface="Symbol" panose="05050102010706020507" pitchFamily="18" charset="2"/>
              </a:rPr>
              <a:t>load factor</a:t>
            </a:r>
            <a:endParaRPr lang="en-US" altLang="zh-CN" dirty="0" smtClean="0">
              <a:ea typeface="宋体" pitchFamily="2" charset="-122"/>
              <a:sym typeface="Symbol" panose="05050102010706020507" pitchFamily="18" charset="2"/>
            </a:endParaRPr>
          </a:p>
          <a:p>
            <a:pPr lvl="2"/>
            <a:endParaRPr lang="en-US" altLang="zh-CN" dirty="0">
              <a:ea typeface="宋体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 of </a:t>
            </a:r>
            <a:r>
              <a:rPr lang="en-US" altLang="zh-CN" dirty="0"/>
              <a:t>Open addressing </a:t>
            </a:r>
            <a:endParaRPr lang="zh-CN" altLang="en-US" dirty="0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Measurements</a:t>
            </a:r>
            <a:endParaRPr lang="en-US" altLang="zh-CN" dirty="0"/>
          </a:p>
          <a:p>
            <a:pPr lvl="1"/>
            <a:r>
              <a:rPr lang="en-US" altLang="zh-CN" dirty="0"/>
              <a:t>The number of record accesses when performing an operation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Operations of concern: insertion, deletion, and </a:t>
            </a:r>
            <a:r>
              <a:rPr lang="en-US" altLang="zh-CN" b="1" dirty="0">
                <a:solidFill>
                  <a:srgbClr val="FF0000"/>
                </a:solidFill>
              </a:rPr>
              <a:t>search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Insertion</a:t>
            </a:r>
            <a:r>
              <a:rPr lang="en-US" altLang="zh-CN" dirty="0"/>
              <a:t>: an unsuccessful search for the record to be inserted (two records with the same key are not allowed)</a:t>
            </a:r>
            <a:endParaRPr lang="en-US" altLang="zh-CN" dirty="0"/>
          </a:p>
          <a:p>
            <a:pPr lvl="2"/>
            <a:endParaRPr lang="en-US" altLang="zh-CN" sz="1600" dirty="0"/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Deletion</a:t>
            </a:r>
            <a:r>
              <a:rPr lang="en-US" altLang="zh-CN" dirty="0"/>
              <a:t>: a successful search for the record to be deleted</a:t>
            </a:r>
            <a:endParaRPr lang="en-US" altLang="zh-CN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45CB76C4-1FF8-46BA-9CED-F8B05BBD6227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When the hash table is almost empty,</a:t>
            </a:r>
            <a:endParaRPr lang="en-US" altLang="zh-CN" dirty="0"/>
          </a:p>
          <a:p>
            <a:pPr lvl="1"/>
            <a:r>
              <a:rPr lang="en-US" altLang="zh-CN" dirty="0"/>
              <a:t>The records are very likely to be stored in their home positions</a:t>
            </a:r>
            <a:endParaRPr lang="en-US" altLang="zh-CN" dirty="0"/>
          </a:p>
          <a:p>
            <a:pPr lvl="1"/>
            <a:r>
              <a:rPr lang="en-US" altLang="zh-CN" dirty="0"/>
              <a:t>Both insertion, deletion, and search require only one record access to find a free slot.</a:t>
            </a:r>
            <a:endParaRPr lang="en-US" altLang="zh-CN" dirty="0"/>
          </a:p>
          <a:p>
            <a:r>
              <a:rPr lang="en-US" altLang="zh-CN" dirty="0"/>
              <a:t>When the table is getting full,</a:t>
            </a:r>
            <a:endParaRPr lang="en-US" altLang="zh-CN" dirty="0"/>
          </a:p>
          <a:p>
            <a:pPr lvl="1"/>
            <a:r>
              <a:rPr lang="en-US" altLang="zh-CN" dirty="0"/>
              <a:t>More and more records are likely to be located further from their home position</a:t>
            </a:r>
            <a:endParaRPr lang="zh-CN" altLang="en-US" dirty="0"/>
          </a:p>
          <a:p>
            <a:r>
              <a:rPr lang="en-US" altLang="zh-CN" dirty="0"/>
              <a:t>The expected cost of hashing is a function of how full the table </a:t>
            </a:r>
            <a:r>
              <a:rPr lang="en-US" altLang="zh-CN" dirty="0" smtClean="0"/>
              <a:t>is, i.e. </a:t>
            </a:r>
            <a:r>
              <a:rPr lang="en-US" altLang="zh-CN" dirty="0" smtClean="0">
                <a:solidFill>
                  <a:srgbClr val="263AF8"/>
                </a:solidFill>
              </a:rPr>
              <a:t>f(</a:t>
            </a:r>
            <a:r>
              <a:rPr lang="en-US" altLang="zh-CN" dirty="0">
                <a:solidFill>
                  <a:srgbClr val="263AF8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 smtClean="0">
                <a:solidFill>
                  <a:srgbClr val="263AF8"/>
                </a:solidFill>
              </a:rPr>
              <a:t>)</a:t>
            </a:r>
            <a:endParaRPr lang="zh-CN" altLang="en-US" dirty="0">
              <a:solidFill>
                <a:srgbClr val="263AF8"/>
              </a:solidFill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2830B16-A435-4A08-AB4A-CC4BC503578C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Analysis of </a:t>
            </a:r>
            <a:r>
              <a:rPr lang="en-US" altLang="zh-CN" dirty="0"/>
              <a:t>Open addressing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963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0648" y="2555775"/>
                <a:ext cx="6326981" cy="591936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The </a:t>
                </a:r>
                <a:r>
                  <a:rPr lang="en-US" altLang="zh-CN" dirty="0"/>
                  <a:t>expected number of probes for an insertion</a:t>
                </a:r>
                <a:endParaRPr lang="en-US" altLang="zh-CN" dirty="0"/>
              </a:p>
              <a:p>
                <a:pPr lvl="1"/>
                <a:r>
                  <a:rPr lang="en-US" altLang="zh-CN" dirty="0">
                    <a:solidFill>
                      <a:srgbClr val="263AF8"/>
                    </a:solidFill>
                  </a:rPr>
                  <a:t>Assume</a:t>
                </a:r>
                <a:r>
                  <a:rPr lang="en-US" altLang="zh-CN" dirty="0"/>
                  <a:t> the probe sequence follows a random permutation of the slots, and every slot has </a:t>
                </a:r>
                <a:r>
                  <a:rPr lang="en-US" altLang="zh-CN" dirty="0">
                    <a:solidFill>
                      <a:srgbClr val="263AF8"/>
                    </a:solidFill>
                  </a:rPr>
                  <a:t>equal probability </a:t>
                </a:r>
                <a:r>
                  <a:rPr lang="en-US" altLang="zh-CN" dirty="0"/>
                  <a:t>of being the home slot for </a:t>
                </a:r>
                <a:r>
                  <a:rPr lang="en-US" altLang="zh-CN" dirty="0" smtClean="0"/>
                  <a:t>next </a:t>
                </a:r>
                <a:r>
                  <a:rPr lang="en-US" altLang="zh-CN" dirty="0"/>
                  <a:t>record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The probability of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 collisions is </a:t>
                </a:r>
                <a:endParaRPr lang="en-US" altLang="zh-CN" dirty="0"/>
              </a:p>
              <a:p>
                <a:pPr marL="52006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)⋯(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)⋯(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en-US" altLang="zh-CN" sz="1600" dirty="0"/>
              </a:p>
              <a:p>
                <a:pPr lvl="1"/>
                <a:r>
                  <a:rPr lang="en-US" altLang="zh-CN" dirty="0"/>
                  <a:t>The expected number of probes is </a:t>
                </a:r>
                <a:endParaRPr lang="en-US" altLang="zh-CN" dirty="0"/>
              </a:p>
              <a:p>
                <a:pPr marL="25844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/>
              </a:p>
              <a:p>
                <a:pPr marL="258445" lvl="1" indent="0">
                  <a:buNone/>
                </a:pPr>
                <a:endParaRPr lang="en-US" altLang="zh-CN" dirty="0" smtClean="0"/>
              </a:p>
              <a:p>
                <a:pPr lvl="1"/>
                <a:r>
                  <a:rPr lang="en-US" altLang="zh-CN" sz="2100" dirty="0"/>
                  <a:t>The expected cost of has the same cost as originally inserting that record</a:t>
                </a:r>
                <a:r>
                  <a:rPr lang="en-US" altLang="zh-CN" sz="2100" dirty="0" smtClean="0"/>
                  <a:t>.</a:t>
                </a:r>
                <a:endParaRPr lang="en-US" altLang="zh-CN" sz="2100" dirty="0" smtClean="0"/>
              </a:p>
              <a:p>
                <a:pPr marL="257175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nary>
                        <m:nary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lvl="3"/>
                <a:endParaRPr lang="en-US" altLang="zh-CN" sz="1200" dirty="0"/>
              </a:p>
              <a:p>
                <a:pPr marL="258445" lvl="1" indent="0"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69636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648" y="2555775"/>
                <a:ext cx="6326981" cy="5919361"/>
              </a:xfrm>
              <a:blipFill rotWithShape="1">
                <a:blip r:embed="rId1"/>
                <a:stretch>
                  <a:fillRect l="-5" t="-406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DF4576E-597A-4D22-A47A-52ECC2D7973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Analysis of </a:t>
            </a:r>
            <a:r>
              <a:rPr lang="en-US" altLang="zh-CN" dirty="0"/>
              <a:t>Open addressing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4196954"/>
            <a:ext cx="4617244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63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3591" y="2806230"/>
                <a:ext cx="6569775" cy="330874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000" dirty="0"/>
                  <a:t>The true average cost under linear probing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zh-CN" altLang="en-US" sz="200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for insertions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for deletions</a:t>
                </a:r>
                <a:endParaRPr lang="en-US" altLang="zh-CN" sz="2000" dirty="0"/>
              </a:p>
            </p:txBody>
          </p:sp>
        </mc:Choice>
        <mc:Fallback>
          <p:sp>
            <p:nvSpPr>
              <p:cNvPr id="69636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3591" y="2806230"/>
                <a:ext cx="6569775" cy="3308747"/>
              </a:xfrm>
              <a:blipFill rotWithShape="1">
                <a:blip r:embed="rId2"/>
                <a:stretch>
                  <a:fillRect l="-8" t="-5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1DF4576E-597A-4D22-A47A-52ECC2D79733}" type="slidenum">
              <a:rPr lang="en-US" altLang="zh-CN" smtClean="0"/>
            </a:fld>
            <a:endParaRPr lang="en-US" altLang="zh-CN" smtClean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375422" y="4700588"/>
            <a:ext cx="0" cy="2247900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629278" y="6272511"/>
            <a:ext cx="3618402" cy="97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Analysis of </a:t>
            </a:r>
            <a:r>
              <a:rPr lang="en-US" altLang="zh-CN" dirty="0"/>
              <a:t>Open addressing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Rule of thumb: design a hashing system with the hash table never getting above </a:t>
            </a:r>
            <a:r>
              <a:rPr lang="en-US" altLang="zh-CN" dirty="0">
                <a:solidFill>
                  <a:srgbClr val="263AF8"/>
                </a:solidFill>
              </a:rPr>
              <a:t>half full</a:t>
            </a:r>
            <a:r>
              <a:rPr lang="en-US" altLang="zh-CN" dirty="0"/>
              <a:t>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Reducing the expect cost of access in the face of collision</a:t>
            </a:r>
            <a:endParaRPr lang="en-US" altLang="zh-CN" dirty="0"/>
          </a:p>
          <a:p>
            <a:pPr lvl="1"/>
            <a:r>
              <a:rPr lang="en-US" altLang="zh-CN" dirty="0"/>
              <a:t>If two records hash to the same home position, the record with higher frequency of access should be placed in the home position</a:t>
            </a:r>
            <a:endParaRPr lang="en-US" altLang="zh-CN" dirty="0"/>
          </a:p>
          <a:p>
            <a:pPr lvl="1"/>
            <a:r>
              <a:rPr lang="en-US" altLang="zh-CN" dirty="0"/>
              <a:t>Order records along a probe sequence by their </a:t>
            </a:r>
            <a:r>
              <a:rPr lang="en-US" altLang="zh-CN" dirty="0">
                <a:solidFill>
                  <a:srgbClr val="FF0000"/>
                </a:solidFill>
              </a:rPr>
              <a:t>frequency of access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E0280BCB-1703-43D3-91C5-2EEB9496D7F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Analysis of </a:t>
            </a:r>
            <a:r>
              <a:rPr lang="en-US" altLang="zh-CN" dirty="0"/>
              <a:t>Open addressing 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D048D8C-D07C-4EAE-9B68-58BD5103273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sz="1050" smtClean="0"/>
              <a:t>Hashing - Lecture 5</a:t>
            </a:r>
            <a:endParaRPr lang="en-US" altLang="zh-CN" sz="1050"/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556895" indent="-213995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32455EF-CF79-486A-B6F1-536D99CE28FF}" type="slidenum">
              <a:rPr lang="en-US" altLang="zh-CN" sz="1050"/>
            </a:fld>
            <a:endParaRPr lang="en-US" altLang="zh-CN" sz="105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75" tIns="34288" rIns="68575" bIns="34288" numCol="1" rtlCol="0" anchor="ctr" anchorCtr="0" compatLnSpc="1">
            <a:norm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Caveats</a:t>
            </a:r>
            <a:endParaRPr lang="en-US" altLang="zh-CN" dirty="0" smtClean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wrap="square" lIns="68575" tIns="34288" rIns="68575" bIns="34288" numCol="1" rtlCol="0" anchor="t" anchorCtr="0" compatLnSpc="1">
            <a:normAutofit/>
          </a:bodyPr>
          <a:lstStyle/>
          <a:p>
            <a:r>
              <a:rPr lang="en-US" altLang="zh-CN" dirty="0" smtClean="0">
                <a:ea typeface="宋体" pitchFamily="2" charset="-122"/>
              </a:rPr>
              <a:t>Hash functions are very often the cause of performance bugs.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Hash functions often make the code not portable.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ea typeface="宋体" pitchFamily="2" charset="-122"/>
              </a:rPr>
              <a:t>If a particular hash function behaves badly on your data, then pick another.</a:t>
            </a:r>
            <a:endParaRPr lang="en-US" altLang="zh-CN" dirty="0" smtClean="0">
              <a:ea typeface="宋体" pitchFamily="2" charset="-122"/>
            </a:endParaRPr>
          </a:p>
          <a:p>
            <a:r>
              <a:rPr lang="en-US" altLang="zh-CN" dirty="0" smtClean="0">
                <a:solidFill>
                  <a:srgbClr val="263AF8"/>
                </a:solidFill>
                <a:ea typeface="宋体" pitchFamily="2" charset="-122"/>
              </a:rPr>
              <a:t>Always check where the time goes </a:t>
            </a:r>
            <a:endParaRPr lang="en-US" altLang="zh-CN" dirty="0" smtClean="0">
              <a:solidFill>
                <a:srgbClr val="263AF8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Exercise 1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/>
              <a:t>A 7-slot hash table (numbered 0 through 6)</a:t>
            </a:r>
            <a:endParaRPr lang="en-US" altLang="zh-CN" sz="2100" dirty="0"/>
          </a:p>
          <a:p>
            <a:r>
              <a:rPr lang="en-US" altLang="zh-CN" sz="2100" dirty="0"/>
              <a:t>The hash function h(k) = k mod 7</a:t>
            </a:r>
            <a:endParaRPr lang="en-US" altLang="zh-CN" sz="2100" dirty="0"/>
          </a:p>
          <a:p>
            <a:r>
              <a:rPr lang="en-US" altLang="zh-CN" sz="2100" dirty="0"/>
              <a:t>Linear probing is used to resolve collision</a:t>
            </a:r>
            <a:endParaRPr lang="en-US" altLang="zh-CN" sz="2100" dirty="0"/>
          </a:p>
          <a:p>
            <a:r>
              <a:rPr lang="en-US" altLang="zh-CN" sz="2100" dirty="0"/>
              <a:t>Show the table after inserting 3, 12, 9, 2, 10</a:t>
            </a:r>
            <a:endParaRPr lang="en-US" altLang="zh-CN" sz="2100" dirty="0"/>
          </a:p>
          <a:p>
            <a:endParaRPr lang="zh-CN" alt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980728" y="4644008"/>
          <a:ext cx="1656184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/>
                <a:gridCol w="10081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6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Exercise 1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100" dirty="0"/>
              <a:t>A 7-slot hash table (numbered 0 through 6)</a:t>
            </a:r>
            <a:endParaRPr lang="en-US" altLang="zh-CN" sz="2100" dirty="0"/>
          </a:p>
          <a:p>
            <a:r>
              <a:rPr lang="en-US" altLang="zh-CN" sz="2100" dirty="0"/>
              <a:t>The hash function h(k) = k mod 7</a:t>
            </a:r>
            <a:endParaRPr lang="en-US" altLang="zh-CN" sz="2100" dirty="0"/>
          </a:p>
          <a:p>
            <a:r>
              <a:rPr lang="en-US" altLang="zh-CN" sz="2100" dirty="0"/>
              <a:t>Linear probing is used to resolve collision</a:t>
            </a:r>
            <a:endParaRPr lang="en-US" altLang="zh-CN" sz="2100" dirty="0"/>
          </a:p>
          <a:p>
            <a:r>
              <a:rPr lang="en-US" altLang="zh-CN" sz="2100" dirty="0"/>
              <a:t>Show the table after inserting 3, 12, 9, 2, 10</a:t>
            </a:r>
            <a:endParaRPr lang="en-US" altLang="zh-CN" sz="2100" dirty="0"/>
          </a:p>
          <a:p>
            <a:endParaRPr lang="zh-CN" alt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980728" y="4644008"/>
          <a:ext cx="1656184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/>
                <a:gridCol w="100811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9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3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2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12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263AF8"/>
                          </a:solidFill>
                        </a:rPr>
                        <a:t>6</a:t>
                      </a:r>
                      <a:endParaRPr lang="zh-CN" altLang="en-US" sz="2400" dirty="0">
                        <a:solidFill>
                          <a:srgbClr val="263AF8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/>
                        <a:t>10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924944" y="4580549"/>
            <a:ext cx="346546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h(3) = 3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h(12) = 5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h(9) = 2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h(2) = 2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– collision</a:t>
            </a:r>
            <a:endParaRPr lang="en-US" altLang="zh-CN" dirty="0" smtClean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pos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= </a:t>
            </a:r>
            <a:r>
              <a:rPr lang="en-US" altLang="zh-CN" dirty="0" smtClean="0">
                <a:latin typeface="Sitka Text" panose="02000505000000020004" pitchFamily="2" charset="0"/>
              </a:rPr>
              <a:t>(h(2</a:t>
            </a:r>
            <a:r>
              <a:rPr lang="en-US" altLang="zh-CN" dirty="0">
                <a:latin typeface="Sitka Text" panose="02000505000000020004" pitchFamily="2" charset="0"/>
              </a:rPr>
              <a:t>) </a:t>
            </a:r>
            <a:r>
              <a:rPr lang="en-US" altLang="zh-CN" dirty="0" smtClean="0">
                <a:latin typeface="Sitka Text" panose="02000505000000020004" pitchFamily="2" charset="0"/>
              </a:rPr>
              <a:t>+ 1) mod 7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 = 3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collision</a:t>
            </a:r>
            <a:endParaRPr lang="en-US" altLang="zh-CN" dirty="0" smtClean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solidFill>
                  <a:srgbClr val="FF0000"/>
                </a:solidFill>
                <a:latin typeface="Sitka Text" panose="02000505000000020004" pitchFamily="2" charset="0"/>
              </a:rPr>
              <a:t>pos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 = </a:t>
            </a:r>
            <a:r>
              <a:rPr lang="en-US" altLang="zh-CN" dirty="0">
                <a:latin typeface="Sitka Text" panose="02000505000000020004" pitchFamily="2" charset="0"/>
              </a:rPr>
              <a:t>(h(2) + </a:t>
            </a:r>
            <a:r>
              <a:rPr lang="en-US" altLang="zh-CN" dirty="0" smtClean="0">
                <a:latin typeface="Sitka Text" panose="02000505000000020004" pitchFamily="2" charset="0"/>
              </a:rPr>
              <a:t>2) </a:t>
            </a:r>
            <a:r>
              <a:rPr lang="en-US" altLang="zh-CN" dirty="0">
                <a:latin typeface="Sitka Text" panose="02000505000000020004" pitchFamily="2" charset="0"/>
              </a:rPr>
              <a:t>mod 7 </a:t>
            </a:r>
            <a:r>
              <a:rPr lang="en-US" altLang="zh-CN" dirty="0" smtClean="0">
                <a:latin typeface="Sitka Text" panose="02000505000000020004" pitchFamily="2" charset="0"/>
              </a:rPr>
              <a:t>= 4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h(10) = 3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</a:t>
            </a:r>
            <a:r>
              <a:rPr lang="en-US" altLang="zh-CN" dirty="0" smtClean="0">
                <a:solidFill>
                  <a:srgbClr val="FF0000"/>
                </a:solidFill>
                <a:latin typeface="Sitka Text" panose="02000505000000020004" pitchFamily="2" charset="0"/>
              </a:rPr>
              <a:t>collision</a:t>
            </a:r>
            <a:endParaRPr lang="en-US" altLang="zh-CN" dirty="0" smtClean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= (</a:t>
            </a:r>
            <a:r>
              <a:rPr lang="en-US" altLang="zh-CN" dirty="0" smtClean="0">
                <a:latin typeface="Sitka Text" panose="02000505000000020004" pitchFamily="2" charset="0"/>
              </a:rPr>
              <a:t>h(10) </a:t>
            </a:r>
            <a:r>
              <a:rPr lang="en-US" altLang="zh-CN" dirty="0">
                <a:latin typeface="Sitka Text" panose="02000505000000020004" pitchFamily="2" charset="0"/>
              </a:rPr>
              <a:t>+ 1) mod </a:t>
            </a:r>
            <a:r>
              <a:rPr lang="en-US" altLang="zh-CN" dirty="0" smtClean="0">
                <a:latin typeface="Sitka Text" panose="02000505000000020004" pitchFamily="2" charset="0"/>
              </a:rPr>
              <a:t>7 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     = </a:t>
            </a:r>
            <a:r>
              <a:rPr lang="en-US" altLang="zh-CN" dirty="0" smtClean="0">
                <a:latin typeface="Sitka Text" panose="02000505000000020004" pitchFamily="2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collision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   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= (</a:t>
            </a:r>
            <a:r>
              <a:rPr lang="en-US" altLang="zh-CN" dirty="0" smtClean="0">
                <a:latin typeface="Sitka Text" panose="02000505000000020004" pitchFamily="2" charset="0"/>
              </a:rPr>
              <a:t>h(10) </a:t>
            </a:r>
            <a:r>
              <a:rPr lang="en-US" altLang="zh-CN" dirty="0">
                <a:latin typeface="Sitka Text" panose="02000505000000020004" pitchFamily="2" charset="0"/>
              </a:rPr>
              <a:t>+ 2) mod 7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 = 5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collision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>
                <a:latin typeface="Sitka Text" panose="02000505000000020004" pitchFamily="2" charset="0"/>
              </a:rPr>
              <a:t>pos</a:t>
            </a:r>
            <a:r>
              <a:rPr lang="en-US" altLang="zh-CN" dirty="0">
                <a:latin typeface="Sitka Text" panose="02000505000000020004" pitchFamily="2" charset="0"/>
              </a:rPr>
              <a:t> = (h(10) + </a:t>
            </a:r>
            <a:r>
              <a:rPr lang="en-US" altLang="zh-CN" dirty="0" smtClean="0">
                <a:latin typeface="Sitka Text" panose="02000505000000020004" pitchFamily="2" charset="0"/>
              </a:rPr>
              <a:t>3) </a:t>
            </a:r>
            <a:r>
              <a:rPr lang="en-US" altLang="zh-CN" dirty="0">
                <a:latin typeface="Sitka Text" panose="02000505000000020004" pitchFamily="2" charset="0"/>
              </a:rPr>
              <a:t>mod 7 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          = </a:t>
            </a:r>
            <a:r>
              <a:rPr lang="en-US" altLang="zh-CN" dirty="0" smtClean="0">
                <a:latin typeface="Sitka Text" panose="02000505000000020004" pitchFamily="2" charset="0"/>
              </a:rPr>
              <a:t>6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1979712"/>
            <a:ext cx="5915025" cy="5801783"/>
          </a:xfrm>
        </p:spPr>
        <p:txBody>
          <a:bodyPr/>
          <a:lstStyle/>
          <a:p>
            <a:r>
              <a:rPr lang="en-US" altLang="zh-CN" sz="2100" dirty="0"/>
              <a:t>A hash table with 13 slots (numbered 0 through 12</a:t>
            </a:r>
            <a:r>
              <a:rPr lang="en-US" altLang="zh-CN" sz="2100" dirty="0" smtClean="0"/>
              <a:t>), use open </a:t>
            </a:r>
            <a:r>
              <a:rPr lang="en-US" altLang="zh-CN" sz="2100" dirty="0" err="1" smtClean="0"/>
              <a:t>adrressing</a:t>
            </a:r>
            <a:r>
              <a:rPr lang="en-US" altLang="zh-CN" sz="2100" dirty="0" smtClean="0"/>
              <a:t> </a:t>
            </a:r>
            <a:r>
              <a:rPr lang="en-US" altLang="zh-CN" sz="2100" dirty="0"/>
              <a:t>hashing with </a:t>
            </a:r>
            <a:r>
              <a:rPr lang="en-US" altLang="zh-CN" sz="2100" dirty="0">
                <a:solidFill>
                  <a:srgbClr val="263AF8"/>
                </a:solidFill>
              </a:rPr>
              <a:t>double hashing</a:t>
            </a:r>
            <a:r>
              <a:rPr lang="en-US" altLang="zh-CN" sz="2100" dirty="0"/>
              <a:t> to resolve collision</a:t>
            </a:r>
            <a:endParaRPr lang="en-US" altLang="zh-CN" sz="2100" dirty="0"/>
          </a:p>
          <a:p>
            <a:r>
              <a:rPr lang="en-US" altLang="zh-CN" sz="2100" dirty="0"/>
              <a:t>The hash functions are</a:t>
            </a:r>
            <a:br>
              <a:rPr lang="en-US" altLang="zh-CN" sz="2100" dirty="0"/>
            </a:br>
            <a:r>
              <a:rPr lang="en-US" altLang="zh-CN" sz="2100" dirty="0"/>
              <a:t>H1(k) = k mod 13 </a:t>
            </a:r>
            <a:br>
              <a:rPr lang="en-US" altLang="zh-CN" sz="2100" dirty="0"/>
            </a:br>
            <a:r>
              <a:rPr lang="en-US" altLang="zh-CN" sz="2100" dirty="0"/>
              <a:t>H2(k) = (k+1) mod 11</a:t>
            </a:r>
            <a:endParaRPr lang="en-US" altLang="zh-CN" sz="2100" dirty="0"/>
          </a:p>
          <a:p>
            <a:r>
              <a:rPr lang="en-US" altLang="zh-CN" sz="2100" dirty="0"/>
              <a:t>Show the table after inserting 2, 8, 31, 20, 19, 18, 53, 26</a:t>
            </a:r>
            <a:endParaRPr lang="en-US" altLang="zh-CN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Exercise 2</a:t>
            </a:r>
            <a:endParaRPr lang="zh-CN" altLang="en-US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/>
        </p:nvGraphicFramePr>
        <p:xfrm>
          <a:off x="461658" y="4650058"/>
          <a:ext cx="1367898" cy="4061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028"/>
                <a:gridCol w="930870"/>
              </a:tblGrid>
              <a:tr h="294640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2420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9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10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11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12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1979712"/>
            <a:ext cx="5915025" cy="5801783"/>
          </a:xfrm>
        </p:spPr>
        <p:txBody>
          <a:bodyPr/>
          <a:lstStyle/>
          <a:p>
            <a:r>
              <a:rPr lang="en-US" altLang="zh-CN" sz="2100" dirty="0"/>
              <a:t>A hash table with 13 slots (numbered 0 through 12</a:t>
            </a:r>
            <a:r>
              <a:rPr lang="en-US" altLang="zh-CN" sz="2100" dirty="0" smtClean="0"/>
              <a:t>), use open </a:t>
            </a:r>
            <a:r>
              <a:rPr lang="en-US" altLang="zh-CN" sz="2100" dirty="0" err="1" smtClean="0"/>
              <a:t>adrressing</a:t>
            </a:r>
            <a:r>
              <a:rPr lang="en-US" altLang="zh-CN" sz="2100" dirty="0" smtClean="0"/>
              <a:t> </a:t>
            </a:r>
            <a:r>
              <a:rPr lang="en-US" altLang="zh-CN" sz="2100" dirty="0"/>
              <a:t>hashing with </a:t>
            </a:r>
            <a:r>
              <a:rPr lang="en-US" altLang="zh-CN" sz="2100" dirty="0">
                <a:solidFill>
                  <a:srgbClr val="263AF8"/>
                </a:solidFill>
              </a:rPr>
              <a:t>double hashing</a:t>
            </a:r>
            <a:r>
              <a:rPr lang="en-US" altLang="zh-CN" sz="2100" dirty="0"/>
              <a:t> to resolve collision</a:t>
            </a:r>
            <a:endParaRPr lang="en-US" altLang="zh-CN" sz="2100" dirty="0"/>
          </a:p>
          <a:p>
            <a:r>
              <a:rPr lang="en-US" altLang="zh-CN" sz="2100" dirty="0"/>
              <a:t>The hash functions are</a:t>
            </a:r>
            <a:br>
              <a:rPr lang="en-US" altLang="zh-CN" sz="2100" dirty="0"/>
            </a:br>
            <a:r>
              <a:rPr lang="en-US" altLang="zh-CN" sz="2100" dirty="0"/>
              <a:t>H1(k) = k mod 13 </a:t>
            </a:r>
            <a:br>
              <a:rPr lang="en-US" altLang="zh-CN" sz="2100" dirty="0"/>
            </a:br>
            <a:r>
              <a:rPr lang="en-US" altLang="zh-CN" sz="2100" dirty="0"/>
              <a:t>H2(k) = (k+1) mod 11</a:t>
            </a:r>
            <a:endParaRPr lang="en-US" altLang="zh-CN" sz="2100" dirty="0"/>
          </a:p>
          <a:p>
            <a:r>
              <a:rPr lang="en-US" altLang="zh-CN" sz="2100" dirty="0"/>
              <a:t>Show the table after inserting 2, 8, 31, 20, 19, 18, 53, 26</a:t>
            </a:r>
            <a:endParaRPr lang="en-US" altLang="zh-CN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C2E3AC-EF8F-48BC-A508-72641A6DAD5C}" type="slidenum">
              <a:rPr lang="en-US" altLang="zh-CN" smtClean="0"/>
            </a:fld>
            <a:endParaRPr lang="en-US" altLang="zh-C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</p:spPr>
        <p:txBody>
          <a:bodyPr/>
          <a:lstStyle/>
          <a:p>
            <a:r>
              <a:rPr lang="en-US" altLang="zh-CN" dirty="0" smtClean="0"/>
              <a:t>Exercise 2</a:t>
            </a:r>
            <a:endParaRPr lang="zh-CN" altLang="en-US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/>
        </p:nvGraphicFramePr>
        <p:xfrm>
          <a:off x="461658" y="4650058"/>
          <a:ext cx="1367898" cy="4061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028"/>
                <a:gridCol w="930870"/>
              </a:tblGrid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18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53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31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19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20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9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10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26</a:t>
                      </a:r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11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0169">
                <a:tc>
                  <a:txBody>
                    <a:bodyPr/>
                    <a:lstStyle/>
                    <a:p>
                      <a:r>
                        <a:rPr lang="en-US" altLang="zh-CN" sz="1600" dirty="0" smtClean="0">
                          <a:solidFill>
                            <a:srgbClr val="263AF8"/>
                          </a:solidFill>
                        </a:rPr>
                        <a:t>12</a:t>
                      </a:r>
                      <a:endParaRPr lang="zh-CN" altLang="en-US" sz="1600" dirty="0">
                        <a:solidFill>
                          <a:srgbClr val="263AF8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73666" y="4697380"/>
            <a:ext cx="49117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Sitka Text" panose="02000505000000020004" pitchFamily="2" charset="0"/>
              </a:rPr>
              <a:t>H1(2) = 2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H1(8</a:t>
            </a:r>
            <a:r>
              <a:rPr lang="en-US" altLang="zh-CN" dirty="0">
                <a:latin typeface="Sitka Text" panose="02000505000000020004" pitchFamily="2" charset="0"/>
              </a:rPr>
              <a:t>) </a:t>
            </a:r>
            <a:r>
              <a:rPr lang="en-US" altLang="zh-CN" dirty="0" smtClean="0">
                <a:latin typeface="Sitka Text" panose="02000505000000020004" pitchFamily="2" charset="0"/>
              </a:rPr>
              <a:t>= 8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H1(31) = 5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H1(20) = 7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H1(19) = 6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H1(18) </a:t>
            </a:r>
            <a:r>
              <a:rPr lang="en-US" altLang="zh-CN" dirty="0">
                <a:latin typeface="Sitka Text" panose="02000505000000020004" pitchFamily="2" charset="0"/>
              </a:rPr>
              <a:t>= 5 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- collision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 </a:t>
            </a:r>
            <a:r>
              <a:rPr lang="en-US" altLang="zh-CN" dirty="0" err="1" smtClean="0">
                <a:latin typeface="Sitka Text" panose="02000505000000020004" pitchFamily="2" charset="0"/>
              </a:rPr>
              <a:t>Pos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= (home + 1*H2(18))%13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 = </a:t>
            </a:r>
            <a:r>
              <a:rPr lang="en-US" altLang="zh-CN" dirty="0">
                <a:latin typeface="Sitka Text" panose="02000505000000020004" pitchFamily="2" charset="0"/>
              </a:rPr>
              <a:t>(5+8) % 13 = </a:t>
            </a:r>
            <a:r>
              <a:rPr lang="en-US" altLang="zh-CN" dirty="0" smtClean="0">
                <a:latin typeface="Sitka Text" panose="02000505000000020004" pitchFamily="2" charset="0"/>
              </a:rPr>
              <a:t>0</a:t>
            </a:r>
            <a:endParaRPr lang="en-US" altLang="zh-CN" sz="1050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H1(53) = </a:t>
            </a:r>
            <a:r>
              <a:rPr lang="en-US" altLang="zh-CN" dirty="0" smtClean="0">
                <a:latin typeface="Sitka Text" panose="02000505000000020004" pitchFamily="2" charset="0"/>
              </a:rPr>
              <a:t>1</a:t>
            </a:r>
            <a:endParaRPr lang="en-US" altLang="zh-CN" sz="900" dirty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H1(26) = 0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collision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latin typeface="Sitka Text" panose="02000505000000020004" pitchFamily="2" charset="0"/>
              </a:rPr>
              <a:t>Pos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= (home + 1*H2(26)) % 13 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= </a:t>
            </a:r>
            <a:r>
              <a:rPr lang="en-US" altLang="zh-CN" dirty="0">
                <a:latin typeface="Sitka Text" panose="02000505000000020004" pitchFamily="2" charset="0"/>
              </a:rPr>
              <a:t>(0 + 5) % 13 = </a:t>
            </a:r>
            <a:r>
              <a:rPr lang="en-US" altLang="zh-CN" dirty="0" smtClean="0">
                <a:latin typeface="Sitka Text" panose="02000505000000020004" pitchFamily="2" charset="0"/>
              </a:rPr>
              <a:t>5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– collision</a:t>
            </a:r>
            <a:endParaRPr lang="en-US" altLang="zh-CN" dirty="0">
              <a:latin typeface="Sitka Text" panose="02000505000000020004" pitchFamily="2" charset="0"/>
            </a:endParaRPr>
          </a:p>
          <a:p>
            <a:r>
              <a:rPr lang="en-US" altLang="zh-CN" dirty="0" smtClean="0">
                <a:latin typeface="Sitka Text" panose="02000505000000020004" pitchFamily="2" charset="0"/>
              </a:rPr>
              <a:t>   </a:t>
            </a:r>
            <a:r>
              <a:rPr lang="en-US" altLang="zh-CN" dirty="0" err="1" smtClean="0">
                <a:latin typeface="Sitka Text" panose="02000505000000020004" pitchFamily="2" charset="0"/>
              </a:rPr>
              <a:t>Pos</a:t>
            </a:r>
            <a:r>
              <a:rPr lang="en-US" altLang="zh-CN" dirty="0" smtClean="0">
                <a:latin typeface="Sitka Text" panose="02000505000000020004" pitchFamily="2" charset="0"/>
              </a:rPr>
              <a:t> </a:t>
            </a:r>
            <a:r>
              <a:rPr lang="en-US" altLang="zh-CN" dirty="0">
                <a:latin typeface="Sitka Text" panose="02000505000000020004" pitchFamily="2" charset="0"/>
              </a:rPr>
              <a:t>= (home + 2*H2(26)) % 13  </a:t>
            </a:r>
            <a:endParaRPr lang="en-US" altLang="zh-CN" dirty="0" smtClean="0">
              <a:latin typeface="Sitka Text" panose="02000505000000020004" pitchFamily="2" charset="0"/>
            </a:endParaRPr>
          </a:p>
          <a:p>
            <a:r>
              <a:rPr lang="en-US" altLang="zh-CN" dirty="0">
                <a:latin typeface="Sitka Text" panose="02000505000000020004" pitchFamily="2" charset="0"/>
              </a:rPr>
              <a:t> </a:t>
            </a:r>
            <a:r>
              <a:rPr lang="en-US" altLang="zh-CN" dirty="0" smtClean="0">
                <a:latin typeface="Sitka Text" panose="02000505000000020004" pitchFamily="2" charset="0"/>
              </a:rPr>
              <a:t>         = </a:t>
            </a:r>
            <a:r>
              <a:rPr lang="en-US" altLang="zh-CN" dirty="0">
                <a:latin typeface="Sitka Text" panose="02000505000000020004" pitchFamily="2" charset="0"/>
              </a:rPr>
              <a:t>(0 + 10) % 13 = 10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Self-study:textbook</a:t>
            </a:r>
            <a:r>
              <a:rPr lang="en-US" altLang="zh-CN" dirty="0" smtClean="0"/>
              <a:t> 5.6~5.9</a:t>
            </a:r>
            <a:endParaRPr lang="en-US" altLang="zh-CN" dirty="0" smtClean="0"/>
          </a:p>
          <a:p>
            <a:r>
              <a:rPr lang="en-US" altLang="zh-CN" dirty="0" smtClean="0"/>
              <a:t>Exercise 5.1, 5.8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9E3BC7-9A48-4D86-995B-B0D1706543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Hashing - Lecture 5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23242</Words>
  <Application>WPS 文字</Application>
  <PresentationFormat>全屏显示(4:3)</PresentationFormat>
  <Paragraphs>1505</Paragraphs>
  <Slides>73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73</vt:i4>
      </vt:variant>
    </vt:vector>
  </HeadingPairs>
  <TitlesOfParts>
    <vt:vector size="105" baseType="lpstr">
      <vt:lpstr>Arial</vt:lpstr>
      <vt:lpstr>宋体</vt:lpstr>
      <vt:lpstr>Wingdings</vt:lpstr>
      <vt:lpstr>Sitka Small</vt:lpstr>
      <vt:lpstr>苹方-简</vt:lpstr>
      <vt:lpstr>Times New Roman</vt:lpstr>
      <vt:lpstr>Wingdings 2</vt:lpstr>
      <vt:lpstr>Sitka Text</vt:lpstr>
      <vt:lpstr>宋体</vt:lpstr>
      <vt:lpstr>宋体-简</vt:lpstr>
      <vt:lpstr>Cambria Math</vt:lpstr>
      <vt:lpstr>Kingsoft Math</vt:lpstr>
      <vt:lpstr>DejaVu Math TeX Gyre</vt:lpstr>
      <vt:lpstr>微软雅黑</vt:lpstr>
      <vt:lpstr>汉仪旗黑</vt:lpstr>
      <vt:lpstr>宋体</vt:lpstr>
      <vt:lpstr>Arial Unicode MS</vt:lpstr>
      <vt:lpstr>Calibri</vt:lpstr>
      <vt:lpstr>Helvetica Neue</vt:lpstr>
      <vt:lpstr>等线</vt:lpstr>
      <vt:lpstr>Sitka Heading</vt:lpstr>
      <vt:lpstr>Courier New</vt:lpstr>
      <vt:lpstr>Arial Bold Italic</vt:lpstr>
      <vt:lpstr>Symbol</vt:lpstr>
      <vt:lpstr>Kingsoft Sign</vt:lpstr>
      <vt:lpstr>r_symbol</vt:lpstr>
      <vt:lpstr>华文仿宋</vt:lpstr>
      <vt:lpstr>Thonburi</vt:lpstr>
      <vt:lpstr>Calibri Light</vt:lpstr>
      <vt:lpstr>HDOfficeLightV0</vt:lpstr>
      <vt:lpstr>Equation.3</vt:lpstr>
      <vt:lpstr>Equation.3</vt:lpstr>
      <vt:lpstr>Data Structures Hashing</vt:lpstr>
      <vt:lpstr>Content</vt:lpstr>
      <vt:lpstr>Searching</vt:lpstr>
      <vt:lpstr>Searching</vt:lpstr>
      <vt:lpstr>Searching</vt:lpstr>
      <vt:lpstr>Searching Unsorted Arrays</vt:lpstr>
      <vt:lpstr>Searching Sorted Arrays</vt:lpstr>
      <vt:lpstr>Searching Sorted Arrays</vt:lpstr>
      <vt:lpstr>Self-Organizing Lists</vt:lpstr>
      <vt:lpstr>Self-Organizing Lists </vt:lpstr>
      <vt:lpstr>Self-Organizing Lists </vt:lpstr>
      <vt:lpstr>Readings</vt:lpstr>
      <vt:lpstr>The Need for Speed</vt:lpstr>
      <vt:lpstr>Fewer Functions Faster</vt:lpstr>
      <vt:lpstr>Limited Set of Hash Operations</vt:lpstr>
      <vt:lpstr>Direct Address Tables</vt:lpstr>
      <vt:lpstr>Direct Access Table</vt:lpstr>
      <vt:lpstr>Direct Address Implementation</vt:lpstr>
      <vt:lpstr>An Issue</vt:lpstr>
      <vt:lpstr>Mapping the Keys</vt:lpstr>
      <vt:lpstr>Hashing Schemes</vt:lpstr>
      <vt:lpstr>“Find”  an Element in an Array</vt:lpstr>
      <vt:lpstr>Go Directly to the Element</vt:lpstr>
      <vt:lpstr>Indexing into Hash Table</vt:lpstr>
      <vt:lpstr>Choosing the Hash Function</vt:lpstr>
      <vt:lpstr>The Key Values are Important</vt:lpstr>
      <vt:lpstr>Simple Hashes</vt:lpstr>
      <vt:lpstr>Example of a Very Simple Mapping</vt:lpstr>
      <vt:lpstr>Perfect Hashing</vt:lpstr>
      <vt:lpstr>Mod Hash Function</vt:lpstr>
      <vt:lpstr>Modulo Mapping</vt:lpstr>
      <vt:lpstr>Hashing Integers</vt:lpstr>
      <vt:lpstr>Hash Functions (III)</vt:lpstr>
      <vt:lpstr>Nonnumerical Keys</vt:lpstr>
      <vt:lpstr>Characters to Integers</vt:lpstr>
      <vt:lpstr>Hash Must be Onto Table</vt:lpstr>
      <vt:lpstr>Problems with Adding Characters</vt:lpstr>
      <vt:lpstr>Characters as Integers</vt:lpstr>
      <vt:lpstr>Collisions</vt:lpstr>
      <vt:lpstr>Collision Resolution</vt:lpstr>
      <vt:lpstr>Resolution by Chaining</vt:lpstr>
      <vt:lpstr>Why Lists?</vt:lpstr>
      <vt:lpstr>Load Factor of a Hash Table</vt:lpstr>
      <vt:lpstr>Resolution by Open Addressing</vt:lpstr>
      <vt:lpstr>Cell Full?  Keep Looking.</vt:lpstr>
      <vt:lpstr>Linear Probing</vt:lpstr>
      <vt:lpstr>Primary Clustering Problem</vt:lpstr>
      <vt:lpstr>Primary Clustering Problem</vt:lpstr>
      <vt:lpstr>Improved Collision Resolution</vt:lpstr>
      <vt:lpstr>Improved Collision Resolution</vt:lpstr>
      <vt:lpstr>Improved Collision Resolution</vt:lpstr>
      <vt:lpstr>Improved Collision Resolution</vt:lpstr>
      <vt:lpstr>Quadratic Probing</vt:lpstr>
      <vt:lpstr>Quadratic Probing</vt:lpstr>
      <vt:lpstr>Quadratic Probing</vt:lpstr>
      <vt:lpstr>Double Hashing</vt:lpstr>
      <vt:lpstr>Double Hashing</vt:lpstr>
      <vt:lpstr>Rules of Thumb</vt:lpstr>
      <vt:lpstr>Rehashing – Rebuild the Table</vt:lpstr>
      <vt:lpstr>Rehashing</vt:lpstr>
      <vt:lpstr>Rehashing Example</vt:lpstr>
      <vt:lpstr>Rehashing</vt:lpstr>
      <vt:lpstr>Analysis of Open addressing </vt:lpstr>
      <vt:lpstr>Analysis of Open addressing </vt:lpstr>
      <vt:lpstr>Analysis of Open addressing </vt:lpstr>
      <vt:lpstr>Analysis of Open addressing </vt:lpstr>
      <vt:lpstr>Analysis of Open addressing </vt:lpstr>
      <vt:lpstr>Caveats</vt:lpstr>
      <vt:lpstr>Exercise 1</vt:lpstr>
      <vt:lpstr>Exercise 1</vt:lpstr>
      <vt:lpstr>Exercise 2</vt:lpstr>
      <vt:lpstr>Exercise 2</vt:lpstr>
      <vt:lpstr>Homework 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JXWang</cp:lastModifiedBy>
  <cp:revision>845</cp:revision>
  <dcterms:created xsi:type="dcterms:W3CDTF">2025-04-25T00:12:36Z</dcterms:created>
  <dcterms:modified xsi:type="dcterms:W3CDTF">2025-04-25T00:12:36Z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52864334AF56E6C92E520A689CC1262C_42</vt:lpwstr>
  </property>
</Properties>
</file>