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1"/>
  </p:handoutMasterIdLst>
  <p:sldIdLst>
    <p:sldId id="979" r:id="rId3"/>
    <p:sldId id="812" r:id="rId5"/>
    <p:sldId id="934" r:id="rId6"/>
    <p:sldId id="887" r:id="rId7"/>
    <p:sldId id="888" r:id="rId8"/>
    <p:sldId id="889" r:id="rId9"/>
    <p:sldId id="936" r:id="rId10"/>
    <p:sldId id="937" r:id="rId11"/>
    <p:sldId id="938" r:id="rId12"/>
    <p:sldId id="940" r:id="rId13"/>
    <p:sldId id="941" r:id="rId14"/>
    <p:sldId id="943" r:id="rId15"/>
    <p:sldId id="980" r:id="rId16"/>
    <p:sldId id="945" r:id="rId17"/>
    <p:sldId id="935" r:id="rId18"/>
    <p:sldId id="891" r:id="rId19"/>
    <p:sldId id="892" r:id="rId20"/>
    <p:sldId id="893" r:id="rId21"/>
    <p:sldId id="894" r:id="rId22"/>
    <p:sldId id="895" r:id="rId23"/>
    <p:sldId id="896" r:id="rId24"/>
    <p:sldId id="897" r:id="rId25"/>
    <p:sldId id="898" r:id="rId26"/>
    <p:sldId id="899" r:id="rId27"/>
    <p:sldId id="946" r:id="rId28"/>
    <p:sldId id="902" r:id="rId29"/>
    <p:sldId id="903" r:id="rId30"/>
    <p:sldId id="948" r:id="rId31"/>
    <p:sldId id="947" r:id="rId32"/>
    <p:sldId id="904" r:id="rId33"/>
    <p:sldId id="949" r:id="rId34"/>
    <p:sldId id="950" r:id="rId35"/>
    <p:sldId id="906" r:id="rId36"/>
    <p:sldId id="907" r:id="rId37"/>
    <p:sldId id="951" r:id="rId38"/>
    <p:sldId id="952" r:id="rId39"/>
    <p:sldId id="910" r:id="rId40"/>
    <p:sldId id="953" r:id="rId41"/>
    <p:sldId id="912" r:id="rId42"/>
    <p:sldId id="954" r:id="rId43"/>
    <p:sldId id="955" r:id="rId44"/>
    <p:sldId id="956" r:id="rId45"/>
    <p:sldId id="916" r:id="rId46"/>
    <p:sldId id="917" r:id="rId47"/>
    <p:sldId id="957" r:id="rId48"/>
    <p:sldId id="919" r:id="rId49"/>
    <p:sldId id="958" r:id="rId50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-A230" initials="P" lastIdx="1" clrIdx="0"/>
  <p:cmAuthor id="2" name="jiexin" initials="j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263AF8"/>
    <a:srgbClr val="008000"/>
    <a:srgbClr val="CC0000"/>
    <a:srgbClr val="339966"/>
    <a:srgbClr val="B545B5"/>
    <a:srgbClr val="3A3AB9"/>
    <a:srgbClr val="5252D4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29" autoAdjust="0"/>
  </p:normalViewPr>
  <p:slideViewPr>
    <p:cSldViewPr showGuides="1">
      <p:cViewPr varScale="1">
        <p:scale>
          <a:sx n="85" d="100"/>
          <a:sy n="85" d="100"/>
        </p:scale>
        <p:origin x="2868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commentAuthors" Target="commentAuthors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F9D201F-8FE8-4ABE-B5E1-44447EA8E256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5EEBF67-0B98-4763-90ED-AA737ACDF8C7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D242EB4-5995-40A1-8186-EB382286DB8A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1700" y="695325"/>
            <a:ext cx="2590800" cy="3452813"/>
          </a:xfrm>
          <a:ln w="12700" cap="flat"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8325"/>
            <a:ext cx="5083175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8D7CBB1-3031-4667-830C-18A3C912BF03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1700" y="695325"/>
            <a:ext cx="2590800" cy="3452813"/>
          </a:xfrm>
          <a:ln w="12700" cap="flat"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8325"/>
            <a:ext cx="5083175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2350ECA-36E0-4F19-9C80-A8CF53B57E4E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1700" y="695325"/>
            <a:ext cx="2590800" cy="3452813"/>
          </a:xfrm>
          <a:ln w="12700" cap="flat"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8325"/>
            <a:ext cx="5083175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2350ECA-36E0-4F19-9C80-A8CF53B57E4E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1700" y="695325"/>
            <a:ext cx="2590800" cy="3452813"/>
          </a:xfrm>
          <a:ln w="12700" cap="flat"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8325"/>
            <a:ext cx="5083175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2350ECA-36E0-4F19-9C80-A8CF53B57E4E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1700" y="695325"/>
            <a:ext cx="2590800" cy="3452813"/>
          </a:xfrm>
          <a:ln w="12700" cap="flat"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8325"/>
            <a:ext cx="5083175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D4E9CEB-E369-4FD6-8625-1B1A4A82EDE3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1700" y="695325"/>
            <a:ext cx="2590800" cy="3452813"/>
          </a:xfrm>
          <a:ln w="12700" cap="flat"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8325"/>
            <a:ext cx="5083175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D4E9CEB-E369-4FD6-8625-1B1A4A82EDE3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1700" y="695325"/>
            <a:ext cx="2590800" cy="3452813"/>
          </a:xfrm>
          <a:ln w="12700" cap="flat"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8325"/>
            <a:ext cx="5083175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839A783-0AB3-4D5A-A8F4-B6C021E20D96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1700" y="695325"/>
            <a:ext cx="2590800" cy="3452813"/>
          </a:xfrm>
          <a:ln w="12700" cap="flat"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8325"/>
            <a:ext cx="5083175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0E98FA-6FA0-4C8D-9238-914DDA51A74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B2CFDD-659B-445E-BDBF-5DD9FB34345A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6F6BBC-CE47-438E-86EC-E1FC9F39501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10F0D4-E3B9-494F-B1C7-2310B8A317AA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C01912-E462-434A-B156-CE3B109979F6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2D3645-889C-4FCB-9C48-B07911D4474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599AC8-843E-485B-BA75-D3D99E8CFC8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0BB690-4185-44D5-81EB-11E6887D7BA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CB9CEF-DB12-49A6-A0C3-DDC824B2E6A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D9D14A-6AC5-4F6E-BE32-8229A4962C6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B80681A3-78BD-4324-82C3-C49F946D5E4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472" y="3147893"/>
            <a:ext cx="5143500" cy="1082278"/>
          </a:xfrm>
        </p:spPr>
        <p:txBody>
          <a:bodyPr/>
          <a:p>
            <a:r>
              <a:rPr lang="en-US" altLang="zh-CN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Structures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416266"/>
            <a:ext cx="5143500" cy="1420892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sz="28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sz="2800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sz="2800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1302561-C1CC-4B6C-AC73-62F45EE101AF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9EA7791-8905-46EB-8A89-C4DA7D501A12}" type="slidenum">
              <a:rPr lang="en-US" altLang="zh-CN" sz="1050"/>
            </a:fld>
            <a:endParaRPr lang="en-US" altLang="zh-CN" sz="105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Contents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sz="3200" dirty="0">
                <a:ea typeface="宋体" pitchFamily="2" charset="-122"/>
              </a:rPr>
              <a:t>Definitions of tree</a:t>
            </a:r>
            <a:endParaRPr lang="en-US" altLang="zh-CN" sz="3200" dirty="0">
              <a:ea typeface="宋体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sz="3200" dirty="0" smtClean="0">
                <a:ea typeface="宋体" pitchFamily="2" charset="-122"/>
              </a:rPr>
              <a:t>Binary tree</a:t>
            </a:r>
            <a:endParaRPr lang="en-US" altLang="zh-CN" sz="3200" dirty="0" smtClean="0">
              <a:ea typeface="宋体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sz="3200" dirty="0" smtClean="0">
                <a:ea typeface="宋体" pitchFamily="2" charset="-122"/>
              </a:rPr>
              <a:t>AVL tree</a:t>
            </a:r>
            <a:endParaRPr lang="en-US" altLang="zh-CN" sz="3200" dirty="0" smtClean="0">
              <a:ea typeface="宋体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Splay tree</a:t>
            </a:r>
            <a:endParaRPr lang="en-US" altLang="zh-CN" sz="32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sz="3200" dirty="0" smtClean="0">
                <a:ea typeface="宋体" pitchFamily="2" charset="-122"/>
              </a:rPr>
              <a:t>B-tree</a:t>
            </a:r>
            <a:endParaRPr lang="en-US" altLang="zh-CN" sz="3200" dirty="0" smtClean="0">
              <a:ea typeface="宋体" pitchFamily="2" charset="-122"/>
            </a:endParaRPr>
          </a:p>
          <a:p>
            <a:pPr lvl="1">
              <a:spcBef>
                <a:spcPts val="395"/>
              </a:spcBef>
              <a:spcAft>
                <a:spcPts val="395"/>
              </a:spcAft>
            </a:pPr>
            <a:endParaRPr lang="en-US" altLang="zh-CN" sz="1500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5468" y="395378"/>
            <a:ext cx="5762255" cy="3801611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Splay </a:t>
            </a:r>
            <a:r>
              <a:rPr lang="en-US" altLang="zh-CN" sz="4000" dirty="0" smtClean="0"/>
              <a:t>Trees</a:t>
            </a:r>
            <a:endParaRPr lang="zh-CN" altLang="en-US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4847359" y="8475137"/>
            <a:ext cx="1543050" cy="486833"/>
          </a:xfrm>
        </p:spPr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471488" y="8475137"/>
            <a:ext cx="1543050" cy="486833"/>
          </a:xfrm>
        </p:spPr>
        <p:txBody>
          <a:bodyPr/>
          <a:lstStyle/>
          <a:p>
            <a:pPr>
              <a:defRPr/>
            </a:pPr>
            <a:fld id="{1E7A8B42-A34A-49AD-9ABB-3CCF43D136E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294967295"/>
          </p:nvPr>
        </p:nvSpPr>
        <p:spPr>
          <a:xfrm>
            <a:off x="2271713" y="8475137"/>
            <a:ext cx="2314575" cy="486833"/>
          </a:xfrm>
        </p:spPr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C0F4425-9581-4C9A-9F55-DACB90263D1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5823061-265B-4FC9-BCD6-83C0416E075A}" type="slidenum">
              <a:rPr lang="en-US" altLang="zh-CN" sz="1050"/>
            </a:fld>
            <a:endParaRPr lang="en-US" altLang="zh-CN" sz="105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Readings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49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 smtClean="0">
                <a:ea typeface="宋体" pitchFamily="2" charset="-122"/>
              </a:rPr>
              <a:t>Reading 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spcBef>
                <a:spcPts val="395"/>
              </a:spcBef>
              <a:spcAft>
                <a:spcPts val="395"/>
              </a:spcAft>
            </a:pPr>
            <a:r>
              <a:rPr lang="en-US" altLang="zh-CN" dirty="0">
                <a:ea typeface="宋体" pitchFamily="2" charset="-122"/>
              </a:rPr>
              <a:t>Sections 4.5-4.7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1A0E8B6-812E-4D02-A2FB-3265B9A083B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704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704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8130757-F3EA-47D7-9559-A211409192F2}" type="slidenum">
              <a:rPr lang="en-US" altLang="zh-CN" sz="1050"/>
            </a:fld>
            <a:endParaRPr lang="en-US" altLang="zh-CN" sz="1050"/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Self adjusting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70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Ordinary binary search trees have no balance conditions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what you get from insertion order is </a:t>
            </a:r>
            <a:r>
              <a:rPr lang="en-US" altLang="zh-CN" dirty="0" smtClean="0">
                <a:ea typeface="宋体" pitchFamily="2" charset="-122"/>
              </a:rPr>
              <a:t>it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Balanced trees like AVL trees enforce a balance condition when nodes change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tree is always balanced after an insert or </a:t>
            </a:r>
            <a:r>
              <a:rPr lang="en-US" altLang="zh-CN" dirty="0" smtClean="0">
                <a:ea typeface="宋体" pitchFamily="2" charset="-122"/>
              </a:rPr>
              <a:t>delete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Self-adjusting trees </a:t>
            </a:r>
            <a:r>
              <a:rPr lang="en-US" altLang="zh-CN" dirty="0">
                <a:ea typeface="宋体" pitchFamily="2" charset="-122"/>
              </a:rPr>
              <a:t>get reorganized over time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as nodes are accessed</a:t>
            </a:r>
            <a:endParaRPr lang="en-US" altLang="zh-CN" dirty="0">
              <a:solidFill>
                <a:srgbClr val="0000FF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Tree adjusts after insert, delete, or find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2B2A36B-8CDC-4B7E-839F-C852ED9C558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0B49E9-16E5-44BC-AC8E-F32C37963329}" type="slidenum">
              <a:rPr lang="en-US" altLang="zh-CN" sz="1050"/>
            </a:fld>
            <a:endParaRPr lang="en-US" altLang="zh-CN" sz="1050"/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14350" y="2252120"/>
            <a:ext cx="5886450" cy="4192088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Splay trees are tree structures that: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Are not perfectly balanced all the </a:t>
            </a:r>
            <a:r>
              <a:rPr lang="en-US" altLang="zh-CN" dirty="0" smtClean="0">
                <a:ea typeface="宋体" pitchFamily="2" charset="-122"/>
              </a:rPr>
              <a:t>time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endParaRPr lang="en-US" altLang="zh-CN" sz="200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Data most recently accessed is near the root. (principle of locality; 80-20 “rule</a:t>
            </a:r>
            <a:r>
              <a:rPr lang="en-US" altLang="zh-CN" dirty="0" smtClean="0">
                <a:ea typeface="宋体" pitchFamily="2" charset="-122"/>
              </a:rPr>
              <a:t>”)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The procedure: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After node X is accessed, perform “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splaying</a:t>
            </a:r>
            <a:r>
              <a:rPr lang="en-US" altLang="zh-CN" dirty="0">
                <a:ea typeface="宋体" pitchFamily="2" charset="-122"/>
              </a:rPr>
              <a:t>” operations to bring X to the root of the tree</a:t>
            </a:r>
            <a:r>
              <a:rPr lang="en-US" altLang="zh-CN" dirty="0" smtClean="0">
                <a:ea typeface="宋体" pitchFamily="2" charset="-122"/>
              </a:rPr>
              <a:t>.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endParaRPr lang="en-US" altLang="zh-CN" sz="300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Do this in a way that leaves the tree more balanced as a whole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DFE21D8-120E-44E8-8451-2E8555BCF7C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0B49E9-16E5-44BC-AC8E-F32C37963329}" type="slidenum">
              <a:rPr lang="en-US" altLang="zh-CN" sz="1050"/>
            </a:fld>
            <a:endParaRPr lang="en-US" altLang="zh-CN" sz="1050"/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14350" y="2252120"/>
            <a:ext cx="5886450" cy="4192088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ea typeface="宋体" pitchFamily="2" charset="-122"/>
              </a:rPr>
              <a:t>How </a:t>
            </a:r>
            <a:r>
              <a:rPr lang="en-US" altLang="zh-CN" dirty="0"/>
              <a:t>to </a:t>
            </a:r>
            <a:r>
              <a:rPr lang="en-US" altLang="zh-CN" dirty="0" smtClean="0"/>
              <a:t>perform splaying?</a:t>
            </a:r>
            <a:endParaRPr lang="en-US" altLang="zh-CN" dirty="0" smtClean="0"/>
          </a:p>
          <a:p>
            <a:pPr lvl="1"/>
            <a:r>
              <a:rPr lang="en-US" altLang="zh-CN" sz="2400" dirty="0"/>
              <a:t>A Simple </a:t>
            </a:r>
            <a:r>
              <a:rPr lang="en-US" altLang="zh-CN" sz="2400" dirty="0" smtClean="0"/>
              <a:t>Idea</a:t>
            </a:r>
            <a:endParaRPr lang="en-US" altLang="zh-CN" sz="2400" dirty="0" smtClean="0"/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to perform single </a:t>
            </a:r>
            <a:r>
              <a:rPr lang="en-US" altLang="zh-CN" sz="2400" dirty="0" smtClean="0">
                <a:solidFill>
                  <a:srgbClr val="0000FF"/>
                </a:solidFill>
              </a:rPr>
              <a:t>rotations, bottom </a:t>
            </a:r>
            <a:r>
              <a:rPr lang="en-US" altLang="zh-CN" sz="2400" dirty="0">
                <a:solidFill>
                  <a:srgbClr val="0000FF"/>
                </a:solidFill>
              </a:rPr>
              <a:t>up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/>
            <a:endParaRPr lang="en-US" altLang="zh-CN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96" y="3563888"/>
            <a:ext cx="4087263" cy="451448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61047" y="6660232"/>
            <a:ext cx="2808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Now K1 is </a:t>
            </a:r>
            <a:r>
              <a:rPr lang="en-US" altLang="zh-CN" sz="2000" dirty="0"/>
              <a:t>accessed, perform a single rotation</a:t>
            </a:r>
            <a:endParaRPr lang="zh-CN" altLang="en-US" sz="2000" dirty="0"/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3140968" y="6876256"/>
            <a:ext cx="720080" cy="153308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下弧形箭头 8"/>
          <p:cNvSpPr/>
          <p:nvPr/>
        </p:nvSpPr>
        <p:spPr>
          <a:xfrm rot="10591156">
            <a:off x="2252123" y="6258681"/>
            <a:ext cx="797247" cy="36004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B55557D-6B43-4B72-8F45-5856FE4653F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0B49E9-16E5-44BC-AC8E-F32C37963329}" type="slidenum">
              <a:rPr lang="en-US" altLang="zh-CN" sz="1050"/>
            </a:fld>
            <a:endParaRPr lang="en-US" altLang="zh-CN" sz="1050"/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14350" y="2252120"/>
            <a:ext cx="5886450" cy="4192088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ea typeface="宋体" pitchFamily="2" charset="-122"/>
              </a:rPr>
              <a:t>How </a:t>
            </a:r>
            <a:r>
              <a:rPr lang="en-US" altLang="zh-CN" dirty="0"/>
              <a:t>to </a:t>
            </a:r>
            <a:r>
              <a:rPr lang="en-US" altLang="zh-CN" dirty="0" smtClean="0"/>
              <a:t>perform splaying?</a:t>
            </a:r>
            <a:endParaRPr lang="en-US" altLang="zh-CN" dirty="0" smtClean="0"/>
          </a:p>
          <a:p>
            <a:pPr lvl="1"/>
            <a:r>
              <a:rPr lang="en-US" altLang="zh-CN" sz="2400" dirty="0"/>
              <a:t>A Simple </a:t>
            </a:r>
            <a:r>
              <a:rPr lang="en-US" altLang="zh-CN" sz="2400" dirty="0" smtClean="0"/>
              <a:t>Idea</a:t>
            </a:r>
            <a:endParaRPr lang="en-US" altLang="zh-CN" sz="2400" dirty="0" smtClean="0"/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to perform single </a:t>
            </a:r>
            <a:r>
              <a:rPr lang="en-US" altLang="zh-CN" sz="2400" dirty="0" smtClean="0">
                <a:solidFill>
                  <a:srgbClr val="0000FF"/>
                </a:solidFill>
              </a:rPr>
              <a:t>rotations, bottom </a:t>
            </a:r>
            <a:r>
              <a:rPr lang="en-US" altLang="zh-CN" sz="2400" dirty="0">
                <a:solidFill>
                  <a:srgbClr val="0000FF"/>
                </a:solidFill>
              </a:rPr>
              <a:t>up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/>
            <a:endParaRPr lang="en-US" altLang="zh-CN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61047" y="6660232"/>
            <a:ext cx="2808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Then, continue to perform </a:t>
            </a:r>
            <a:r>
              <a:rPr lang="en-US" altLang="zh-CN" sz="2000" dirty="0"/>
              <a:t>a single rotation</a:t>
            </a: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88" y="3707904"/>
            <a:ext cx="4320480" cy="4127307"/>
          </a:xfrm>
          <a:prstGeom prst="rect">
            <a:avLst/>
          </a:prstGeom>
        </p:spPr>
      </p:pic>
      <p:sp>
        <p:nvSpPr>
          <p:cNvPr id="3" name="上弧形箭头 2"/>
          <p:cNvSpPr/>
          <p:nvPr/>
        </p:nvSpPr>
        <p:spPr>
          <a:xfrm>
            <a:off x="1628775" y="5483525"/>
            <a:ext cx="771525" cy="28803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F87BBF2-722F-45D1-A16E-E5FE9A1F337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0B49E9-16E5-44BC-AC8E-F32C37963329}" type="slidenum">
              <a:rPr lang="en-US" altLang="zh-CN" sz="1050"/>
            </a:fld>
            <a:endParaRPr lang="en-US" altLang="zh-CN" sz="1050"/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14350" y="2252120"/>
            <a:ext cx="5886450" cy="4192088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ea typeface="宋体" pitchFamily="2" charset="-122"/>
              </a:rPr>
              <a:t>How </a:t>
            </a:r>
            <a:r>
              <a:rPr lang="en-US" altLang="zh-CN" dirty="0"/>
              <a:t>to </a:t>
            </a:r>
            <a:r>
              <a:rPr lang="en-US" altLang="zh-CN" dirty="0" smtClean="0"/>
              <a:t>perform splaying?</a:t>
            </a:r>
            <a:endParaRPr lang="en-US" altLang="zh-CN" dirty="0" smtClean="0"/>
          </a:p>
          <a:p>
            <a:pPr lvl="1"/>
            <a:r>
              <a:rPr lang="en-US" altLang="zh-CN" sz="2400" dirty="0"/>
              <a:t>A Simple </a:t>
            </a:r>
            <a:r>
              <a:rPr lang="en-US" altLang="zh-CN" sz="2400" dirty="0" smtClean="0"/>
              <a:t>Idea</a:t>
            </a:r>
            <a:endParaRPr lang="en-US" altLang="zh-CN" sz="2400" dirty="0" smtClean="0"/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to perform single </a:t>
            </a:r>
            <a:r>
              <a:rPr lang="en-US" altLang="zh-CN" sz="2400" dirty="0" smtClean="0">
                <a:solidFill>
                  <a:srgbClr val="0000FF"/>
                </a:solidFill>
              </a:rPr>
              <a:t>rotations, bottom </a:t>
            </a:r>
            <a:r>
              <a:rPr lang="en-US" altLang="zh-CN" sz="2400" dirty="0">
                <a:solidFill>
                  <a:srgbClr val="0000FF"/>
                </a:solidFill>
              </a:rPr>
              <a:t>up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/>
            <a:endParaRPr lang="en-US" altLang="zh-CN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61047" y="6660232"/>
            <a:ext cx="2808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Then, continue…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67" y="3995936"/>
            <a:ext cx="4026435" cy="3680228"/>
          </a:xfrm>
          <a:prstGeom prst="rect">
            <a:avLst/>
          </a:prstGeom>
        </p:spPr>
      </p:pic>
      <p:sp>
        <p:nvSpPr>
          <p:cNvPr id="11" name="上弧形箭头 10"/>
          <p:cNvSpPr/>
          <p:nvPr/>
        </p:nvSpPr>
        <p:spPr>
          <a:xfrm>
            <a:off x="1832259" y="5210158"/>
            <a:ext cx="771525" cy="28803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F2C138B-0E93-4FA1-9D7D-86E26184E7F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0B49E9-16E5-44BC-AC8E-F32C37963329}" type="slidenum">
              <a:rPr lang="en-US" altLang="zh-CN" sz="1050"/>
            </a:fld>
            <a:endParaRPr lang="en-US" altLang="zh-CN" sz="1050"/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14350" y="2252120"/>
            <a:ext cx="5886450" cy="4192088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ea typeface="宋体" pitchFamily="2" charset="-122"/>
              </a:rPr>
              <a:t>How </a:t>
            </a:r>
            <a:r>
              <a:rPr lang="en-US" altLang="zh-CN" dirty="0"/>
              <a:t>to </a:t>
            </a:r>
            <a:r>
              <a:rPr lang="en-US" altLang="zh-CN" dirty="0" smtClean="0"/>
              <a:t>perform splaying?</a:t>
            </a:r>
            <a:endParaRPr lang="en-US" altLang="zh-CN" dirty="0" smtClean="0"/>
          </a:p>
          <a:p>
            <a:pPr lvl="1"/>
            <a:r>
              <a:rPr lang="en-US" altLang="zh-CN" sz="2400" dirty="0"/>
              <a:t>A Simple </a:t>
            </a:r>
            <a:r>
              <a:rPr lang="en-US" altLang="zh-CN" sz="2400" dirty="0" smtClean="0"/>
              <a:t>Idea</a:t>
            </a:r>
            <a:endParaRPr lang="en-US" altLang="zh-CN" sz="2400" dirty="0" smtClean="0"/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to perform single </a:t>
            </a:r>
            <a:r>
              <a:rPr lang="en-US" altLang="zh-CN" sz="2400" dirty="0" smtClean="0">
                <a:solidFill>
                  <a:srgbClr val="0000FF"/>
                </a:solidFill>
              </a:rPr>
              <a:t>rotations, bottom </a:t>
            </a:r>
            <a:r>
              <a:rPr lang="en-US" altLang="zh-CN" sz="2400" dirty="0">
                <a:solidFill>
                  <a:srgbClr val="0000FF"/>
                </a:solidFill>
              </a:rPr>
              <a:t>up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/>
            <a:endParaRPr lang="en-US" altLang="zh-CN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08230" y="5853787"/>
            <a:ext cx="1876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continue …</a:t>
            </a:r>
            <a:endParaRPr lang="zh-CN" altLang="en-US" sz="2000" dirty="0"/>
          </a:p>
        </p:txBody>
      </p:sp>
      <p:sp>
        <p:nvSpPr>
          <p:cNvPr id="3" name="上弧形箭头 2"/>
          <p:cNvSpPr/>
          <p:nvPr/>
        </p:nvSpPr>
        <p:spPr>
          <a:xfrm>
            <a:off x="2441451" y="4572000"/>
            <a:ext cx="771525" cy="28803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879" y="4150674"/>
            <a:ext cx="3758789" cy="3406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9C28E5A-73A4-4A15-9B3A-BE61FB2ECD6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0B49E9-16E5-44BC-AC8E-F32C37963329}" type="slidenum">
              <a:rPr lang="en-US" altLang="zh-CN" sz="1050"/>
            </a:fld>
            <a:endParaRPr lang="en-US" altLang="zh-CN" sz="1050" dirty="0"/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14350" y="2252120"/>
            <a:ext cx="5886450" cy="4192088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ea typeface="宋体" pitchFamily="2" charset="-122"/>
              </a:rPr>
              <a:t>How </a:t>
            </a:r>
            <a:r>
              <a:rPr lang="en-US" altLang="zh-CN" dirty="0"/>
              <a:t>to </a:t>
            </a:r>
            <a:r>
              <a:rPr lang="en-US" altLang="zh-CN" dirty="0" smtClean="0"/>
              <a:t>perform splaying?</a:t>
            </a:r>
            <a:endParaRPr lang="en-US" altLang="zh-CN" dirty="0" smtClean="0"/>
          </a:p>
          <a:p>
            <a:pPr lvl="1"/>
            <a:r>
              <a:rPr lang="en-US" altLang="zh-CN" sz="2400" dirty="0"/>
              <a:t>A Simple </a:t>
            </a:r>
            <a:r>
              <a:rPr lang="en-US" altLang="zh-CN" sz="2400" dirty="0" smtClean="0"/>
              <a:t>Idea</a:t>
            </a:r>
            <a:endParaRPr lang="en-US" altLang="zh-CN" sz="2400" dirty="0" smtClean="0"/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to perform single </a:t>
            </a:r>
            <a:r>
              <a:rPr lang="en-US" altLang="zh-CN" sz="2400" dirty="0" smtClean="0">
                <a:solidFill>
                  <a:srgbClr val="0000FF"/>
                </a:solidFill>
              </a:rPr>
              <a:t>rotations, bottom </a:t>
            </a:r>
            <a:r>
              <a:rPr lang="en-US" altLang="zh-CN" sz="2400" dirty="0">
                <a:solidFill>
                  <a:srgbClr val="0000FF"/>
                </a:solidFill>
              </a:rPr>
              <a:t>up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/>
            <a:endParaRPr lang="en-US" altLang="zh-CN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23682" y="4265889"/>
            <a:ext cx="2790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Now k1 reach </a:t>
            </a:r>
            <a:r>
              <a:rPr lang="en-US" altLang="zh-CN" sz="2000" dirty="0"/>
              <a:t>the </a:t>
            </a:r>
            <a:r>
              <a:rPr lang="en-US" altLang="zh-CN" sz="2000" dirty="0" smtClean="0"/>
              <a:t>root. Future accesses </a:t>
            </a:r>
            <a:r>
              <a:rPr lang="en-US" altLang="zh-CN" sz="2000" dirty="0"/>
              <a:t>on k1 are </a:t>
            </a:r>
            <a:r>
              <a:rPr lang="en-US" altLang="zh-CN" sz="2000" dirty="0" smtClean="0"/>
              <a:t>cheaper. </a:t>
            </a: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43" y="4304687"/>
            <a:ext cx="4207787" cy="349830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861048" y="7295164"/>
            <a:ext cx="2790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But pushing other node deep,  ex. k3.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304B276-6599-4EAC-8A99-057E7F50C65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0B49E9-16E5-44BC-AC8E-F32C37963329}" type="slidenum">
              <a:rPr lang="en-US" altLang="zh-CN" sz="1050"/>
            </a:fld>
            <a:endParaRPr lang="en-US" altLang="zh-CN" sz="1050" dirty="0"/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14350" y="2252120"/>
            <a:ext cx="5886450" cy="4192088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ea typeface="宋体" pitchFamily="2" charset="-122"/>
              </a:rPr>
              <a:t>How </a:t>
            </a:r>
            <a:r>
              <a:rPr lang="en-US" altLang="zh-CN" dirty="0"/>
              <a:t>to </a:t>
            </a:r>
            <a:r>
              <a:rPr lang="en-US" altLang="zh-CN" dirty="0" smtClean="0"/>
              <a:t>perform splaying?</a:t>
            </a:r>
            <a:endParaRPr lang="en-US" altLang="zh-CN" dirty="0" smtClean="0"/>
          </a:p>
          <a:p>
            <a:pPr lvl="1"/>
            <a:r>
              <a:rPr lang="en-US" altLang="zh-CN" sz="2400" dirty="0"/>
              <a:t>A Simple </a:t>
            </a:r>
            <a:r>
              <a:rPr lang="en-US" altLang="zh-CN" sz="2400" dirty="0" smtClean="0"/>
              <a:t>Idea</a:t>
            </a:r>
            <a:endParaRPr lang="en-US" altLang="zh-CN" sz="2400" dirty="0" smtClean="0"/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to perform single </a:t>
            </a:r>
            <a:r>
              <a:rPr lang="en-US" altLang="zh-CN" sz="2400" dirty="0" smtClean="0">
                <a:solidFill>
                  <a:srgbClr val="0000FF"/>
                </a:solidFill>
              </a:rPr>
              <a:t>rotations, bottom up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/>
            <a:endParaRPr lang="en-US" altLang="zh-CN" sz="2400" dirty="0">
              <a:solidFill>
                <a:srgbClr val="0000FF"/>
              </a:solidFill>
            </a:endParaRPr>
          </a:p>
          <a:p>
            <a:pPr lvl="1"/>
            <a:r>
              <a:rPr lang="en-US" altLang="zh-CN" sz="2400" dirty="0" smtClean="0">
                <a:solidFill>
                  <a:srgbClr val="FF0000"/>
                </a:solidFill>
              </a:rPr>
              <a:t>This strategy is not good enough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2"/>
            <a:r>
              <a:rPr lang="en-US" altLang="zh-CN" sz="2200" dirty="0" smtClean="0">
                <a:solidFill>
                  <a:srgbClr val="FF0000"/>
                </a:solidFill>
              </a:rPr>
              <a:t>A </a:t>
            </a:r>
            <a:r>
              <a:rPr lang="en-US" altLang="zh-CN" sz="2200" dirty="0">
                <a:solidFill>
                  <a:srgbClr val="FF0000"/>
                </a:solidFill>
              </a:rPr>
              <a:t>sequence of M operations </a:t>
            </a:r>
            <a:r>
              <a:rPr lang="en-US" altLang="zh-CN" sz="2200" dirty="0" smtClean="0">
                <a:solidFill>
                  <a:srgbClr val="FF0000"/>
                </a:solidFill>
              </a:rPr>
              <a:t>requires </a:t>
            </a:r>
            <a:r>
              <a:rPr lang="el-GR" altLang="zh-CN" sz="2200" dirty="0" smtClean="0">
                <a:solidFill>
                  <a:srgbClr val="FF0000"/>
                </a:solidFill>
              </a:rPr>
              <a:t>Ω</a:t>
            </a:r>
            <a:r>
              <a:rPr lang="en-US" altLang="zh-CN" sz="2200" dirty="0" smtClean="0">
                <a:solidFill>
                  <a:srgbClr val="FF0000"/>
                </a:solidFill>
              </a:rPr>
              <a:t>(N•M)</a:t>
            </a:r>
            <a:endParaRPr lang="en-US" altLang="zh-CN" sz="2200" dirty="0" smtClean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713" y="5220071"/>
            <a:ext cx="1824350" cy="262548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661063" y="6105473"/>
            <a:ext cx="3429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Consider </a:t>
            </a:r>
            <a:r>
              <a:rPr lang="en-US" altLang="zh-CN" sz="2000" dirty="0">
                <a:solidFill>
                  <a:srgbClr val="FF0000"/>
                </a:solidFill>
              </a:rPr>
              <a:t>the tree formed by inserting keys 1, 2, 3, . . . ,N into an initially empty tree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6A79D54-4663-4B2E-B389-87515D65C1B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0B49E9-16E5-44BC-AC8E-F32C37963329}" type="slidenum">
              <a:rPr lang="en-US" altLang="zh-CN" sz="1050"/>
            </a:fld>
            <a:endParaRPr lang="en-US" altLang="zh-CN" sz="1050" dirty="0"/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54" y="2123728"/>
            <a:ext cx="1824350" cy="262548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014538" y="3923928"/>
            <a:ext cx="17760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Then, access 1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091" y="2123728"/>
            <a:ext cx="1545793" cy="2717224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2597314" y="3567288"/>
            <a:ext cx="823054" cy="3505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945" y="5149065"/>
            <a:ext cx="1678448" cy="232710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084011" y="4549156"/>
            <a:ext cx="17760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Then, access 2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4845987" y="4510141"/>
            <a:ext cx="311205" cy="638924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976" y="6533320"/>
            <a:ext cx="2020312" cy="175703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4614360" y="7784286"/>
            <a:ext cx="17760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Then, access 3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 flipH="1">
            <a:off x="4641549" y="7446944"/>
            <a:ext cx="720080" cy="36004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737" y="5508103"/>
            <a:ext cx="2027913" cy="2231443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 flipH="1">
            <a:off x="1826456" y="6892161"/>
            <a:ext cx="711448" cy="2880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095483" y="7276118"/>
            <a:ext cx="17760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Then, access 4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4" name="下箭头 13"/>
          <p:cNvSpPr/>
          <p:nvPr/>
        </p:nvSpPr>
        <p:spPr>
          <a:xfrm flipV="1">
            <a:off x="1210811" y="4639060"/>
            <a:ext cx="385787" cy="681267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98229" y="5226316"/>
            <a:ext cx="17760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Then, access 5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51151" y="3969212"/>
            <a:ext cx="5516242" cy="26765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rgbClr val="0000FF"/>
                </a:solidFill>
              </a:rPr>
              <a:t>For n nodes, total </a:t>
            </a:r>
            <a:r>
              <a:rPr lang="en-US" altLang="zh-CN" sz="2800" dirty="0" err="1" smtClean="0">
                <a:solidFill>
                  <a:srgbClr val="0000FF"/>
                </a:solidFill>
              </a:rPr>
              <a:t>num</a:t>
            </a:r>
            <a:r>
              <a:rPr lang="en-US" altLang="zh-CN" sz="2800" dirty="0" smtClean="0">
                <a:solidFill>
                  <a:srgbClr val="0000FF"/>
                </a:solidFill>
              </a:rPr>
              <a:t> of rotations is </a:t>
            </a:r>
            <a:r>
              <a:rPr lang="pt-BR" altLang="zh-CN" sz="2800" dirty="0">
                <a:solidFill>
                  <a:srgbClr val="0000FF"/>
                </a:solidFill>
              </a:rPr>
              <a:t>(n - 1) + { (n - 1) + (n - 2) + … + 1 }= (n</a:t>
            </a:r>
            <a:r>
              <a:rPr lang="pt-BR" altLang="zh-CN" sz="2800" baseline="30000" dirty="0">
                <a:solidFill>
                  <a:srgbClr val="0000FF"/>
                </a:solidFill>
              </a:rPr>
              <a:t>2</a:t>
            </a:r>
            <a:r>
              <a:rPr lang="pt-BR" altLang="zh-CN" sz="2800" dirty="0">
                <a:solidFill>
                  <a:srgbClr val="0000FF"/>
                </a:solidFill>
              </a:rPr>
              <a:t> +n-2)/2 </a:t>
            </a:r>
            <a:r>
              <a:rPr lang="pt-BR" altLang="zh-CN" sz="2800" dirty="0" smtClean="0">
                <a:solidFill>
                  <a:srgbClr val="0000FF"/>
                </a:solidFill>
              </a:rPr>
              <a:t>,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i.e</a:t>
            </a:r>
            <a:r>
              <a:rPr lang="en-US" altLang="zh-CN" sz="2800" dirty="0" smtClean="0">
                <a:solidFill>
                  <a:srgbClr val="0000FF"/>
                </a:solidFill>
              </a:rPr>
              <a:t>. </a:t>
            </a:r>
            <a:r>
              <a:rPr lang="el-GR" altLang="zh-CN" sz="2800" dirty="0" smtClean="0">
                <a:solidFill>
                  <a:srgbClr val="0000FF"/>
                </a:solidFill>
              </a:rPr>
              <a:t>Ω</a:t>
            </a:r>
            <a:r>
              <a:rPr lang="en-US" altLang="zh-CN" sz="2800" dirty="0" smtClean="0">
                <a:solidFill>
                  <a:srgbClr val="0000FF"/>
                </a:solidFill>
              </a:rPr>
              <a:t>(n</a:t>
            </a:r>
            <a:r>
              <a:rPr lang="en-US" altLang="zh-CN" sz="2800" baseline="30000" dirty="0" smtClean="0">
                <a:solidFill>
                  <a:srgbClr val="0000FF"/>
                </a:solidFill>
              </a:rPr>
              <a:t>2</a:t>
            </a:r>
            <a:r>
              <a:rPr lang="en-US" altLang="zh-CN" sz="2800" dirty="0" smtClean="0">
                <a:solidFill>
                  <a:srgbClr val="0000FF"/>
                </a:solidFill>
              </a:rPr>
              <a:t>). </a:t>
            </a:r>
            <a:endParaRPr lang="en-US" altLang="zh-CN" sz="2800" dirty="0" smtClean="0">
              <a:solidFill>
                <a:srgbClr val="0000FF"/>
              </a:solidFill>
            </a:endParaRPr>
          </a:p>
          <a:p>
            <a:r>
              <a:rPr lang="en-US" altLang="zh-CN" sz="2800" dirty="0" smtClean="0">
                <a:solidFill>
                  <a:srgbClr val="0000FF"/>
                </a:solidFill>
              </a:rPr>
              <a:t>Each operation requiring O (n) time.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bldLvl="0" animBg="1"/>
      <p:bldP spid="13" grpId="0"/>
      <p:bldP spid="8" grpId="0" bldLvl="0" animBg="1"/>
      <p:bldP spid="16" grpId="0"/>
      <p:bldP spid="10" grpId="0" bldLvl="0" animBg="1"/>
      <p:bldP spid="12" grpId="0" bldLvl="0" animBg="1"/>
      <p:bldP spid="20" grpId="0"/>
      <p:bldP spid="14" grpId="0" bldLvl="0" animBg="1"/>
      <p:bldP spid="22" grpId="0"/>
      <p:bldP spid="2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27B735E-FD22-4925-8A70-245FCB1F5B8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0B49E9-16E5-44BC-AC8E-F32C37963329}" type="slidenum">
              <a:rPr lang="en-US" altLang="zh-CN" sz="1050"/>
            </a:fld>
            <a:endParaRPr lang="en-US" altLang="zh-CN" sz="1050" dirty="0"/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14350" y="2252120"/>
            <a:ext cx="5886450" cy="4192088"/>
          </a:xfrm>
        </p:spPr>
        <p:txBody>
          <a:bodyPr>
            <a:noAutofit/>
          </a:bodyPr>
          <a:lstStyle/>
          <a:p>
            <a:r>
              <a:rPr lang="en-US" altLang="zh-CN" sz="2800" dirty="0" smtClean="0"/>
              <a:t>Goal:</a:t>
            </a:r>
            <a:endParaRPr lang="en-US" altLang="zh-CN" sz="2800" dirty="0" smtClean="0"/>
          </a:p>
          <a:p>
            <a:pPr lvl="1"/>
            <a:r>
              <a:rPr lang="en-US" altLang="zh-CN" sz="2400" dirty="0"/>
              <a:t>Principle of  locality</a:t>
            </a:r>
            <a:endParaRPr lang="en-US" altLang="zh-CN" sz="2400" dirty="0"/>
          </a:p>
          <a:p>
            <a:pPr lvl="1"/>
            <a:r>
              <a:rPr lang="en-US" altLang="zh-CN" sz="2400" dirty="0"/>
              <a:t>An O(</a:t>
            </a:r>
            <a:r>
              <a:rPr lang="en-US" altLang="zh-CN" sz="2400" dirty="0" err="1"/>
              <a:t>logN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263AF8"/>
                </a:solidFill>
              </a:rPr>
              <a:t>amortized cost </a:t>
            </a:r>
            <a:r>
              <a:rPr lang="en-US" altLang="zh-CN" sz="2400" dirty="0"/>
              <a:t>per operation</a:t>
            </a:r>
            <a:endParaRPr lang="en-US" altLang="zh-CN" sz="2400" dirty="0"/>
          </a:p>
          <a:p>
            <a:pPr lvl="2"/>
            <a:endParaRPr lang="en-US" altLang="zh-CN" sz="2000" dirty="0" smtClean="0"/>
          </a:p>
          <a:p>
            <a:pPr lvl="1"/>
            <a:endParaRPr lang="en-US" altLang="zh-CN" sz="2400" dirty="0" smtClean="0"/>
          </a:p>
          <a:p>
            <a:r>
              <a:rPr lang="en-US" altLang="zh-CN" sz="2800" dirty="0"/>
              <a:t>How to perform splaying?</a:t>
            </a:r>
            <a:endParaRPr lang="en-US" altLang="zh-CN" sz="2800" dirty="0"/>
          </a:p>
          <a:p>
            <a:pPr lvl="1"/>
            <a:r>
              <a:rPr lang="en-US" altLang="zh-CN" sz="2400" dirty="0" smtClean="0"/>
              <a:t>Another </a:t>
            </a:r>
            <a:r>
              <a:rPr lang="en-US" altLang="zh-CN" sz="2400" dirty="0"/>
              <a:t>strategy to </a:t>
            </a:r>
            <a:r>
              <a:rPr lang="en-US" altLang="zh-CN" sz="2400" dirty="0" smtClean="0"/>
              <a:t>perform </a:t>
            </a:r>
            <a:r>
              <a:rPr lang="en-US" altLang="zh-CN" sz="2400" dirty="0" smtClean="0">
                <a:solidFill>
                  <a:srgbClr val="0000FF"/>
                </a:solidFill>
              </a:rPr>
              <a:t>double rotations (</a:t>
            </a:r>
            <a:r>
              <a:rPr lang="en-US" altLang="zh-CN" sz="2400" dirty="0" smtClean="0">
                <a:solidFill>
                  <a:srgbClr val="FF0000"/>
                </a:solidFill>
              </a:rPr>
              <a:t>splay</a:t>
            </a:r>
            <a:r>
              <a:rPr lang="en-US" altLang="zh-CN" sz="2400" dirty="0" smtClean="0">
                <a:solidFill>
                  <a:srgbClr val="0000FF"/>
                </a:solidFill>
              </a:rPr>
              <a:t>)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/>
            <a:endParaRPr lang="en-US" altLang="zh-CN" sz="2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0BA68BC-63D9-426B-BA36-0A80FBD33F8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0B49E9-16E5-44BC-AC8E-F32C37963329}" type="slidenum">
              <a:rPr lang="en-US" altLang="zh-CN" sz="1050"/>
            </a:fld>
            <a:endParaRPr lang="en-US" altLang="zh-CN" sz="1050"/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16741" y="2211798"/>
            <a:ext cx="5886450" cy="314325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Terminology</a:t>
            </a:r>
            <a:endParaRPr lang="en-US" altLang="zh-CN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836712" y="2771800"/>
            <a:ext cx="4867038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zh-CN" sz="1800" dirty="0">
                <a:ea typeface="宋体" pitchFamily="2" charset="-122"/>
              </a:rPr>
              <a:t> Let X be a non-root node with </a:t>
            </a:r>
            <a:r>
              <a:rPr lang="en-US" altLang="zh-CN" sz="1800" dirty="0">
                <a:ea typeface="宋体" pitchFamily="2" charset="-122"/>
                <a:sym typeface="Symbol" panose="05050102010706020507" pitchFamily="18" charset="2"/>
              </a:rPr>
              <a:t> 2 ancestors.</a:t>
            </a:r>
            <a:endParaRPr lang="en-US" altLang="zh-CN" sz="1800" dirty="0">
              <a:ea typeface="宋体" pitchFamily="2" charset="-122"/>
              <a:sym typeface="Symbol" panose="05050102010706020507" pitchFamily="18" charset="2"/>
            </a:endParaRPr>
          </a:p>
          <a:p>
            <a:pPr lvl="1">
              <a:buFontTx/>
              <a:buChar char="•"/>
            </a:pPr>
            <a:r>
              <a:rPr lang="en-US" altLang="zh-CN" sz="1800" dirty="0">
                <a:ea typeface="宋体" pitchFamily="2" charset="-122"/>
                <a:sym typeface="Symbol" panose="05050102010706020507" pitchFamily="18" charset="2"/>
              </a:rPr>
              <a:t>  P is its parent node.</a:t>
            </a:r>
            <a:endParaRPr lang="en-US" altLang="zh-CN" sz="1800" dirty="0">
              <a:ea typeface="宋体" pitchFamily="2" charset="-122"/>
              <a:sym typeface="Symbol" panose="05050102010706020507" pitchFamily="18" charset="2"/>
            </a:endParaRPr>
          </a:p>
          <a:p>
            <a:pPr lvl="1">
              <a:buFontTx/>
              <a:buChar char="•"/>
            </a:pPr>
            <a:r>
              <a:rPr lang="en-US" altLang="zh-CN" sz="1800" dirty="0">
                <a:ea typeface="宋体" pitchFamily="2" charset="-122"/>
                <a:sym typeface="Symbol" panose="05050102010706020507" pitchFamily="18" charset="2"/>
              </a:rPr>
              <a:t>  G is its grandparent node.</a:t>
            </a:r>
            <a:endParaRPr lang="en-US" altLang="zh-CN" sz="1800" dirty="0">
              <a:ea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18000" y="4577513"/>
            <a:ext cx="5243271" cy="1915622"/>
            <a:chOff x="818000" y="4577513"/>
            <a:chExt cx="5243271" cy="1915622"/>
          </a:xfrm>
        </p:grpSpPr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3681459" y="5284922"/>
              <a:ext cx="410736" cy="408607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P</a:t>
              </a:r>
              <a:endParaRPr lang="en-US" altLang="zh-CN" sz="18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 flipH="1">
              <a:off x="4003130" y="4994419"/>
              <a:ext cx="159686" cy="29050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4003129" y="5693528"/>
              <a:ext cx="245783" cy="36519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Oval 4"/>
            <p:cNvSpPr>
              <a:spLocks noChangeArrowheads="1"/>
            </p:cNvSpPr>
            <p:nvPr/>
          </p:nvSpPr>
          <p:spPr bwMode="auto">
            <a:xfrm>
              <a:off x="4092195" y="6064655"/>
              <a:ext cx="405658" cy="408607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X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8" name="Oval 4"/>
            <p:cNvSpPr>
              <a:spLocks noChangeArrowheads="1"/>
            </p:cNvSpPr>
            <p:nvPr/>
          </p:nvSpPr>
          <p:spPr bwMode="auto">
            <a:xfrm>
              <a:off x="4037156" y="4577513"/>
              <a:ext cx="387363" cy="408607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G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1" name="Oval 4"/>
            <p:cNvSpPr>
              <a:spLocks noChangeArrowheads="1"/>
            </p:cNvSpPr>
            <p:nvPr/>
          </p:nvSpPr>
          <p:spPr bwMode="auto">
            <a:xfrm>
              <a:off x="2694857" y="5342793"/>
              <a:ext cx="410736" cy="4086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P</a:t>
              </a:r>
              <a:endParaRPr lang="en-US" altLang="zh-CN" sz="18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>
              <a:off x="2680569" y="5034926"/>
              <a:ext cx="140710" cy="30786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2959754" y="5728112"/>
              <a:ext cx="145839" cy="33061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4" name="Oval 4"/>
            <p:cNvSpPr>
              <a:spLocks noChangeArrowheads="1"/>
            </p:cNvSpPr>
            <p:nvPr/>
          </p:nvSpPr>
          <p:spPr bwMode="auto">
            <a:xfrm>
              <a:off x="2983075" y="6033863"/>
              <a:ext cx="405658" cy="4086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X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5" name="Oval 4"/>
            <p:cNvSpPr>
              <a:spLocks noChangeArrowheads="1"/>
            </p:cNvSpPr>
            <p:nvPr/>
          </p:nvSpPr>
          <p:spPr bwMode="auto">
            <a:xfrm>
              <a:off x="2385315" y="4626864"/>
              <a:ext cx="387363" cy="4086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G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6" name="Oval 4"/>
            <p:cNvSpPr>
              <a:spLocks noChangeArrowheads="1"/>
            </p:cNvSpPr>
            <p:nvPr/>
          </p:nvSpPr>
          <p:spPr bwMode="auto">
            <a:xfrm>
              <a:off x="1096184" y="5284922"/>
              <a:ext cx="410736" cy="40860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P</a:t>
              </a:r>
              <a:endParaRPr lang="en-US" altLang="zh-CN" sz="18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4" name="Line 25"/>
            <p:cNvSpPr>
              <a:spLocks noChangeShapeType="1"/>
            </p:cNvSpPr>
            <p:nvPr/>
          </p:nvSpPr>
          <p:spPr bwMode="auto">
            <a:xfrm flipH="1">
              <a:off x="1417855" y="4994419"/>
              <a:ext cx="159686" cy="2905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26"/>
            <p:cNvSpPr>
              <a:spLocks noChangeShapeType="1"/>
            </p:cNvSpPr>
            <p:nvPr/>
          </p:nvSpPr>
          <p:spPr bwMode="auto">
            <a:xfrm flipH="1">
              <a:off x="1025563" y="5693528"/>
              <a:ext cx="198094" cy="3584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Oval 4"/>
            <p:cNvSpPr>
              <a:spLocks noChangeArrowheads="1"/>
            </p:cNvSpPr>
            <p:nvPr/>
          </p:nvSpPr>
          <p:spPr bwMode="auto">
            <a:xfrm>
              <a:off x="818000" y="6052013"/>
              <a:ext cx="405658" cy="40860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X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7" name="Oval 4"/>
            <p:cNvSpPr>
              <a:spLocks noChangeArrowheads="1"/>
            </p:cNvSpPr>
            <p:nvPr/>
          </p:nvSpPr>
          <p:spPr bwMode="auto">
            <a:xfrm>
              <a:off x="1451881" y="4577513"/>
              <a:ext cx="387363" cy="40860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G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8" name="Oval 4"/>
            <p:cNvSpPr>
              <a:spLocks noChangeArrowheads="1"/>
            </p:cNvSpPr>
            <p:nvPr/>
          </p:nvSpPr>
          <p:spPr bwMode="auto">
            <a:xfrm>
              <a:off x="5650535" y="5319505"/>
              <a:ext cx="410736" cy="408607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P</a:t>
              </a:r>
              <a:endParaRPr lang="en-US" altLang="zh-CN" sz="18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>
              <a:off x="5636247" y="5011638"/>
              <a:ext cx="140710" cy="307867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Line 26"/>
            <p:cNvSpPr>
              <a:spLocks noChangeShapeType="1"/>
            </p:cNvSpPr>
            <p:nvPr/>
          </p:nvSpPr>
          <p:spPr bwMode="auto">
            <a:xfrm flipH="1">
              <a:off x="5512233" y="5703252"/>
              <a:ext cx="254474" cy="379537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" name="Oval 4"/>
            <p:cNvSpPr>
              <a:spLocks noChangeArrowheads="1"/>
            </p:cNvSpPr>
            <p:nvPr/>
          </p:nvSpPr>
          <p:spPr bwMode="auto">
            <a:xfrm>
              <a:off x="5206633" y="6084528"/>
              <a:ext cx="405658" cy="408607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X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62" name="Oval 4"/>
            <p:cNvSpPr>
              <a:spLocks noChangeArrowheads="1"/>
            </p:cNvSpPr>
            <p:nvPr/>
          </p:nvSpPr>
          <p:spPr bwMode="auto">
            <a:xfrm>
              <a:off x="5340993" y="4603576"/>
              <a:ext cx="387363" cy="408607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/>
              <a:r>
                <a:rPr lang="en-US" altLang="zh-CN" sz="1800" dirty="0" smtClean="0">
                  <a:latin typeface="Times New Roman" panose="02020603050405020304" pitchFamily="18" charset="0"/>
                  <a:ea typeface="宋体" pitchFamily="2" charset="-122"/>
                </a:rPr>
                <a:t>G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56C14F3-A307-4B91-9343-B32F802110E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01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901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5CD61E1-383E-4763-A07F-0052B0B69B2F}" type="slidenum">
              <a:rPr lang="en-US" altLang="zh-CN" sz="1050"/>
            </a:fld>
            <a:endParaRPr lang="en-US" altLang="zh-CN" sz="1050"/>
          </a:p>
        </p:txBody>
      </p: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>
          <a:xfrm>
            <a:off x="754380" y="2668548"/>
            <a:ext cx="3303270" cy="667812"/>
          </a:xfrm>
        </p:spPr>
        <p:txBody>
          <a:bodyPr>
            <a:noAutofit/>
          </a:bodyPr>
          <a:lstStyle/>
          <a:p>
            <a:r>
              <a:rPr lang="en-US" altLang="zh-CN" sz="2800" dirty="0" smtClean="0">
                <a:ea typeface="宋体" pitchFamily="2" charset="-122"/>
              </a:rPr>
              <a:t>Zig-Zig and Zig-Zag</a:t>
            </a:r>
            <a:endParaRPr lang="en-US" altLang="zh-CN" sz="2800" dirty="0" smtClean="0">
              <a:ea typeface="宋体" pitchFamily="2" charset="-122"/>
            </a:endParaRPr>
          </a:p>
        </p:txBody>
      </p:sp>
      <p:sp>
        <p:nvSpPr>
          <p:cNvPr id="90118" name="Oval 3"/>
          <p:cNvSpPr>
            <a:spLocks noChangeArrowheads="1"/>
          </p:cNvSpPr>
          <p:nvPr/>
        </p:nvSpPr>
        <p:spPr bwMode="auto">
          <a:xfrm>
            <a:off x="5086350" y="4716016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0119" name="Oval 4"/>
          <p:cNvSpPr>
            <a:spLocks noChangeArrowheads="1"/>
          </p:cNvSpPr>
          <p:nvPr/>
        </p:nvSpPr>
        <p:spPr bwMode="auto">
          <a:xfrm>
            <a:off x="4286250" y="5230366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G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0120" name="Oval 5"/>
          <p:cNvSpPr>
            <a:spLocks noChangeArrowheads="1"/>
          </p:cNvSpPr>
          <p:nvPr/>
        </p:nvSpPr>
        <p:spPr bwMode="auto">
          <a:xfrm>
            <a:off x="5772150" y="5230366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0121" name="Oval 6"/>
          <p:cNvSpPr>
            <a:spLocks noChangeArrowheads="1"/>
          </p:cNvSpPr>
          <p:nvPr/>
        </p:nvSpPr>
        <p:spPr bwMode="auto">
          <a:xfrm>
            <a:off x="3771900" y="5801866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0122" name="Oval 7"/>
          <p:cNvSpPr>
            <a:spLocks noChangeArrowheads="1"/>
          </p:cNvSpPr>
          <p:nvPr/>
        </p:nvSpPr>
        <p:spPr bwMode="auto">
          <a:xfrm>
            <a:off x="4743450" y="5801866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P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90123" name="AutoShape 8"/>
          <p:cNvCxnSpPr>
            <a:cxnSpLocks noChangeShapeType="1"/>
            <a:stCxn id="90118" idx="3"/>
            <a:endCxn id="90119" idx="7"/>
          </p:cNvCxnSpPr>
          <p:nvPr/>
        </p:nvCxnSpPr>
        <p:spPr bwMode="auto">
          <a:xfrm flipH="1">
            <a:off x="4579144" y="5008910"/>
            <a:ext cx="557213" cy="271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24" name="AutoShape 9"/>
          <p:cNvCxnSpPr>
            <a:cxnSpLocks noChangeShapeType="1"/>
            <a:stCxn id="90118" idx="5"/>
            <a:endCxn id="90120" idx="1"/>
          </p:cNvCxnSpPr>
          <p:nvPr/>
        </p:nvCxnSpPr>
        <p:spPr bwMode="auto">
          <a:xfrm>
            <a:off x="5379244" y="5008910"/>
            <a:ext cx="442913" cy="271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25" name="AutoShape 10"/>
          <p:cNvCxnSpPr>
            <a:cxnSpLocks noChangeShapeType="1"/>
            <a:stCxn id="90119" idx="3"/>
            <a:endCxn id="90121" idx="0"/>
          </p:cNvCxnSpPr>
          <p:nvPr/>
        </p:nvCxnSpPr>
        <p:spPr bwMode="auto">
          <a:xfrm flipH="1">
            <a:off x="3943351" y="5523260"/>
            <a:ext cx="392906" cy="27860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26" name="AutoShape 11"/>
          <p:cNvCxnSpPr>
            <a:cxnSpLocks noChangeShapeType="1"/>
            <a:stCxn id="90119" idx="5"/>
            <a:endCxn id="90122" idx="0"/>
          </p:cNvCxnSpPr>
          <p:nvPr/>
        </p:nvCxnSpPr>
        <p:spPr bwMode="auto">
          <a:xfrm>
            <a:off x="4579144" y="5523260"/>
            <a:ext cx="335756" cy="278606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127" name="Text Box 13"/>
          <p:cNvSpPr txBox="1">
            <a:spLocks noChangeArrowheads="1"/>
          </p:cNvSpPr>
          <p:nvPr/>
        </p:nvSpPr>
        <p:spPr bwMode="auto">
          <a:xfrm>
            <a:off x="5341259" y="5674351"/>
            <a:ext cx="9284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zig-zag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90128" name="Freeform 14"/>
          <p:cNvSpPr/>
          <p:nvPr/>
        </p:nvSpPr>
        <p:spPr bwMode="auto">
          <a:xfrm>
            <a:off x="4800600" y="5530404"/>
            <a:ext cx="608410" cy="322660"/>
          </a:xfrm>
          <a:custGeom>
            <a:avLst/>
            <a:gdLst>
              <a:gd name="T0" fmla="*/ 811213 w 511"/>
              <a:gd name="T1" fmla="*/ 430213 h 271"/>
              <a:gd name="T2" fmla="*/ 334963 w 511"/>
              <a:gd name="T3" fmla="*/ 49213 h 271"/>
              <a:gd name="T4" fmla="*/ 0 w 511"/>
              <a:gd name="T5" fmla="*/ 13335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1" h="271">
                <a:moveTo>
                  <a:pt x="511" y="271"/>
                </a:moveTo>
                <a:cubicBezTo>
                  <a:pt x="461" y="231"/>
                  <a:pt x="296" y="62"/>
                  <a:pt x="211" y="31"/>
                </a:cubicBezTo>
                <a:cubicBezTo>
                  <a:pt x="126" y="0"/>
                  <a:pt x="44" y="73"/>
                  <a:pt x="0" y="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0129" name="Oval 15"/>
          <p:cNvSpPr>
            <a:spLocks noChangeArrowheads="1"/>
          </p:cNvSpPr>
          <p:nvPr/>
        </p:nvSpPr>
        <p:spPr bwMode="auto">
          <a:xfrm>
            <a:off x="2000250" y="4799434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G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0130" name="Oval 16"/>
          <p:cNvSpPr>
            <a:spLocks noChangeArrowheads="1"/>
          </p:cNvSpPr>
          <p:nvPr/>
        </p:nvSpPr>
        <p:spPr bwMode="auto">
          <a:xfrm>
            <a:off x="1200150" y="5313784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P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0131" name="Oval 17"/>
          <p:cNvSpPr>
            <a:spLocks noChangeArrowheads="1"/>
          </p:cNvSpPr>
          <p:nvPr/>
        </p:nvSpPr>
        <p:spPr bwMode="auto">
          <a:xfrm>
            <a:off x="2686050" y="5313784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0132" name="Oval 18"/>
          <p:cNvSpPr>
            <a:spLocks noChangeArrowheads="1"/>
          </p:cNvSpPr>
          <p:nvPr/>
        </p:nvSpPr>
        <p:spPr bwMode="auto">
          <a:xfrm>
            <a:off x="685800" y="5885284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X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0133" name="Oval 19"/>
          <p:cNvSpPr>
            <a:spLocks noChangeArrowheads="1"/>
          </p:cNvSpPr>
          <p:nvPr/>
        </p:nvSpPr>
        <p:spPr bwMode="auto">
          <a:xfrm>
            <a:off x="1657350" y="5885284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90134" name="AutoShape 20"/>
          <p:cNvCxnSpPr>
            <a:cxnSpLocks noChangeShapeType="1"/>
            <a:stCxn id="90129" idx="3"/>
            <a:endCxn id="90130" idx="7"/>
          </p:cNvCxnSpPr>
          <p:nvPr/>
        </p:nvCxnSpPr>
        <p:spPr bwMode="auto">
          <a:xfrm flipH="1">
            <a:off x="1493044" y="5092328"/>
            <a:ext cx="557213" cy="271463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35" name="AutoShape 21"/>
          <p:cNvCxnSpPr>
            <a:cxnSpLocks noChangeShapeType="1"/>
            <a:stCxn id="90129" idx="5"/>
            <a:endCxn id="90131" idx="1"/>
          </p:cNvCxnSpPr>
          <p:nvPr/>
        </p:nvCxnSpPr>
        <p:spPr bwMode="auto">
          <a:xfrm>
            <a:off x="2293144" y="5092328"/>
            <a:ext cx="442913" cy="271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36" name="AutoShape 22"/>
          <p:cNvCxnSpPr>
            <a:cxnSpLocks noChangeShapeType="1"/>
            <a:stCxn id="90130" idx="3"/>
            <a:endCxn id="90132" idx="0"/>
          </p:cNvCxnSpPr>
          <p:nvPr/>
        </p:nvCxnSpPr>
        <p:spPr bwMode="auto">
          <a:xfrm flipH="1">
            <a:off x="857251" y="5606678"/>
            <a:ext cx="392906" cy="278606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37" name="AutoShape 23"/>
          <p:cNvCxnSpPr>
            <a:cxnSpLocks noChangeShapeType="1"/>
            <a:stCxn id="90130" idx="5"/>
            <a:endCxn id="90133" idx="0"/>
          </p:cNvCxnSpPr>
          <p:nvPr/>
        </p:nvCxnSpPr>
        <p:spPr bwMode="auto">
          <a:xfrm>
            <a:off x="1493044" y="5606678"/>
            <a:ext cx="335756" cy="27860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138" name="Text Box 24"/>
          <p:cNvSpPr txBox="1">
            <a:spLocks noChangeArrowheads="1"/>
          </p:cNvSpPr>
          <p:nvPr/>
        </p:nvSpPr>
        <p:spPr bwMode="auto">
          <a:xfrm>
            <a:off x="488643" y="4557619"/>
            <a:ext cx="8515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zig-zig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90139" name="Freeform 25"/>
          <p:cNvSpPr/>
          <p:nvPr/>
        </p:nvSpPr>
        <p:spPr bwMode="auto">
          <a:xfrm>
            <a:off x="1040607" y="4936357"/>
            <a:ext cx="673894" cy="263128"/>
          </a:xfrm>
          <a:custGeom>
            <a:avLst/>
            <a:gdLst>
              <a:gd name="T0" fmla="*/ 0 w 566"/>
              <a:gd name="T1" fmla="*/ 0 h 221"/>
              <a:gd name="T2" fmla="*/ 598488 w 566"/>
              <a:gd name="T3" fmla="*/ 136525 h 221"/>
              <a:gd name="T4" fmla="*/ 898525 w 566"/>
              <a:gd name="T5" fmla="*/ 350837 h 22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66" h="221">
                <a:moveTo>
                  <a:pt x="0" y="0"/>
                </a:moveTo>
                <a:cubicBezTo>
                  <a:pt x="63" y="14"/>
                  <a:pt x="283" y="49"/>
                  <a:pt x="377" y="86"/>
                </a:cubicBezTo>
                <a:cubicBezTo>
                  <a:pt x="471" y="123"/>
                  <a:pt x="527" y="193"/>
                  <a:pt x="566" y="22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0140" name="Oval 28"/>
          <p:cNvSpPr>
            <a:spLocks noChangeArrowheads="1"/>
          </p:cNvSpPr>
          <p:nvPr/>
        </p:nvSpPr>
        <p:spPr bwMode="auto">
          <a:xfrm>
            <a:off x="4293394" y="6366222"/>
            <a:ext cx="342900" cy="3429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X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90141" name="AutoShape 29"/>
          <p:cNvCxnSpPr>
            <a:cxnSpLocks noChangeShapeType="1"/>
            <a:stCxn id="90122" idx="3"/>
            <a:endCxn id="90140" idx="0"/>
          </p:cNvCxnSpPr>
          <p:nvPr/>
        </p:nvCxnSpPr>
        <p:spPr bwMode="auto">
          <a:xfrm flipH="1">
            <a:off x="4464844" y="6094760"/>
            <a:ext cx="328613" cy="271463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142" name="Freeform 31"/>
          <p:cNvSpPr/>
          <p:nvPr/>
        </p:nvSpPr>
        <p:spPr bwMode="auto">
          <a:xfrm>
            <a:off x="4666060" y="5862588"/>
            <a:ext cx="763190" cy="589359"/>
          </a:xfrm>
          <a:custGeom>
            <a:avLst/>
            <a:gdLst>
              <a:gd name="T0" fmla="*/ 1017587 w 641"/>
              <a:gd name="T1" fmla="*/ 0 h 495"/>
              <a:gd name="T2" fmla="*/ 419100 w 641"/>
              <a:gd name="T3" fmla="*/ 695325 h 495"/>
              <a:gd name="T4" fmla="*/ 0 w 641"/>
              <a:gd name="T5" fmla="*/ 539750 h 4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1" h="495">
                <a:moveTo>
                  <a:pt x="641" y="0"/>
                </a:moveTo>
                <a:cubicBezTo>
                  <a:pt x="578" y="73"/>
                  <a:pt x="371" y="381"/>
                  <a:pt x="264" y="438"/>
                </a:cubicBezTo>
                <a:cubicBezTo>
                  <a:pt x="157" y="495"/>
                  <a:pt x="55" y="360"/>
                  <a:pt x="0" y="34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0143" name="Freeform 32"/>
          <p:cNvSpPr/>
          <p:nvPr/>
        </p:nvSpPr>
        <p:spPr bwMode="auto">
          <a:xfrm>
            <a:off x="917972" y="4936356"/>
            <a:ext cx="113109" cy="765572"/>
          </a:xfrm>
          <a:custGeom>
            <a:avLst/>
            <a:gdLst>
              <a:gd name="T0" fmla="*/ 150812 w 95"/>
              <a:gd name="T1" fmla="*/ 0 h 643"/>
              <a:gd name="T2" fmla="*/ 0 w 95"/>
              <a:gd name="T3" fmla="*/ 366712 h 643"/>
              <a:gd name="T4" fmla="*/ 150812 w 95"/>
              <a:gd name="T5" fmla="*/ 1020762 h 64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5" h="643">
                <a:moveTo>
                  <a:pt x="95" y="0"/>
                </a:moveTo>
                <a:cubicBezTo>
                  <a:pt x="79" y="38"/>
                  <a:pt x="0" y="124"/>
                  <a:pt x="0" y="231"/>
                </a:cubicBezTo>
                <a:cubicBezTo>
                  <a:pt x="0" y="338"/>
                  <a:pt x="75" y="557"/>
                  <a:pt x="95" y="64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0144" name="Text Box 35"/>
          <p:cNvSpPr txBox="1">
            <a:spLocks noChangeArrowheads="1"/>
          </p:cNvSpPr>
          <p:nvPr/>
        </p:nvSpPr>
        <p:spPr bwMode="auto">
          <a:xfrm>
            <a:off x="471488" y="3633217"/>
            <a:ext cx="28905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Parent and grandparent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in same direction.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90145" name="Text Box 36"/>
          <p:cNvSpPr txBox="1">
            <a:spLocks noChangeArrowheads="1"/>
          </p:cNvSpPr>
          <p:nvPr/>
        </p:nvSpPr>
        <p:spPr bwMode="auto">
          <a:xfrm>
            <a:off x="3771900" y="3678317"/>
            <a:ext cx="28905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Parent and grandparent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in different directions.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4DA16D8-940E-4E99-9864-9E5C365C49A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1139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CB94173-EF0D-494F-AF35-60CE47147E6B}" type="slidenum">
              <a:rPr lang="en-US" altLang="zh-CN" sz="1050"/>
            </a:fld>
            <a:endParaRPr lang="en-US" altLang="zh-CN" sz="1050"/>
          </a:p>
        </p:txBody>
      </p:sp>
      <p:sp>
        <p:nvSpPr>
          <p:cNvPr id="91141" name="Text Box 2"/>
          <p:cNvSpPr txBox="1">
            <a:spLocks noChangeArrowheads="1"/>
          </p:cNvSpPr>
          <p:nvPr/>
        </p:nvSpPr>
        <p:spPr bwMode="auto">
          <a:xfrm>
            <a:off x="600801" y="2520012"/>
            <a:ext cx="505484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1. Helpful if nodes contain a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parent</a:t>
            </a:r>
            <a:r>
              <a:rPr lang="en-US" altLang="zh-CN" dirty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pointer.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91142" name="Text Box 8"/>
          <p:cNvSpPr txBox="1">
            <a:spLocks noChangeArrowheads="1"/>
          </p:cNvSpPr>
          <p:nvPr/>
        </p:nvSpPr>
        <p:spPr bwMode="auto">
          <a:xfrm>
            <a:off x="628651" y="4743450"/>
            <a:ext cx="568067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2. When X is accessed, apply one of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six</a:t>
            </a:r>
            <a:r>
              <a:rPr lang="en-US" altLang="zh-CN" dirty="0">
                <a:ea typeface="宋体" pitchFamily="2" charset="-122"/>
              </a:rPr>
              <a:t> rotation routines.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91143" name="Text Box 9"/>
          <p:cNvSpPr txBox="1">
            <a:spLocks noChangeArrowheads="1"/>
          </p:cNvSpPr>
          <p:nvPr/>
        </p:nvSpPr>
        <p:spPr bwMode="auto">
          <a:xfrm>
            <a:off x="697707" y="5477614"/>
            <a:ext cx="5083969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zh-CN" dirty="0">
                <a:ea typeface="宋体" pitchFamily="2" charset="-122"/>
              </a:rPr>
              <a:t> Single Rotations (X has a P (the root) but no G)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 err="1">
                <a:ea typeface="宋体" pitchFamily="2" charset="-122"/>
              </a:rPr>
              <a:t>ZigFromLeft</a:t>
            </a:r>
            <a:r>
              <a:rPr lang="en-US" altLang="zh-CN" dirty="0">
                <a:ea typeface="宋体" pitchFamily="2" charset="-122"/>
              </a:rPr>
              <a:t>, </a:t>
            </a:r>
            <a:r>
              <a:rPr lang="en-US" altLang="zh-CN" dirty="0" err="1">
                <a:ea typeface="宋体" pitchFamily="2" charset="-122"/>
              </a:rPr>
              <a:t>ZigFromRight</a:t>
            </a:r>
            <a:endParaRPr lang="en-US" altLang="zh-CN" dirty="0">
              <a:ea typeface="宋体" pitchFamily="2" charset="-122"/>
            </a:endParaRPr>
          </a:p>
          <a:p>
            <a:pPr>
              <a:buFontTx/>
              <a:buChar char="•"/>
            </a:pPr>
            <a:endParaRPr lang="en-US" altLang="zh-CN" sz="700" dirty="0">
              <a:ea typeface="宋体" pitchFamily="2" charset="-122"/>
            </a:endParaRPr>
          </a:p>
          <a:p>
            <a:pPr>
              <a:buFontTx/>
              <a:buChar char="•"/>
            </a:pPr>
            <a:r>
              <a:rPr lang="en-US" altLang="zh-CN" dirty="0">
                <a:ea typeface="宋体" pitchFamily="2" charset="-122"/>
              </a:rPr>
              <a:t> Double Rotations (X has both a P and a G)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 err="1">
                <a:ea typeface="宋体" pitchFamily="2" charset="-122"/>
              </a:rPr>
              <a:t>ZigZigFromLeft</a:t>
            </a:r>
            <a:r>
              <a:rPr lang="en-US" altLang="zh-CN" dirty="0">
                <a:ea typeface="宋体" pitchFamily="2" charset="-122"/>
              </a:rPr>
              <a:t>, </a:t>
            </a:r>
            <a:r>
              <a:rPr lang="en-US" altLang="zh-CN" dirty="0" err="1">
                <a:ea typeface="宋体" pitchFamily="2" charset="-122"/>
              </a:rPr>
              <a:t>ZigZigFromRight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 err="1">
                <a:ea typeface="宋体" pitchFamily="2" charset="-122"/>
              </a:rPr>
              <a:t>ZigZagFromLeft</a:t>
            </a:r>
            <a:r>
              <a:rPr lang="en-US" altLang="zh-CN" dirty="0">
                <a:ea typeface="宋体" pitchFamily="2" charset="-122"/>
              </a:rPr>
              <a:t>, </a:t>
            </a:r>
            <a:r>
              <a:rPr lang="en-US" altLang="zh-CN" dirty="0" err="1">
                <a:ea typeface="宋体" pitchFamily="2" charset="-122"/>
              </a:rPr>
              <a:t>ZigZagFromRight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91144" name="Rectangle 12"/>
          <p:cNvSpPr>
            <a:spLocks noChangeArrowheads="1"/>
          </p:cNvSpPr>
          <p:nvPr/>
        </p:nvSpPr>
        <p:spPr bwMode="auto">
          <a:xfrm>
            <a:off x="628650" y="1721196"/>
            <a:ext cx="4384526" cy="601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dirty="0">
                <a:ea typeface="宋体" pitchFamily="2" charset="-122"/>
              </a:rPr>
              <a:t>Splay Tree </a:t>
            </a:r>
            <a:r>
              <a:rPr lang="en-US" altLang="zh-CN" sz="2400" dirty="0" smtClean="0">
                <a:ea typeface="宋体" pitchFamily="2" charset="-122"/>
              </a:rPr>
              <a:t>Operations</a:t>
            </a:r>
            <a:r>
              <a:rPr lang="en-US" altLang="zh-CN" sz="2400" dirty="0">
                <a:ea typeface="宋体" pitchFamily="2" charset="-122"/>
              </a:rPr>
              <a:t>: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91145" name="Rectangle 13"/>
          <p:cNvSpPr>
            <a:spLocks noChangeArrowheads="1"/>
          </p:cNvSpPr>
          <p:nvPr/>
        </p:nvSpPr>
        <p:spPr bwMode="auto">
          <a:xfrm>
            <a:off x="2714624" y="3423682"/>
            <a:ext cx="707234" cy="19712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91146" name="Rectangle 14"/>
          <p:cNvSpPr>
            <a:spLocks noChangeArrowheads="1"/>
          </p:cNvSpPr>
          <p:nvPr/>
        </p:nvSpPr>
        <p:spPr bwMode="auto">
          <a:xfrm>
            <a:off x="2714624" y="3595132"/>
            <a:ext cx="707234" cy="19712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91147" name="Rectangle 16"/>
          <p:cNvSpPr>
            <a:spLocks noChangeArrowheads="1"/>
          </p:cNvSpPr>
          <p:nvPr/>
        </p:nvSpPr>
        <p:spPr bwMode="auto">
          <a:xfrm>
            <a:off x="2714623" y="3766582"/>
            <a:ext cx="353617" cy="19712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91148" name="Rectangle 17"/>
          <p:cNvSpPr>
            <a:spLocks noChangeArrowheads="1"/>
          </p:cNvSpPr>
          <p:nvPr/>
        </p:nvSpPr>
        <p:spPr bwMode="auto">
          <a:xfrm>
            <a:off x="3068960" y="3766582"/>
            <a:ext cx="353617" cy="19712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91149" name="Line 18"/>
          <p:cNvSpPr>
            <a:spLocks noChangeShapeType="1"/>
          </p:cNvSpPr>
          <p:nvPr/>
        </p:nvSpPr>
        <p:spPr bwMode="auto">
          <a:xfrm flipH="1">
            <a:off x="2590688" y="3872322"/>
            <a:ext cx="363252" cy="4514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1150" name="Line 19"/>
          <p:cNvSpPr>
            <a:spLocks noChangeShapeType="1"/>
          </p:cNvSpPr>
          <p:nvPr/>
        </p:nvSpPr>
        <p:spPr bwMode="auto">
          <a:xfrm>
            <a:off x="3126111" y="3872321"/>
            <a:ext cx="311301" cy="4025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1151" name="Line 20"/>
          <p:cNvSpPr>
            <a:spLocks noChangeShapeType="1"/>
          </p:cNvSpPr>
          <p:nvPr/>
        </p:nvSpPr>
        <p:spPr bwMode="auto">
          <a:xfrm flipV="1">
            <a:off x="3068960" y="3243672"/>
            <a:ext cx="117872" cy="26283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1152" name="Text Box 21"/>
          <p:cNvSpPr txBox="1">
            <a:spLocks noChangeArrowheads="1"/>
          </p:cNvSpPr>
          <p:nvPr/>
        </p:nvSpPr>
        <p:spPr bwMode="auto">
          <a:xfrm>
            <a:off x="3429000" y="3059006"/>
            <a:ext cx="8386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ea typeface="宋体" pitchFamily="2" charset="-122"/>
              </a:rPr>
              <a:t>parent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91153" name="Text Box 22"/>
          <p:cNvSpPr txBox="1">
            <a:spLocks noChangeArrowheads="1"/>
          </p:cNvSpPr>
          <p:nvPr/>
        </p:nvSpPr>
        <p:spPr bwMode="auto">
          <a:xfrm>
            <a:off x="3609583" y="4064649"/>
            <a:ext cx="7445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ea typeface="宋体" pitchFamily="2" charset="-122"/>
              </a:rPr>
              <a:t>right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91154" name="Text Box 23"/>
          <p:cNvSpPr txBox="1">
            <a:spLocks noChangeArrowheads="1"/>
          </p:cNvSpPr>
          <p:nvPr/>
        </p:nvSpPr>
        <p:spPr bwMode="auto">
          <a:xfrm>
            <a:off x="2046010" y="3944185"/>
            <a:ext cx="4924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ea typeface="宋体" pitchFamily="2" charset="-122"/>
              </a:rPr>
              <a:t>left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91155" name="Text Box 24"/>
          <p:cNvSpPr txBox="1">
            <a:spLocks noChangeArrowheads="1"/>
          </p:cNvSpPr>
          <p:nvPr/>
        </p:nvSpPr>
        <p:spPr bwMode="auto">
          <a:xfrm>
            <a:off x="3541168" y="3494110"/>
            <a:ext cx="10054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ea typeface="宋体" pitchFamily="2" charset="-122"/>
              </a:rPr>
              <a:t>element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20" name="Rectangle 7"/>
          <p:cNvSpPr txBox="1">
            <a:spLocks noChangeArrowheads="1"/>
          </p:cNvSpPr>
          <p:nvPr/>
        </p:nvSpPr>
        <p:spPr>
          <a:xfrm>
            <a:off x="502454" y="467544"/>
            <a:ext cx="5915025" cy="720080"/>
          </a:xfrm>
          <a:prstGeom prst="rect">
            <a:avLst/>
          </a:prstGeom>
        </p:spPr>
        <p:txBody>
          <a:bodyPr/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 smtClean="0">
                <a:ea typeface="宋体" pitchFamily="2" charset="-122"/>
              </a:rPr>
              <a:t>Splay Trees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B720954-2FF0-4383-A2BC-23AEBA7DDAB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216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9216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AF68DAF-7BAD-40B1-B5AB-84D25AF54019}" type="slidenum">
              <a:rPr lang="en-US" altLang="zh-CN" sz="1050"/>
            </a:fld>
            <a:endParaRPr lang="en-US" altLang="zh-CN" sz="1050"/>
          </a:p>
        </p:txBody>
      </p:sp>
      <p:sp>
        <p:nvSpPr>
          <p:cNvPr id="921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186" y="2486024"/>
            <a:ext cx="6286500" cy="496629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“Zig” is just a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single rotation</a:t>
            </a:r>
            <a:r>
              <a:rPr lang="en-US" altLang="zh-CN" dirty="0">
                <a:ea typeface="宋体" pitchFamily="2" charset="-122"/>
              </a:rPr>
              <a:t>, as in an AVL tree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Let R be the node that was accessed (e.g. using Find)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err="1" smtClean="0">
                <a:ea typeface="宋体" pitchFamily="2" charset="-122"/>
              </a:rPr>
              <a:t>ZigFromLeft</a:t>
            </a: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moves R to the top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宋体" pitchFamily="2" charset="-122"/>
                <a:sym typeface="Wingdings" panose="05000000000000000000" pitchFamily="2" charset="2"/>
              </a:rPr>
              <a:t>faster access next time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92168" name="Text Box 5"/>
          <p:cNvSpPr txBox="1">
            <a:spLocks noChangeArrowheads="1"/>
          </p:cNvSpPr>
          <p:nvPr/>
        </p:nvSpPr>
        <p:spPr bwMode="auto">
          <a:xfrm>
            <a:off x="5216129" y="241458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0" y="3759125"/>
          <a:ext cx="6858000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Photo Editor Photo" r:id="rId1" imgW="11820525" imgH="6296025" progId="MSPhotoEd.3">
                  <p:embed/>
                </p:oleObj>
              </mc:Choice>
              <mc:Fallback>
                <p:oleObj name="Photo Editor Photo" r:id="rId1" imgW="11820525" imgH="6296025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9051"/>
                      <a:stretch>
                        <a:fillRect/>
                      </a:stretch>
                    </p:blipFill>
                    <p:spPr bwMode="auto">
                      <a:xfrm>
                        <a:off x="0" y="3759125"/>
                        <a:ext cx="6858000" cy="267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2636912" y="5364088"/>
            <a:ext cx="1806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708920" y="4776713"/>
            <a:ext cx="1827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dirty="0" err="1">
                <a:ea typeface="宋体" pitchFamily="2" charset="-122"/>
              </a:rPr>
              <a:t>ZigFromLeft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18" name="Oval 8"/>
          <p:cNvSpPr>
            <a:spLocks noChangeArrowheads="1"/>
          </p:cNvSpPr>
          <p:nvPr/>
        </p:nvSpPr>
        <p:spPr bwMode="auto">
          <a:xfrm rot="1500000">
            <a:off x="924399" y="3759125"/>
            <a:ext cx="762000" cy="1600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9" name="Oval 9"/>
          <p:cNvSpPr>
            <a:spLocks noChangeArrowheads="1"/>
          </p:cNvSpPr>
          <p:nvPr/>
        </p:nvSpPr>
        <p:spPr bwMode="auto">
          <a:xfrm rot="20100000">
            <a:off x="5554737" y="3759125"/>
            <a:ext cx="762000" cy="1600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0" name="Line 11"/>
          <p:cNvSpPr>
            <a:spLocks noChangeShapeType="1"/>
          </p:cNvSpPr>
          <p:nvPr/>
        </p:nvSpPr>
        <p:spPr bwMode="auto">
          <a:xfrm flipH="1">
            <a:off x="1654696" y="414012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2430537" y="3911525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root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Zig at depth 1 (single rotation)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095F1EF-42A8-43EF-B574-DD41CF9A8C8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318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9318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6012B2E-8201-43C0-8CD7-88F520821CE1}" type="slidenum">
              <a:rPr lang="en-US" altLang="zh-CN" sz="1050"/>
            </a:fld>
            <a:endParaRPr lang="en-US" altLang="zh-CN" sz="1050"/>
          </a:p>
        </p:txBody>
      </p:sp>
      <p:sp>
        <p:nvSpPr>
          <p:cNvPr id="931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8820" y="2414588"/>
            <a:ext cx="5915025" cy="5357269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Suppose Q is now accessed using Find</a:t>
            </a:r>
            <a:endParaRPr lang="en-US" altLang="zh-CN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r>
              <a:rPr lang="en-US" altLang="zh-CN" dirty="0" err="1">
                <a:ea typeface="宋体" pitchFamily="2" charset="-122"/>
              </a:rPr>
              <a:t>ZigFromRight</a:t>
            </a:r>
            <a:r>
              <a:rPr lang="en-US" altLang="zh-CN" dirty="0">
                <a:ea typeface="宋体" pitchFamily="2" charset="-122"/>
              </a:rPr>
              <a:t> moves Q back to the top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93192" name="Text Box 5"/>
          <p:cNvSpPr txBox="1">
            <a:spLocks noChangeArrowheads="1"/>
          </p:cNvSpPr>
          <p:nvPr/>
        </p:nvSpPr>
        <p:spPr bwMode="auto">
          <a:xfrm>
            <a:off x="5216129" y="241458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22047" y="3273276"/>
          <a:ext cx="6813376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" name="Photo Editor Photo" r:id="rId1" imgW="11820525" imgH="6296025" progId="MSPhotoEd.3">
                  <p:embed/>
                </p:oleObj>
              </mc:Choice>
              <mc:Fallback>
                <p:oleObj name="Photo Editor Photo" r:id="rId1" imgW="11820525" imgH="6296025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9051"/>
                      <a:stretch>
                        <a:fillRect/>
                      </a:stretch>
                    </p:blipFill>
                    <p:spPr bwMode="auto">
                      <a:xfrm>
                        <a:off x="22047" y="3273276"/>
                        <a:ext cx="6813376" cy="267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6"/>
          <p:cNvSpPr>
            <a:spLocks noChangeShapeType="1"/>
          </p:cNvSpPr>
          <p:nvPr/>
        </p:nvSpPr>
        <p:spPr bwMode="auto">
          <a:xfrm>
            <a:off x="2780263" y="4817914"/>
            <a:ext cx="176977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2542326" y="4251176"/>
            <a:ext cx="21791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dirty="0" err="1">
                <a:ea typeface="宋体" pitchFamily="2" charset="-122"/>
              </a:rPr>
              <a:t>ZigFromRight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5015907" y="3222476"/>
            <a:ext cx="1789555" cy="2933700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240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 rot="1500000">
            <a:off x="916614" y="3340055"/>
            <a:ext cx="746480" cy="1600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 rot="20100000">
            <a:off x="5581798" y="3341435"/>
            <a:ext cx="746480" cy="1600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H="1">
            <a:off x="1563564" y="3641576"/>
            <a:ext cx="82112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2415732" y="3412976"/>
            <a:ext cx="149295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root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5" name="标题 2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/>
              <a:t>Zig at depth 1 (single rotation)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2703FF2-8F49-4E76-802E-70531C2840A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42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942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9318DF7-A94B-4A86-A9D3-500D759A0E47}" type="slidenum">
              <a:rPr lang="en-US" altLang="zh-CN" sz="1050"/>
            </a:fld>
            <a:endParaRPr lang="en-US" altLang="zh-CN" sz="1050"/>
          </a:p>
        </p:txBody>
      </p:sp>
      <p:sp>
        <p:nvSpPr>
          <p:cNvPr id="942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89" y="2320685"/>
            <a:ext cx="6057900" cy="8001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“Zig-Zag” consists of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two rotations of the opposite direction</a:t>
            </a:r>
            <a:r>
              <a:rPr lang="en-US" altLang="zh-CN" dirty="0">
                <a:ea typeface="宋体" pitchFamily="2" charset="-122"/>
              </a:rPr>
              <a:t> (assume R is the node that was accessed)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94222" name="Text Box 12"/>
          <p:cNvSpPr txBox="1">
            <a:spLocks noChangeArrowheads="1"/>
          </p:cNvSpPr>
          <p:nvPr/>
        </p:nvSpPr>
        <p:spPr bwMode="auto">
          <a:xfrm>
            <a:off x="3043761" y="5425348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500"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Zig-Zag operation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48" y="3972637"/>
            <a:ext cx="6432747" cy="2320538"/>
          </a:xfrm>
          <a:prstGeom prst="rect">
            <a:avLst/>
          </a:prstGeom>
        </p:spPr>
      </p:pic>
      <p:sp>
        <p:nvSpPr>
          <p:cNvPr id="20" name="Oval 7"/>
          <p:cNvSpPr>
            <a:spLocks noChangeArrowheads="1"/>
          </p:cNvSpPr>
          <p:nvPr/>
        </p:nvSpPr>
        <p:spPr bwMode="auto">
          <a:xfrm rot="20400000">
            <a:off x="452212" y="4614712"/>
            <a:ext cx="650429" cy="1086079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 rot="1500000">
            <a:off x="2776566" y="4658401"/>
            <a:ext cx="643394" cy="117766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2" name="Oval 9"/>
          <p:cNvSpPr>
            <a:spLocks noChangeArrowheads="1"/>
          </p:cNvSpPr>
          <p:nvPr/>
        </p:nvSpPr>
        <p:spPr bwMode="auto">
          <a:xfrm rot="1500000">
            <a:off x="3101455" y="3913894"/>
            <a:ext cx="545105" cy="1135887"/>
          </a:xfrm>
          <a:prstGeom prst="ellipse">
            <a:avLst/>
          </a:prstGeom>
          <a:noFill/>
          <a:ln w="38100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3" name="Oval 10"/>
          <p:cNvSpPr>
            <a:spLocks noChangeArrowheads="1"/>
          </p:cNvSpPr>
          <p:nvPr/>
        </p:nvSpPr>
        <p:spPr bwMode="auto">
          <a:xfrm rot="19500000">
            <a:off x="5741120" y="4135530"/>
            <a:ext cx="644472" cy="1276476"/>
          </a:xfrm>
          <a:prstGeom prst="ellipse">
            <a:avLst/>
          </a:prstGeom>
          <a:noFill/>
          <a:ln w="28575">
            <a:solidFill>
              <a:srgbClr val="263AF8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1068388" y="6523215"/>
            <a:ext cx="1892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(</a:t>
            </a:r>
            <a:r>
              <a:rPr lang="en-US" altLang="zh-CN" dirty="0" err="1">
                <a:ea typeface="宋体" pitchFamily="2" charset="-122"/>
              </a:rPr>
              <a:t>ZigFromRight</a:t>
            </a:r>
            <a:r>
              <a:rPr lang="en-US" altLang="zh-CN" dirty="0">
                <a:ea typeface="宋体" pitchFamily="2" charset="-122"/>
              </a:rPr>
              <a:t>)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3536827" y="6532638"/>
            <a:ext cx="1720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(</a:t>
            </a:r>
            <a:r>
              <a:rPr lang="en-US" altLang="zh-CN" dirty="0" err="1">
                <a:ea typeface="宋体" pitchFamily="2" charset="-122"/>
              </a:rPr>
              <a:t>ZigFromLeft</a:t>
            </a:r>
            <a:r>
              <a:rPr lang="en-US" altLang="zh-CN" dirty="0">
                <a:ea typeface="宋体" pitchFamily="2" charset="-122"/>
              </a:rPr>
              <a:t>)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2420888" y="7366285"/>
            <a:ext cx="199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 err="1">
                <a:ea typeface="宋体" pitchFamily="2" charset="-122"/>
              </a:rPr>
              <a:t>ZigZagFromLeft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7" name="Line 14"/>
          <p:cNvSpPr>
            <a:spLocks noChangeShapeType="1"/>
          </p:cNvSpPr>
          <p:nvPr/>
        </p:nvSpPr>
        <p:spPr bwMode="auto">
          <a:xfrm>
            <a:off x="1658888" y="7823485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640" y="4016231"/>
            <a:ext cx="6545386" cy="2201997"/>
          </a:xfrm>
          <a:prstGeom prst="rect">
            <a:avLst/>
          </a:prstGeom>
        </p:spPr>
      </p:pic>
      <p:sp>
        <p:nvSpPr>
          <p:cNvPr id="21" name="Oval 8"/>
          <p:cNvSpPr>
            <a:spLocks noChangeArrowheads="1"/>
          </p:cNvSpPr>
          <p:nvPr/>
        </p:nvSpPr>
        <p:spPr bwMode="auto">
          <a:xfrm rot="1500000">
            <a:off x="578914" y="3954386"/>
            <a:ext cx="628445" cy="108067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2" name="Oval 10"/>
          <p:cNvSpPr>
            <a:spLocks noChangeArrowheads="1"/>
          </p:cNvSpPr>
          <p:nvPr/>
        </p:nvSpPr>
        <p:spPr bwMode="auto">
          <a:xfrm rot="19200000">
            <a:off x="3179146" y="4148086"/>
            <a:ext cx="601543" cy="114112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3" name="Oval 11"/>
          <p:cNvSpPr>
            <a:spLocks noChangeArrowheads="1"/>
          </p:cNvSpPr>
          <p:nvPr/>
        </p:nvSpPr>
        <p:spPr bwMode="auto">
          <a:xfrm rot="2100000">
            <a:off x="2685713" y="4184423"/>
            <a:ext cx="614451" cy="1117153"/>
          </a:xfrm>
          <a:prstGeom prst="ellipse">
            <a:avLst/>
          </a:prstGeom>
          <a:noFill/>
          <a:ln w="38100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4" name="Oval 12"/>
          <p:cNvSpPr>
            <a:spLocks noChangeArrowheads="1"/>
          </p:cNvSpPr>
          <p:nvPr/>
        </p:nvSpPr>
        <p:spPr bwMode="auto">
          <a:xfrm rot="20100000">
            <a:off x="5669436" y="3923609"/>
            <a:ext cx="587986" cy="1121931"/>
          </a:xfrm>
          <a:prstGeom prst="ellipse">
            <a:avLst/>
          </a:prstGeom>
          <a:noFill/>
          <a:ln w="28575">
            <a:solidFill>
              <a:srgbClr val="263AF8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95234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1BB04D7-5595-4D46-81AB-7805EBA02B0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52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952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3FA8CCC-1615-4EEA-AC2E-7CFAB4769093}" type="slidenum">
              <a:rPr lang="en-US" altLang="zh-CN" sz="1050"/>
            </a:fld>
            <a:endParaRPr lang="en-US" altLang="zh-CN" sz="1050"/>
          </a:p>
        </p:txBody>
      </p:sp>
      <p:sp>
        <p:nvSpPr>
          <p:cNvPr id="952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2454" y="2485823"/>
            <a:ext cx="5829300" cy="2971800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“Zig-Zig” consists of </a:t>
            </a: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two single rotations of the same direction</a:t>
            </a:r>
            <a:r>
              <a:rPr lang="en-US" altLang="zh-CN" dirty="0" smtClean="0">
                <a:ea typeface="宋体" pitchFamily="2" charset="-122"/>
              </a:rPr>
              <a:t> (</a:t>
            </a: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R is the node that was accessed</a:t>
            </a:r>
            <a:r>
              <a:rPr lang="en-US" altLang="zh-CN" dirty="0" smtClean="0">
                <a:ea typeface="宋体" pitchFamily="2" charset="-122"/>
              </a:rPr>
              <a:t>)</a:t>
            </a:r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smtClean="0"/>
              <a:t>Zig-Zig </a:t>
            </a:r>
            <a:r>
              <a:rPr lang="en-US" altLang="zh-CN" dirty="0"/>
              <a:t>operation</a:t>
            </a:r>
            <a:endParaRPr lang="zh-CN" altLang="en-US" dirty="0"/>
          </a:p>
        </p:txBody>
      </p:sp>
      <p:sp>
        <p:nvSpPr>
          <p:cNvPr id="25" name="Text Box 13"/>
          <p:cNvSpPr txBox="1">
            <a:spLocks noChangeArrowheads="1"/>
          </p:cNvSpPr>
          <p:nvPr/>
        </p:nvSpPr>
        <p:spPr bwMode="auto">
          <a:xfrm>
            <a:off x="2276139" y="7092280"/>
            <a:ext cx="1906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 err="1">
                <a:ea typeface="宋体" pitchFamily="2" charset="-122"/>
              </a:rPr>
              <a:t>ZigZigFromLeft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1514139" y="7549480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1144451" y="6445947"/>
            <a:ext cx="1720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(</a:t>
            </a:r>
            <a:r>
              <a:rPr lang="en-US" altLang="zh-CN" dirty="0" err="1">
                <a:ea typeface="宋体" pitchFamily="2" charset="-122"/>
              </a:rPr>
              <a:t>ZigFromLeft</a:t>
            </a:r>
            <a:r>
              <a:rPr lang="en-US" altLang="zh-CN" dirty="0">
                <a:ea typeface="宋体" pitchFamily="2" charset="-122"/>
              </a:rPr>
              <a:t>)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4077072" y="6434207"/>
            <a:ext cx="1720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(</a:t>
            </a:r>
            <a:r>
              <a:rPr lang="en-US" altLang="zh-CN" dirty="0" err="1">
                <a:ea typeface="宋体" pitchFamily="2" charset="-122"/>
              </a:rPr>
              <a:t>ZigFromLeft</a:t>
            </a:r>
            <a:r>
              <a:rPr lang="en-US" altLang="zh-CN" dirty="0">
                <a:ea typeface="宋体" pitchFamily="2" charset="-122"/>
              </a:rPr>
              <a:t>)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62A1FDB-D4FA-448E-AFE4-8A1187ACFBB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625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9626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590B807-CE46-424E-85E5-B1AF4EE23151}" type="slidenum">
              <a:rPr lang="en-US" altLang="zh-CN" sz="1050"/>
            </a:fld>
            <a:endParaRPr lang="en-US" altLang="zh-CN" sz="1050"/>
          </a:p>
        </p:txBody>
      </p:sp>
      <p:sp>
        <p:nvSpPr>
          <p:cNvPr id="96263" name="Text Box 5"/>
          <p:cNvSpPr txBox="1">
            <a:spLocks noChangeArrowheads="1"/>
          </p:cNvSpPr>
          <p:nvPr/>
        </p:nvSpPr>
        <p:spPr bwMode="auto">
          <a:xfrm>
            <a:off x="1769113" y="5900082"/>
            <a:ext cx="10118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Find(T)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96264" name="Line 6"/>
          <p:cNvSpPr>
            <a:spLocks noChangeShapeType="1"/>
          </p:cNvSpPr>
          <p:nvPr/>
        </p:nvSpPr>
        <p:spPr bwMode="auto">
          <a:xfrm>
            <a:off x="847006" y="6294715"/>
            <a:ext cx="297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6265" name="Text Box 7"/>
          <p:cNvSpPr txBox="1">
            <a:spLocks noChangeArrowheads="1"/>
          </p:cNvSpPr>
          <p:nvPr/>
        </p:nvSpPr>
        <p:spPr bwMode="auto">
          <a:xfrm>
            <a:off x="4672609" y="5900082"/>
            <a:ext cx="10406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Find(R)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96266" name="Line 8"/>
          <p:cNvSpPr>
            <a:spLocks noChangeShapeType="1"/>
          </p:cNvSpPr>
          <p:nvPr/>
        </p:nvSpPr>
        <p:spPr bwMode="auto">
          <a:xfrm>
            <a:off x="4161706" y="6294715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" name="矩形 1"/>
          <p:cNvSpPr/>
          <p:nvPr/>
        </p:nvSpPr>
        <p:spPr>
          <a:xfrm>
            <a:off x="517985" y="6717870"/>
            <a:ext cx="5976664" cy="1323439"/>
          </a:xfrm>
          <a:prstGeom prst="rect">
            <a:avLst/>
          </a:prstGeom>
          <a:ln w="19050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splaying not only moves the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accessed node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root, 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has the effect of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roughly halving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depth of most nodes on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access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Decreasing depth - "</a:t>
            </a:r>
            <a:r>
              <a:rPr lang="en-US" altLang="zh-CN" dirty="0" err="1"/>
              <a:t>autobalance</a:t>
            </a:r>
            <a:r>
              <a:rPr lang="en-US" altLang="zh-CN" dirty="0"/>
              <a:t>"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5" y="2546274"/>
            <a:ext cx="6717365" cy="3353808"/>
          </a:xfrm>
          <a:prstGeom prst="rect">
            <a:avLst/>
          </a:prstGeom>
        </p:spPr>
      </p:pic>
      <p:sp>
        <p:nvSpPr>
          <p:cNvPr id="18" name="Oval 9"/>
          <p:cNvSpPr>
            <a:spLocks noChangeArrowheads="1"/>
          </p:cNvSpPr>
          <p:nvPr/>
        </p:nvSpPr>
        <p:spPr bwMode="auto">
          <a:xfrm>
            <a:off x="258177" y="4623012"/>
            <a:ext cx="328644" cy="340965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19" name="Oval 11"/>
          <p:cNvSpPr>
            <a:spLocks noChangeArrowheads="1"/>
          </p:cNvSpPr>
          <p:nvPr/>
        </p:nvSpPr>
        <p:spPr bwMode="auto">
          <a:xfrm>
            <a:off x="1950675" y="3587530"/>
            <a:ext cx="342900" cy="345758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20" name="Oval 12"/>
          <p:cNvSpPr>
            <a:spLocks noChangeArrowheads="1"/>
          </p:cNvSpPr>
          <p:nvPr/>
        </p:nvSpPr>
        <p:spPr bwMode="auto">
          <a:xfrm>
            <a:off x="3672593" y="2546421"/>
            <a:ext cx="342900" cy="345758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CB96717-DACB-4D37-AB6B-14E27C18B8EF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728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9728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E9F37F6-E37C-4659-9508-5B813F277A0A}" type="slidenum">
              <a:rPr lang="en-US" altLang="zh-CN" sz="1050"/>
            </a:fld>
            <a:endParaRPr lang="en-US" altLang="zh-CN" sz="1050"/>
          </a:p>
        </p:txBody>
      </p:sp>
      <p:sp>
        <p:nvSpPr>
          <p:cNvPr id="972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Splay Tree Insert and Delete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972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Insert x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Insert x as normal then splay x to root.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Delete </a:t>
            </a:r>
            <a:r>
              <a:rPr lang="en-US" altLang="zh-CN" dirty="0">
                <a:ea typeface="宋体" pitchFamily="2" charset="-122"/>
              </a:rPr>
              <a:t>x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Splay x to root and remove it. (note: the node does not have to be a leaf or single child node like in BST delete.)  Two trees remain, right subtree and left subtree.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Splay the max in the left subtree to the root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Attach the right subtree to the new root of the left subtree.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8857B3D-CAF6-4C66-87C0-22C0C823F1A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830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9830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2FFB7A2-07B6-4D8E-8D6E-5293AF5936E0}" type="slidenum">
              <a:rPr lang="en-US" altLang="zh-CN" sz="1050"/>
            </a:fld>
            <a:endParaRPr lang="en-US" altLang="zh-CN" sz="1050"/>
          </a:p>
        </p:txBody>
      </p:sp>
      <p:sp>
        <p:nvSpPr>
          <p:cNvPr id="983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Example Insert</a:t>
            </a:r>
            <a:endParaRPr lang="en-US" altLang="zh-CN" smtClean="0">
              <a:ea typeface="宋体" pitchFamily="2" charset="-122"/>
            </a:endParaRPr>
          </a:p>
        </p:txBody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Inserting in order 1,2,3,…,8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Without self-adjustment</a:t>
            </a:r>
            <a:endParaRPr lang="en-US" altLang="zh-CN" dirty="0" smtClean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98311" name="Oval 4"/>
          <p:cNvSpPr>
            <a:spLocks noChangeArrowheads="1"/>
          </p:cNvSpPr>
          <p:nvPr/>
        </p:nvSpPr>
        <p:spPr bwMode="auto">
          <a:xfrm>
            <a:off x="1428750" y="4400550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itchFamily="2" charset="-122"/>
              </a:rPr>
              <a:t>1</a:t>
            </a:r>
            <a:endParaRPr lang="en-US" altLang="zh-CN" sz="1500">
              <a:ea typeface="宋体" pitchFamily="2" charset="-122"/>
            </a:endParaRPr>
          </a:p>
        </p:txBody>
      </p:sp>
      <p:sp>
        <p:nvSpPr>
          <p:cNvPr id="98312" name="Line 5"/>
          <p:cNvSpPr>
            <a:spLocks noChangeShapeType="1"/>
          </p:cNvSpPr>
          <p:nvPr/>
        </p:nvSpPr>
        <p:spPr bwMode="auto">
          <a:xfrm>
            <a:off x="1714500" y="4572000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313" name="Oval 6"/>
          <p:cNvSpPr>
            <a:spLocks noChangeArrowheads="1"/>
          </p:cNvSpPr>
          <p:nvPr/>
        </p:nvSpPr>
        <p:spPr bwMode="auto">
          <a:xfrm>
            <a:off x="2000250" y="4686300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itchFamily="2" charset="-122"/>
              </a:rPr>
              <a:t>2</a:t>
            </a:r>
            <a:endParaRPr lang="en-US" altLang="zh-CN" sz="1500">
              <a:ea typeface="宋体" pitchFamily="2" charset="-122"/>
            </a:endParaRPr>
          </a:p>
        </p:txBody>
      </p:sp>
      <p:sp>
        <p:nvSpPr>
          <p:cNvPr id="98314" name="Line 7"/>
          <p:cNvSpPr>
            <a:spLocks noChangeShapeType="1"/>
          </p:cNvSpPr>
          <p:nvPr/>
        </p:nvSpPr>
        <p:spPr bwMode="auto">
          <a:xfrm>
            <a:off x="2286000" y="4857750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315" name="Oval 8"/>
          <p:cNvSpPr>
            <a:spLocks noChangeArrowheads="1"/>
          </p:cNvSpPr>
          <p:nvPr/>
        </p:nvSpPr>
        <p:spPr bwMode="auto">
          <a:xfrm>
            <a:off x="2571750" y="4972050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itchFamily="2" charset="-122"/>
              </a:rPr>
              <a:t>3</a:t>
            </a:r>
            <a:endParaRPr lang="en-US" altLang="zh-CN" sz="1500">
              <a:ea typeface="宋体" pitchFamily="2" charset="-122"/>
            </a:endParaRPr>
          </a:p>
        </p:txBody>
      </p:sp>
      <p:sp>
        <p:nvSpPr>
          <p:cNvPr id="98316" name="Line 9"/>
          <p:cNvSpPr>
            <a:spLocks noChangeShapeType="1"/>
          </p:cNvSpPr>
          <p:nvPr/>
        </p:nvSpPr>
        <p:spPr bwMode="auto">
          <a:xfrm>
            <a:off x="2857500" y="5143500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317" name="Oval 10"/>
          <p:cNvSpPr>
            <a:spLocks noChangeArrowheads="1"/>
          </p:cNvSpPr>
          <p:nvPr/>
        </p:nvSpPr>
        <p:spPr bwMode="auto">
          <a:xfrm>
            <a:off x="3143250" y="5257800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itchFamily="2" charset="-122"/>
              </a:rPr>
              <a:t>4</a:t>
            </a:r>
            <a:endParaRPr lang="en-US" altLang="zh-CN" sz="1500">
              <a:ea typeface="宋体" pitchFamily="2" charset="-122"/>
            </a:endParaRPr>
          </a:p>
        </p:txBody>
      </p:sp>
      <p:sp>
        <p:nvSpPr>
          <p:cNvPr id="98318" name="Line 11"/>
          <p:cNvSpPr>
            <a:spLocks noChangeShapeType="1"/>
          </p:cNvSpPr>
          <p:nvPr/>
        </p:nvSpPr>
        <p:spPr bwMode="auto">
          <a:xfrm>
            <a:off x="3429000" y="5429250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319" name="Oval 12"/>
          <p:cNvSpPr>
            <a:spLocks noChangeArrowheads="1"/>
          </p:cNvSpPr>
          <p:nvPr/>
        </p:nvSpPr>
        <p:spPr bwMode="auto">
          <a:xfrm>
            <a:off x="3714750" y="5543550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itchFamily="2" charset="-122"/>
              </a:rPr>
              <a:t>5</a:t>
            </a:r>
            <a:endParaRPr lang="en-US" altLang="zh-CN" sz="1500">
              <a:ea typeface="宋体" pitchFamily="2" charset="-122"/>
            </a:endParaRPr>
          </a:p>
        </p:txBody>
      </p:sp>
      <p:sp>
        <p:nvSpPr>
          <p:cNvPr id="98320" name="Line 13"/>
          <p:cNvSpPr>
            <a:spLocks noChangeShapeType="1"/>
          </p:cNvSpPr>
          <p:nvPr/>
        </p:nvSpPr>
        <p:spPr bwMode="auto">
          <a:xfrm>
            <a:off x="4000500" y="5715000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321" name="Oval 14"/>
          <p:cNvSpPr>
            <a:spLocks noChangeArrowheads="1"/>
          </p:cNvSpPr>
          <p:nvPr/>
        </p:nvSpPr>
        <p:spPr bwMode="auto">
          <a:xfrm>
            <a:off x="4286250" y="5829300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itchFamily="2" charset="-122"/>
              </a:rPr>
              <a:t>6</a:t>
            </a:r>
            <a:endParaRPr lang="en-US" altLang="zh-CN" sz="1500">
              <a:ea typeface="宋体" pitchFamily="2" charset="-122"/>
            </a:endParaRPr>
          </a:p>
        </p:txBody>
      </p:sp>
      <p:sp>
        <p:nvSpPr>
          <p:cNvPr id="98322" name="Line 15"/>
          <p:cNvSpPr>
            <a:spLocks noChangeShapeType="1"/>
          </p:cNvSpPr>
          <p:nvPr/>
        </p:nvSpPr>
        <p:spPr bwMode="auto">
          <a:xfrm>
            <a:off x="4572000" y="6000750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323" name="Oval 16"/>
          <p:cNvSpPr>
            <a:spLocks noChangeArrowheads="1"/>
          </p:cNvSpPr>
          <p:nvPr/>
        </p:nvSpPr>
        <p:spPr bwMode="auto">
          <a:xfrm>
            <a:off x="4857750" y="6115050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itchFamily="2" charset="-122"/>
              </a:rPr>
              <a:t>7</a:t>
            </a:r>
            <a:endParaRPr lang="en-US" altLang="zh-CN" sz="1500">
              <a:ea typeface="宋体" pitchFamily="2" charset="-122"/>
            </a:endParaRPr>
          </a:p>
        </p:txBody>
      </p:sp>
      <p:sp>
        <p:nvSpPr>
          <p:cNvPr id="98324" name="Line 17"/>
          <p:cNvSpPr>
            <a:spLocks noChangeShapeType="1"/>
          </p:cNvSpPr>
          <p:nvPr/>
        </p:nvSpPr>
        <p:spPr bwMode="auto">
          <a:xfrm>
            <a:off x="5143500" y="6286500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325" name="Oval 18"/>
          <p:cNvSpPr>
            <a:spLocks noChangeArrowheads="1"/>
          </p:cNvSpPr>
          <p:nvPr/>
        </p:nvSpPr>
        <p:spPr bwMode="auto">
          <a:xfrm>
            <a:off x="5429250" y="6400800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itchFamily="2" charset="-122"/>
              </a:rPr>
              <a:t>8</a:t>
            </a:r>
            <a:endParaRPr lang="en-US" altLang="zh-CN" sz="1500">
              <a:ea typeface="宋体" pitchFamily="2" charset="-122"/>
            </a:endParaRPr>
          </a:p>
        </p:txBody>
      </p:sp>
      <p:sp>
        <p:nvSpPr>
          <p:cNvPr id="98326" name="Text Box 19"/>
          <p:cNvSpPr txBox="1">
            <a:spLocks noChangeArrowheads="1"/>
          </p:cNvSpPr>
          <p:nvPr/>
        </p:nvSpPr>
        <p:spPr bwMode="auto">
          <a:xfrm>
            <a:off x="3714750" y="4693003"/>
            <a:ext cx="26372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O(n</a:t>
            </a:r>
            <a:r>
              <a:rPr lang="en-US" altLang="zh-CN" baseline="30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) time for n Insert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CF58D84-C907-4753-B91E-F4FC3A92863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830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9830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2FFB7A2-07B6-4D8E-8D6E-5293AF5936E0}" type="slidenum">
              <a:rPr lang="en-US" altLang="zh-CN" sz="1050"/>
            </a:fld>
            <a:endParaRPr lang="en-US" altLang="zh-CN" sz="1050"/>
          </a:p>
        </p:txBody>
      </p:sp>
      <p:sp>
        <p:nvSpPr>
          <p:cNvPr id="983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Example Insert</a:t>
            </a:r>
            <a:endParaRPr lang="en-US" altLang="zh-CN" smtClean="0">
              <a:ea typeface="宋体" pitchFamily="2" charset="-122"/>
            </a:endParaRPr>
          </a:p>
        </p:txBody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9106" y="2231801"/>
            <a:ext cx="5915025" cy="5801783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Inserting in order 1,2,3,…,8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With self-adjustment</a:t>
            </a:r>
            <a:endParaRPr lang="en-US" altLang="zh-CN" dirty="0" smtClean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1023938" y="3441576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dirty="0">
                <a:ea typeface="宋体" pitchFamily="2" charset="-122"/>
              </a:rPr>
              <a:t>1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407319" y="4508376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1788319" y="4660776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0" name="Oval 19"/>
          <p:cNvSpPr>
            <a:spLocks noChangeArrowheads="1"/>
          </p:cNvSpPr>
          <p:nvPr/>
        </p:nvSpPr>
        <p:spPr bwMode="auto">
          <a:xfrm>
            <a:off x="1026319" y="4203576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1" name="Line 20"/>
          <p:cNvSpPr>
            <a:spLocks noChangeShapeType="1"/>
          </p:cNvSpPr>
          <p:nvPr/>
        </p:nvSpPr>
        <p:spPr bwMode="auto">
          <a:xfrm flipH="1">
            <a:off x="3236119" y="4508376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21"/>
          <p:cNvSpPr>
            <a:spLocks noChangeArrowheads="1"/>
          </p:cNvSpPr>
          <p:nvPr/>
        </p:nvSpPr>
        <p:spPr bwMode="auto">
          <a:xfrm>
            <a:off x="3617119" y="4203576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3" name="Oval 22"/>
          <p:cNvSpPr>
            <a:spLocks noChangeArrowheads="1"/>
          </p:cNvSpPr>
          <p:nvPr/>
        </p:nvSpPr>
        <p:spPr bwMode="auto">
          <a:xfrm>
            <a:off x="2931319" y="4660776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1940719" y="4051176"/>
            <a:ext cx="1412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>
                <a:ea typeface="宋体" pitchFamily="2" charset="-122"/>
              </a:rPr>
              <a:t>ZigFromRight</a:t>
            </a:r>
            <a:endParaRPr lang="en-US" altLang="zh-CN" sz="1600">
              <a:ea typeface="宋体" pitchFamily="2" charset="-122"/>
            </a:endParaRPr>
          </a:p>
        </p:txBody>
      </p:sp>
      <p:sp>
        <p:nvSpPr>
          <p:cNvPr id="15" name="Line 24"/>
          <p:cNvSpPr>
            <a:spLocks noChangeShapeType="1"/>
          </p:cNvSpPr>
          <p:nvPr/>
        </p:nvSpPr>
        <p:spPr bwMode="auto">
          <a:xfrm>
            <a:off x="2016919" y="4432176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25"/>
          <p:cNvSpPr>
            <a:spLocks noChangeShapeType="1"/>
          </p:cNvSpPr>
          <p:nvPr/>
        </p:nvSpPr>
        <p:spPr bwMode="auto">
          <a:xfrm flipH="1">
            <a:off x="1329918" y="5688481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Oval 26"/>
          <p:cNvSpPr>
            <a:spLocks noChangeArrowheads="1"/>
          </p:cNvSpPr>
          <p:nvPr/>
        </p:nvSpPr>
        <p:spPr bwMode="auto">
          <a:xfrm>
            <a:off x="1710918" y="5383681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8" name="Oval 27"/>
          <p:cNvSpPr>
            <a:spLocks noChangeArrowheads="1"/>
          </p:cNvSpPr>
          <p:nvPr/>
        </p:nvSpPr>
        <p:spPr bwMode="auto">
          <a:xfrm>
            <a:off x="1025118" y="5840881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9" name="Line 28"/>
          <p:cNvSpPr>
            <a:spLocks noChangeShapeType="1"/>
          </p:cNvSpPr>
          <p:nvPr/>
        </p:nvSpPr>
        <p:spPr bwMode="auto">
          <a:xfrm>
            <a:off x="2091918" y="5688481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Oval 29"/>
          <p:cNvSpPr>
            <a:spLocks noChangeArrowheads="1"/>
          </p:cNvSpPr>
          <p:nvPr/>
        </p:nvSpPr>
        <p:spPr bwMode="auto">
          <a:xfrm>
            <a:off x="2472918" y="5840881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1" name="Text Box 30"/>
          <p:cNvSpPr txBox="1">
            <a:spLocks noChangeArrowheads="1"/>
          </p:cNvSpPr>
          <p:nvPr/>
        </p:nvSpPr>
        <p:spPr bwMode="auto">
          <a:xfrm>
            <a:off x="3082518" y="5459881"/>
            <a:ext cx="1412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>
                <a:ea typeface="宋体" pitchFamily="2" charset="-122"/>
              </a:rPr>
              <a:t>ZigFromRight</a:t>
            </a:r>
            <a:endParaRPr lang="en-US" altLang="zh-CN" sz="1600">
              <a:ea typeface="宋体" pitchFamily="2" charset="-122"/>
            </a:endParaRPr>
          </a:p>
        </p:txBody>
      </p:sp>
      <p:sp>
        <p:nvSpPr>
          <p:cNvPr id="22" name="Line 31"/>
          <p:cNvSpPr>
            <a:spLocks noChangeShapeType="1"/>
          </p:cNvSpPr>
          <p:nvPr/>
        </p:nvSpPr>
        <p:spPr bwMode="auto">
          <a:xfrm>
            <a:off x="3234918" y="5840881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32"/>
          <p:cNvSpPr>
            <a:spLocks noChangeShapeType="1"/>
          </p:cNvSpPr>
          <p:nvPr/>
        </p:nvSpPr>
        <p:spPr bwMode="auto">
          <a:xfrm flipH="1">
            <a:off x="5063718" y="5993281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Oval 33"/>
          <p:cNvSpPr>
            <a:spLocks noChangeArrowheads="1"/>
          </p:cNvSpPr>
          <p:nvPr/>
        </p:nvSpPr>
        <p:spPr bwMode="auto">
          <a:xfrm>
            <a:off x="5444718" y="5688481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5" name="Oval 34"/>
          <p:cNvSpPr>
            <a:spLocks noChangeArrowheads="1"/>
          </p:cNvSpPr>
          <p:nvPr/>
        </p:nvSpPr>
        <p:spPr bwMode="auto">
          <a:xfrm>
            <a:off x="4758918" y="6145681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6" name="Oval 36"/>
          <p:cNvSpPr>
            <a:spLocks noChangeArrowheads="1"/>
          </p:cNvSpPr>
          <p:nvPr/>
        </p:nvSpPr>
        <p:spPr bwMode="auto">
          <a:xfrm>
            <a:off x="6130518" y="5231281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7" name="Line 37"/>
          <p:cNvSpPr>
            <a:spLocks noChangeShapeType="1"/>
          </p:cNvSpPr>
          <p:nvPr/>
        </p:nvSpPr>
        <p:spPr bwMode="auto">
          <a:xfrm flipH="1">
            <a:off x="5749518" y="5536081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3500438" y="7256804"/>
            <a:ext cx="1412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>
                <a:ea typeface="宋体" pitchFamily="2" charset="-122"/>
              </a:rPr>
              <a:t>ZigFromRight</a:t>
            </a:r>
            <a:endParaRPr lang="en-US" altLang="zh-CN" sz="1600">
              <a:ea typeface="宋体" pitchFamily="2" charset="-122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3652838" y="7637804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5"/>
          <p:cNvSpPr>
            <a:spLocks noChangeShapeType="1"/>
          </p:cNvSpPr>
          <p:nvPr/>
        </p:nvSpPr>
        <p:spPr bwMode="auto">
          <a:xfrm flipH="1">
            <a:off x="833438" y="7409204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Oval 6"/>
          <p:cNvSpPr>
            <a:spLocks noChangeArrowheads="1"/>
          </p:cNvSpPr>
          <p:nvPr/>
        </p:nvSpPr>
        <p:spPr bwMode="auto">
          <a:xfrm>
            <a:off x="1214438" y="7104404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33" name="Oval 7"/>
          <p:cNvSpPr>
            <a:spLocks noChangeArrowheads="1"/>
          </p:cNvSpPr>
          <p:nvPr/>
        </p:nvSpPr>
        <p:spPr bwMode="auto">
          <a:xfrm>
            <a:off x="528638" y="7561604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34" name="Oval 8"/>
          <p:cNvSpPr>
            <a:spLocks noChangeArrowheads="1"/>
          </p:cNvSpPr>
          <p:nvPr/>
        </p:nvSpPr>
        <p:spPr bwMode="auto">
          <a:xfrm>
            <a:off x="1900238" y="6647204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35" name="Line 9"/>
          <p:cNvSpPr>
            <a:spLocks noChangeShapeType="1"/>
          </p:cNvSpPr>
          <p:nvPr/>
        </p:nvSpPr>
        <p:spPr bwMode="auto">
          <a:xfrm flipH="1">
            <a:off x="1519238" y="6952004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11"/>
          <p:cNvSpPr>
            <a:spLocks noChangeShapeType="1"/>
          </p:cNvSpPr>
          <p:nvPr/>
        </p:nvSpPr>
        <p:spPr bwMode="auto">
          <a:xfrm>
            <a:off x="2281238" y="6952004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2662238" y="7104404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4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38" name="Line 13"/>
          <p:cNvSpPr>
            <a:spLocks noChangeShapeType="1"/>
          </p:cNvSpPr>
          <p:nvPr/>
        </p:nvSpPr>
        <p:spPr bwMode="auto">
          <a:xfrm flipH="1">
            <a:off x="4491038" y="8171204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Oval 14"/>
          <p:cNvSpPr>
            <a:spLocks noChangeArrowheads="1"/>
          </p:cNvSpPr>
          <p:nvPr/>
        </p:nvSpPr>
        <p:spPr bwMode="auto">
          <a:xfrm>
            <a:off x="4872038" y="7866404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40" name="Oval 15"/>
          <p:cNvSpPr>
            <a:spLocks noChangeArrowheads="1"/>
          </p:cNvSpPr>
          <p:nvPr/>
        </p:nvSpPr>
        <p:spPr bwMode="auto">
          <a:xfrm>
            <a:off x="4186238" y="8323604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41" name="Oval 16"/>
          <p:cNvSpPr>
            <a:spLocks noChangeArrowheads="1"/>
          </p:cNvSpPr>
          <p:nvPr/>
        </p:nvSpPr>
        <p:spPr bwMode="auto">
          <a:xfrm>
            <a:off x="5557838" y="7409204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42" name="Line 17"/>
          <p:cNvSpPr>
            <a:spLocks noChangeShapeType="1"/>
          </p:cNvSpPr>
          <p:nvPr/>
        </p:nvSpPr>
        <p:spPr bwMode="auto">
          <a:xfrm flipH="1">
            <a:off x="5176838" y="7714004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Oval 19"/>
          <p:cNvSpPr>
            <a:spLocks noChangeArrowheads="1"/>
          </p:cNvSpPr>
          <p:nvPr/>
        </p:nvSpPr>
        <p:spPr bwMode="auto">
          <a:xfrm>
            <a:off x="6243638" y="6952004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4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flipH="1">
            <a:off x="5862638" y="7256804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21"/>
          <p:cNvSpPr txBox="1">
            <a:spLocks noChangeArrowheads="1"/>
          </p:cNvSpPr>
          <p:nvPr/>
        </p:nvSpPr>
        <p:spPr bwMode="auto">
          <a:xfrm>
            <a:off x="4694991" y="3127791"/>
            <a:ext cx="196354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Each Insert takes O(1) time therefore O(n) time for n Insert!!</a:t>
            </a:r>
            <a:endParaRPr lang="en-US" altLang="zh-CN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A530ECB-F277-47F2-BF2B-BC19A262DBE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13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013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8DD35C6-B6D4-40F4-96F0-087D774AD9D0}" type="slidenum">
              <a:rPr lang="en-US" altLang="zh-CN" sz="1050"/>
            </a:fld>
            <a:endParaRPr lang="en-US" altLang="zh-CN" sz="1050"/>
          </a:p>
        </p:txBody>
      </p:sp>
      <p:sp>
        <p:nvSpPr>
          <p:cNvPr id="1013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Example Deletion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76" name="Oval 3"/>
          <p:cNvSpPr>
            <a:spLocks noChangeArrowheads="1"/>
          </p:cNvSpPr>
          <p:nvPr/>
        </p:nvSpPr>
        <p:spPr bwMode="auto">
          <a:xfrm>
            <a:off x="1245840" y="27809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10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77" name="Oval 4"/>
          <p:cNvSpPr>
            <a:spLocks noChangeArrowheads="1"/>
          </p:cNvSpPr>
          <p:nvPr/>
        </p:nvSpPr>
        <p:spPr bwMode="auto">
          <a:xfrm>
            <a:off x="1855440" y="32381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15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78" name="Line 5"/>
          <p:cNvSpPr>
            <a:spLocks noChangeShapeType="1"/>
          </p:cNvSpPr>
          <p:nvPr/>
        </p:nvSpPr>
        <p:spPr bwMode="auto">
          <a:xfrm>
            <a:off x="1626840" y="3009528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Oval 6"/>
          <p:cNvSpPr>
            <a:spLocks noChangeArrowheads="1"/>
          </p:cNvSpPr>
          <p:nvPr/>
        </p:nvSpPr>
        <p:spPr bwMode="auto">
          <a:xfrm>
            <a:off x="636240" y="32381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5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0" name="Line 7"/>
          <p:cNvSpPr>
            <a:spLocks noChangeShapeType="1"/>
          </p:cNvSpPr>
          <p:nvPr/>
        </p:nvSpPr>
        <p:spPr bwMode="auto">
          <a:xfrm flipH="1">
            <a:off x="864840" y="3085728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Oval 8"/>
          <p:cNvSpPr>
            <a:spLocks noChangeArrowheads="1"/>
          </p:cNvSpPr>
          <p:nvPr/>
        </p:nvSpPr>
        <p:spPr bwMode="auto">
          <a:xfrm>
            <a:off x="2160240" y="38477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20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2" name="Line 9"/>
          <p:cNvSpPr>
            <a:spLocks noChangeShapeType="1"/>
          </p:cNvSpPr>
          <p:nvPr/>
        </p:nvSpPr>
        <p:spPr bwMode="auto">
          <a:xfrm>
            <a:off x="2160240" y="35429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Oval 10"/>
          <p:cNvSpPr>
            <a:spLocks noChangeArrowheads="1"/>
          </p:cNvSpPr>
          <p:nvPr/>
        </p:nvSpPr>
        <p:spPr bwMode="auto">
          <a:xfrm>
            <a:off x="1550640" y="38477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4" name="Line 11"/>
          <p:cNvSpPr>
            <a:spLocks noChangeShapeType="1"/>
          </p:cNvSpPr>
          <p:nvPr/>
        </p:nvSpPr>
        <p:spPr bwMode="auto">
          <a:xfrm flipH="1">
            <a:off x="1779240" y="35429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Oval 16"/>
          <p:cNvSpPr>
            <a:spLocks noChangeArrowheads="1"/>
          </p:cNvSpPr>
          <p:nvPr/>
        </p:nvSpPr>
        <p:spPr bwMode="auto">
          <a:xfrm>
            <a:off x="941040" y="3923928"/>
            <a:ext cx="381000" cy="381000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8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6" name="Line 17"/>
          <p:cNvSpPr>
            <a:spLocks noChangeShapeType="1"/>
          </p:cNvSpPr>
          <p:nvPr/>
        </p:nvSpPr>
        <p:spPr bwMode="auto">
          <a:xfrm>
            <a:off x="941040" y="36191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Oval 18"/>
          <p:cNvSpPr>
            <a:spLocks noChangeArrowheads="1"/>
          </p:cNvSpPr>
          <p:nvPr/>
        </p:nvSpPr>
        <p:spPr bwMode="auto">
          <a:xfrm>
            <a:off x="331440" y="39239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8" name="Line 19"/>
          <p:cNvSpPr>
            <a:spLocks noChangeShapeType="1"/>
          </p:cNvSpPr>
          <p:nvPr/>
        </p:nvSpPr>
        <p:spPr bwMode="auto">
          <a:xfrm flipH="1">
            <a:off x="560040" y="36191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Oval 20"/>
          <p:cNvSpPr>
            <a:spLocks noChangeArrowheads="1"/>
          </p:cNvSpPr>
          <p:nvPr/>
        </p:nvSpPr>
        <p:spPr bwMode="auto">
          <a:xfrm>
            <a:off x="1245840" y="46097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9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90" name="Line 21"/>
          <p:cNvSpPr>
            <a:spLocks noChangeShapeType="1"/>
          </p:cNvSpPr>
          <p:nvPr/>
        </p:nvSpPr>
        <p:spPr bwMode="auto">
          <a:xfrm>
            <a:off x="1245840" y="43049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Oval 22"/>
          <p:cNvSpPr>
            <a:spLocks noChangeArrowheads="1"/>
          </p:cNvSpPr>
          <p:nvPr/>
        </p:nvSpPr>
        <p:spPr bwMode="auto">
          <a:xfrm>
            <a:off x="636240" y="46097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6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92" name="Line 23"/>
          <p:cNvSpPr>
            <a:spLocks noChangeShapeType="1"/>
          </p:cNvSpPr>
          <p:nvPr/>
        </p:nvSpPr>
        <p:spPr bwMode="auto">
          <a:xfrm flipH="1">
            <a:off x="864840" y="43049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Oval 41"/>
          <p:cNvSpPr>
            <a:spLocks noChangeArrowheads="1"/>
          </p:cNvSpPr>
          <p:nvPr/>
        </p:nvSpPr>
        <p:spPr bwMode="auto">
          <a:xfrm>
            <a:off x="5392688" y="33143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10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94" name="Oval 42"/>
          <p:cNvSpPr>
            <a:spLocks noChangeArrowheads="1"/>
          </p:cNvSpPr>
          <p:nvPr/>
        </p:nvSpPr>
        <p:spPr bwMode="auto">
          <a:xfrm>
            <a:off x="5849888" y="38477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15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95" name="Line 43"/>
          <p:cNvSpPr>
            <a:spLocks noChangeShapeType="1"/>
          </p:cNvSpPr>
          <p:nvPr/>
        </p:nvSpPr>
        <p:spPr bwMode="auto">
          <a:xfrm>
            <a:off x="5164088" y="3085728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Oval 44"/>
          <p:cNvSpPr>
            <a:spLocks noChangeArrowheads="1"/>
          </p:cNvSpPr>
          <p:nvPr/>
        </p:nvSpPr>
        <p:spPr bwMode="auto">
          <a:xfrm>
            <a:off x="4249688" y="33143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5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97" name="Line 45"/>
          <p:cNvSpPr>
            <a:spLocks noChangeShapeType="1"/>
          </p:cNvSpPr>
          <p:nvPr/>
        </p:nvSpPr>
        <p:spPr bwMode="auto">
          <a:xfrm flipH="1">
            <a:off x="4478288" y="3161928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Oval 46"/>
          <p:cNvSpPr>
            <a:spLocks noChangeArrowheads="1"/>
          </p:cNvSpPr>
          <p:nvPr/>
        </p:nvSpPr>
        <p:spPr bwMode="auto">
          <a:xfrm>
            <a:off x="6154688" y="44573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20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99" name="Line 47"/>
          <p:cNvSpPr>
            <a:spLocks noChangeShapeType="1"/>
          </p:cNvSpPr>
          <p:nvPr/>
        </p:nvSpPr>
        <p:spPr bwMode="auto">
          <a:xfrm>
            <a:off x="6154688" y="41525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Oval 48"/>
          <p:cNvSpPr>
            <a:spLocks noChangeArrowheads="1"/>
          </p:cNvSpPr>
          <p:nvPr/>
        </p:nvSpPr>
        <p:spPr bwMode="auto">
          <a:xfrm>
            <a:off x="5545088" y="44573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01" name="Line 49"/>
          <p:cNvSpPr>
            <a:spLocks noChangeShapeType="1"/>
          </p:cNvSpPr>
          <p:nvPr/>
        </p:nvSpPr>
        <p:spPr bwMode="auto">
          <a:xfrm flipH="1">
            <a:off x="5773688" y="41525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Oval 50"/>
          <p:cNvSpPr>
            <a:spLocks noChangeArrowheads="1"/>
          </p:cNvSpPr>
          <p:nvPr/>
        </p:nvSpPr>
        <p:spPr bwMode="auto">
          <a:xfrm>
            <a:off x="4783088" y="2857128"/>
            <a:ext cx="381000" cy="381000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8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03" name="Line 51"/>
          <p:cNvSpPr>
            <a:spLocks noChangeShapeType="1"/>
          </p:cNvSpPr>
          <p:nvPr/>
        </p:nvSpPr>
        <p:spPr bwMode="auto">
          <a:xfrm>
            <a:off x="4630688" y="36191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Oval 52"/>
          <p:cNvSpPr>
            <a:spLocks noChangeArrowheads="1"/>
          </p:cNvSpPr>
          <p:nvPr/>
        </p:nvSpPr>
        <p:spPr bwMode="auto">
          <a:xfrm>
            <a:off x="3868688" y="39239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05" name="Line 53"/>
          <p:cNvSpPr>
            <a:spLocks noChangeShapeType="1"/>
          </p:cNvSpPr>
          <p:nvPr/>
        </p:nvSpPr>
        <p:spPr bwMode="auto">
          <a:xfrm flipH="1">
            <a:off x="4097288" y="36191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Oval 54"/>
          <p:cNvSpPr>
            <a:spLocks noChangeArrowheads="1"/>
          </p:cNvSpPr>
          <p:nvPr/>
        </p:nvSpPr>
        <p:spPr bwMode="auto">
          <a:xfrm>
            <a:off x="5087888" y="39239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9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07" name="Line 55"/>
          <p:cNvSpPr>
            <a:spLocks noChangeShapeType="1"/>
          </p:cNvSpPr>
          <p:nvPr/>
        </p:nvSpPr>
        <p:spPr bwMode="auto">
          <a:xfrm>
            <a:off x="5773688" y="35429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Oval 56"/>
          <p:cNvSpPr>
            <a:spLocks noChangeArrowheads="1"/>
          </p:cNvSpPr>
          <p:nvPr/>
        </p:nvSpPr>
        <p:spPr bwMode="auto">
          <a:xfrm>
            <a:off x="4630688" y="39239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6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09" name="Line 57"/>
          <p:cNvSpPr>
            <a:spLocks noChangeShapeType="1"/>
          </p:cNvSpPr>
          <p:nvPr/>
        </p:nvSpPr>
        <p:spPr bwMode="auto">
          <a:xfrm flipH="1">
            <a:off x="5240288" y="36191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" name="Line 58"/>
          <p:cNvSpPr>
            <a:spLocks noChangeShapeType="1"/>
          </p:cNvSpPr>
          <p:nvPr/>
        </p:nvSpPr>
        <p:spPr bwMode="auto">
          <a:xfrm>
            <a:off x="2420888" y="3238128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Text Box 59"/>
          <p:cNvSpPr txBox="1">
            <a:spLocks noChangeArrowheads="1"/>
          </p:cNvSpPr>
          <p:nvPr/>
        </p:nvSpPr>
        <p:spPr bwMode="auto">
          <a:xfrm>
            <a:off x="2481213" y="2792041"/>
            <a:ext cx="777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ea typeface="宋体" pitchFamily="2" charset="-122"/>
              </a:rPr>
              <a:t>splay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12" name="Oval 60"/>
          <p:cNvSpPr>
            <a:spLocks noChangeArrowheads="1"/>
          </p:cNvSpPr>
          <p:nvPr/>
        </p:nvSpPr>
        <p:spPr bwMode="auto">
          <a:xfrm>
            <a:off x="5621288" y="54479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10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13" name="Oval 61"/>
          <p:cNvSpPr>
            <a:spLocks noChangeArrowheads="1"/>
          </p:cNvSpPr>
          <p:nvPr/>
        </p:nvSpPr>
        <p:spPr bwMode="auto">
          <a:xfrm>
            <a:off x="6078488" y="59813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15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14" name="Oval 63"/>
          <p:cNvSpPr>
            <a:spLocks noChangeArrowheads="1"/>
          </p:cNvSpPr>
          <p:nvPr/>
        </p:nvSpPr>
        <p:spPr bwMode="auto">
          <a:xfrm>
            <a:off x="4478288" y="54479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5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15" name="Oval 65"/>
          <p:cNvSpPr>
            <a:spLocks noChangeArrowheads="1"/>
          </p:cNvSpPr>
          <p:nvPr/>
        </p:nvSpPr>
        <p:spPr bwMode="auto">
          <a:xfrm>
            <a:off x="6383288" y="65909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20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16" name="Line 66"/>
          <p:cNvSpPr>
            <a:spLocks noChangeShapeType="1"/>
          </p:cNvSpPr>
          <p:nvPr/>
        </p:nvSpPr>
        <p:spPr bwMode="auto">
          <a:xfrm>
            <a:off x="6383288" y="62861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Oval 67"/>
          <p:cNvSpPr>
            <a:spLocks noChangeArrowheads="1"/>
          </p:cNvSpPr>
          <p:nvPr/>
        </p:nvSpPr>
        <p:spPr bwMode="auto">
          <a:xfrm>
            <a:off x="5773688" y="65909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18" name="Line 68"/>
          <p:cNvSpPr>
            <a:spLocks noChangeShapeType="1"/>
          </p:cNvSpPr>
          <p:nvPr/>
        </p:nvSpPr>
        <p:spPr bwMode="auto">
          <a:xfrm flipH="1">
            <a:off x="6002288" y="62861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Line 70"/>
          <p:cNvSpPr>
            <a:spLocks noChangeShapeType="1"/>
          </p:cNvSpPr>
          <p:nvPr/>
        </p:nvSpPr>
        <p:spPr bwMode="auto">
          <a:xfrm>
            <a:off x="4859288" y="57527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" name="Oval 71"/>
          <p:cNvSpPr>
            <a:spLocks noChangeArrowheads="1"/>
          </p:cNvSpPr>
          <p:nvPr/>
        </p:nvSpPr>
        <p:spPr bwMode="auto">
          <a:xfrm>
            <a:off x="4097288" y="60575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21" name="Line 72"/>
          <p:cNvSpPr>
            <a:spLocks noChangeShapeType="1"/>
          </p:cNvSpPr>
          <p:nvPr/>
        </p:nvSpPr>
        <p:spPr bwMode="auto">
          <a:xfrm flipH="1">
            <a:off x="4325888" y="57527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Oval 73"/>
          <p:cNvSpPr>
            <a:spLocks noChangeArrowheads="1"/>
          </p:cNvSpPr>
          <p:nvPr/>
        </p:nvSpPr>
        <p:spPr bwMode="auto">
          <a:xfrm>
            <a:off x="5316488" y="60575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9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23" name="Line 74"/>
          <p:cNvSpPr>
            <a:spLocks noChangeShapeType="1"/>
          </p:cNvSpPr>
          <p:nvPr/>
        </p:nvSpPr>
        <p:spPr bwMode="auto">
          <a:xfrm>
            <a:off x="6002288" y="56765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Oval 75"/>
          <p:cNvSpPr>
            <a:spLocks noChangeArrowheads="1"/>
          </p:cNvSpPr>
          <p:nvPr/>
        </p:nvSpPr>
        <p:spPr bwMode="auto">
          <a:xfrm>
            <a:off x="4859288" y="6057528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6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25" name="Line 76"/>
          <p:cNvSpPr>
            <a:spLocks noChangeShapeType="1"/>
          </p:cNvSpPr>
          <p:nvPr/>
        </p:nvSpPr>
        <p:spPr bwMode="auto">
          <a:xfrm flipH="1">
            <a:off x="5468888" y="57527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" name="Line 77"/>
          <p:cNvSpPr>
            <a:spLocks noChangeShapeType="1"/>
          </p:cNvSpPr>
          <p:nvPr/>
        </p:nvSpPr>
        <p:spPr bwMode="auto">
          <a:xfrm>
            <a:off x="5087888" y="476212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" name="Text Box 78"/>
          <p:cNvSpPr txBox="1">
            <a:spLocks noChangeArrowheads="1"/>
          </p:cNvSpPr>
          <p:nvPr/>
        </p:nvSpPr>
        <p:spPr bwMode="auto">
          <a:xfrm>
            <a:off x="5087888" y="4838328"/>
            <a:ext cx="1030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ea typeface="宋体" pitchFamily="2" charset="-122"/>
              </a:rPr>
              <a:t>remove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28" name="Oval 79"/>
          <p:cNvSpPr>
            <a:spLocks noChangeArrowheads="1"/>
          </p:cNvSpPr>
          <p:nvPr/>
        </p:nvSpPr>
        <p:spPr bwMode="auto">
          <a:xfrm>
            <a:off x="2236440" y="55241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10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29" name="Oval 80"/>
          <p:cNvSpPr>
            <a:spLocks noChangeArrowheads="1"/>
          </p:cNvSpPr>
          <p:nvPr/>
        </p:nvSpPr>
        <p:spPr bwMode="auto">
          <a:xfrm>
            <a:off x="2693640" y="60575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15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30" name="Oval 81"/>
          <p:cNvSpPr>
            <a:spLocks noChangeArrowheads="1"/>
          </p:cNvSpPr>
          <p:nvPr/>
        </p:nvSpPr>
        <p:spPr bwMode="auto">
          <a:xfrm>
            <a:off x="1093440" y="55241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5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31" name="Oval 82"/>
          <p:cNvSpPr>
            <a:spLocks noChangeArrowheads="1"/>
          </p:cNvSpPr>
          <p:nvPr/>
        </p:nvSpPr>
        <p:spPr bwMode="auto">
          <a:xfrm>
            <a:off x="2998440" y="66671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20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32" name="Line 83"/>
          <p:cNvSpPr>
            <a:spLocks noChangeShapeType="1"/>
          </p:cNvSpPr>
          <p:nvPr/>
        </p:nvSpPr>
        <p:spPr bwMode="auto">
          <a:xfrm>
            <a:off x="2998440" y="63623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" name="Oval 84"/>
          <p:cNvSpPr>
            <a:spLocks noChangeArrowheads="1"/>
          </p:cNvSpPr>
          <p:nvPr/>
        </p:nvSpPr>
        <p:spPr bwMode="auto">
          <a:xfrm>
            <a:off x="2388840" y="66671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13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34" name="Line 85"/>
          <p:cNvSpPr>
            <a:spLocks noChangeShapeType="1"/>
          </p:cNvSpPr>
          <p:nvPr/>
        </p:nvSpPr>
        <p:spPr bwMode="auto">
          <a:xfrm flipH="1">
            <a:off x="2617440" y="63623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Line 86"/>
          <p:cNvSpPr>
            <a:spLocks noChangeShapeType="1"/>
          </p:cNvSpPr>
          <p:nvPr/>
        </p:nvSpPr>
        <p:spPr bwMode="auto">
          <a:xfrm>
            <a:off x="2084040" y="52955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" name="Oval 87"/>
          <p:cNvSpPr>
            <a:spLocks noChangeArrowheads="1"/>
          </p:cNvSpPr>
          <p:nvPr/>
        </p:nvSpPr>
        <p:spPr bwMode="auto">
          <a:xfrm>
            <a:off x="712440" y="61337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37" name="Line 88"/>
          <p:cNvSpPr>
            <a:spLocks noChangeShapeType="1"/>
          </p:cNvSpPr>
          <p:nvPr/>
        </p:nvSpPr>
        <p:spPr bwMode="auto">
          <a:xfrm flipH="1">
            <a:off x="941040" y="58289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" name="Oval 89"/>
          <p:cNvSpPr>
            <a:spLocks noChangeArrowheads="1"/>
          </p:cNvSpPr>
          <p:nvPr/>
        </p:nvSpPr>
        <p:spPr bwMode="auto">
          <a:xfrm>
            <a:off x="1931640" y="6133728"/>
            <a:ext cx="381000" cy="3810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9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39" name="Line 90"/>
          <p:cNvSpPr>
            <a:spLocks noChangeShapeType="1"/>
          </p:cNvSpPr>
          <p:nvPr/>
        </p:nvSpPr>
        <p:spPr bwMode="auto">
          <a:xfrm>
            <a:off x="2617440" y="575272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" name="Oval 91"/>
          <p:cNvSpPr>
            <a:spLocks noChangeArrowheads="1"/>
          </p:cNvSpPr>
          <p:nvPr/>
        </p:nvSpPr>
        <p:spPr bwMode="auto">
          <a:xfrm>
            <a:off x="1703040" y="5066928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ea typeface="宋体" pitchFamily="2" charset="-122"/>
              </a:rPr>
              <a:t>6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41" name="Line 92"/>
          <p:cNvSpPr>
            <a:spLocks noChangeShapeType="1"/>
          </p:cNvSpPr>
          <p:nvPr/>
        </p:nvSpPr>
        <p:spPr bwMode="auto">
          <a:xfrm flipH="1">
            <a:off x="2084040" y="582892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" name="Line 93"/>
          <p:cNvSpPr>
            <a:spLocks noChangeShapeType="1"/>
          </p:cNvSpPr>
          <p:nvPr/>
        </p:nvSpPr>
        <p:spPr bwMode="auto">
          <a:xfrm flipH="1">
            <a:off x="1322040" y="5371728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Line 94"/>
          <p:cNvSpPr>
            <a:spLocks noChangeShapeType="1"/>
          </p:cNvSpPr>
          <p:nvPr/>
        </p:nvSpPr>
        <p:spPr bwMode="auto">
          <a:xfrm flipH="1">
            <a:off x="2573288" y="5295528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" name="Text Box 95"/>
          <p:cNvSpPr txBox="1">
            <a:spLocks noChangeArrowheads="1"/>
          </p:cNvSpPr>
          <p:nvPr/>
        </p:nvSpPr>
        <p:spPr bwMode="auto">
          <a:xfrm>
            <a:off x="2878088" y="4762128"/>
            <a:ext cx="13843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ea typeface="宋体" pitchFamily="2" charset="-122"/>
              </a:rPr>
              <a:t>Splay (zig)</a:t>
            </a:r>
            <a:endParaRPr lang="en-US" altLang="zh-CN">
              <a:ea typeface="宋体" pitchFamily="2" charset="-122"/>
            </a:endParaRPr>
          </a:p>
          <a:p>
            <a:endParaRPr lang="en-US" altLang="zh-CN">
              <a:ea typeface="宋体" pitchFamily="2" charset="-122"/>
            </a:endParaRPr>
          </a:p>
          <a:p>
            <a:r>
              <a:rPr lang="en-US" altLang="zh-CN">
                <a:ea typeface="宋体" pitchFamily="2" charset="-122"/>
              </a:rPr>
              <a:t>attach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45" name="Text Box 96"/>
          <p:cNvSpPr txBox="1">
            <a:spLocks noChangeArrowheads="1"/>
          </p:cNvSpPr>
          <p:nvPr/>
        </p:nvSpPr>
        <p:spPr bwMode="auto">
          <a:xfrm>
            <a:off x="3106688" y="2857128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itchFamily="2" charset="-122"/>
              </a:rPr>
              <a:t>(Zig-Zag)</a:t>
            </a:r>
            <a:endParaRPr lang="en-US" altLang="zh-CN" sz="180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DC2CA6C-E111-45D6-8D5E-E0FB77390AE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240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0240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4275A0B-FA3E-4949-B06E-8142A96B6E01}" type="slidenum">
              <a:rPr lang="en-US" altLang="zh-CN" sz="1050"/>
            </a:fld>
            <a:endParaRPr lang="en-US" altLang="zh-CN" sz="1050"/>
          </a:p>
        </p:txBody>
      </p:sp>
      <p:sp>
        <p:nvSpPr>
          <p:cNvPr id="1024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Analysis of Splay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024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Splay trees tend to be balanced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M operations takes time O(M log N) for M </a:t>
            </a:r>
            <a:r>
              <a:rPr lang="en-US" altLang="zh-CN" u="sng" dirty="0">
                <a:solidFill>
                  <a:srgbClr val="FF0000"/>
                </a:solidFill>
                <a:ea typeface="宋体" pitchFamily="2" charset="-122"/>
              </a:rPr>
              <a:t>&gt;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 N operations on N items. </a:t>
            </a:r>
            <a:r>
              <a:rPr lang="en-US" altLang="zh-CN" dirty="0">
                <a:ea typeface="宋体" pitchFamily="2" charset="-122"/>
              </a:rPr>
              <a:t>(proof is difficult</a:t>
            </a:r>
            <a:r>
              <a:rPr lang="en-US" altLang="zh-CN" dirty="0" smtClean="0">
                <a:ea typeface="宋体" pitchFamily="2" charset="-122"/>
              </a:rPr>
              <a:t>)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endParaRPr lang="en-US" altLang="zh-CN" sz="300" dirty="0">
              <a:ea typeface="宋体" pitchFamily="2" charset="-122"/>
            </a:endParaRPr>
          </a:p>
          <a:p>
            <a:pPr lvl="1"/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Amortized O(log n) time.</a:t>
            </a:r>
            <a:endParaRPr lang="en-US" altLang="zh-CN" dirty="0">
              <a:solidFill>
                <a:srgbClr val="0000FF"/>
              </a:solidFill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Splay </a:t>
            </a:r>
            <a:r>
              <a:rPr lang="en-US" altLang="zh-CN" dirty="0">
                <a:ea typeface="宋体" pitchFamily="2" charset="-122"/>
              </a:rPr>
              <a:t>trees have good “locality” properties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Recently accessed items are near the root of the tree.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Items near an accessed one are pulled toward the root.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Homework 3-3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Textbook exercises 4.27, 4.28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0918A0-9F3D-4C0D-AB89-13DB41AA558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0688" y="2283233"/>
            <a:ext cx="5762255" cy="3801611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B-Trees</a:t>
            </a:r>
            <a:endParaRPr lang="zh-CN" altLang="en-US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4847359" y="8475137"/>
            <a:ext cx="1543050" cy="486833"/>
          </a:xfrm>
        </p:spPr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471488" y="8475137"/>
            <a:ext cx="1543050" cy="486833"/>
          </a:xfrm>
        </p:spPr>
        <p:txBody>
          <a:bodyPr/>
          <a:lstStyle/>
          <a:p>
            <a:pPr>
              <a:defRPr/>
            </a:pPr>
            <a:fld id="{2915A494-AADF-48F2-8296-2A1A9034D6A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294967295"/>
          </p:nvPr>
        </p:nvSpPr>
        <p:spPr>
          <a:xfrm>
            <a:off x="2271713" y="8475137"/>
            <a:ext cx="2314575" cy="486833"/>
          </a:xfrm>
        </p:spPr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25CADED-5CCA-4AAD-B6BD-9D6BA356227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342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0342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2638D05-D765-4670-B9D9-5E0F9F2E33CE}" type="slidenum">
              <a:rPr lang="en-US" altLang="zh-CN" sz="1050"/>
            </a:fld>
            <a:endParaRPr lang="en-US" altLang="zh-CN" sz="1050"/>
          </a:p>
        </p:txBody>
      </p:sp>
      <p:sp>
        <p:nvSpPr>
          <p:cNvPr id="10342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9087" y="2483768"/>
            <a:ext cx="6367463" cy="431708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Example: B-tree of order 3 has 2 or 3 children per node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e</a:t>
            </a:r>
            <a:r>
              <a:rPr lang="en-US" altLang="zh-CN" dirty="0" smtClean="0">
                <a:ea typeface="宋体" pitchFamily="2" charset="-122"/>
              </a:rPr>
              <a:t>.g. search for 8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Beyond Binary Search Trees: Multi-Way Trees</a:t>
            </a:r>
            <a:endParaRPr lang="zh-CN" altLang="en-US" dirty="0"/>
          </a:p>
        </p:txBody>
      </p:sp>
      <p:grpSp>
        <p:nvGrpSpPr>
          <p:cNvPr id="32" name="Group 4"/>
          <p:cNvGrpSpPr/>
          <p:nvPr/>
        </p:nvGrpSpPr>
        <p:grpSpPr bwMode="auto">
          <a:xfrm>
            <a:off x="299889" y="4589829"/>
            <a:ext cx="6386661" cy="2200275"/>
            <a:chOff x="608" y="1336"/>
            <a:chExt cx="4138" cy="1379"/>
          </a:xfrm>
        </p:grpSpPr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2366" y="133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4" name="Oval 6"/>
            <p:cNvSpPr>
              <a:spLocks noChangeArrowheads="1"/>
            </p:cNvSpPr>
            <p:nvPr/>
          </p:nvSpPr>
          <p:spPr bwMode="auto">
            <a:xfrm>
              <a:off x="3453" y="175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5" name="Oval 7"/>
            <p:cNvSpPr>
              <a:spLocks noChangeArrowheads="1"/>
            </p:cNvSpPr>
            <p:nvPr/>
          </p:nvSpPr>
          <p:spPr bwMode="auto">
            <a:xfrm>
              <a:off x="1331" y="2445"/>
              <a:ext cx="967" cy="26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6" name="Oval 8"/>
            <p:cNvSpPr>
              <a:spLocks noChangeArrowheads="1"/>
            </p:cNvSpPr>
            <p:nvPr/>
          </p:nvSpPr>
          <p:spPr bwMode="auto">
            <a:xfrm>
              <a:off x="608" y="2454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" name="Oval 9"/>
            <p:cNvSpPr>
              <a:spLocks noChangeArrowheads="1"/>
            </p:cNvSpPr>
            <p:nvPr/>
          </p:nvSpPr>
          <p:spPr bwMode="auto">
            <a:xfrm>
              <a:off x="3100" y="2454"/>
              <a:ext cx="968" cy="26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8" name="Oval 10"/>
            <p:cNvSpPr>
              <a:spLocks noChangeArrowheads="1"/>
            </p:cNvSpPr>
            <p:nvPr/>
          </p:nvSpPr>
          <p:spPr bwMode="auto">
            <a:xfrm>
              <a:off x="1510" y="1770"/>
              <a:ext cx="569" cy="22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9" name="Oval 11"/>
            <p:cNvSpPr>
              <a:spLocks noChangeArrowheads="1"/>
            </p:cNvSpPr>
            <p:nvPr/>
          </p:nvSpPr>
          <p:spPr bwMode="auto">
            <a:xfrm>
              <a:off x="2441" y="2463"/>
              <a:ext cx="568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0" name="Oval 12"/>
            <p:cNvSpPr>
              <a:spLocks noChangeArrowheads="1"/>
            </p:cNvSpPr>
            <p:nvPr/>
          </p:nvSpPr>
          <p:spPr bwMode="auto">
            <a:xfrm>
              <a:off x="4177" y="2471"/>
              <a:ext cx="569" cy="244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1" name="Freeform 13"/>
            <p:cNvSpPr/>
            <p:nvPr/>
          </p:nvSpPr>
          <p:spPr bwMode="auto">
            <a:xfrm>
              <a:off x="1795" y="1573"/>
              <a:ext cx="857" cy="197"/>
            </a:xfrm>
            <a:custGeom>
              <a:avLst/>
              <a:gdLst>
                <a:gd name="T0" fmla="*/ 856 w 857"/>
                <a:gd name="T1" fmla="*/ 0 h 197"/>
                <a:gd name="T2" fmla="*/ 0 w 857"/>
                <a:gd name="T3" fmla="*/ 196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7" h="197">
                  <a:moveTo>
                    <a:pt x="856" y="0"/>
                  </a:moveTo>
                  <a:lnTo>
                    <a:pt x="0" y="196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14"/>
            <p:cNvSpPr/>
            <p:nvPr/>
          </p:nvSpPr>
          <p:spPr bwMode="auto">
            <a:xfrm>
              <a:off x="2651" y="1573"/>
              <a:ext cx="1064" cy="180"/>
            </a:xfrm>
            <a:custGeom>
              <a:avLst/>
              <a:gdLst>
                <a:gd name="T0" fmla="*/ 0 w 1064"/>
                <a:gd name="T1" fmla="*/ 0 h 180"/>
                <a:gd name="T2" fmla="*/ 1063 w 1064"/>
                <a:gd name="T3" fmla="*/ 179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4" h="180">
                  <a:moveTo>
                    <a:pt x="0" y="0"/>
                  </a:moveTo>
                  <a:lnTo>
                    <a:pt x="1063" y="17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15"/>
            <p:cNvSpPr/>
            <p:nvPr/>
          </p:nvSpPr>
          <p:spPr bwMode="auto">
            <a:xfrm>
              <a:off x="893" y="1991"/>
              <a:ext cx="903" cy="463"/>
            </a:xfrm>
            <a:custGeom>
              <a:avLst/>
              <a:gdLst>
                <a:gd name="T0" fmla="*/ 902 w 903"/>
                <a:gd name="T1" fmla="*/ 0 h 463"/>
                <a:gd name="T2" fmla="*/ 0 w 903"/>
                <a:gd name="T3" fmla="*/ 462 h 4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3" h="463">
                  <a:moveTo>
                    <a:pt x="902" y="0"/>
                  </a:moveTo>
                  <a:lnTo>
                    <a:pt x="0" y="4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16"/>
            <p:cNvSpPr/>
            <p:nvPr/>
          </p:nvSpPr>
          <p:spPr bwMode="auto">
            <a:xfrm>
              <a:off x="1795" y="1991"/>
              <a:ext cx="21" cy="454"/>
            </a:xfrm>
            <a:custGeom>
              <a:avLst/>
              <a:gdLst>
                <a:gd name="T0" fmla="*/ 0 w 21"/>
                <a:gd name="T1" fmla="*/ 0 h 454"/>
                <a:gd name="T2" fmla="*/ 20 w 21"/>
                <a:gd name="T3" fmla="*/ 453 h 4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54">
                  <a:moveTo>
                    <a:pt x="0" y="0"/>
                  </a:moveTo>
                  <a:lnTo>
                    <a:pt x="20" y="45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17"/>
            <p:cNvSpPr/>
            <p:nvPr/>
          </p:nvSpPr>
          <p:spPr bwMode="auto">
            <a:xfrm>
              <a:off x="1795" y="1991"/>
              <a:ext cx="932" cy="472"/>
            </a:xfrm>
            <a:custGeom>
              <a:avLst/>
              <a:gdLst>
                <a:gd name="T0" fmla="*/ 0 w 932"/>
                <a:gd name="T1" fmla="*/ 0 h 472"/>
                <a:gd name="T2" fmla="*/ 931 w 932"/>
                <a:gd name="T3" fmla="*/ 471 h 4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2" h="472">
                  <a:moveTo>
                    <a:pt x="0" y="0"/>
                  </a:moveTo>
                  <a:lnTo>
                    <a:pt x="931" y="47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18"/>
            <p:cNvSpPr/>
            <p:nvPr/>
          </p:nvSpPr>
          <p:spPr bwMode="auto">
            <a:xfrm>
              <a:off x="3738" y="1993"/>
              <a:ext cx="725" cy="478"/>
            </a:xfrm>
            <a:custGeom>
              <a:avLst/>
              <a:gdLst>
                <a:gd name="T0" fmla="*/ 0 w 725"/>
                <a:gd name="T1" fmla="*/ 0 h 478"/>
                <a:gd name="T2" fmla="*/ 724 w 725"/>
                <a:gd name="T3" fmla="*/ 477 h 4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5" h="478">
                  <a:moveTo>
                    <a:pt x="0" y="0"/>
                  </a:moveTo>
                  <a:lnTo>
                    <a:pt x="724" y="47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19"/>
            <p:cNvSpPr/>
            <p:nvPr/>
          </p:nvSpPr>
          <p:spPr bwMode="auto">
            <a:xfrm>
              <a:off x="3585" y="1993"/>
              <a:ext cx="154" cy="461"/>
            </a:xfrm>
            <a:custGeom>
              <a:avLst/>
              <a:gdLst>
                <a:gd name="T0" fmla="*/ 153 w 154"/>
                <a:gd name="T1" fmla="*/ 0 h 461"/>
                <a:gd name="T2" fmla="*/ 0 w 154"/>
                <a:gd name="T3" fmla="*/ 460 h 4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4" h="461">
                  <a:moveTo>
                    <a:pt x="153" y="0"/>
                  </a:moveTo>
                  <a:lnTo>
                    <a:pt x="0" y="46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20"/>
            <p:cNvSpPr>
              <a:spLocks noChangeArrowheads="1"/>
            </p:cNvSpPr>
            <p:nvPr/>
          </p:nvSpPr>
          <p:spPr bwMode="auto">
            <a:xfrm>
              <a:off x="2479" y="1356"/>
              <a:ext cx="3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2200">
                  <a:latin typeface="Times New Roman" panose="02020603050405020304" pitchFamily="18" charset="0"/>
                  <a:ea typeface="宋体" pitchFamily="2" charset="-122"/>
                </a:rPr>
                <a:t>13:-</a:t>
              </a:r>
              <a:endParaRPr lang="en-US" altLang="zh-CN" sz="22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9" name="Rectangle 21"/>
            <p:cNvSpPr>
              <a:spLocks noChangeArrowheads="1"/>
            </p:cNvSpPr>
            <p:nvPr/>
          </p:nvSpPr>
          <p:spPr bwMode="auto">
            <a:xfrm>
              <a:off x="1589" y="1805"/>
              <a:ext cx="41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2200">
                  <a:latin typeface="Times New Roman" panose="02020603050405020304" pitchFamily="18" charset="0"/>
                  <a:ea typeface="宋体" pitchFamily="2" charset="-122"/>
                </a:rPr>
                <a:t>6:11</a:t>
              </a:r>
              <a:endParaRPr lang="en-US" altLang="zh-CN" sz="22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0" name="Rectangle 22"/>
            <p:cNvSpPr>
              <a:spLocks noChangeArrowheads="1"/>
            </p:cNvSpPr>
            <p:nvPr/>
          </p:nvSpPr>
          <p:spPr bwMode="auto">
            <a:xfrm>
              <a:off x="747" y="2487"/>
              <a:ext cx="274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2200">
                  <a:latin typeface="Times New Roman" panose="02020603050405020304" pitchFamily="18" charset="0"/>
                  <a:ea typeface="宋体" pitchFamily="2" charset="-122"/>
                </a:rPr>
                <a:t>3  4</a:t>
              </a:r>
              <a:endParaRPr lang="en-US" altLang="zh-CN" sz="22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1" name="Rectangle 23"/>
            <p:cNvSpPr>
              <a:spLocks noChangeArrowheads="1"/>
            </p:cNvSpPr>
            <p:nvPr/>
          </p:nvSpPr>
          <p:spPr bwMode="auto">
            <a:xfrm>
              <a:off x="1566" y="2478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2200">
                  <a:latin typeface="Times New Roman" panose="02020603050405020304" pitchFamily="18" charset="0"/>
                  <a:ea typeface="宋体" pitchFamily="2" charset="-122"/>
                </a:rPr>
                <a:t>6  7  8</a:t>
              </a:r>
              <a:endParaRPr lang="en-US" altLang="zh-CN" sz="22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2" name="Rectangle 24"/>
            <p:cNvSpPr>
              <a:spLocks noChangeArrowheads="1"/>
            </p:cNvSpPr>
            <p:nvPr/>
          </p:nvSpPr>
          <p:spPr bwMode="auto">
            <a:xfrm>
              <a:off x="2460" y="2485"/>
              <a:ext cx="5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2200">
                  <a:latin typeface="Times New Roman" panose="02020603050405020304" pitchFamily="18" charset="0"/>
                  <a:ea typeface="宋体" pitchFamily="2" charset="-122"/>
                </a:rPr>
                <a:t>11 12</a:t>
              </a:r>
              <a:endParaRPr lang="en-US" altLang="zh-CN" sz="22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3" name="Rectangle 25"/>
            <p:cNvSpPr>
              <a:spLocks noChangeArrowheads="1"/>
            </p:cNvSpPr>
            <p:nvPr/>
          </p:nvSpPr>
          <p:spPr bwMode="auto">
            <a:xfrm>
              <a:off x="3324" y="2496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2200">
                  <a:latin typeface="Times New Roman" panose="02020603050405020304" pitchFamily="18" charset="0"/>
                  <a:ea typeface="宋体" pitchFamily="2" charset="-122"/>
                </a:rPr>
                <a:t>13  14</a:t>
              </a:r>
              <a:endParaRPr lang="en-US" altLang="zh-CN" sz="22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4" name="Rectangle 26"/>
            <p:cNvSpPr>
              <a:spLocks noChangeArrowheads="1"/>
            </p:cNvSpPr>
            <p:nvPr/>
          </p:nvSpPr>
          <p:spPr bwMode="auto">
            <a:xfrm>
              <a:off x="4243" y="2512"/>
              <a:ext cx="42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2200">
                  <a:latin typeface="Times New Roman" panose="02020603050405020304" pitchFamily="18" charset="0"/>
                  <a:ea typeface="宋体" pitchFamily="2" charset="-122"/>
                </a:rPr>
                <a:t>17 18</a:t>
              </a:r>
              <a:endParaRPr lang="en-US" altLang="zh-CN" sz="22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5" name="Rectangle 27"/>
            <p:cNvSpPr>
              <a:spLocks noChangeArrowheads="1"/>
            </p:cNvSpPr>
            <p:nvPr/>
          </p:nvSpPr>
          <p:spPr bwMode="auto">
            <a:xfrm>
              <a:off x="3594" y="1785"/>
              <a:ext cx="346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2200">
                  <a:latin typeface="Times New Roman" panose="02020603050405020304" pitchFamily="18" charset="0"/>
                  <a:ea typeface="宋体" pitchFamily="2" charset="-122"/>
                </a:rPr>
                <a:t>17:-</a:t>
              </a:r>
              <a:endParaRPr lang="en-US" altLang="zh-CN" sz="22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B-Trees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B-Trees are multi-way search trees commonly used in database systems or other applications where data is stored </a:t>
            </a:r>
            <a:r>
              <a:rPr lang="en-US" altLang="zh-CN" dirty="0">
                <a:solidFill>
                  <a:srgbClr val="0000FF"/>
                </a:solidFill>
              </a:rPr>
              <a:t>externally on disks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0000FF"/>
                </a:solidFill>
              </a:rPr>
              <a:t>keeping the tree shallow </a:t>
            </a:r>
            <a:r>
              <a:rPr lang="en-US" altLang="zh-CN" dirty="0"/>
              <a:t>is important.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242712-0467-4983-87C4-95D8280FD74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B-Trees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B-Tree of order M has the following properties:</a:t>
            </a:r>
            <a:endParaRPr lang="en-US" altLang="zh-CN" dirty="0"/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>
                <a:solidFill>
                  <a:srgbClr val="0000FF"/>
                </a:solidFill>
              </a:rPr>
              <a:t>root</a:t>
            </a:r>
            <a:r>
              <a:rPr lang="en-US" altLang="zh-CN" dirty="0"/>
              <a:t> is either a leaf or has </a:t>
            </a:r>
            <a:r>
              <a:rPr lang="en-US" altLang="zh-CN" dirty="0">
                <a:solidFill>
                  <a:srgbClr val="0000FF"/>
                </a:solidFill>
              </a:rPr>
              <a:t>between 2 and M children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endParaRPr lang="en-US" altLang="zh-CN" sz="1000" dirty="0" smtClean="0"/>
          </a:p>
          <a:p>
            <a:pPr lvl="1"/>
            <a:r>
              <a:rPr lang="en-US" altLang="zh-CN" dirty="0" smtClean="0"/>
              <a:t>All </a:t>
            </a:r>
            <a:r>
              <a:rPr lang="en-US" altLang="zh-CN" dirty="0" err="1">
                <a:solidFill>
                  <a:srgbClr val="FF0000"/>
                </a:solidFill>
              </a:rPr>
              <a:t>nonleaf</a:t>
            </a:r>
            <a:r>
              <a:rPr lang="en-US" altLang="zh-CN" dirty="0">
                <a:solidFill>
                  <a:srgbClr val="FF0000"/>
                </a:solidFill>
              </a:rPr>
              <a:t> nodes </a:t>
            </a:r>
            <a:r>
              <a:rPr lang="en-US" altLang="zh-CN" dirty="0"/>
              <a:t>(except the root) have </a:t>
            </a:r>
            <a:r>
              <a:rPr lang="en-US" altLang="zh-CN" dirty="0">
                <a:solidFill>
                  <a:srgbClr val="FF0000"/>
                </a:solidFill>
              </a:rPr>
              <a:t>between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M/2 </a:t>
            </a:r>
            <a:r>
              <a:rPr lang="en-US" altLang="zh-CN" dirty="0" smtClean="0">
                <a:solidFill>
                  <a:srgbClr val="FF0000"/>
                </a:solidFill>
                <a:sym typeface="Symbol" panose="05050102010706020507" pitchFamily="18" charset="2"/>
              </a:rPr>
              <a:t>and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M children</a:t>
            </a:r>
            <a:r>
              <a:rPr lang="en-US" altLang="zh-CN" dirty="0" smtClean="0">
                <a:solidFill>
                  <a:srgbClr val="FF0000"/>
                </a:solidFill>
                <a:sym typeface="Symbol" panose="05050102010706020507" pitchFamily="18" charset="2"/>
              </a:rPr>
              <a:t>.</a:t>
            </a:r>
            <a:endParaRPr lang="en-US" altLang="zh-CN" dirty="0" smtClean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/>
            <a:endParaRPr lang="en-US" altLang="zh-CN" sz="10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/>
            <a:r>
              <a:rPr lang="en-US" altLang="zh-CN" dirty="0" smtClean="0">
                <a:solidFill>
                  <a:srgbClr val="263AF8"/>
                </a:solidFill>
                <a:sym typeface="Symbol" panose="05050102010706020507" pitchFamily="18" charset="2"/>
              </a:rPr>
              <a:t>All </a:t>
            </a:r>
            <a:r>
              <a:rPr lang="en-US" altLang="zh-CN" dirty="0">
                <a:solidFill>
                  <a:srgbClr val="263AF8"/>
                </a:solidFill>
                <a:sym typeface="Symbol" panose="05050102010706020507" pitchFamily="18" charset="2"/>
              </a:rPr>
              <a:t>leaves are at the same depth.</a:t>
            </a:r>
            <a:endParaRPr lang="en-US" altLang="zh-CN" dirty="0">
              <a:solidFill>
                <a:srgbClr val="263AF8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D0B699-3202-4920-8832-3D35328D58F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26518" y="5796136"/>
            <a:ext cx="6266896" cy="1631216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dirty="0">
                <a:ea typeface="宋体" pitchFamily="2" charset="-122"/>
              </a:rPr>
              <a:t>All data records are stored at the leaves.</a:t>
            </a:r>
            <a:endParaRPr lang="en-US" altLang="zh-CN" dirty="0">
              <a:ea typeface="宋体" pitchFamily="2" charset="-122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dirty="0">
                <a:ea typeface="宋体" pitchFamily="2" charset="-122"/>
              </a:rPr>
              <a:t>Internal nodes have “keys” guiding to the leaves.</a:t>
            </a:r>
            <a:endParaRPr lang="en-US" altLang="zh-CN" dirty="0">
              <a:ea typeface="宋体" pitchFamily="2" charset="-122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dirty="0">
                <a:ea typeface="宋体" pitchFamily="2" charset="-122"/>
              </a:rPr>
              <a:t>Leaves store </a:t>
            </a:r>
            <a:r>
              <a:rPr lang="en-US" altLang="zh-CN" dirty="0" smtClean="0">
                <a:ea typeface="宋体" pitchFamily="2" charset="-122"/>
              </a:rPr>
              <a:t>between 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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L/2 and L data 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records, where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L can be equal to M (default) or can be different.</a:t>
            </a:r>
            <a:endParaRPr lang="en-US" altLang="zh-CN" dirty="0">
              <a:ea typeface="宋体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6563673-DBD1-4DE6-B2D3-D3E527E40D0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649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0650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972FD0C-C6BC-47A4-BA18-33965D19C890}" type="slidenum">
              <a:rPr lang="en-US" altLang="zh-CN" sz="1050"/>
            </a:fld>
            <a:endParaRPr lang="en-US" altLang="zh-CN" sz="1050"/>
          </a:p>
        </p:txBody>
      </p:sp>
      <p:sp>
        <p:nvSpPr>
          <p:cNvPr id="10650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69056" tIns="34529" rIns="69056" bIns="34529" rtlCol="0" anchor="ctr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B-Tree Details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3626" y="2891706"/>
            <a:ext cx="5713102" cy="1033073"/>
          </a:xfrm>
          <a:noFill/>
        </p:spPr>
        <p:txBody>
          <a:bodyPr vert="horz" wrap="none" lIns="69056" tIns="34529" rIns="69056" bIns="34529" rtlCol="0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dirty="0" smtClean="0">
                <a:ea typeface="宋体" pitchFamily="2" charset="-122"/>
              </a:rPr>
              <a:t>Each (non-leaf) internal node of a B-tree has: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Between 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M/2 and M children.</a:t>
            </a:r>
            <a:endParaRPr lang="en-US" altLang="zh-CN" baseline="-25000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up to M-1 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keys</a:t>
            </a:r>
            <a:r>
              <a:rPr lang="en-US" altLang="zh-CN" dirty="0" smtClean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k</a:t>
            </a:r>
            <a:r>
              <a:rPr lang="en-US" altLang="zh-CN" baseline="-25000" dirty="0" smtClean="0">
                <a:ea typeface="宋体" pitchFamily="2" charset="-122"/>
              </a:rPr>
              <a:t>1 </a:t>
            </a:r>
            <a:r>
              <a:rPr lang="en-US" altLang="zh-CN" dirty="0" smtClean="0">
                <a:latin typeface="Symbol" panose="05050102010706020507" pitchFamily="18" charset="2"/>
                <a:ea typeface="宋体" pitchFamily="2" charset="-122"/>
              </a:rPr>
              <a:t>&lt;</a:t>
            </a:r>
            <a:r>
              <a:rPr lang="en-US" altLang="zh-CN" baseline="-25000" dirty="0" smtClean="0">
                <a:ea typeface="宋体" pitchFamily="2" charset="-122"/>
              </a:rPr>
              <a:t>  </a:t>
            </a:r>
            <a:r>
              <a:rPr lang="en-US" altLang="zh-CN" dirty="0" smtClean="0">
                <a:ea typeface="宋体" pitchFamily="2" charset="-122"/>
              </a:rPr>
              <a:t>k</a:t>
            </a:r>
            <a:r>
              <a:rPr lang="en-US" altLang="zh-CN" baseline="-25000" dirty="0" smtClean="0">
                <a:ea typeface="宋体" pitchFamily="2" charset="-122"/>
              </a:rPr>
              <a:t>2 </a:t>
            </a:r>
            <a:r>
              <a:rPr lang="en-US" altLang="zh-CN" dirty="0" smtClean="0">
                <a:latin typeface="Symbol" panose="05050102010706020507" pitchFamily="18" charset="2"/>
                <a:ea typeface="宋体" pitchFamily="2" charset="-122"/>
              </a:rPr>
              <a:t>&lt; ... &lt;</a:t>
            </a:r>
            <a:r>
              <a:rPr lang="en-US" altLang="zh-CN" baseline="-25000" dirty="0" smtClean="0"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k</a:t>
            </a:r>
            <a:r>
              <a:rPr lang="en-US" altLang="zh-CN" baseline="-25000" dirty="0" smtClean="0">
                <a:ea typeface="宋体" pitchFamily="2" charset="-122"/>
              </a:rPr>
              <a:t>M-1</a:t>
            </a:r>
            <a:endParaRPr lang="en-US" altLang="zh-CN" baseline="-25000" dirty="0" smtClean="0">
              <a:ea typeface="宋体" pitchFamily="2" charset="-122"/>
            </a:endParaRP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1839133" y="5906405"/>
            <a:ext cx="3082088" cy="685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9056" tIns="34529" rIns="69056" bIns="34529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4287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77165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</a:rPr>
              <a:t>Keys are ordered so that:</a:t>
            </a:r>
            <a:endParaRPr lang="en-US" altLang="zh-CN" sz="2000" dirty="0">
              <a:latin typeface="Times New Roman" panose="02020603050405020304" pitchFamily="18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itchFamily="2" charset="-122"/>
              </a:rPr>
              <a:t>1 </a:t>
            </a:r>
            <a:r>
              <a:rPr lang="en-US" altLang="zh-CN" sz="2000" dirty="0">
                <a:latin typeface="Symbol" panose="05050102010706020507" pitchFamily="18" charset="2"/>
                <a:ea typeface="宋体" pitchFamily="2" charset="-122"/>
              </a:rPr>
              <a:t>&lt;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itchFamily="2" charset="-122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itchFamily="2" charset="-122"/>
              </a:rPr>
              <a:t>2 </a:t>
            </a:r>
            <a:r>
              <a:rPr lang="en-US" altLang="zh-CN" sz="2000" dirty="0">
                <a:latin typeface="Symbol" panose="05050102010706020507" pitchFamily="18" charset="2"/>
                <a:ea typeface="宋体" pitchFamily="2" charset="-122"/>
              </a:rPr>
              <a:t>&lt; ... &lt;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itchFamily="2" charset="-122"/>
              </a:rPr>
              <a:t>M-1</a:t>
            </a:r>
            <a:endParaRPr lang="en-US" altLang="zh-CN" sz="2000" baseline="-250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grpSp>
        <p:nvGrpSpPr>
          <p:cNvPr id="62469" name="Group 5"/>
          <p:cNvGrpSpPr/>
          <p:nvPr/>
        </p:nvGrpSpPr>
        <p:grpSpPr bwMode="auto">
          <a:xfrm>
            <a:off x="1393032" y="4826793"/>
            <a:ext cx="3989785" cy="981431"/>
            <a:chOff x="1105" y="1921"/>
            <a:chExt cx="3351" cy="623"/>
          </a:xfrm>
        </p:grpSpPr>
        <p:sp>
          <p:nvSpPr>
            <p:cNvPr id="106505" name="Oval 6"/>
            <p:cNvSpPr>
              <a:spLocks noChangeArrowheads="1"/>
            </p:cNvSpPr>
            <p:nvPr/>
          </p:nvSpPr>
          <p:spPr bwMode="auto">
            <a:xfrm>
              <a:off x="1105" y="1921"/>
              <a:ext cx="3351" cy="47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06506" name="Rectangle 7"/>
            <p:cNvSpPr>
              <a:spLocks noChangeArrowheads="1"/>
            </p:cNvSpPr>
            <p:nvPr/>
          </p:nvSpPr>
          <p:spPr bwMode="auto">
            <a:xfrm>
              <a:off x="3765" y="2035"/>
              <a:ext cx="355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>
              <a:spAutoFit/>
            </a:bodyPr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itchFamily="2" charset="-122"/>
                </a:rPr>
                <a:t>k</a:t>
              </a:r>
              <a:r>
                <a:rPr lang="en-US" altLang="zh-CN" baseline="-25000">
                  <a:latin typeface="Times New Roman" panose="02020603050405020304" pitchFamily="18" charset="0"/>
                  <a:ea typeface="宋体" pitchFamily="2" charset="-122"/>
                </a:rPr>
                <a:t>M-1</a:t>
              </a:r>
              <a:endParaRPr lang="en-US" altLang="zh-CN" baseline="-250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6507" name="Rectangle 8"/>
            <p:cNvSpPr>
              <a:spLocks noChangeArrowheads="1"/>
            </p:cNvSpPr>
            <p:nvPr/>
          </p:nvSpPr>
          <p:spPr bwMode="auto">
            <a:xfrm>
              <a:off x="1954" y="2042"/>
              <a:ext cx="263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. . .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6508" name="Rectangle 9"/>
            <p:cNvSpPr>
              <a:spLocks noChangeArrowheads="1"/>
            </p:cNvSpPr>
            <p:nvPr/>
          </p:nvSpPr>
          <p:spPr bwMode="auto">
            <a:xfrm>
              <a:off x="3189" y="2045"/>
              <a:ext cx="262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. . . 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6509" name="Rectangle 10"/>
            <p:cNvSpPr>
              <a:spLocks noChangeArrowheads="1"/>
            </p:cNvSpPr>
            <p:nvPr/>
          </p:nvSpPr>
          <p:spPr bwMode="auto">
            <a:xfrm>
              <a:off x="2378" y="2035"/>
              <a:ext cx="30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itchFamily="2" charset="-122"/>
                </a:rPr>
                <a:t>k</a:t>
              </a:r>
              <a:r>
                <a:rPr lang="en-US" altLang="zh-CN" baseline="-25000">
                  <a:latin typeface="Times New Roman" panose="02020603050405020304" pitchFamily="18" charset="0"/>
                  <a:ea typeface="宋体" pitchFamily="2" charset="-122"/>
                </a:rPr>
                <a:t>i-1</a:t>
              </a:r>
              <a:endParaRPr lang="en-US" altLang="zh-CN" baseline="-250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6510" name="Rectangle 11"/>
            <p:cNvSpPr>
              <a:spLocks noChangeArrowheads="1"/>
            </p:cNvSpPr>
            <p:nvPr/>
          </p:nvSpPr>
          <p:spPr bwMode="auto">
            <a:xfrm>
              <a:off x="2863" y="2025"/>
              <a:ext cx="16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itchFamily="2" charset="-122"/>
                </a:rPr>
                <a:t>k</a:t>
              </a:r>
              <a:r>
                <a:rPr lang="en-US" altLang="zh-CN" baseline="-25000">
                  <a:latin typeface="Times New Roman" panose="02020603050405020304" pitchFamily="18" charset="0"/>
                  <a:ea typeface="宋体" pitchFamily="2" charset="-122"/>
                </a:rPr>
                <a:t>i</a:t>
              </a:r>
              <a:endParaRPr lang="en-US" altLang="zh-CN" baseline="-250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6511" name="Rectangle 12"/>
            <p:cNvSpPr>
              <a:spLocks noChangeArrowheads="1"/>
            </p:cNvSpPr>
            <p:nvPr/>
          </p:nvSpPr>
          <p:spPr bwMode="auto">
            <a:xfrm>
              <a:off x="1594" y="2029"/>
              <a:ext cx="182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宋体" pitchFamily="2" charset="-122"/>
                </a:rPr>
                <a:t>k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itchFamily="2" charset="-122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6512" name="Line 13"/>
            <p:cNvSpPr>
              <a:spLocks noChangeShapeType="1"/>
            </p:cNvSpPr>
            <p:nvPr/>
          </p:nvSpPr>
          <p:spPr bwMode="auto">
            <a:xfrm flipH="1">
              <a:off x="1201" y="2161"/>
              <a:ext cx="239" cy="3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6513" name="Line 14"/>
            <p:cNvSpPr>
              <a:spLocks noChangeShapeType="1"/>
            </p:cNvSpPr>
            <p:nvPr/>
          </p:nvSpPr>
          <p:spPr bwMode="auto">
            <a:xfrm flipH="1">
              <a:off x="2257" y="2161"/>
              <a:ext cx="95" cy="3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6514" name="Line 15"/>
            <p:cNvSpPr>
              <a:spLocks noChangeShapeType="1"/>
            </p:cNvSpPr>
            <p:nvPr/>
          </p:nvSpPr>
          <p:spPr bwMode="auto">
            <a:xfrm>
              <a:off x="2785" y="2161"/>
              <a:ext cx="95" cy="3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6515" name="Line 16"/>
            <p:cNvSpPr>
              <a:spLocks noChangeShapeType="1"/>
            </p:cNvSpPr>
            <p:nvPr/>
          </p:nvSpPr>
          <p:spPr bwMode="auto">
            <a:xfrm>
              <a:off x="4129" y="2161"/>
              <a:ext cx="287" cy="3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ldLvl="2" autoUpdateAnimBg="0" build="p"/>
      <p:bldP spid="62468" grpId="0" autoUpdateAnimBg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C40D4B6-F892-4E0D-B0BE-0ED556C91AE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85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085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3EDA5E8-38D8-409E-B1FB-7D7568490EB6}" type="slidenum">
              <a:rPr lang="en-US" altLang="zh-CN" sz="1050"/>
            </a:fld>
            <a:endParaRPr lang="en-US" altLang="zh-CN" sz="1050"/>
          </a:p>
        </p:txBody>
      </p:sp>
      <p:sp>
        <p:nvSpPr>
          <p:cNvPr id="10854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69056" tIns="34529" rIns="69056" bIns="34529" rtlCol="0" anchor="ctr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Properties of B-Trees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6135" y="4706996"/>
            <a:ext cx="5549169" cy="2362668"/>
          </a:xfrm>
          <a:noFill/>
        </p:spPr>
        <p:txBody>
          <a:bodyPr vert="horz" wrap="square" lIns="69056" tIns="34529" rIns="69056" bIns="34529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>
                <a:ea typeface="宋体" pitchFamily="2" charset="-122"/>
              </a:rPr>
              <a:t>Children of each internal node are "between" the items in that node.</a:t>
            </a:r>
            <a:endParaRPr lang="en-US" altLang="zh-CN" sz="2000" dirty="0">
              <a:ea typeface="宋体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 dirty="0" smtClean="0">
              <a:ea typeface="宋体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 </a:t>
            </a:r>
            <a:r>
              <a:rPr lang="en-US" altLang="zh-CN" sz="2000" dirty="0" smtClean="0">
                <a:ea typeface="宋体" pitchFamily="2" charset="-122"/>
              </a:rPr>
              <a:t>Suppose </a:t>
            </a:r>
            <a:r>
              <a:rPr lang="en-US" altLang="zh-CN" sz="2000" dirty="0">
                <a:ea typeface="宋体" pitchFamily="2" charset="-122"/>
              </a:rPr>
              <a:t>subtree </a:t>
            </a:r>
            <a:r>
              <a:rPr lang="en-US" altLang="zh-CN" sz="2000" dirty="0" err="1">
                <a:ea typeface="宋体" pitchFamily="2" charset="-122"/>
              </a:rPr>
              <a:t>T</a:t>
            </a:r>
            <a:r>
              <a:rPr lang="en-US" altLang="zh-CN" sz="2000" baseline="-25000" dirty="0" err="1">
                <a:ea typeface="宋体" pitchFamily="2" charset="-122"/>
              </a:rPr>
              <a:t>i</a:t>
            </a:r>
            <a:r>
              <a:rPr lang="en-US" altLang="zh-CN" sz="2000" dirty="0">
                <a:ea typeface="宋体" pitchFamily="2" charset="-122"/>
              </a:rPr>
              <a:t> is the </a:t>
            </a:r>
            <a:r>
              <a:rPr lang="en-US" altLang="zh-CN" sz="2000" i="1" dirty="0" err="1">
                <a:ea typeface="宋体" pitchFamily="2" charset="-122"/>
              </a:rPr>
              <a:t>i</a:t>
            </a:r>
            <a:r>
              <a:rPr lang="en-US" altLang="zh-CN" sz="2000" dirty="0" err="1">
                <a:ea typeface="宋体" pitchFamily="2" charset="-122"/>
              </a:rPr>
              <a:t>th</a:t>
            </a:r>
            <a:r>
              <a:rPr lang="en-US" altLang="zh-CN" sz="2000" dirty="0">
                <a:ea typeface="宋体" pitchFamily="2" charset="-122"/>
              </a:rPr>
              <a:t> child of the node:</a:t>
            </a:r>
            <a:endParaRPr lang="en-US" altLang="zh-CN" sz="2000" dirty="0">
              <a:ea typeface="宋体" pitchFamily="2" charset="-122"/>
            </a:endParaRPr>
          </a:p>
          <a:p>
            <a:pPr lvl="1">
              <a:buFontTx/>
              <a:buNone/>
            </a:pPr>
            <a:r>
              <a:rPr lang="en-US" altLang="zh-CN" dirty="0" smtClean="0">
                <a:ea typeface="宋体" pitchFamily="2" charset="-122"/>
              </a:rPr>
              <a:t>- All </a:t>
            </a:r>
            <a:r>
              <a:rPr lang="en-US" altLang="zh-CN" dirty="0">
                <a:ea typeface="宋体" pitchFamily="2" charset="-122"/>
              </a:rPr>
              <a:t>keys in </a:t>
            </a:r>
            <a:r>
              <a:rPr lang="en-US" altLang="zh-CN" dirty="0" err="1">
                <a:ea typeface="宋体" pitchFamily="2" charset="-122"/>
              </a:rPr>
              <a:t>T</a:t>
            </a:r>
            <a:r>
              <a:rPr lang="en-US" altLang="zh-CN" baseline="-25000" dirty="0" err="1">
                <a:ea typeface="宋体" pitchFamily="2" charset="-122"/>
              </a:rPr>
              <a:t>i</a:t>
            </a:r>
            <a:r>
              <a:rPr lang="en-US" altLang="zh-CN" dirty="0">
                <a:ea typeface="宋体" pitchFamily="2" charset="-122"/>
              </a:rPr>
              <a:t> must be between keys k</a:t>
            </a:r>
            <a:r>
              <a:rPr lang="en-US" altLang="zh-CN" baseline="-25000" dirty="0">
                <a:ea typeface="宋体" pitchFamily="2" charset="-122"/>
              </a:rPr>
              <a:t>i-1</a:t>
            </a:r>
            <a:r>
              <a:rPr lang="en-US" altLang="zh-CN" dirty="0">
                <a:ea typeface="宋体" pitchFamily="2" charset="-122"/>
              </a:rPr>
              <a:t> and </a:t>
            </a:r>
            <a:r>
              <a:rPr lang="en-US" altLang="zh-CN" dirty="0" err="1">
                <a:ea typeface="宋体" pitchFamily="2" charset="-122"/>
              </a:rPr>
              <a:t>k</a:t>
            </a:r>
            <a:r>
              <a:rPr lang="en-US" altLang="zh-CN" baseline="-25000" dirty="0" err="1">
                <a:ea typeface="宋体" pitchFamily="2" charset="-122"/>
              </a:rPr>
              <a:t>i</a:t>
            </a:r>
            <a:endParaRPr lang="en-US" altLang="zh-CN" baseline="-25000" dirty="0">
              <a:ea typeface="宋体" pitchFamily="2" charset="-122"/>
            </a:endParaRPr>
          </a:p>
          <a:p>
            <a:pPr lvl="1">
              <a:buFontTx/>
              <a:buNone/>
            </a:pPr>
            <a:r>
              <a:rPr lang="en-US" altLang="zh-CN" dirty="0">
                <a:ea typeface="宋体" pitchFamily="2" charset="-122"/>
              </a:rPr>
              <a:t>i.e. </a:t>
            </a:r>
            <a:r>
              <a:rPr lang="en-US" altLang="zh-CN" dirty="0">
                <a:solidFill>
                  <a:srgbClr val="FF3300"/>
                </a:solidFill>
                <a:ea typeface="宋体" pitchFamily="2" charset="-122"/>
              </a:rPr>
              <a:t>k</a:t>
            </a:r>
            <a:r>
              <a:rPr lang="en-US" altLang="zh-CN" baseline="-25000" dirty="0">
                <a:solidFill>
                  <a:srgbClr val="FF3300"/>
                </a:solidFill>
                <a:ea typeface="宋体" pitchFamily="2" charset="-122"/>
              </a:rPr>
              <a:t>i-1</a:t>
            </a:r>
            <a:r>
              <a:rPr lang="en-US" altLang="zh-CN" dirty="0">
                <a:solidFill>
                  <a:srgbClr val="FF3300"/>
                </a:solidFill>
                <a:ea typeface="宋体" pitchFamily="2" charset="-122"/>
              </a:rPr>
              <a:t> </a:t>
            </a:r>
            <a:r>
              <a:rPr lang="en-US" altLang="zh-CN" dirty="0">
                <a:solidFill>
                  <a:srgbClr val="FF3300"/>
                </a:solidFill>
                <a:latin typeface="Symbol" panose="05050102010706020507" pitchFamily="18" charset="2"/>
                <a:ea typeface="宋体" pitchFamily="2" charset="-122"/>
              </a:rPr>
              <a:t>£ </a:t>
            </a:r>
            <a:r>
              <a:rPr lang="en-US" altLang="zh-CN" dirty="0" err="1">
                <a:solidFill>
                  <a:srgbClr val="FF3300"/>
                </a:solidFill>
                <a:ea typeface="宋体" pitchFamily="2" charset="-122"/>
              </a:rPr>
              <a:t>T</a:t>
            </a:r>
            <a:r>
              <a:rPr lang="en-US" altLang="zh-CN" baseline="-25000" dirty="0" err="1">
                <a:solidFill>
                  <a:srgbClr val="FF3300"/>
                </a:solidFill>
                <a:ea typeface="宋体" pitchFamily="2" charset="-122"/>
              </a:rPr>
              <a:t>i</a:t>
            </a:r>
            <a:r>
              <a:rPr lang="en-US" altLang="zh-CN" dirty="0">
                <a:solidFill>
                  <a:srgbClr val="FF3300"/>
                </a:solidFill>
                <a:latin typeface="Symbol" panose="05050102010706020507" pitchFamily="18" charset="2"/>
                <a:ea typeface="宋体" pitchFamily="2" charset="-122"/>
              </a:rPr>
              <a:t> &lt; </a:t>
            </a:r>
            <a:r>
              <a:rPr lang="en-US" altLang="zh-CN" dirty="0" err="1" smtClean="0">
                <a:solidFill>
                  <a:srgbClr val="FF3300"/>
                </a:solidFill>
                <a:ea typeface="宋体" pitchFamily="2" charset="-122"/>
              </a:rPr>
              <a:t>k</a:t>
            </a:r>
            <a:r>
              <a:rPr lang="en-US" altLang="zh-CN" baseline="-25000" dirty="0" err="1" smtClean="0">
                <a:solidFill>
                  <a:srgbClr val="FF3300"/>
                </a:solidFill>
                <a:ea typeface="宋体" pitchFamily="2" charset="-122"/>
              </a:rPr>
              <a:t>i</a:t>
            </a:r>
            <a:r>
              <a:rPr lang="en-US" altLang="zh-CN" baseline="-25000" dirty="0" smtClean="0">
                <a:solidFill>
                  <a:srgbClr val="FF3300"/>
                </a:solidFill>
                <a:ea typeface="宋体" pitchFamily="2" charset="-122"/>
              </a:rPr>
              <a:t> </a:t>
            </a:r>
            <a:r>
              <a:rPr lang="en-US" altLang="zh-CN" dirty="0" smtClean="0">
                <a:solidFill>
                  <a:srgbClr val="FF3300"/>
                </a:solidFill>
                <a:ea typeface="宋体" pitchFamily="2" charset="-122"/>
              </a:rPr>
              <a:t>, </a:t>
            </a:r>
            <a:r>
              <a:rPr lang="en-US" altLang="zh-CN" sz="2000" dirty="0" smtClean="0">
                <a:solidFill>
                  <a:srgbClr val="0000FF"/>
                </a:solidFill>
                <a:ea typeface="宋体" pitchFamily="2" charset="-122"/>
              </a:rPr>
              <a:t>k</a:t>
            </a:r>
            <a:r>
              <a:rPr lang="en-US" altLang="zh-CN" sz="2000" baseline="-25000" dirty="0" smtClean="0">
                <a:solidFill>
                  <a:srgbClr val="0000FF"/>
                </a:solidFill>
                <a:ea typeface="宋体" pitchFamily="2" charset="-122"/>
              </a:rPr>
              <a:t>i-1 </a:t>
            </a:r>
            <a:r>
              <a:rPr lang="en-US" altLang="zh-CN" sz="2000" dirty="0">
                <a:solidFill>
                  <a:srgbClr val="0000FF"/>
                </a:solidFill>
                <a:ea typeface="宋体" pitchFamily="2" charset="-122"/>
              </a:rPr>
              <a:t>is the smallest key in </a:t>
            </a:r>
            <a:r>
              <a:rPr lang="en-US" altLang="zh-CN" sz="2000" dirty="0" err="1">
                <a:solidFill>
                  <a:srgbClr val="0000FF"/>
                </a:solidFill>
                <a:ea typeface="宋体" pitchFamily="2" charset="-122"/>
              </a:rPr>
              <a:t>T</a:t>
            </a:r>
            <a:r>
              <a:rPr lang="en-US" altLang="zh-CN" sz="2000" baseline="-25000" dirty="0" err="1">
                <a:solidFill>
                  <a:srgbClr val="0000FF"/>
                </a:solidFill>
                <a:ea typeface="宋体" pitchFamily="2" charset="-122"/>
              </a:rPr>
              <a:t>i</a:t>
            </a:r>
            <a:r>
              <a:rPr lang="en-US" altLang="zh-CN" sz="2000" dirty="0">
                <a:latin typeface="Symbol" panose="05050102010706020507" pitchFamily="18" charset="2"/>
                <a:ea typeface="宋体" pitchFamily="2" charset="-122"/>
              </a:rPr>
              <a:t> </a:t>
            </a:r>
            <a:endParaRPr lang="en-US" altLang="zh-CN" sz="2000" baseline="-25000" dirty="0">
              <a:ea typeface="宋体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ea typeface="宋体" pitchFamily="2" charset="-122"/>
              </a:rPr>
              <a:t>    - All </a:t>
            </a:r>
            <a:r>
              <a:rPr lang="en-US" altLang="zh-CN" sz="2000" dirty="0">
                <a:ea typeface="宋体" pitchFamily="2" charset="-122"/>
              </a:rPr>
              <a:t>keys in first subtree T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latin typeface="Symbol" panose="05050102010706020507" pitchFamily="18" charset="2"/>
                <a:ea typeface="宋体" pitchFamily="2" charset="-122"/>
              </a:rPr>
              <a:t> &lt; </a:t>
            </a:r>
            <a:r>
              <a:rPr lang="en-US" altLang="zh-CN" sz="2000" dirty="0">
                <a:ea typeface="宋体" pitchFamily="2" charset="-122"/>
              </a:rPr>
              <a:t>k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endParaRPr lang="en-US" altLang="zh-CN" sz="2000" dirty="0">
              <a:ea typeface="宋体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ea typeface="宋体" pitchFamily="2" charset="-122"/>
              </a:rPr>
              <a:t>    - All </a:t>
            </a:r>
            <a:r>
              <a:rPr lang="en-US" altLang="zh-CN" sz="2000" dirty="0">
                <a:ea typeface="宋体" pitchFamily="2" charset="-122"/>
              </a:rPr>
              <a:t>keys in last subtree T</a:t>
            </a:r>
            <a:r>
              <a:rPr lang="en-US" altLang="zh-CN" sz="2000" baseline="-25000" dirty="0">
                <a:ea typeface="宋体" pitchFamily="2" charset="-122"/>
              </a:rPr>
              <a:t>M</a:t>
            </a:r>
            <a:r>
              <a:rPr lang="en-US" altLang="zh-CN" sz="2000" dirty="0">
                <a:latin typeface="Symbol" panose="05050102010706020507" pitchFamily="18" charset="2"/>
                <a:ea typeface="宋体" pitchFamily="2" charset="-122"/>
              </a:rPr>
              <a:t> ³ </a:t>
            </a:r>
            <a:r>
              <a:rPr lang="en-US" altLang="zh-CN" sz="2000" dirty="0">
                <a:ea typeface="宋体" pitchFamily="2" charset="-122"/>
              </a:rPr>
              <a:t>k</a:t>
            </a:r>
            <a:r>
              <a:rPr lang="en-US" altLang="zh-CN" sz="2000" baseline="-25000" dirty="0">
                <a:ea typeface="宋体" pitchFamily="2" charset="-122"/>
              </a:rPr>
              <a:t>M-1</a:t>
            </a:r>
            <a:endParaRPr lang="en-US" altLang="zh-CN" sz="2000" baseline="-25000" dirty="0">
              <a:ea typeface="宋体" pitchFamily="2" charset="-122"/>
            </a:endParaRPr>
          </a:p>
        </p:txBody>
      </p:sp>
      <p:sp>
        <p:nvSpPr>
          <p:cNvPr id="108551" name="Rectangle 4"/>
          <p:cNvSpPr>
            <a:spLocks noChangeArrowheads="1"/>
          </p:cNvSpPr>
          <p:nvPr/>
        </p:nvSpPr>
        <p:spPr bwMode="auto">
          <a:xfrm>
            <a:off x="2076450" y="4938713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8554" name="Freeform 9"/>
          <p:cNvSpPr/>
          <p:nvPr/>
        </p:nvSpPr>
        <p:spPr bwMode="auto">
          <a:xfrm>
            <a:off x="2984235" y="3171556"/>
            <a:ext cx="779860" cy="738188"/>
          </a:xfrm>
          <a:custGeom>
            <a:avLst/>
            <a:gdLst>
              <a:gd name="T0" fmla="*/ 530225 w 655"/>
              <a:gd name="T1" fmla="*/ 12235 h 724"/>
              <a:gd name="T2" fmla="*/ 0 w 655"/>
              <a:gd name="T3" fmla="*/ 982891 h 724"/>
              <a:gd name="T4" fmla="*/ 1038225 w 655"/>
              <a:gd name="T5" fmla="*/ 982891 h 724"/>
              <a:gd name="T6" fmla="*/ 530225 w 655"/>
              <a:gd name="T7" fmla="*/ 0 h 724"/>
              <a:gd name="T8" fmla="*/ 530225 w 655"/>
              <a:gd name="T9" fmla="*/ 12235 h 7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55" h="724">
                <a:moveTo>
                  <a:pt x="334" y="9"/>
                </a:moveTo>
                <a:lnTo>
                  <a:pt x="0" y="723"/>
                </a:lnTo>
                <a:lnTo>
                  <a:pt x="654" y="723"/>
                </a:lnTo>
                <a:lnTo>
                  <a:pt x="334" y="0"/>
                </a:lnTo>
                <a:lnTo>
                  <a:pt x="334" y="9"/>
                </a:lnTo>
              </a:path>
            </a:pathLst>
          </a:custGeom>
          <a:solidFill>
            <a:srgbClr val="C0C0C0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8561" name="Freeform 16"/>
          <p:cNvSpPr/>
          <p:nvPr/>
        </p:nvSpPr>
        <p:spPr bwMode="auto">
          <a:xfrm>
            <a:off x="4719570" y="3174367"/>
            <a:ext cx="704850" cy="733425"/>
          </a:xfrm>
          <a:custGeom>
            <a:avLst/>
            <a:gdLst>
              <a:gd name="T0" fmla="*/ 478700 w 534"/>
              <a:gd name="T1" fmla="*/ 11602 h 590"/>
              <a:gd name="T2" fmla="*/ 0 w 534"/>
              <a:gd name="T3" fmla="*/ 976243 h 590"/>
              <a:gd name="T4" fmla="*/ 938040 w 534"/>
              <a:gd name="T5" fmla="*/ 976243 h 590"/>
              <a:gd name="T6" fmla="*/ 478700 w 534"/>
              <a:gd name="T7" fmla="*/ 0 h 590"/>
              <a:gd name="T8" fmla="*/ 478700 w 534"/>
              <a:gd name="T9" fmla="*/ 11602 h 5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590">
                <a:moveTo>
                  <a:pt x="272" y="7"/>
                </a:moveTo>
                <a:lnTo>
                  <a:pt x="0" y="589"/>
                </a:lnTo>
                <a:lnTo>
                  <a:pt x="533" y="589"/>
                </a:lnTo>
                <a:lnTo>
                  <a:pt x="272" y="0"/>
                </a:lnTo>
                <a:lnTo>
                  <a:pt x="272" y="7"/>
                </a:lnTo>
              </a:path>
            </a:pathLst>
          </a:custGeom>
          <a:solidFill>
            <a:srgbClr val="C0C0C0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8562" name="Freeform 17"/>
          <p:cNvSpPr/>
          <p:nvPr/>
        </p:nvSpPr>
        <p:spPr bwMode="auto">
          <a:xfrm>
            <a:off x="1409039" y="3114355"/>
            <a:ext cx="690563" cy="756047"/>
          </a:xfrm>
          <a:custGeom>
            <a:avLst/>
            <a:gdLst>
              <a:gd name="T0" fmla="*/ 462957 w 535"/>
              <a:gd name="T1" fmla="*/ 17086 h 590"/>
              <a:gd name="T2" fmla="*/ 0 w 535"/>
              <a:gd name="T3" fmla="*/ 1006353 h 590"/>
              <a:gd name="T4" fmla="*/ 919029 w 535"/>
              <a:gd name="T5" fmla="*/ 1006353 h 590"/>
              <a:gd name="T6" fmla="*/ 462957 w 535"/>
              <a:gd name="T7" fmla="*/ 0 h 590"/>
              <a:gd name="T8" fmla="*/ 462957 w 535"/>
              <a:gd name="T9" fmla="*/ 17086 h 5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5" h="590">
                <a:moveTo>
                  <a:pt x="269" y="10"/>
                </a:moveTo>
                <a:lnTo>
                  <a:pt x="0" y="589"/>
                </a:lnTo>
                <a:lnTo>
                  <a:pt x="534" y="589"/>
                </a:lnTo>
                <a:lnTo>
                  <a:pt x="269" y="0"/>
                </a:lnTo>
                <a:lnTo>
                  <a:pt x="269" y="10"/>
                </a:lnTo>
              </a:path>
            </a:pathLst>
          </a:custGeom>
          <a:solidFill>
            <a:srgbClr val="C0C0C0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8574" name="Rectangle 29"/>
          <p:cNvSpPr>
            <a:spLocks noChangeArrowheads="1"/>
          </p:cNvSpPr>
          <p:nvPr/>
        </p:nvSpPr>
        <p:spPr bwMode="auto">
          <a:xfrm>
            <a:off x="1700808" y="3563888"/>
            <a:ext cx="21602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</a:rPr>
              <a:t>T</a:t>
            </a:r>
            <a:r>
              <a:rPr lang="en-US" altLang="zh-CN" sz="1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1800" baseline="-25000" dirty="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8580" name="Rectangle 35"/>
          <p:cNvSpPr>
            <a:spLocks noChangeArrowheads="1"/>
          </p:cNvSpPr>
          <p:nvPr/>
        </p:nvSpPr>
        <p:spPr bwMode="auto">
          <a:xfrm>
            <a:off x="4018855" y="3631137"/>
            <a:ext cx="34624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</a:rPr>
              <a:t>. . . </a:t>
            </a:r>
            <a:endParaRPr lang="en-US" altLang="zh-CN" sz="1800" b="1" dirty="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08581" name="Rectangle 36"/>
          <p:cNvSpPr>
            <a:spLocks noChangeArrowheads="1"/>
          </p:cNvSpPr>
          <p:nvPr/>
        </p:nvSpPr>
        <p:spPr bwMode="auto">
          <a:xfrm>
            <a:off x="2290663" y="3582270"/>
            <a:ext cx="34624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</a:rPr>
              <a:t>. . . </a:t>
            </a:r>
            <a:endParaRPr lang="en-US" altLang="zh-CN" sz="1800" b="1" dirty="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grpSp>
        <p:nvGrpSpPr>
          <p:cNvPr id="52" name="Group 5"/>
          <p:cNvGrpSpPr/>
          <p:nvPr/>
        </p:nvGrpSpPr>
        <p:grpSpPr bwMode="auto">
          <a:xfrm>
            <a:off x="1344744" y="2695271"/>
            <a:ext cx="3989785" cy="749857"/>
            <a:chOff x="1105" y="1921"/>
            <a:chExt cx="3351" cy="476"/>
          </a:xfrm>
        </p:grpSpPr>
        <p:sp>
          <p:nvSpPr>
            <p:cNvPr id="53" name="Oval 6"/>
            <p:cNvSpPr>
              <a:spLocks noChangeArrowheads="1"/>
            </p:cNvSpPr>
            <p:nvPr/>
          </p:nvSpPr>
          <p:spPr bwMode="auto">
            <a:xfrm>
              <a:off x="1105" y="1921"/>
              <a:ext cx="3351" cy="47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54" name="Rectangle 7"/>
            <p:cNvSpPr>
              <a:spLocks noChangeArrowheads="1"/>
            </p:cNvSpPr>
            <p:nvPr/>
          </p:nvSpPr>
          <p:spPr bwMode="auto">
            <a:xfrm>
              <a:off x="3765" y="2035"/>
              <a:ext cx="355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>
              <a:spAutoFit/>
            </a:bodyPr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itchFamily="2" charset="-122"/>
                </a:rPr>
                <a:t>k</a:t>
              </a:r>
              <a:r>
                <a:rPr lang="en-US" altLang="zh-CN" baseline="-25000">
                  <a:latin typeface="Times New Roman" panose="02020603050405020304" pitchFamily="18" charset="0"/>
                  <a:ea typeface="宋体" pitchFamily="2" charset="-122"/>
                </a:rPr>
                <a:t>M-1</a:t>
              </a:r>
              <a:endParaRPr lang="en-US" altLang="zh-CN" baseline="-250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5" name="Rectangle 8"/>
            <p:cNvSpPr>
              <a:spLocks noChangeArrowheads="1"/>
            </p:cNvSpPr>
            <p:nvPr/>
          </p:nvSpPr>
          <p:spPr bwMode="auto">
            <a:xfrm>
              <a:off x="1954" y="2042"/>
              <a:ext cx="263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. . .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6" name="Rectangle 9"/>
            <p:cNvSpPr>
              <a:spLocks noChangeArrowheads="1"/>
            </p:cNvSpPr>
            <p:nvPr/>
          </p:nvSpPr>
          <p:spPr bwMode="auto">
            <a:xfrm>
              <a:off x="3319" y="2045"/>
              <a:ext cx="262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. . . 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7" name="Rectangle 10"/>
            <p:cNvSpPr>
              <a:spLocks noChangeArrowheads="1"/>
            </p:cNvSpPr>
            <p:nvPr/>
          </p:nvSpPr>
          <p:spPr bwMode="auto">
            <a:xfrm>
              <a:off x="2378" y="2035"/>
              <a:ext cx="30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itchFamily="2" charset="-122"/>
                </a:rPr>
                <a:t>k</a:t>
              </a:r>
              <a:r>
                <a:rPr lang="en-US" altLang="zh-CN" baseline="-25000">
                  <a:latin typeface="Times New Roman" panose="02020603050405020304" pitchFamily="18" charset="0"/>
                  <a:ea typeface="宋体" pitchFamily="2" charset="-122"/>
                </a:rPr>
                <a:t>i-1</a:t>
              </a:r>
              <a:endParaRPr lang="en-US" altLang="zh-CN" baseline="-250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8" name="Rectangle 11"/>
            <p:cNvSpPr>
              <a:spLocks noChangeArrowheads="1"/>
            </p:cNvSpPr>
            <p:nvPr/>
          </p:nvSpPr>
          <p:spPr bwMode="auto">
            <a:xfrm>
              <a:off x="2993" y="2025"/>
              <a:ext cx="16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dirty="0" err="1">
                  <a:latin typeface="Times New Roman" panose="02020603050405020304" pitchFamily="18" charset="0"/>
                  <a:ea typeface="宋体" pitchFamily="2" charset="-122"/>
                </a:rPr>
                <a:t>k</a:t>
              </a:r>
              <a:r>
                <a:rPr lang="en-US" altLang="zh-CN" baseline="-25000" dirty="0" err="1">
                  <a:latin typeface="Times New Roman" panose="02020603050405020304" pitchFamily="18" charset="0"/>
                  <a:ea typeface="宋体" pitchFamily="2" charset="-122"/>
                </a:rPr>
                <a:t>i</a:t>
              </a:r>
              <a:endParaRPr lang="en-US" altLang="zh-CN" baseline="-250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1594" y="2029"/>
              <a:ext cx="182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宋体" pitchFamily="2" charset="-122"/>
                </a:rPr>
                <a:t>k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itchFamily="2" charset="-122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sp>
        <p:nvSpPr>
          <p:cNvPr id="64" name="Rectangle 29"/>
          <p:cNvSpPr>
            <a:spLocks noChangeArrowheads="1"/>
          </p:cNvSpPr>
          <p:nvPr/>
        </p:nvSpPr>
        <p:spPr bwMode="auto">
          <a:xfrm>
            <a:off x="3283390" y="3573424"/>
            <a:ext cx="21602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</a:rPr>
              <a:t>T</a:t>
            </a:r>
            <a:r>
              <a:rPr lang="en-US" altLang="zh-CN" sz="1800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</a:rPr>
              <a:t>i</a:t>
            </a:r>
            <a:endParaRPr lang="en-US" altLang="zh-CN" sz="1800" baseline="-25000" dirty="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5" name="Rectangle 29"/>
          <p:cNvSpPr>
            <a:spLocks noChangeArrowheads="1"/>
          </p:cNvSpPr>
          <p:nvPr/>
        </p:nvSpPr>
        <p:spPr bwMode="auto">
          <a:xfrm>
            <a:off x="4984222" y="3567730"/>
            <a:ext cx="3137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</a:rPr>
              <a:t>T</a:t>
            </a:r>
            <a:r>
              <a:rPr lang="en-US" altLang="zh-CN" sz="1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</a:rPr>
              <a:t>M</a:t>
            </a:r>
            <a:endParaRPr lang="en-US" altLang="zh-CN" sz="1800" baseline="-25000" dirty="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autoUpdateAnimBg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BE33A36-85BD-49B0-8CFA-61D7243C2EC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85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085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3EDA5E8-38D8-409E-B1FB-7D7568490EB6}" type="slidenum">
              <a:rPr lang="en-US" altLang="zh-CN" sz="1050"/>
            </a:fld>
            <a:endParaRPr lang="en-US" altLang="zh-CN" sz="1050"/>
          </a:p>
        </p:txBody>
      </p:sp>
      <p:sp>
        <p:nvSpPr>
          <p:cNvPr id="10854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69056" tIns="34529" rIns="69056" bIns="34529" rtlCol="0" anchor="ctr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Properties of B-Trees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9814" y="5350522"/>
            <a:ext cx="5549169" cy="900729"/>
          </a:xfrm>
          <a:noFill/>
        </p:spPr>
        <p:txBody>
          <a:bodyPr vert="horz" wrap="square" lIns="69056" tIns="34529" rIns="69056" bIns="34529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/>
              <a:t>The Ks are keys</a:t>
            </a:r>
            <a:endParaRPr lang="en-US" altLang="zh-CN" sz="2000" dirty="0"/>
          </a:p>
          <a:p>
            <a:pPr>
              <a:spcBef>
                <a:spcPct val="0"/>
              </a:spcBef>
            </a:pPr>
            <a:endParaRPr lang="en-US" altLang="zh-CN" sz="2000" dirty="0"/>
          </a:p>
          <a:p>
            <a:pPr>
              <a:spcBef>
                <a:spcPct val="0"/>
              </a:spcBef>
            </a:pPr>
            <a:r>
              <a:rPr lang="en-US" altLang="zh-CN" sz="2000" dirty="0"/>
              <a:t> The Ps are pointers to </a:t>
            </a:r>
            <a:r>
              <a:rPr lang="en-US" altLang="zh-CN" sz="2000" dirty="0" smtClean="0"/>
              <a:t>subtrees</a:t>
            </a:r>
            <a:endParaRPr lang="en-US" altLang="zh-CN" sz="2000" baseline="-25000" dirty="0">
              <a:ea typeface="宋体" pitchFamily="2" charset="-122"/>
            </a:endParaRPr>
          </a:p>
        </p:txBody>
      </p:sp>
      <p:sp>
        <p:nvSpPr>
          <p:cNvPr id="108551" name="Rectangle 4"/>
          <p:cNvSpPr>
            <a:spLocks noChangeArrowheads="1"/>
          </p:cNvSpPr>
          <p:nvPr/>
        </p:nvSpPr>
        <p:spPr bwMode="auto">
          <a:xfrm>
            <a:off x="2076450" y="4938713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980728" y="2730241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764703" y="2853044"/>
          <a:ext cx="5112568" cy="4484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8063"/>
                <a:gridCol w="568063"/>
                <a:gridCol w="425612"/>
                <a:gridCol w="710515"/>
                <a:gridCol w="680076"/>
                <a:gridCol w="456050"/>
                <a:gridCol w="408046"/>
                <a:gridCol w="728080"/>
                <a:gridCol w="568063"/>
              </a:tblGrid>
              <a:tr h="44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P[0]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K[0]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K[i-1]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P[</a:t>
                      </a:r>
                      <a:r>
                        <a:rPr lang="en-US" altLang="zh-CN" sz="18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K[</a:t>
                      </a:r>
                      <a:r>
                        <a:rPr lang="en-US" altLang="zh-CN" sz="18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K[q-1]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P[q]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等腰三角形 1"/>
          <p:cNvSpPr/>
          <p:nvPr/>
        </p:nvSpPr>
        <p:spPr>
          <a:xfrm>
            <a:off x="804676" y="3716227"/>
            <a:ext cx="509240" cy="57606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x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7" name="等腰三角形 26"/>
          <p:cNvSpPr/>
          <p:nvPr/>
        </p:nvSpPr>
        <p:spPr>
          <a:xfrm>
            <a:off x="3099779" y="3684316"/>
            <a:ext cx="509240" cy="57606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y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8" name="等腰三角形 27"/>
          <p:cNvSpPr/>
          <p:nvPr/>
        </p:nvSpPr>
        <p:spPr>
          <a:xfrm>
            <a:off x="5298108" y="3716227"/>
            <a:ext cx="509240" cy="57606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z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直接箭头连接符 3"/>
          <p:cNvCxnSpPr>
            <a:endCxn id="2" idx="0"/>
          </p:cNvCxnSpPr>
          <p:nvPr/>
        </p:nvCxnSpPr>
        <p:spPr>
          <a:xfrm>
            <a:off x="1059296" y="3301522"/>
            <a:ext cx="0" cy="4147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3354399" y="3301523"/>
            <a:ext cx="2593" cy="4147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5552728" y="3301522"/>
            <a:ext cx="0" cy="4216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568616" y="4376678"/>
            <a:ext cx="9813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x &lt; K[1]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1" name="Text Box 21"/>
          <p:cNvSpPr txBox="1">
            <a:spLocks noChangeArrowheads="1"/>
          </p:cNvSpPr>
          <p:nvPr/>
        </p:nvSpPr>
        <p:spPr bwMode="auto">
          <a:xfrm>
            <a:off x="2566362" y="4376678"/>
            <a:ext cx="15760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K[i-1]</a:t>
            </a:r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1800">
                <a:latin typeface="Times New Roman" panose="02020603050405020304" pitchFamily="18" charset="0"/>
                <a:ea typeface="宋体" pitchFamily="2" charset="-122"/>
              </a:rPr>
              <a:t>y&lt;K[i] </a:t>
            </a:r>
            <a:endParaRPr lang="en-US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2" name="Text Box 22"/>
          <p:cNvSpPr txBox="1">
            <a:spLocks noChangeArrowheads="1"/>
          </p:cNvSpPr>
          <p:nvPr/>
        </p:nvSpPr>
        <p:spPr bwMode="auto">
          <a:xfrm>
            <a:off x="4951715" y="4376678"/>
            <a:ext cx="11576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K[q-1] </a:t>
            </a:r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z</a:t>
            </a:r>
            <a:endParaRPr lang="en-US" altLang="zh-CN" sz="1800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4214429" y="5800524"/>
            <a:ext cx="1941557" cy="1468085"/>
            <a:chOff x="4274344" y="4914900"/>
            <a:chExt cx="1941557" cy="1468085"/>
          </a:xfrm>
        </p:grpSpPr>
        <p:sp>
          <p:nvSpPr>
            <p:cNvPr id="44" name="Text Box 26"/>
            <p:cNvSpPr txBox="1">
              <a:spLocks noChangeArrowheads="1"/>
            </p:cNvSpPr>
            <p:nvPr/>
          </p:nvSpPr>
          <p:spPr bwMode="auto">
            <a:xfrm>
              <a:off x="4343401" y="4914900"/>
              <a:ext cx="1656223" cy="323165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500">
                  <a:solidFill>
                    <a:srgbClr val="FF3300"/>
                  </a:solidFill>
                  <a:ea typeface="宋体" pitchFamily="2" charset="-122"/>
                </a:rPr>
                <a:t>    |  4  |    |  8  |    </a:t>
              </a:r>
              <a:endParaRPr lang="en-US" altLang="zh-CN" sz="1500">
                <a:solidFill>
                  <a:srgbClr val="FF3300"/>
                </a:solidFill>
                <a:ea typeface="宋体" pitchFamily="2" charset="-122"/>
              </a:endParaRPr>
            </a:p>
          </p:txBody>
        </p:sp>
        <p:sp>
          <p:nvSpPr>
            <p:cNvPr id="45" name="Text Box 28"/>
            <p:cNvSpPr txBox="1">
              <a:spLocks noChangeArrowheads="1"/>
            </p:cNvSpPr>
            <p:nvPr/>
          </p:nvSpPr>
          <p:spPr bwMode="auto">
            <a:xfrm>
              <a:off x="4743451" y="5886450"/>
              <a:ext cx="184731" cy="323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zh-CN" sz="1500">
                <a:solidFill>
                  <a:srgbClr val="FF3300"/>
                </a:solidFill>
                <a:ea typeface="宋体" pitchFamily="2" charset="-122"/>
              </a:endParaRPr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4514850" y="5086350"/>
              <a:ext cx="0" cy="457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>
              <a:off x="5143500" y="5086350"/>
              <a:ext cx="0" cy="457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>
              <a:off x="5829300" y="5086350"/>
              <a:ext cx="0" cy="457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9" name="AutoShape 38"/>
            <p:cNvSpPr>
              <a:spLocks noChangeArrowheads="1"/>
            </p:cNvSpPr>
            <p:nvPr/>
          </p:nvSpPr>
          <p:spPr bwMode="auto">
            <a:xfrm>
              <a:off x="4343400" y="5543550"/>
              <a:ext cx="342900" cy="51435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50" name="AutoShape 39"/>
            <p:cNvSpPr>
              <a:spLocks noChangeArrowheads="1"/>
            </p:cNvSpPr>
            <p:nvPr/>
          </p:nvSpPr>
          <p:spPr bwMode="auto">
            <a:xfrm>
              <a:off x="4972050" y="5543550"/>
              <a:ext cx="342900" cy="51435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51" name="AutoShape 40"/>
            <p:cNvSpPr>
              <a:spLocks noChangeArrowheads="1"/>
            </p:cNvSpPr>
            <p:nvPr/>
          </p:nvSpPr>
          <p:spPr bwMode="auto">
            <a:xfrm>
              <a:off x="5657850" y="5543550"/>
              <a:ext cx="342900" cy="51435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60" name="Text Box 41"/>
            <p:cNvSpPr txBox="1">
              <a:spLocks noChangeArrowheads="1"/>
            </p:cNvSpPr>
            <p:nvPr/>
          </p:nvSpPr>
          <p:spPr bwMode="auto">
            <a:xfrm>
              <a:off x="4274344" y="6082903"/>
              <a:ext cx="1941557" cy="300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350">
                  <a:solidFill>
                    <a:srgbClr val="FF3300"/>
                  </a:solidFill>
                  <a:ea typeface="宋体" pitchFamily="2" charset="-122"/>
                </a:rPr>
                <a:t> x&lt;4     4</a:t>
              </a:r>
              <a:r>
                <a:rPr lang="en-US" altLang="zh-CN" sz="1350">
                  <a:solidFill>
                    <a:srgbClr val="FF3300"/>
                  </a:solidFill>
                  <a:ea typeface="宋体" pitchFamily="2" charset="-122"/>
                  <a:sym typeface="Symbol" panose="05050102010706020507" pitchFamily="18" charset="2"/>
                </a:rPr>
                <a:t>x&lt;8       8 x </a:t>
              </a:r>
              <a:endParaRPr lang="en-US" altLang="zh-CN" sz="1350">
                <a:solidFill>
                  <a:srgbClr val="FF3300"/>
                </a:solidFill>
                <a:ea typeface="宋体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718093" y="2301734"/>
            <a:ext cx="28556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rPr>
              <a:t>B-Tree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rPr>
              <a:t>Nonleaf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rPr>
              <a:t> Node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224CD2C-0626-437F-858B-0F9ECB69D27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85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085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3EDA5E8-38D8-409E-B1FB-7D7568490EB6}" type="slidenum">
              <a:rPr lang="en-US" altLang="zh-CN" sz="1050"/>
            </a:fld>
            <a:endParaRPr lang="en-US" altLang="zh-CN" sz="1050"/>
          </a:p>
        </p:txBody>
      </p:sp>
      <p:sp>
        <p:nvSpPr>
          <p:cNvPr id="10854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69056" tIns="34529" rIns="69056" bIns="34529" rtlCol="0" anchor="ctr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Properties of B-Trees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143" y="4072850"/>
            <a:ext cx="5549169" cy="1731726"/>
          </a:xfrm>
          <a:noFill/>
        </p:spPr>
        <p:txBody>
          <a:bodyPr vert="horz" wrap="square" lIns="69056" tIns="34529" rIns="69056" bIns="34529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/>
              <a:t>The Ks are keys (assume unique).</a:t>
            </a:r>
            <a:endParaRPr lang="en-US" altLang="zh-CN" sz="2000" dirty="0"/>
          </a:p>
          <a:p>
            <a:pPr>
              <a:spcBef>
                <a:spcPct val="0"/>
              </a:spcBef>
            </a:pPr>
            <a:endParaRPr lang="en-US" altLang="zh-CN" sz="2000" dirty="0"/>
          </a:p>
          <a:p>
            <a:pPr>
              <a:spcBef>
                <a:spcPct val="0"/>
              </a:spcBef>
            </a:pPr>
            <a:r>
              <a:rPr lang="en-US" altLang="zh-CN" sz="2000" dirty="0"/>
              <a:t> The </a:t>
            </a:r>
            <a:r>
              <a:rPr lang="en-US" altLang="zh-CN" sz="2000" dirty="0" err="1" smtClean="0"/>
              <a:t>Rs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are pointers to records with those keys.</a:t>
            </a:r>
            <a:endParaRPr lang="en-US" altLang="zh-CN" sz="2000" dirty="0"/>
          </a:p>
          <a:p>
            <a:pPr>
              <a:spcBef>
                <a:spcPct val="0"/>
              </a:spcBef>
            </a:pPr>
            <a:endParaRPr lang="en-US" altLang="zh-CN" sz="2000" dirty="0"/>
          </a:p>
          <a:p>
            <a:pPr>
              <a:spcBef>
                <a:spcPct val="0"/>
              </a:spcBef>
            </a:pPr>
            <a:r>
              <a:rPr lang="en-US" altLang="zh-CN" sz="2000" dirty="0"/>
              <a:t> The Next link points to the next leaf in key order (B+-tree</a:t>
            </a:r>
            <a:r>
              <a:rPr lang="en-US" altLang="zh-CN" sz="2000" dirty="0" smtClean="0"/>
              <a:t>).</a:t>
            </a:r>
            <a:endParaRPr lang="en-US" altLang="zh-CN" sz="2000" dirty="0"/>
          </a:p>
        </p:txBody>
      </p:sp>
      <p:sp>
        <p:nvSpPr>
          <p:cNvPr id="108551" name="Rectangle 4"/>
          <p:cNvSpPr>
            <a:spLocks noChangeArrowheads="1"/>
          </p:cNvSpPr>
          <p:nvPr/>
        </p:nvSpPr>
        <p:spPr bwMode="auto">
          <a:xfrm>
            <a:off x="2076450" y="4938713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itchFamily="2" charset="-122"/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980728" y="2730241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502455" y="2972433"/>
          <a:ext cx="5158794" cy="4484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299"/>
                <a:gridCol w="505371"/>
                <a:gridCol w="405707"/>
                <a:gridCol w="720080"/>
                <a:gridCol w="648072"/>
                <a:gridCol w="432048"/>
                <a:gridCol w="648072"/>
                <a:gridCol w="504056"/>
                <a:gridCol w="792089"/>
              </a:tblGrid>
              <a:tr h="44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k[0]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R[0]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k[i-1]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R[i-1]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K[q]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R[q]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718093" y="2301734"/>
            <a:ext cx="34455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rPr>
              <a:t>B-Tree leaf Node (</a:t>
            </a:r>
            <a:r>
              <a:rPr lang="en-US" altLang="zh-CN" sz="24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rPr>
              <a:t>B+tree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rPr>
              <a:t>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36712" y="6369583"/>
            <a:ext cx="4992762" cy="1500248"/>
            <a:chOff x="559966" y="6184616"/>
            <a:chExt cx="4992762" cy="1500248"/>
          </a:xfrm>
        </p:grpSpPr>
        <p:sp>
          <p:nvSpPr>
            <p:cNvPr id="30" name="Text Box 11"/>
            <p:cNvSpPr txBox="1">
              <a:spLocks noChangeArrowheads="1"/>
            </p:cNvSpPr>
            <p:nvPr/>
          </p:nvSpPr>
          <p:spPr bwMode="auto">
            <a:xfrm>
              <a:off x="620688" y="6194141"/>
              <a:ext cx="2146742" cy="3693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800" dirty="0">
                  <a:latin typeface="Times New Roman" panose="02020603050405020304" pitchFamily="18" charset="0"/>
                  <a:ea typeface="宋体" pitchFamily="2" charset="-122"/>
                </a:rPr>
                <a:t>75      89      95          </a:t>
              </a:r>
              <a:endParaRPr lang="en-US" altLang="zh-CN" sz="180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1" name="Line 12"/>
            <p:cNvSpPr>
              <a:spLocks noChangeShapeType="1"/>
            </p:cNvSpPr>
            <p:nvPr/>
          </p:nvSpPr>
          <p:spPr bwMode="auto">
            <a:xfrm>
              <a:off x="9790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4" name="Line 13"/>
            <p:cNvSpPr>
              <a:spLocks noChangeShapeType="1"/>
            </p:cNvSpPr>
            <p:nvPr/>
          </p:nvSpPr>
          <p:spPr bwMode="auto">
            <a:xfrm>
              <a:off x="12076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5" name="Line 14"/>
            <p:cNvSpPr>
              <a:spLocks noChangeShapeType="1"/>
            </p:cNvSpPr>
            <p:nvPr/>
          </p:nvSpPr>
          <p:spPr bwMode="auto">
            <a:xfrm>
              <a:off x="15505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6" name="Line 15"/>
            <p:cNvSpPr>
              <a:spLocks noChangeShapeType="1"/>
            </p:cNvSpPr>
            <p:nvPr/>
          </p:nvSpPr>
          <p:spPr bwMode="auto">
            <a:xfrm>
              <a:off x="17791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Line 16"/>
            <p:cNvSpPr>
              <a:spLocks noChangeShapeType="1"/>
            </p:cNvSpPr>
            <p:nvPr/>
          </p:nvSpPr>
          <p:spPr bwMode="auto">
            <a:xfrm>
              <a:off x="21220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" name="Line 17"/>
            <p:cNvSpPr>
              <a:spLocks noChangeShapeType="1"/>
            </p:cNvSpPr>
            <p:nvPr/>
          </p:nvSpPr>
          <p:spPr bwMode="auto">
            <a:xfrm>
              <a:off x="24649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9" name="Text Box 18"/>
            <p:cNvSpPr txBox="1">
              <a:spLocks noChangeArrowheads="1"/>
            </p:cNvSpPr>
            <p:nvPr/>
          </p:nvSpPr>
          <p:spPr bwMode="auto">
            <a:xfrm>
              <a:off x="3349872" y="6194141"/>
              <a:ext cx="1734193" cy="3693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103      115         </a:t>
              </a:r>
              <a:endParaRPr lang="en-US" altLang="zh-CN" sz="18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2" name="Line 19"/>
            <p:cNvSpPr>
              <a:spLocks noChangeShapeType="1"/>
            </p:cNvSpPr>
            <p:nvPr/>
          </p:nvSpPr>
          <p:spPr bwMode="auto">
            <a:xfrm>
              <a:off x="3841599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20"/>
            <p:cNvSpPr>
              <a:spLocks noChangeShapeType="1"/>
            </p:cNvSpPr>
            <p:nvPr/>
          </p:nvSpPr>
          <p:spPr bwMode="auto">
            <a:xfrm>
              <a:off x="4070199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" name="Line 21"/>
            <p:cNvSpPr>
              <a:spLocks noChangeShapeType="1"/>
            </p:cNvSpPr>
            <p:nvPr/>
          </p:nvSpPr>
          <p:spPr bwMode="auto">
            <a:xfrm>
              <a:off x="4470249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22"/>
            <p:cNvSpPr>
              <a:spLocks noChangeShapeType="1"/>
            </p:cNvSpPr>
            <p:nvPr/>
          </p:nvSpPr>
          <p:spPr bwMode="auto">
            <a:xfrm>
              <a:off x="4725144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23"/>
            <p:cNvSpPr>
              <a:spLocks noChangeShapeType="1"/>
            </p:cNvSpPr>
            <p:nvPr/>
          </p:nvSpPr>
          <p:spPr bwMode="auto">
            <a:xfrm>
              <a:off x="2603349" y="6341779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24"/>
            <p:cNvSpPr>
              <a:spLocks noChangeShapeType="1"/>
            </p:cNvSpPr>
            <p:nvPr/>
          </p:nvSpPr>
          <p:spPr bwMode="auto">
            <a:xfrm>
              <a:off x="4915769" y="6350491"/>
              <a:ext cx="6369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2293516" y="6298916"/>
              <a:ext cx="0" cy="9429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Text Box 26"/>
            <p:cNvSpPr txBox="1">
              <a:spLocks noChangeArrowheads="1"/>
            </p:cNvSpPr>
            <p:nvPr/>
          </p:nvSpPr>
          <p:spPr bwMode="auto">
            <a:xfrm>
              <a:off x="2007766" y="7270466"/>
              <a:ext cx="2236510" cy="3693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itchFamily="2" charset="-122"/>
                </a:rPr>
                <a:t>95  Jones  Mark  19  4</a:t>
              </a:r>
              <a:endParaRPr lang="en-US" altLang="zh-CN" sz="180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62" name="Line 27"/>
            <p:cNvSpPr>
              <a:spLocks noChangeShapeType="1"/>
            </p:cNvSpPr>
            <p:nvPr/>
          </p:nvSpPr>
          <p:spPr bwMode="auto">
            <a:xfrm>
              <a:off x="2407816" y="7270466"/>
              <a:ext cx="0" cy="300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Line 28"/>
            <p:cNvSpPr>
              <a:spLocks noChangeShapeType="1"/>
            </p:cNvSpPr>
            <p:nvPr/>
          </p:nvSpPr>
          <p:spPr bwMode="auto">
            <a:xfrm>
              <a:off x="3950866" y="7270466"/>
              <a:ext cx="0" cy="300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" name="Line 29"/>
            <p:cNvSpPr>
              <a:spLocks noChangeShapeType="1"/>
            </p:cNvSpPr>
            <p:nvPr/>
          </p:nvSpPr>
          <p:spPr bwMode="auto">
            <a:xfrm>
              <a:off x="3607966" y="7327616"/>
              <a:ext cx="0" cy="257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5" name="Line 30"/>
            <p:cNvSpPr>
              <a:spLocks noChangeShapeType="1"/>
            </p:cNvSpPr>
            <p:nvPr/>
          </p:nvSpPr>
          <p:spPr bwMode="auto">
            <a:xfrm>
              <a:off x="2979316" y="7327616"/>
              <a:ext cx="0" cy="257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" name="Line 31"/>
            <p:cNvSpPr>
              <a:spLocks noChangeShapeType="1"/>
            </p:cNvSpPr>
            <p:nvPr/>
          </p:nvSpPr>
          <p:spPr bwMode="auto">
            <a:xfrm>
              <a:off x="1093366" y="6356066"/>
              <a:ext cx="0" cy="300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7" name="Line 32"/>
            <p:cNvSpPr>
              <a:spLocks noChangeShapeType="1"/>
            </p:cNvSpPr>
            <p:nvPr/>
          </p:nvSpPr>
          <p:spPr bwMode="auto">
            <a:xfrm>
              <a:off x="1664866" y="6356066"/>
              <a:ext cx="0" cy="342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Line 33"/>
            <p:cNvSpPr>
              <a:spLocks noChangeShapeType="1"/>
            </p:cNvSpPr>
            <p:nvPr/>
          </p:nvSpPr>
          <p:spPr bwMode="auto">
            <a:xfrm>
              <a:off x="3955899" y="6356066"/>
              <a:ext cx="0" cy="300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Line 34"/>
            <p:cNvSpPr>
              <a:spLocks noChangeShapeType="1"/>
            </p:cNvSpPr>
            <p:nvPr/>
          </p:nvSpPr>
          <p:spPr bwMode="auto">
            <a:xfrm>
              <a:off x="4584549" y="6356066"/>
              <a:ext cx="0" cy="300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Text Box 35"/>
            <p:cNvSpPr txBox="1">
              <a:spLocks noChangeArrowheads="1"/>
            </p:cNvSpPr>
            <p:nvPr/>
          </p:nvSpPr>
          <p:spPr bwMode="auto">
            <a:xfrm>
              <a:off x="559966" y="7284754"/>
              <a:ext cx="13292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itchFamily="2" charset="-122"/>
                </a:rPr>
                <a:t>data record</a:t>
              </a:r>
              <a:endPara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AC9B711-EDED-4521-BF6F-53AAC512DE0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1264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1264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5C8A4D6-A30D-419F-BC73-5315A99D19CB}" type="slidenum">
              <a:rPr lang="en-US" altLang="zh-CN" sz="1050"/>
            </a:fld>
            <a:endParaRPr lang="en-US" altLang="zh-CN" sz="1050"/>
          </a:p>
        </p:txBody>
      </p:sp>
      <p:sp>
        <p:nvSpPr>
          <p:cNvPr id="1126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69056" tIns="34529" rIns="69056" bIns="34529" rtlCol="0" anchor="ctr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 Searching in B-trees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12646" name="Oval 3"/>
          <p:cNvSpPr>
            <a:spLocks noChangeArrowheads="1"/>
          </p:cNvSpPr>
          <p:nvPr/>
        </p:nvSpPr>
        <p:spPr bwMode="auto">
          <a:xfrm>
            <a:off x="2817019" y="3873103"/>
            <a:ext cx="677466" cy="280988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112647" name="Oval 4"/>
          <p:cNvSpPr>
            <a:spLocks noChangeArrowheads="1"/>
          </p:cNvSpPr>
          <p:nvPr/>
        </p:nvSpPr>
        <p:spPr bwMode="auto">
          <a:xfrm>
            <a:off x="4111229" y="4373166"/>
            <a:ext cx="677465" cy="280988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112648" name="Oval 5"/>
          <p:cNvSpPr>
            <a:spLocks noChangeArrowheads="1"/>
          </p:cNvSpPr>
          <p:nvPr/>
        </p:nvSpPr>
        <p:spPr bwMode="auto">
          <a:xfrm>
            <a:off x="1584722" y="5193507"/>
            <a:ext cx="1151334" cy="311944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112649" name="Oval 6"/>
          <p:cNvSpPr>
            <a:spLocks noChangeArrowheads="1"/>
          </p:cNvSpPr>
          <p:nvPr/>
        </p:nvSpPr>
        <p:spPr bwMode="auto">
          <a:xfrm>
            <a:off x="723900" y="5204222"/>
            <a:ext cx="677466" cy="280988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112650" name="Oval 7"/>
          <p:cNvSpPr>
            <a:spLocks noChangeArrowheads="1"/>
          </p:cNvSpPr>
          <p:nvPr/>
        </p:nvSpPr>
        <p:spPr bwMode="auto">
          <a:xfrm>
            <a:off x="3690938" y="5204223"/>
            <a:ext cx="1152525" cy="310753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112651" name="Oval 8"/>
          <p:cNvSpPr>
            <a:spLocks noChangeArrowheads="1"/>
          </p:cNvSpPr>
          <p:nvPr/>
        </p:nvSpPr>
        <p:spPr bwMode="auto">
          <a:xfrm>
            <a:off x="1797844" y="4389835"/>
            <a:ext cx="677466" cy="261938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112652" name="Oval 9"/>
          <p:cNvSpPr>
            <a:spLocks noChangeArrowheads="1"/>
          </p:cNvSpPr>
          <p:nvPr/>
        </p:nvSpPr>
        <p:spPr bwMode="auto">
          <a:xfrm>
            <a:off x="2906316" y="5214937"/>
            <a:ext cx="676275" cy="280988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112653" name="Oval 10"/>
          <p:cNvSpPr>
            <a:spLocks noChangeArrowheads="1"/>
          </p:cNvSpPr>
          <p:nvPr/>
        </p:nvSpPr>
        <p:spPr bwMode="auto">
          <a:xfrm>
            <a:off x="4973242" y="5224462"/>
            <a:ext cx="677465" cy="290513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500">
              <a:ea typeface="宋体" pitchFamily="2" charset="-122"/>
            </a:endParaRPr>
          </a:p>
        </p:txBody>
      </p:sp>
      <p:sp>
        <p:nvSpPr>
          <p:cNvPr id="112654" name="Freeform 11"/>
          <p:cNvSpPr/>
          <p:nvPr/>
        </p:nvSpPr>
        <p:spPr bwMode="auto">
          <a:xfrm>
            <a:off x="2137173" y="4155281"/>
            <a:ext cx="1020365" cy="234554"/>
          </a:xfrm>
          <a:custGeom>
            <a:avLst/>
            <a:gdLst>
              <a:gd name="T0" fmla="*/ 1358900 w 857"/>
              <a:gd name="T1" fmla="*/ 0 h 197"/>
              <a:gd name="T2" fmla="*/ 0 w 857"/>
              <a:gd name="T3" fmla="*/ 311150 h 19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57" h="197">
                <a:moveTo>
                  <a:pt x="856" y="0"/>
                </a:moveTo>
                <a:lnTo>
                  <a:pt x="0" y="19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2655" name="Freeform 12"/>
          <p:cNvSpPr/>
          <p:nvPr/>
        </p:nvSpPr>
        <p:spPr bwMode="auto">
          <a:xfrm>
            <a:off x="3156347" y="4155281"/>
            <a:ext cx="1266825" cy="214313"/>
          </a:xfrm>
          <a:custGeom>
            <a:avLst/>
            <a:gdLst>
              <a:gd name="T0" fmla="*/ 0 w 1064"/>
              <a:gd name="T1" fmla="*/ 0 h 180"/>
              <a:gd name="T2" fmla="*/ 1687513 w 1064"/>
              <a:gd name="T3" fmla="*/ 284163 h 18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64" h="180">
                <a:moveTo>
                  <a:pt x="0" y="0"/>
                </a:moveTo>
                <a:lnTo>
                  <a:pt x="1063" y="17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2656" name="Freeform 13"/>
          <p:cNvSpPr/>
          <p:nvPr/>
        </p:nvSpPr>
        <p:spPr bwMode="auto">
          <a:xfrm>
            <a:off x="1063229" y="4652963"/>
            <a:ext cx="1075134" cy="551260"/>
          </a:xfrm>
          <a:custGeom>
            <a:avLst/>
            <a:gdLst>
              <a:gd name="T0" fmla="*/ 1431925 w 903"/>
              <a:gd name="T1" fmla="*/ 0 h 463"/>
              <a:gd name="T2" fmla="*/ 0 w 903"/>
              <a:gd name="T3" fmla="*/ 733425 h 46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03" h="463">
                <a:moveTo>
                  <a:pt x="902" y="0"/>
                </a:moveTo>
                <a:lnTo>
                  <a:pt x="0" y="46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2657" name="Freeform 14"/>
          <p:cNvSpPr/>
          <p:nvPr/>
        </p:nvSpPr>
        <p:spPr bwMode="auto">
          <a:xfrm>
            <a:off x="2137173" y="4652963"/>
            <a:ext cx="25003" cy="540544"/>
          </a:xfrm>
          <a:custGeom>
            <a:avLst/>
            <a:gdLst>
              <a:gd name="T0" fmla="*/ 0 w 21"/>
              <a:gd name="T1" fmla="*/ 0 h 454"/>
              <a:gd name="T2" fmla="*/ 31750 w 21"/>
              <a:gd name="T3" fmla="*/ 719138 h 45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1" h="454">
                <a:moveTo>
                  <a:pt x="0" y="0"/>
                </a:moveTo>
                <a:lnTo>
                  <a:pt x="20" y="45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2658" name="Freeform 15"/>
          <p:cNvSpPr/>
          <p:nvPr/>
        </p:nvSpPr>
        <p:spPr bwMode="auto">
          <a:xfrm>
            <a:off x="2137172" y="4652963"/>
            <a:ext cx="1109663" cy="561975"/>
          </a:xfrm>
          <a:custGeom>
            <a:avLst/>
            <a:gdLst>
              <a:gd name="T0" fmla="*/ 0 w 932"/>
              <a:gd name="T1" fmla="*/ 0 h 472"/>
              <a:gd name="T2" fmla="*/ 1477963 w 932"/>
              <a:gd name="T3" fmla="*/ 747713 h 47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32" h="472">
                <a:moveTo>
                  <a:pt x="0" y="0"/>
                </a:moveTo>
                <a:lnTo>
                  <a:pt x="931" y="47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2659" name="Freeform 16"/>
          <p:cNvSpPr/>
          <p:nvPr/>
        </p:nvSpPr>
        <p:spPr bwMode="auto">
          <a:xfrm>
            <a:off x="4450556" y="4655344"/>
            <a:ext cx="863204" cy="569119"/>
          </a:xfrm>
          <a:custGeom>
            <a:avLst/>
            <a:gdLst>
              <a:gd name="T0" fmla="*/ 0 w 725"/>
              <a:gd name="T1" fmla="*/ 0 h 478"/>
              <a:gd name="T2" fmla="*/ 1149350 w 725"/>
              <a:gd name="T3" fmla="*/ 757238 h 47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25" h="478">
                <a:moveTo>
                  <a:pt x="0" y="0"/>
                </a:moveTo>
                <a:lnTo>
                  <a:pt x="724" y="47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2660" name="Freeform 17"/>
          <p:cNvSpPr/>
          <p:nvPr/>
        </p:nvSpPr>
        <p:spPr bwMode="auto">
          <a:xfrm>
            <a:off x="4268392" y="4655344"/>
            <a:ext cx="183356" cy="548879"/>
          </a:xfrm>
          <a:custGeom>
            <a:avLst/>
            <a:gdLst>
              <a:gd name="T0" fmla="*/ 242888 w 154"/>
              <a:gd name="T1" fmla="*/ 0 h 461"/>
              <a:gd name="T2" fmla="*/ 0 w 154"/>
              <a:gd name="T3" fmla="*/ 730250 h 46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4" h="461">
                <a:moveTo>
                  <a:pt x="153" y="0"/>
                </a:moveTo>
                <a:lnTo>
                  <a:pt x="0" y="46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2661" name="Rectangle 18"/>
          <p:cNvSpPr>
            <a:spLocks noChangeArrowheads="1"/>
          </p:cNvSpPr>
          <p:nvPr/>
        </p:nvSpPr>
        <p:spPr bwMode="auto">
          <a:xfrm>
            <a:off x="2951560" y="3896917"/>
            <a:ext cx="386953" cy="211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Ctr="1"/>
          <a:lstStyle>
            <a:lvl1pPr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650">
                <a:latin typeface="Times New Roman" panose="02020603050405020304" pitchFamily="18" charset="0"/>
                <a:ea typeface="宋体" pitchFamily="2" charset="-122"/>
              </a:rPr>
              <a:t>13:-</a:t>
            </a:r>
            <a:endParaRPr lang="en-US" altLang="zh-CN" sz="165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662" name="Rectangle 19"/>
          <p:cNvSpPr>
            <a:spLocks noChangeArrowheads="1"/>
          </p:cNvSpPr>
          <p:nvPr/>
        </p:nvSpPr>
        <p:spPr bwMode="auto">
          <a:xfrm>
            <a:off x="1891903" y="4431507"/>
            <a:ext cx="490538" cy="211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Ctr="1"/>
          <a:lstStyle>
            <a:lvl1pPr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650">
                <a:latin typeface="Times New Roman" panose="02020603050405020304" pitchFamily="18" charset="0"/>
                <a:ea typeface="宋体" pitchFamily="2" charset="-122"/>
              </a:rPr>
              <a:t>6:11</a:t>
            </a:r>
            <a:endParaRPr lang="en-US" altLang="zh-CN" sz="165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663" name="Rectangle 20"/>
          <p:cNvSpPr>
            <a:spLocks noChangeArrowheads="1"/>
          </p:cNvSpPr>
          <p:nvPr/>
        </p:nvSpPr>
        <p:spPr bwMode="auto">
          <a:xfrm>
            <a:off x="889398" y="5243513"/>
            <a:ext cx="326231" cy="211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Ctr="1"/>
          <a:lstStyle>
            <a:lvl1pPr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650">
                <a:latin typeface="Times New Roman" panose="02020603050405020304" pitchFamily="18" charset="0"/>
                <a:ea typeface="宋体" pitchFamily="2" charset="-122"/>
              </a:rPr>
              <a:t>3  4</a:t>
            </a:r>
            <a:endParaRPr lang="en-US" altLang="zh-CN" sz="165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664" name="Rectangle 21"/>
          <p:cNvSpPr>
            <a:spLocks noChangeArrowheads="1"/>
          </p:cNvSpPr>
          <p:nvPr/>
        </p:nvSpPr>
        <p:spPr bwMode="auto">
          <a:xfrm>
            <a:off x="1864519" y="5232798"/>
            <a:ext cx="545306" cy="211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Ctr="1"/>
          <a:lstStyle>
            <a:lvl1pPr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650">
                <a:latin typeface="Times New Roman" panose="02020603050405020304" pitchFamily="18" charset="0"/>
                <a:ea typeface="宋体" pitchFamily="2" charset="-122"/>
              </a:rPr>
              <a:t>6  7  8</a:t>
            </a:r>
            <a:endParaRPr lang="en-US" altLang="zh-CN" sz="165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665" name="Rectangle 22"/>
          <p:cNvSpPr>
            <a:spLocks noChangeArrowheads="1"/>
          </p:cNvSpPr>
          <p:nvPr/>
        </p:nvSpPr>
        <p:spPr bwMode="auto">
          <a:xfrm>
            <a:off x="2928937" y="5241132"/>
            <a:ext cx="625079" cy="211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Ctr="1"/>
          <a:lstStyle>
            <a:lvl1pPr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650">
                <a:latin typeface="Times New Roman" panose="02020603050405020304" pitchFamily="18" charset="0"/>
                <a:ea typeface="宋体" pitchFamily="2" charset="-122"/>
              </a:rPr>
              <a:t>11 12</a:t>
            </a:r>
            <a:endParaRPr lang="en-US" altLang="zh-CN" sz="165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666" name="Rectangle 23"/>
          <p:cNvSpPr>
            <a:spLocks noChangeArrowheads="1"/>
          </p:cNvSpPr>
          <p:nvPr/>
        </p:nvSpPr>
        <p:spPr bwMode="auto">
          <a:xfrm>
            <a:off x="3957638" y="5254229"/>
            <a:ext cx="545306" cy="211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Ctr="1"/>
          <a:lstStyle>
            <a:lvl1pPr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828675"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</a:tabLs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650">
                <a:latin typeface="Times New Roman" panose="02020603050405020304" pitchFamily="18" charset="0"/>
                <a:ea typeface="宋体" pitchFamily="2" charset="-122"/>
              </a:rPr>
              <a:t>13  14</a:t>
            </a:r>
            <a:endParaRPr lang="en-US" altLang="zh-CN" sz="165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667" name="Rectangle 24"/>
          <p:cNvSpPr>
            <a:spLocks noChangeArrowheads="1"/>
          </p:cNvSpPr>
          <p:nvPr/>
        </p:nvSpPr>
        <p:spPr bwMode="auto">
          <a:xfrm>
            <a:off x="5051823" y="5273279"/>
            <a:ext cx="502444" cy="211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Ctr="1"/>
          <a:lstStyle>
            <a:lvl1pPr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650">
                <a:latin typeface="Times New Roman" panose="02020603050405020304" pitchFamily="18" charset="0"/>
                <a:ea typeface="宋体" pitchFamily="2" charset="-122"/>
              </a:rPr>
              <a:t>17 18</a:t>
            </a:r>
            <a:endParaRPr lang="en-US" altLang="zh-CN" sz="165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668" name="Rectangle 25"/>
          <p:cNvSpPr>
            <a:spLocks noChangeArrowheads="1"/>
          </p:cNvSpPr>
          <p:nvPr/>
        </p:nvSpPr>
        <p:spPr bwMode="auto">
          <a:xfrm>
            <a:off x="4279107" y="4407694"/>
            <a:ext cx="411956" cy="210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Ctr="1"/>
          <a:lstStyle>
            <a:lvl1pPr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828675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650">
                <a:latin typeface="Times New Roman" panose="02020603050405020304" pitchFamily="18" charset="0"/>
                <a:ea typeface="宋体" pitchFamily="2" charset="-122"/>
              </a:rPr>
              <a:t>17:-</a:t>
            </a:r>
            <a:endParaRPr lang="en-US" altLang="zh-CN" sz="165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669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427434" y="2618184"/>
            <a:ext cx="6003131" cy="328850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B-tree of order 3: also known as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2-3 tree (2 to 3 children)</a:t>
            </a:r>
            <a:endParaRPr lang="en-US" altLang="zh-CN" dirty="0">
              <a:solidFill>
                <a:srgbClr val="0000FF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1050" dirty="0">
              <a:solidFill>
                <a:srgbClr val="0000FF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Examples: Search for 9, 14, 12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Note: If leaf nodes are connected as a Linked List, B-tree is called a B+ tree – Allows sorted list to be accessed easily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36F331-5FF9-4E72-8B8D-C90C53CD2F3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1264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1264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5C8A4D6-A30D-419F-BC73-5315A99D19CB}" type="slidenum">
              <a:rPr lang="en-US" altLang="zh-CN" sz="1050"/>
            </a:fld>
            <a:endParaRPr lang="en-US" altLang="zh-CN" sz="1050"/>
          </a:p>
        </p:txBody>
      </p:sp>
      <p:sp>
        <p:nvSpPr>
          <p:cNvPr id="1126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69056" tIns="34529" rIns="69056" bIns="34529" rtlCol="0" anchor="ctr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 Searching in B-trees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12669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427434" y="2618184"/>
            <a:ext cx="6003131" cy="3288506"/>
          </a:xfrm>
        </p:spPr>
        <p:txBody>
          <a:bodyPr>
            <a:noAutofit/>
          </a:bodyPr>
          <a:lstStyle/>
          <a:p>
            <a:r>
              <a:rPr lang="en-US" altLang="zh-CN" dirty="0"/>
              <a:t>Searching a B-Tree T for a Key Value </a:t>
            </a:r>
            <a:r>
              <a:rPr lang="en-US" altLang="zh-CN" dirty="0" smtClean="0"/>
              <a:t>K</a:t>
            </a:r>
            <a:endParaRPr lang="en-US" altLang="zh-CN" dirty="0"/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620688" y="3319244"/>
            <a:ext cx="5544616" cy="48705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Find(</a:t>
            </a:r>
            <a:r>
              <a:rPr lang="en-US" altLang="zh-CN" dirty="0" err="1">
                <a:latin typeface="Times New Roman" panose="02020603050405020304" pitchFamily="18" charset="0"/>
                <a:ea typeface="宋体" pitchFamily="2" charset="-122"/>
              </a:rPr>
              <a:t>ElementType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K, </a:t>
            </a:r>
            <a:r>
              <a:rPr lang="en-US" altLang="zh-CN" dirty="0" err="1">
                <a:latin typeface="Times New Roman" panose="02020603050405020304" pitchFamily="18" charset="0"/>
                <a:ea typeface="宋体" pitchFamily="2" charset="-122"/>
              </a:rPr>
              <a:t>Btree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T</a:t>
            </a:r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){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  B 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= T;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  while 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(B is not a leaf</a:t>
            </a:r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){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  find the Pi in node B that points </a:t>
            </a:r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to 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the proper subtree that K will be in;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endParaRPr lang="en-US" altLang="zh-CN" sz="1050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  B = Pi;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endParaRPr lang="en-US" altLang="zh-CN" dirty="0" smtClean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/* 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Now we’re at a leaf */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if key K is the </a:t>
            </a:r>
            <a:r>
              <a:rPr lang="en-US" altLang="zh-CN" dirty="0" err="1">
                <a:latin typeface="Times New Roman" panose="02020603050405020304" pitchFamily="18" charset="0"/>
                <a:ea typeface="宋体" pitchFamily="2" charset="-122"/>
              </a:rPr>
              <a:t>jth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key in  leaf </a:t>
            </a:r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 B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,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  use the </a:t>
            </a:r>
            <a:r>
              <a:rPr lang="en-US" altLang="zh-CN" dirty="0" err="1">
                <a:latin typeface="Times New Roman" panose="02020603050405020304" pitchFamily="18" charset="0"/>
                <a:ea typeface="宋体" pitchFamily="2" charset="-122"/>
              </a:rPr>
              <a:t>jth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record pointer to find the 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  associated record;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else /* K is not in leaf B */ report failure;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EF7A6E9-F986-4336-9AE6-9ADE778D006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157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157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742694D-C3E6-4738-9B2D-8AC35E71FF3E}" type="slidenum">
              <a:rPr lang="en-US" altLang="zh-CN" sz="1050"/>
            </a:fld>
            <a:endParaRPr lang="en-US" altLang="zh-CN" sz="1050"/>
          </a:p>
        </p:txBody>
      </p:sp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Inserting into B-Trees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157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2454" y="2624818"/>
            <a:ext cx="6003131" cy="120134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Insert X: Do a Find on X and find appropriate leaf node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If leaf node is not full, fill in empty slot with X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E.g. Insert 5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If leaf node is full,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split</a:t>
            </a:r>
            <a:r>
              <a:rPr lang="en-US" altLang="zh-CN" dirty="0">
                <a:ea typeface="宋体" pitchFamily="2" charset="-122"/>
              </a:rPr>
              <a:t> leaf node and adjust parents up to root node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E.g. Insert 9</a:t>
            </a:r>
            <a:endParaRPr lang="en-US" altLang="zh-CN" sz="2000" dirty="0">
              <a:ea typeface="宋体" pitchFamily="2" charset="-122"/>
            </a:endParaRPr>
          </a:p>
        </p:txBody>
      </p:sp>
      <p:grpSp>
        <p:nvGrpSpPr>
          <p:cNvPr id="115719" name="Group 4"/>
          <p:cNvGrpSpPr/>
          <p:nvPr/>
        </p:nvGrpSpPr>
        <p:grpSpPr bwMode="auto">
          <a:xfrm>
            <a:off x="1274914" y="5325545"/>
            <a:ext cx="4926806" cy="1650206"/>
            <a:chOff x="608" y="1336"/>
            <a:chExt cx="4138" cy="1379"/>
          </a:xfrm>
        </p:grpSpPr>
        <p:sp>
          <p:nvSpPr>
            <p:cNvPr id="115721" name="Oval 5"/>
            <p:cNvSpPr>
              <a:spLocks noChangeArrowheads="1"/>
            </p:cNvSpPr>
            <p:nvPr/>
          </p:nvSpPr>
          <p:spPr bwMode="auto">
            <a:xfrm>
              <a:off x="2366" y="133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5722" name="Oval 6"/>
            <p:cNvSpPr>
              <a:spLocks noChangeArrowheads="1"/>
            </p:cNvSpPr>
            <p:nvPr/>
          </p:nvSpPr>
          <p:spPr bwMode="auto">
            <a:xfrm>
              <a:off x="3453" y="175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5723" name="Oval 7"/>
            <p:cNvSpPr>
              <a:spLocks noChangeArrowheads="1"/>
            </p:cNvSpPr>
            <p:nvPr/>
          </p:nvSpPr>
          <p:spPr bwMode="auto">
            <a:xfrm>
              <a:off x="1331" y="2445"/>
              <a:ext cx="967" cy="26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5724" name="Oval 8"/>
            <p:cNvSpPr>
              <a:spLocks noChangeArrowheads="1"/>
            </p:cNvSpPr>
            <p:nvPr/>
          </p:nvSpPr>
          <p:spPr bwMode="auto">
            <a:xfrm>
              <a:off x="608" y="2454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5725" name="Oval 9"/>
            <p:cNvSpPr>
              <a:spLocks noChangeArrowheads="1"/>
            </p:cNvSpPr>
            <p:nvPr/>
          </p:nvSpPr>
          <p:spPr bwMode="auto">
            <a:xfrm>
              <a:off x="3100" y="2454"/>
              <a:ext cx="968" cy="26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5726" name="Oval 10"/>
            <p:cNvSpPr>
              <a:spLocks noChangeArrowheads="1"/>
            </p:cNvSpPr>
            <p:nvPr/>
          </p:nvSpPr>
          <p:spPr bwMode="auto">
            <a:xfrm>
              <a:off x="1510" y="1770"/>
              <a:ext cx="569" cy="22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5727" name="Oval 11"/>
            <p:cNvSpPr>
              <a:spLocks noChangeArrowheads="1"/>
            </p:cNvSpPr>
            <p:nvPr/>
          </p:nvSpPr>
          <p:spPr bwMode="auto">
            <a:xfrm>
              <a:off x="2441" y="2463"/>
              <a:ext cx="568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5728" name="Oval 12"/>
            <p:cNvSpPr>
              <a:spLocks noChangeArrowheads="1"/>
            </p:cNvSpPr>
            <p:nvPr/>
          </p:nvSpPr>
          <p:spPr bwMode="auto">
            <a:xfrm>
              <a:off x="4177" y="2471"/>
              <a:ext cx="569" cy="244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5729" name="Freeform 13"/>
            <p:cNvSpPr/>
            <p:nvPr/>
          </p:nvSpPr>
          <p:spPr bwMode="auto">
            <a:xfrm>
              <a:off x="1795" y="1573"/>
              <a:ext cx="857" cy="197"/>
            </a:xfrm>
            <a:custGeom>
              <a:avLst/>
              <a:gdLst>
                <a:gd name="T0" fmla="*/ 856 w 857"/>
                <a:gd name="T1" fmla="*/ 0 h 197"/>
                <a:gd name="T2" fmla="*/ 0 w 857"/>
                <a:gd name="T3" fmla="*/ 196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7" h="197">
                  <a:moveTo>
                    <a:pt x="856" y="0"/>
                  </a:moveTo>
                  <a:lnTo>
                    <a:pt x="0" y="196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5730" name="Freeform 14"/>
            <p:cNvSpPr/>
            <p:nvPr/>
          </p:nvSpPr>
          <p:spPr bwMode="auto">
            <a:xfrm>
              <a:off x="2651" y="1573"/>
              <a:ext cx="1064" cy="180"/>
            </a:xfrm>
            <a:custGeom>
              <a:avLst/>
              <a:gdLst>
                <a:gd name="T0" fmla="*/ 0 w 1064"/>
                <a:gd name="T1" fmla="*/ 0 h 180"/>
                <a:gd name="T2" fmla="*/ 1063 w 1064"/>
                <a:gd name="T3" fmla="*/ 179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4" h="180">
                  <a:moveTo>
                    <a:pt x="0" y="0"/>
                  </a:moveTo>
                  <a:lnTo>
                    <a:pt x="1063" y="17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5731" name="Freeform 15"/>
            <p:cNvSpPr/>
            <p:nvPr/>
          </p:nvSpPr>
          <p:spPr bwMode="auto">
            <a:xfrm>
              <a:off x="893" y="1991"/>
              <a:ext cx="903" cy="463"/>
            </a:xfrm>
            <a:custGeom>
              <a:avLst/>
              <a:gdLst>
                <a:gd name="T0" fmla="*/ 902 w 903"/>
                <a:gd name="T1" fmla="*/ 0 h 463"/>
                <a:gd name="T2" fmla="*/ 0 w 903"/>
                <a:gd name="T3" fmla="*/ 462 h 4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3" h="463">
                  <a:moveTo>
                    <a:pt x="902" y="0"/>
                  </a:moveTo>
                  <a:lnTo>
                    <a:pt x="0" y="4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5732" name="Freeform 16"/>
            <p:cNvSpPr/>
            <p:nvPr/>
          </p:nvSpPr>
          <p:spPr bwMode="auto">
            <a:xfrm>
              <a:off x="1795" y="1991"/>
              <a:ext cx="21" cy="454"/>
            </a:xfrm>
            <a:custGeom>
              <a:avLst/>
              <a:gdLst>
                <a:gd name="T0" fmla="*/ 0 w 21"/>
                <a:gd name="T1" fmla="*/ 0 h 454"/>
                <a:gd name="T2" fmla="*/ 20 w 21"/>
                <a:gd name="T3" fmla="*/ 453 h 4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54">
                  <a:moveTo>
                    <a:pt x="0" y="0"/>
                  </a:moveTo>
                  <a:lnTo>
                    <a:pt x="20" y="45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5733" name="Freeform 17"/>
            <p:cNvSpPr/>
            <p:nvPr/>
          </p:nvSpPr>
          <p:spPr bwMode="auto">
            <a:xfrm>
              <a:off x="1795" y="1991"/>
              <a:ext cx="932" cy="472"/>
            </a:xfrm>
            <a:custGeom>
              <a:avLst/>
              <a:gdLst>
                <a:gd name="T0" fmla="*/ 0 w 932"/>
                <a:gd name="T1" fmla="*/ 0 h 472"/>
                <a:gd name="T2" fmla="*/ 931 w 932"/>
                <a:gd name="T3" fmla="*/ 471 h 4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2" h="472">
                  <a:moveTo>
                    <a:pt x="0" y="0"/>
                  </a:moveTo>
                  <a:lnTo>
                    <a:pt x="931" y="47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5734" name="Freeform 18"/>
            <p:cNvSpPr/>
            <p:nvPr/>
          </p:nvSpPr>
          <p:spPr bwMode="auto">
            <a:xfrm>
              <a:off x="3738" y="1993"/>
              <a:ext cx="725" cy="478"/>
            </a:xfrm>
            <a:custGeom>
              <a:avLst/>
              <a:gdLst>
                <a:gd name="T0" fmla="*/ 0 w 725"/>
                <a:gd name="T1" fmla="*/ 0 h 478"/>
                <a:gd name="T2" fmla="*/ 724 w 725"/>
                <a:gd name="T3" fmla="*/ 477 h 4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5" h="478">
                  <a:moveTo>
                    <a:pt x="0" y="0"/>
                  </a:moveTo>
                  <a:lnTo>
                    <a:pt x="724" y="47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5735" name="Freeform 19"/>
            <p:cNvSpPr/>
            <p:nvPr/>
          </p:nvSpPr>
          <p:spPr bwMode="auto">
            <a:xfrm>
              <a:off x="3585" y="1993"/>
              <a:ext cx="154" cy="461"/>
            </a:xfrm>
            <a:custGeom>
              <a:avLst/>
              <a:gdLst>
                <a:gd name="T0" fmla="*/ 153 w 154"/>
                <a:gd name="T1" fmla="*/ 0 h 461"/>
                <a:gd name="T2" fmla="*/ 0 w 154"/>
                <a:gd name="T3" fmla="*/ 460 h 4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4" h="461">
                  <a:moveTo>
                    <a:pt x="153" y="0"/>
                  </a:moveTo>
                  <a:lnTo>
                    <a:pt x="0" y="46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5736" name="Rectangle 20"/>
            <p:cNvSpPr>
              <a:spLocks noChangeArrowheads="1"/>
            </p:cNvSpPr>
            <p:nvPr/>
          </p:nvSpPr>
          <p:spPr bwMode="auto">
            <a:xfrm>
              <a:off x="2479" y="1356"/>
              <a:ext cx="3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13:-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5737" name="Rectangle 21"/>
            <p:cNvSpPr>
              <a:spLocks noChangeArrowheads="1"/>
            </p:cNvSpPr>
            <p:nvPr/>
          </p:nvSpPr>
          <p:spPr bwMode="auto">
            <a:xfrm>
              <a:off x="1589" y="1805"/>
              <a:ext cx="41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6:11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5738" name="Rectangle 22"/>
            <p:cNvSpPr>
              <a:spLocks noChangeArrowheads="1"/>
            </p:cNvSpPr>
            <p:nvPr/>
          </p:nvSpPr>
          <p:spPr bwMode="auto">
            <a:xfrm>
              <a:off x="747" y="2487"/>
              <a:ext cx="274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3  4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5739" name="Rectangle 23"/>
            <p:cNvSpPr>
              <a:spLocks noChangeArrowheads="1"/>
            </p:cNvSpPr>
            <p:nvPr/>
          </p:nvSpPr>
          <p:spPr bwMode="auto">
            <a:xfrm>
              <a:off x="1566" y="2478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6  7  8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5740" name="Rectangle 24"/>
            <p:cNvSpPr>
              <a:spLocks noChangeArrowheads="1"/>
            </p:cNvSpPr>
            <p:nvPr/>
          </p:nvSpPr>
          <p:spPr bwMode="auto">
            <a:xfrm>
              <a:off x="2460" y="2485"/>
              <a:ext cx="5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11 12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5741" name="Rectangle 25"/>
            <p:cNvSpPr>
              <a:spLocks noChangeArrowheads="1"/>
            </p:cNvSpPr>
            <p:nvPr/>
          </p:nvSpPr>
          <p:spPr bwMode="auto">
            <a:xfrm>
              <a:off x="3324" y="2496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13  14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5742" name="Rectangle 26"/>
            <p:cNvSpPr>
              <a:spLocks noChangeArrowheads="1"/>
            </p:cNvSpPr>
            <p:nvPr/>
          </p:nvSpPr>
          <p:spPr bwMode="auto">
            <a:xfrm>
              <a:off x="4243" y="2512"/>
              <a:ext cx="42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17 18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5743" name="Rectangle 27"/>
            <p:cNvSpPr>
              <a:spLocks noChangeArrowheads="1"/>
            </p:cNvSpPr>
            <p:nvPr/>
          </p:nvSpPr>
          <p:spPr bwMode="auto">
            <a:xfrm>
              <a:off x="3594" y="1785"/>
              <a:ext cx="346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17:-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sp>
        <p:nvSpPr>
          <p:cNvPr id="115720" name="Text Box 28"/>
          <p:cNvSpPr txBox="1">
            <a:spLocks noChangeArrowheads="1"/>
          </p:cNvSpPr>
          <p:nvPr/>
        </p:nvSpPr>
        <p:spPr bwMode="auto">
          <a:xfrm>
            <a:off x="263204" y="5423542"/>
            <a:ext cx="1864613" cy="64633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solidFill>
                  <a:srgbClr val="FF3300"/>
                </a:solidFill>
                <a:ea typeface="宋体" pitchFamily="2" charset="-122"/>
              </a:rPr>
              <a:t>Assume M=L=3,</a:t>
            </a:r>
            <a:endParaRPr lang="en-US" altLang="zh-CN" sz="1800">
              <a:solidFill>
                <a:srgbClr val="FF3300"/>
              </a:solidFill>
              <a:ea typeface="宋体" pitchFamily="2" charset="-122"/>
            </a:endParaRPr>
          </a:p>
          <a:p>
            <a:r>
              <a:rPr lang="en-US" altLang="zh-CN" sz="1800">
                <a:solidFill>
                  <a:srgbClr val="FF3300"/>
                </a:solidFill>
                <a:ea typeface="宋体" pitchFamily="2" charset="-122"/>
              </a:rPr>
              <a:t>so (6 7 8) is full.</a:t>
            </a:r>
            <a:endParaRPr lang="en-US" altLang="zh-CN" sz="1800">
              <a:solidFill>
                <a:srgbClr val="FF3300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2196D0B-532D-409F-B444-32F412EC2F0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157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157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742694D-C3E6-4738-9B2D-8AC35E71FF3E}" type="slidenum">
              <a:rPr lang="en-US" altLang="zh-CN" sz="1050"/>
            </a:fld>
            <a:endParaRPr lang="en-US" altLang="zh-CN" sz="1050"/>
          </a:p>
        </p:txBody>
      </p:sp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Inserting into B-Trees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2" name="Text Box 1028"/>
          <p:cNvSpPr txBox="1">
            <a:spLocks noChangeArrowheads="1"/>
          </p:cNvSpPr>
          <p:nvPr/>
        </p:nvSpPr>
        <p:spPr bwMode="auto">
          <a:xfrm>
            <a:off x="375339" y="2385004"/>
            <a:ext cx="616925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solidFill>
                  <a:srgbClr val="339966"/>
                </a:solidFill>
                <a:latin typeface="Times New Roman" panose="02020603050405020304" pitchFamily="18" charset="0"/>
              </a:rPr>
              <a:t>// Inserting a New Key in a B-Tree of Order M (and L=M</a:t>
            </a:r>
            <a:r>
              <a:rPr lang="en-US" altLang="zh-CN" dirty="0" smtClean="0">
                <a:solidFill>
                  <a:srgbClr val="339966"/>
                </a:solidFill>
                <a:latin typeface="Times New Roman" panose="02020603050405020304" pitchFamily="18" charset="0"/>
              </a:rPr>
              <a:t>)</a:t>
            </a:r>
            <a:endParaRPr lang="en-US" altLang="zh-CN" dirty="0" smtClean="0">
              <a:solidFill>
                <a:srgbClr val="339966"/>
              </a:solidFill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Insert(</a:t>
            </a:r>
            <a:r>
              <a:rPr lang="en-US" altLang="zh-CN" dirty="0" err="1" smtClean="0">
                <a:latin typeface="Times New Roman" panose="02020603050405020304" pitchFamily="18" charset="0"/>
                <a:ea typeface="宋体" pitchFamily="2" charset="-122"/>
              </a:rPr>
              <a:t>ElementType</a:t>
            </a:r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K, </a:t>
            </a:r>
            <a:r>
              <a:rPr lang="en-US" altLang="zh-CN" dirty="0" err="1">
                <a:latin typeface="Times New Roman" panose="02020603050405020304" pitchFamily="18" charset="0"/>
                <a:ea typeface="宋体" pitchFamily="2" charset="-122"/>
              </a:rPr>
              <a:t>Btree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B</a:t>
            </a:r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)</a:t>
            </a:r>
            <a:endParaRPr lang="en-US" altLang="zh-CN" dirty="0" smtClean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{</a:t>
            </a:r>
            <a:endParaRPr lang="en-US" altLang="zh-CN" dirty="0" smtClean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   find 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the leaf node LB of B in which K belongs;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  if </a:t>
            </a:r>
            <a:r>
              <a:rPr lang="en-US" altLang="zh-CN" dirty="0" err="1">
                <a:latin typeface="Times New Roman" panose="02020603050405020304" pitchFamily="18" charset="0"/>
                <a:ea typeface="宋体" pitchFamily="2" charset="-122"/>
              </a:rPr>
              <a:t>notfull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(LB) insert K into LB;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</a:rPr>
              <a:t>  else {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    split LB into two nodes LB and LB2 with 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     j =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(M+1)/2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 keys in LB and the rest in LB2;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    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endParaRPr lang="en-US" altLang="zh-CN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endParaRPr lang="en-US" altLang="zh-CN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endParaRPr lang="en-US" altLang="zh-CN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       if ( </a:t>
            </a:r>
            <a:r>
              <a:rPr lang="en-US" altLang="zh-CN" dirty="0" err="1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IsNull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(Parent(LB)) )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 dirty="0" err="1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CreateNewRoot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(LB,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K[j+1],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 LB2);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       else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 dirty="0" err="1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InsertInternal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(Parent(LB),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K[j+1],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 LB2);    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       }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}  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3" name="Text Box 1029"/>
          <p:cNvSpPr txBox="1">
            <a:spLocks noChangeArrowheads="1"/>
          </p:cNvSpPr>
          <p:nvPr/>
        </p:nvSpPr>
        <p:spPr bwMode="auto">
          <a:xfrm>
            <a:off x="502454" y="5580112"/>
            <a:ext cx="2393604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rPr>
              <a:t>K[1]  R[1]  . . .  K[j]  R[j]  </a:t>
            </a:r>
            <a:endParaRPr lang="en-US" altLang="zh-CN" sz="160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4" name="Text Box 1030"/>
          <p:cNvSpPr txBox="1">
            <a:spLocks noChangeArrowheads="1"/>
          </p:cNvSpPr>
          <p:nvPr/>
        </p:nvSpPr>
        <p:spPr bwMode="auto">
          <a:xfrm>
            <a:off x="3245653" y="5580112"/>
            <a:ext cx="3220753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rPr>
              <a:t>K[j+1] R[j+1] . . . K[M+1]  R[M+1] </a:t>
            </a:r>
            <a:endParaRPr lang="en-US" altLang="zh-CN" sz="160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5" name="Text Box 1031"/>
          <p:cNvSpPr txBox="1">
            <a:spLocks noChangeArrowheads="1"/>
          </p:cNvSpPr>
          <p:nvPr/>
        </p:nvSpPr>
        <p:spPr bwMode="auto">
          <a:xfrm>
            <a:off x="559603" y="5094337"/>
            <a:ext cx="4796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rPr>
              <a:t>LB</a:t>
            </a:r>
            <a:endParaRPr lang="en-US" altLang="zh-CN" sz="180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6" name="Text Box 1032"/>
          <p:cNvSpPr txBox="1">
            <a:spLocks noChangeArrowheads="1"/>
          </p:cNvSpPr>
          <p:nvPr/>
        </p:nvSpPr>
        <p:spPr bwMode="auto">
          <a:xfrm>
            <a:off x="3398054" y="5108625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</a:rPr>
              <a:t>LB2</a:t>
            </a:r>
            <a:endParaRPr lang="en-US" altLang="zh-CN" sz="180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7" name="Line 1033"/>
          <p:cNvSpPr>
            <a:spLocks noChangeShapeType="1"/>
          </p:cNvSpPr>
          <p:nvPr/>
        </p:nvSpPr>
        <p:spPr bwMode="auto">
          <a:xfrm>
            <a:off x="578653" y="5322937"/>
            <a:ext cx="0" cy="257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 b="1" dirty="0">
              <a:solidFill>
                <a:srgbClr val="0000FF"/>
              </a:solidFill>
            </a:endParaRPr>
          </a:p>
        </p:txBody>
      </p:sp>
      <p:sp>
        <p:nvSpPr>
          <p:cNvPr id="38" name="Line 1034"/>
          <p:cNvSpPr>
            <a:spLocks noChangeShapeType="1"/>
          </p:cNvSpPr>
          <p:nvPr/>
        </p:nvSpPr>
        <p:spPr bwMode="auto">
          <a:xfrm>
            <a:off x="3417103" y="5322937"/>
            <a:ext cx="0" cy="257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solidFill>
                <a:srgbClr val="0000FF"/>
              </a:solidFill>
            </a:endParaRPr>
          </a:p>
        </p:txBody>
      </p:sp>
      <p:sp>
        <p:nvSpPr>
          <p:cNvPr id="39" name="Line 1035"/>
          <p:cNvSpPr>
            <a:spLocks noChangeShapeType="1"/>
          </p:cNvSpPr>
          <p:nvPr/>
        </p:nvSpPr>
        <p:spPr bwMode="auto">
          <a:xfrm>
            <a:off x="2825848" y="5735417"/>
            <a:ext cx="41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solidFill>
                <a:srgbClr val="0000FF"/>
              </a:solidFill>
            </a:endParaRPr>
          </a:p>
        </p:txBody>
      </p:sp>
      <p:sp>
        <p:nvSpPr>
          <p:cNvPr id="40" name="Line 1036"/>
          <p:cNvSpPr>
            <a:spLocks noChangeShapeType="1"/>
          </p:cNvSpPr>
          <p:nvPr/>
        </p:nvSpPr>
        <p:spPr bwMode="auto">
          <a:xfrm>
            <a:off x="6379095" y="5762269"/>
            <a:ext cx="368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70F2AFB-1B90-46D2-B592-D50A607AD68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157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157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742694D-C3E6-4738-9B2D-8AC35E71FF3E}" type="slidenum">
              <a:rPr lang="en-US" altLang="zh-CN" sz="1050"/>
            </a:fld>
            <a:endParaRPr lang="en-US" altLang="zh-CN" sz="1050"/>
          </a:p>
        </p:txBody>
      </p:sp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Inserting into B-Trees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2" name="Text Box 1028"/>
          <p:cNvSpPr txBox="1">
            <a:spLocks noChangeArrowheads="1"/>
          </p:cNvSpPr>
          <p:nvPr/>
        </p:nvSpPr>
        <p:spPr bwMode="auto">
          <a:xfrm>
            <a:off x="375339" y="2385004"/>
            <a:ext cx="534473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solidFill>
                  <a:srgbClr val="339966"/>
                </a:solidFill>
                <a:latin typeface="Times New Roman" panose="02020603050405020304" pitchFamily="18" charset="0"/>
              </a:rPr>
              <a:t>// Inserting a (</a:t>
            </a:r>
            <a:r>
              <a:rPr lang="en-US" altLang="zh-CN" dirty="0" err="1">
                <a:solidFill>
                  <a:srgbClr val="339966"/>
                </a:solidFill>
                <a:latin typeface="Times New Roman" panose="02020603050405020304" pitchFamily="18" charset="0"/>
              </a:rPr>
              <a:t>Key,Ptr</a:t>
            </a:r>
            <a:r>
              <a:rPr lang="en-US" altLang="zh-CN" dirty="0">
                <a:solidFill>
                  <a:srgbClr val="339966"/>
                </a:solidFill>
                <a:latin typeface="Times New Roman" panose="02020603050405020304" pitchFamily="18" charset="0"/>
              </a:rPr>
              <a:t>) Pair into an Internal </a:t>
            </a:r>
            <a:r>
              <a:rPr lang="en-US" altLang="zh-CN" dirty="0" smtClean="0">
                <a:solidFill>
                  <a:srgbClr val="339966"/>
                </a:solidFill>
                <a:latin typeface="Times New Roman" panose="02020603050405020304" pitchFamily="18" charset="0"/>
              </a:rPr>
              <a:t>Node</a:t>
            </a:r>
            <a:endParaRPr lang="en-US" altLang="zh-CN" dirty="0" smtClean="0">
              <a:solidFill>
                <a:srgbClr val="339966"/>
              </a:solidFill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If the node is not full, insert them in the proper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place and return.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If the node is already full (M pointers, M-1 keys),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find the place for the new pair and split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the adjusted (</a:t>
            </a:r>
            <a:r>
              <a:rPr lang="en-US" altLang="zh-CN" dirty="0" err="1">
                <a:latin typeface="Times New Roman" panose="02020603050405020304" pitchFamily="18" charset="0"/>
              </a:rPr>
              <a:t>Key,Ptr</a:t>
            </a:r>
            <a:r>
              <a:rPr lang="en-US" altLang="zh-CN" dirty="0">
                <a:latin typeface="Times New Roman" panose="02020603050405020304" pitchFamily="18" charset="0"/>
              </a:rPr>
              <a:t>) sequence into two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internal nodes with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j =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M+1)/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pointers and j-1 keys in the first,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the next key  is inserted in the node’s parent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and the rest in the second of the new pair.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 smtClean="0">
              <a:solidFill>
                <a:srgbClr val="339966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FA99194-14D5-4792-83F1-A976E9F0326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157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157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742694D-C3E6-4738-9B2D-8AC35E71FF3E}" type="slidenum">
              <a:rPr lang="en-US" altLang="zh-CN" sz="1050"/>
            </a:fld>
            <a:endParaRPr lang="en-US" altLang="zh-CN" sz="1050"/>
          </a:p>
        </p:txBody>
      </p:sp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of Insertions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2" name="Text Box 1028"/>
          <p:cNvSpPr txBox="1">
            <a:spLocks noChangeArrowheads="1"/>
          </p:cNvSpPr>
          <p:nvPr/>
        </p:nvSpPr>
        <p:spPr bwMode="auto">
          <a:xfrm>
            <a:off x="502454" y="2339752"/>
            <a:ext cx="48538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 smtClean="0">
                <a:solidFill>
                  <a:srgbClr val="0000FF"/>
                </a:solidFill>
              </a:rPr>
              <a:t>Insertions </a:t>
            </a:r>
            <a:r>
              <a:rPr lang="en-US" altLang="zh-CN" dirty="0">
                <a:solidFill>
                  <a:srgbClr val="0000FF"/>
                </a:solidFill>
              </a:rPr>
              <a:t>into </a:t>
            </a:r>
            <a:r>
              <a:rPr lang="en-US" altLang="zh-CN" dirty="0" smtClean="0">
                <a:solidFill>
                  <a:srgbClr val="0000FF"/>
                </a:solidFill>
              </a:rPr>
              <a:t>a </a:t>
            </a:r>
            <a:r>
              <a:rPr lang="en-US" altLang="zh-CN" dirty="0" err="1" smtClean="0">
                <a:solidFill>
                  <a:srgbClr val="0000FF"/>
                </a:solidFill>
              </a:rPr>
              <a:t>B+tree</a:t>
            </a:r>
            <a:r>
              <a:rPr lang="en-US" altLang="zh-CN" dirty="0" smtClean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with M=3, L=2</a:t>
            </a:r>
            <a:endParaRPr lang="en-US" altLang="zh-CN" dirty="0" smtClean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51289" y="3061901"/>
            <a:ext cx="4168129" cy="40011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ea typeface="宋体" pitchFamily="2" charset="-122"/>
              </a:rPr>
              <a:t>Insertion Sequence: 9, 5, 1, 7, 3,12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57037" y="4351675"/>
            <a:ext cx="312906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9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42838" y="4351675"/>
            <a:ext cx="628698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5 | 9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160956" y="4994756"/>
            <a:ext cx="68800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ea typeface="宋体" pitchFamily="2" charset="-122"/>
              </a:rPr>
              <a:t>1 |  </a:t>
            </a:r>
            <a:r>
              <a:rPr lang="en-US" altLang="zh-CN" sz="1800" dirty="0">
                <a:ea typeface="宋体" pitchFamily="2" charset="-122"/>
              </a:rPr>
              <a:t>| 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038659" y="4994756"/>
            <a:ext cx="75212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5 | 9 |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2695759" y="5166206"/>
            <a:ext cx="342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638610" y="4386767"/>
            <a:ext cx="68800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 | 5 |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71247" y="3846634"/>
            <a:ext cx="256866" cy="369332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1</a:t>
            </a:r>
            <a:endParaRPr lang="en-US" altLang="zh-CN" sz="18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1402336" y="3844676"/>
            <a:ext cx="312906" cy="369332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2</a:t>
            </a:r>
            <a:endParaRPr lang="en-US" altLang="zh-CN" sz="18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 flipH="1">
            <a:off x="2592308" y="4694574"/>
            <a:ext cx="132546" cy="2618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3212319" y="4694574"/>
            <a:ext cx="114300" cy="261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2769392" y="3844676"/>
            <a:ext cx="312906" cy="369332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3</a:t>
            </a:r>
            <a:endParaRPr lang="en-US" altLang="zh-CN" sz="18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4592154" y="4430635"/>
            <a:ext cx="1191352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 | 5 |  | 7 |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4077072" y="5002135"/>
            <a:ext cx="68800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ea typeface="宋体" pitchFamily="2" charset="-122"/>
              </a:rPr>
              <a:t>1 |  </a:t>
            </a:r>
            <a:r>
              <a:rPr lang="en-US" altLang="zh-CN" sz="1800" dirty="0">
                <a:ea typeface="宋体" pitchFamily="2" charset="-122"/>
              </a:rPr>
              <a:t>| 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5773215" y="5002135"/>
            <a:ext cx="75212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7 | 9 |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4935053" y="5002135"/>
            <a:ext cx="63794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ea typeface="宋体" pitchFamily="2" charset="-122"/>
              </a:rPr>
              <a:t>5 |  | 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H="1">
            <a:off x="4535003" y="4659235"/>
            <a:ext cx="17145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5190537" y="4659235"/>
            <a:ext cx="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>
            <a:off x="5700861" y="4659235"/>
            <a:ext cx="194993" cy="3500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4719417" y="5173585"/>
            <a:ext cx="21563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5522365" y="5173585"/>
            <a:ext cx="23282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4937424" y="3842585"/>
            <a:ext cx="312906" cy="369332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4</a:t>
            </a:r>
            <a:endParaRPr lang="en-US" altLang="zh-CN" sz="18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774999" y="6228184"/>
            <a:ext cx="1191352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 | 5 |  | 7 |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116632" y="6799684"/>
            <a:ext cx="81624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ea typeface="宋体" pitchFamily="2" charset="-122"/>
              </a:rPr>
              <a:t>1 | </a:t>
            </a:r>
            <a:r>
              <a:rPr lang="en-US" altLang="zh-CN" sz="1800" dirty="0">
                <a:ea typeface="宋体" pitchFamily="2" charset="-122"/>
              </a:rPr>
              <a:t>3 | 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1084807" y="6799684"/>
            <a:ext cx="68800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5 |  |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956791" y="6799684"/>
            <a:ext cx="75212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ea typeface="宋体" pitchFamily="2" charset="-122"/>
              </a:rPr>
              <a:t>7 | 9 |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794700" y="6971134"/>
            <a:ext cx="25102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>
            <a:off x="1703090" y="6971134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 flipH="1">
            <a:off x="660698" y="6399634"/>
            <a:ext cx="17145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1370675" y="6399634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1836497" y="6412594"/>
            <a:ext cx="28575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Text Box 42"/>
          <p:cNvSpPr txBox="1">
            <a:spLocks noChangeArrowheads="1"/>
          </p:cNvSpPr>
          <p:nvPr/>
        </p:nvSpPr>
        <p:spPr bwMode="auto">
          <a:xfrm>
            <a:off x="1188843" y="5739143"/>
            <a:ext cx="223933" cy="369332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5</a:t>
            </a:r>
            <a:endParaRPr lang="en-US" altLang="zh-CN" sz="18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45" name="Text Box 43"/>
          <p:cNvSpPr txBox="1">
            <a:spLocks noChangeArrowheads="1"/>
          </p:cNvSpPr>
          <p:nvPr/>
        </p:nvSpPr>
        <p:spPr bwMode="auto">
          <a:xfrm>
            <a:off x="2996952" y="7289248"/>
            <a:ext cx="81624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ea typeface="宋体" pitchFamily="2" charset="-122"/>
              </a:rPr>
              <a:t>1 | </a:t>
            </a:r>
            <a:r>
              <a:rPr lang="en-US" altLang="zh-CN" sz="1800" dirty="0">
                <a:ea typeface="宋体" pitchFamily="2" charset="-122"/>
              </a:rPr>
              <a:t>3 | 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3998218" y="7289248"/>
            <a:ext cx="68800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5 |  |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7" name="Text Box 45"/>
          <p:cNvSpPr txBox="1">
            <a:spLocks noChangeArrowheads="1"/>
          </p:cNvSpPr>
          <p:nvPr/>
        </p:nvSpPr>
        <p:spPr bwMode="auto">
          <a:xfrm>
            <a:off x="4855468" y="7289248"/>
            <a:ext cx="75212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7 |   |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8" name="Text Box 46"/>
          <p:cNvSpPr txBox="1">
            <a:spLocks noChangeArrowheads="1"/>
          </p:cNvSpPr>
          <p:nvPr/>
        </p:nvSpPr>
        <p:spPr bwMode="auto">
          <a:xfrm>
            <a:off x="5762037" y="7289248"/>
            <a:ext cx="100860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 9 | 12 |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9" name="Text Box 48"/>
          <p:cNvSpPr txBox="1">
            <a:spLocks noChangeArrowheads="1"/>
          </p:cNvSpPr>
          <p:nvPr/>
        </p:nvSpPr>
        <p:spPr bwMode="auto">
          <a:xfrm>
            <a:off x="3573016" y="6677049"/>
            <a:ext cx="68800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 | 5 |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50" name="Text Box 49"/>
          <p:cNvSpPr txBox="1">
            <a:spLocks noChangeArrowheads="1"/>
          </p:cNvSpPr>
          <p:nvPr/>
        </p:nvSpPr>
        <p:spPr bwMode="auto">
          <a:xfrm>
            <a:off x="5339409" y="6677049"/>
            <a:ext cx="68800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 | 9 |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51" name="Text Box 50"/>
          <p:cNvSpPr txBox="1">
            <a:spLocks noChangeArrowheads="1"/>
          </p:cNvSpPr>
          <p:nvPr/>
        </p:nvSpPr>
        <p:spPr bwMode="auto">
          <a:xfrm>
            <a:off x="4489259" y="6228184"/>
            <a:ext cx="68800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 | 7 |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52" name="Line 51"/>
          <p:cNvSpPr>
            <a:spLocks noChangeShapeType="1"/>
          </p:cNvSpPr>
          <p:nvPr/>
        </p:nvSpPr>
        <p:spPr bwMode="auto">
          <a:xfrm flipH="1">
            <a:off x="4047537" y="6391299"/>
            <a:ext cx="51435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52"/>
          <p:cNvSpPr>
            <a:spLocks noChangeShapeType="1"/>
          </p:cNvSpPr>
          <p:nvPr/>
        </p:nvSpPr>
        <p:spPr bwMode="auto">
          <a:xfrm>
            <a:off x="5075931" y="6426065"/>
            <a:ext cx="457505" cy="2509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53"/>
          <p:cNvSpPr>
            <a:spLocks noChangeShapeType="1"/>
          </p:cNvSpPr>
          <p:nvPr/>
        </p:nvSpPr>
        <p:spPr bwMode="auto">
          <a:xfrm flipH="1">
            <a:off x="3476037" y="6955640"/>
            <a:ext cx="179281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54"/>
          <p:cNvSpPr>
            <a:spLocks noChangeShapeType="1"/>
          </p:cNvSpPr>
          <p:nvPr/>
        </p:nvSpPr>
        <p:spPr bwMode="auto">
          <a:xfrm>
            <a:off x="4161837" y="6955640"/>
            <a:ext cx="17145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55"/>
          <p:cNvSpPr>
            <a:spLocks noChangeShapeType="1"/>
          </p:cNvSpPr>
          <p:nvPr/>
        </p:nvSpPr>
        <p:spPr bwMode="auto">
          <a:xfrm flipH="1">
            <a:off x="5190537" y="6955640"/>
            <a:ext cx="2286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>
            <a:off x="5876337" y="6955640"/>
            <a:ext cx="17145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Line 57"/>
          <p:cNvSpPr>
            <a:spLocks noChangeShapeType="1"/>
          </p:cNvSpPr>
          <p:nvPr/>
        </p:nvSpPr>
        <p:spPr bwMode="auto">
          <a:xfrm>
            <a:off x="3712468" y="7460698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Line 58"/>
          <p:cNvSpPr>
            <a:spLocks noChangeShapeType="1"/>
          </p:cNvSpPr>
          <p:nvPr/>
        </p:nvSpPr>
        <p:spPr bwMode="auto">
          <a:xfrm>
            <a:off x="4585772" y="7460698"/>
            <a:ext cx="283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59"/>
          <p:cNvSpPr>
            <a:spLocks noChangeShapeType="1"/>
          </p:cNvSpPr>
          <p:nvPr/>
        </p:nvSpPr>
        <p:spPr bwMode="auto">
          <a:xfrm>
            <a:off x="5482089" y="7460698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42"/>
          <p:cNvSpPr txBox="1">
            <a:spLocks noChangeArrowheads="1"/>
          </p:cNvSpPr>
          <p:nvPr/>
        </p:nvSpPr>
        <p:spPr bwMode="auto">
          <a:xfrm>
            <a:off x="4725144" y="5742968"/>
            <a:ext cx="257017" cy="369332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6</a:t>
            </a:r>
            <a:endParaRPr lang="en-US" altLang="zh-CN" sz="1800" dirty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/>
      <p:bldP spid="17" grpId="0"/>
      <p:bldP spid="19" grpId="0" animBg="1"/>
      <p:bldP spid="20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6CEC3B2-65A9-4166-A8C1-CB4EAAC3029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198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198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0576063-AA05-4E90-A5DA-8D4E9ACC1004}" type="slidenum">
              <a:rPr lang="en-US" altLang="zh-CN" sz="1050"/>
            </a:fld>
            <a:endParaRPr lang="en-US" altLang="zh-CN" sz="1050"/>
          </a:p>
        </p:txBody>
      </p:sp>
      <p:sp>
        <p:nvSpPr>
          <p:cNvPr id="1198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Deleting From B-Trees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557912"/>
            <a:ext cx="5829300" cy="3429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Delete X : Do a find and remove from leaf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Leaf underflows – borrow from a neighbor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E.g. 11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Leaf underflows and can’t borrow – merge nodes, delete parent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E.g. 17</a:t>
            </a:r>
            <a:endParaRPr lang="en-US" altLang="zh-CN" dirty="0">
              <a:ea typeface="宋体" pitchFamily="2" charset="-122"/>
            </a:endParaRPr>
          </a:p>
        </p:txBody>
      </p:sp>
      <p:grpSp>
        <p:nvGrpSpPr>
          <p:cNvPr id="119815" name="Group 4"/>
          <p:cNvGrpSpPr/>
          <p:nvPr/>
        </p:nvGrpSpPr>
        <p:grpSpPr bwMode="auto">
          <a:xfrm>
            <a:off x="971551" y="4800601"/>
            <a:ext cx="4926806" cy="1650206"/>
            <a:chOff x="608" y="1336"/>
            <a:chExt cx="4138" cy="1379"/>
          </a:xfrm>
        </p:grpSpPr>
        <p:sp>
          <p:nvSpPr>
            <p:cNvPr id="119816" name="Oval 5"/>
            <p:cNvSpPr>
              <a:spLocks noChangeArrowheads="1"/>
            </p:cNvSpPr>
            <p:nvPr/>
          </p:nvSpPr>
          <p:spPr bwMode="auto">
            <a:xfrm>
              <a:off x="2366" y="133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9817" name="Oval 6"/>
            <p:cNvSpPr>
              <a:spLocks noChangeArrowheads="1"/>
            </p:cNvSpPr>
            <p:nvPr/>
          </p:nvSpPr>
          <p:spPr bwMode="auto">
            <a:xfrm>
              <a:off x="3453" y="175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9818" name="Oval 7"/>
            <p:cNvSpPr>
              <a:spLocks noChangeArrowheads="1"/>
            </p:cNvSpPr>
            <p:nvPr/>
          </p:nvSpPr>
          <p:spPr bwMode="auto">
            <a:xfrm>
              <a:off x="1331" y="2445"/>
              <a:ext cx="967" cy="26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9819" name="Oval 8"/>
            <p:cNvSpPr>
              <a:spLocks noChangeArrowheads="1"/>
            </p:cNvSpPr>
            <p:nvPr/>
          </p:nvSpPr>
          <p:spPr bwMode="auto">
            <a:xfrm>
              <a:off x="608" y="2454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9820" name="Oval 9"/>
            <p:cNvSpPr>
              <a:spLocks noChangeArrowheads="1"/>
            </p:cNvSpPr>
            <p:nvPr/>
          </p:nvSpPr>
          <p:spPr bwMode="auto">
            <a:xfrm>
              <a:off x="3100" y="2454"/>
              <a:ext cx="968" cy="26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9821" name="Oval 10"/>
            <p:cNvSpPr>
              <a:spLocks noChangeArrowheads="1"/>
            </p:cNvSpPr>
            <p:nvPr/>
          </p:nvSpPr>
          <p:spPr bwMode="auto">
            <a:xfrm>
              <a:off x="1510" y="1770"/>
              <a:ext cx="569" cy="22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9822" name="Oval 11"/>
            <p:cNvSpPr>
              <a:spLocks noChangeArrowheads="1"/>
            </p:cNvSpPr>
            <p:nvPr/>
          </p:nvSpPr>
          <p:spPr bwMode="auto">
            <a:xfrm>
              <a:off x="2441" y="2463"/>
              <a:ext cx="568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9823" name="Oval 12"/>
            <p:cNvSpPr>
              <a:spLocks noChangeArrowheads="1"/>
            </p:cNvSpPr>
            <p:nvPr/>
          </p:nvSpPr>
          <p:spPr bwMode="auto">
            <a:xfrm>
              <a:off x="4177" y="2471"/>
              <a:ext cx="569" cy="244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endParaRPr lang="zh-CN" altLang="en-US" sz="1500">
                <a:ea typeface="宋体" pitchFamily="2" charset="-122"/>
              </a:endParaRPr>
            </a:p>
          </p:txBody>
        </p:sp>
        <p:sp>
          <p:nvSpPr>
            <p:cNvPr id="119824" name="Freeform 13"/>
            <p:cNvSpPr/>
            <p:nvPr/>
          </p:nvSpPr>
          <p:spPr bwMode="auto">
            <a:xfrm>
              <a:off x="1795" y="1573"/>
              <a:ext cx="857" cy="197"/>
            </a:xfrm>
            <a:custGeom>
              <a:avLst/>
              <a:gdLst>
                <a:gd name="T0" fmla="*/ 856 w 857"/>
                <a:gd name="T1" fmla="*/ 0 h 197"/>
                <a:gd name="T2" fmla="*/ 0 w 857"/>
                <a:gd name="T3" fmla="*/ 196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7" h="197">
                  <a:moveTo>
                    <a:pt x="856" y="0"/>
                  </a:moveTo>
                  <a:lnTo>
                    <a:pt x="0" y="196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825" name="Freeform 14"/>
            <p:cNvSpPr/>
            <p:nvPr/>
          </p:nvSpPr>
          <p:spPr bwMode="auto">
            <a:xfrm>
              <a:off x="2651" y="1573"/>
              <a:ext cx="1064" cy="180"/>
            </a:xfrm>
            <a:custGeom>
              <a:avLst/>
              <a:gdLst>
                <a:gd name="T0" fmla="*/ 0 w 1064"/>
                <a:gd name="T1" fmla="*/ 0 h 180"/>
                <a:gd name="T2" fmla="*/ 1063 w 1064"/>
                <a:gd name="T3" fmla="*/ 179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4" h="180">
                  <a:moveTo>
                    <a:pt x="0" y="0"/>
                  </a:moveTo>
                  <a:lnTo>
                    <a:pt x="1063" y="17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826" name="Freeform 15"/>
            <p:cNvSpPr/>
            <p:nvPr/>
          </p:nvSpPr>
          <p:spPr bwMode="auto">
            <a:xfrm>
              <a:off x="893" y="1991"/>
              <a:ext cx="903" cy="463"/>
            </a:xfrm>
            <a:custGeom>
              <a:avLst/>
              <a:gdLst>
                <a:gd name="T0" fmla="*/ 902 w 903"/>
                <a:gd name="T1" fmla="*/ 0 h 463"/>
                <a:gd name="T2" fmla="*/ 0 w 903"/>
                <a:gd name="T3" fmla="*/ 462 h 4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3" h="463">
                  <a:moveTo>
                    <a:pt x="902" y="0"/>
                  </a:moveTo>
                  <a:lnTo>
                    <a:pt x="0" y="4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827" name="Freeform 16"/>
            <p:cNvSpPr/>
            <p:nvPr/>
          </p:nvSpPr>
          <p:spPr bwMode="auto">
            <a:xfrm>
              <a:off x="1795" y="1991"/>
              <a:ext cx="21" cy="454"/>
            </a:xfrm>
            <a:custGeom>
              <a:avLst/>
              <a:gdLst>
                <a:gd name="T0" fmla="*/ 0 w 21"/>
                <a:gd name="T1" fmla="*/ 0 h 454"/>
                <a:gd name="T2" fmla="*/ 20 w 21"/>
                <a:gd name="T3" fmla="*/ 453 h 4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54">
                  <a:moveTo>
                    <a:pt x="0" y="0"/>
                  </a:moveTo>
                  <a:lnTo>
                    <a:pt x="20" y="45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828" name="Freeform 17"/>
            <p:cNvSpPr/>
            <p:nvPr/>
          </p:nvSpPr>
          <p:spPr bwMode="auto">
            <a:xfrm>
              <a:off x="1795" y="1991"/>
              <a:ext cx="932" cy="472"/>
            </a:xfrm>
            <a:custGeom>
              <a:avLst/>
              <a:gdLst>
                <a:gd name="T0" fmla="*/ 0 w 932"/>
                <a:gd name="T1" fmla="*/ 0 h 472"/>
                <a:gd name="T2" fmla="*/ 931 w 932"/>
                <a:gd name="T3" fmla="*/ 471 h 4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2" h="472">
                  <a:moveTo>
                    <a:pt x="0" y="0"/>
                  </a:moveTo>
                  <a:lnTo>
                    <a:pt x="931" y="47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829" name="Freeform 18"/>
            <p:cNvSpPr/>
            <p:nvPr/>
          </p:nvSpPr>
          <p:spPr bwMode="auto">
            <a:xfrm>
              <a:off x="3738" y="1993"/>
              <a:ext cx="725" cy="478"/>
            </a:xfrm>
            <a:custGeom>
              <a:avLst/>
              <a:gdLst>
                <a:gd name="T0" fmla="*/ 0 w 725"/>
                <a:gd name="T1" fmla="*/ 0 h 478"/>
                <a:gd name="T2" fmla="*/ 724 w 725"/>
                <a:gd name="T3" fmla="*/ 477 h 4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5" h="478">
                  <a:moveTo>
                    <a:pt x="0" y="0"/>
                  </a:moveTo>
                  <a:lnTo>
                    <a:pt x="724" y="47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830" name="Freeform 19"/>
            <p:cNvSpPr/>
            <p:nvPr/>
          </p:nvSpPr>
          <p:spPr bwMode="auto">
            <a:xfrm>
              <a:off x="3585" y="1993"/>
              <a:ext cx="154" cy="461"/>
            </a:xfrm>
            <a:custGeom>
              <a:avLst/>
              <a:gdLst>
                <a:gd name="T0" fmla="*/ 153 w 154"/>
                <a:gd name="T1" fmla="*/ 0 h 461"/>
                <a:gd name="T2" fmla="*/ 0 w 154"/>
                <a:gd name="T3" fmla="*/ 460 h 4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4" h="461">
                  <a:moveTo>
                    <a:pt x="153" y="0"/>
                  </a:moveTo>
                  <a:lnTo>
                    <a:pt x="0" y="46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831" name="Rectangle 20"/>
            <p:cNvSpPr>
              <a:spLocks noChangeArrowheads="1"/>
            </p:cNvSpPr>
            <p:nvPr/>
          </p:nvSpPr>
          <p:spPr bwMode="auto">
            <a:xfrm>
              <a:off x="2479" y="1356"/>
              <a:ext cx="3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13:-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9832" name="Rectangle 21"/>
            <p:cNvSpPr>
              <a:spLocks noChangeArrowheads="1"/>
            </p:cNvSpPr>
            <p:nvPr/>
          </p:nvSpPr>
          <p:spPr bwMode="auto">
            <a:xfrm>
              <a:off x="1589" y="1805"/>
              <a:ext cx="41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6:11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9833" name="Rectangle 22"/>
            <p:cNvSpPr>
              <a:spLocks noChangeArrowheads="1"/>
            </p:cNvSpPr>
            <p:nvPr/>
          </p:nvSpPr>
          <p:spPr bwMode="auto">
            <a:xfrm>
              <a:off x="747" y="2487"/>
              <a:ext cx="274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3  4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9834" name="Rectangle 23"/>
            <p:cNvSpPr>
              <a:spLocks noChangeArrowheads="1"/>
            </p:cNvSpPr>
            <p:nvPr/>
          </p:nvSpPr>
          <p:spPr bwMode="auto">
            <a:xfrm>
              <a:off x="1566" y="2478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6  7  8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9835" name="Rectangle 24"/>
            <p:cNvSpPr>
              <a:spLocks noChangeArrowheads="1"/>
            </p:cNvSpPr>
            <p:nvPr/>
          </p:nvSpPr>
          <p:spPr bwMode="auto">
            <a:xfrm>
              <a:off x="2460" y="2485"/>
              <a:ext cx="5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 dirty="0">
                  <a:latin typeface="Times New Roman" panose="02020603050405020304" pitchFamily="18" charset="0"/>
                  <a:ea typeface="宋体" pitchFamily="2" charset="-122"/>
                </a:rPr>
                <a:t>11 12</a:t>
              </a:r>
              <a:endParaRPr lang="en-US" altLang="zh-CN" sz="1650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9836" name="Rectangle 25"/>
            <p:cNvSpPr>
              <a:spLocks noChangeArrowheads="1"/>
            </p:cNvSpPr>
            <p:nvPr/>
          </p:nvSpPr>
          <p:spPr bwMode="auto">
            <a:xfrm>
              <a:off x="3324" y="2496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13  14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9837" name="Rectangle 26"/>
            <p:cNvSpPr>
              <a:spLocks noChangeArrowheads="1"/>
            </p:cNvSpPr>
            <p:nvPr/>
          </p:nvSpPr>
          <p:spPr bwMode="auto">
            <a:xfrm>
              <a:off x="4243" y="2512"/>
              <a:ext cx="42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17 18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9838" name="Rectangle 27"/>
            <p:cNvSpPr>
              <a:spLocks noChangeArrowheads="1"/>
            </p:cNvSpPr>
            <p:nvPr/>
          </p:nvSpPr>
          <p:spPr bwMode="auto">
            <a:xfrm>
              <a:off x="3594" y="1785"/>
              <a:ext cx="346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650">
                  <a:latin typeface="Times New Roman" panose="02020603050405020304" pitchFamily="18" charset="0"/>
                  <a:ea typeface="宋体" pitchFamily="2" charset="-122"/>
                </a:rPr>
                <a:t>17:-</a:t>
              </a:r>
              <a:endParaRPr lang="en-US" altLang="zh-CN" sz="165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7DC3547-BC40-4A64-974B-B6AD176D4BB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08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208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11E3BEA-E490-4B60-B110-A34AF2E43FE3}" type="slidenum">
              <a:rPr lang="en-US" altLang="zh-CN" sz="1050"/>
            </a:fld>
            <a:endParaRPr lang="en-US" altLang="zh-CN" sz="1050"/>
          </a:p>
        </p:txBody>
      </p:sp>
      <p:sp>
        <p:nvSpPr>
          <p:cNvPr id="1208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Run Time Analysis of B-Tree Operations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208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6836" y="2699792"/>
            <a:ext cx="6266259" cy="374374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For a B-Tree of order M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Each internal node has up to M-1 keys to search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Each internal node has between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M/2 and M children</a:t>
            </a:r>
            <a:endParaRPr lang="en-US" altLang="zh-CN" dirty="0">
              <a:ea typeface="宋体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dirty="0">
                <a:solidFill>
                  <a:srgbClr val="0000FF"/>
                </a:solidFill>
                <a:ea typeface="宋体" pitchFamily="2" charset="-122"/>
                <a:sym typeface="Symbol" panose="05050102010706020507" pitchFamily="18" charset="2"/>
              </a:rPr>
              <a:t>Depth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 of B-Tree storing N items is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  <a:sym typeface="Symbol" panose="05050102010706020507" pitchFamily="18" charset="2"/>
              </a:rPr>
              <a:t>O(log </a:t>
            </a:r>
            <a:r>
              <a:rPr lang="en-US" altLang="zh-CN" baseline="-25000" dirty="0">
                <a:solidFill>
                  <a:srgbClr val="0000FF"/>
                </a:solidFill>
                <a:ea typeface="宋体" pitchFamily="2" charset="-122"/>
                <a:sym typeface="Symbol" panose="05050102010706020507" pitchFamily="18" charset="2"/>
              </a:rPr>
              <a:t>M/2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  <a:sym typeface="Symbol" panose="05050102010706020507" pitchFamily="18" charset="2"/>
              </a:rPr>
              <a:t> N</a:t>
            </a: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  <a:sym typeface="Symbol" panose="05050102010706020507" pitchFamily="18" charset="2"/>
              </a:rPr>
              <a:t>)</a:t>
            </a:r>
            <a:endParaRPr lang="en-US" altLang="zh-CN" dirty="0" smtClean="0">
              <a:solidFill>
                <a:srgbClr val="0000FF"/>
              </a:solidFill>
              <a:ea typeface="宋体" pitchFamily="2" charset="-122"/>
              <a:sym typeface="Symbol" panose="05050102010706020507" pitchFamily="18" charset="2"/>
            </a:endParaRPr>
          </a:p>
          <a:p>
            <a:pPr lvl="1"/>
            <a:endParaRPr lang="en-US" altLang="zh-CN" dirty="0">
              <a:solidFill>
                <a:srgbClr val="0000FF"/>
              </a:solidFill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ea typeface="宋体" pitchFamily="2" charset="-122"/>
              </a:rPr>
              <a:t>Find: Run time is: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O(log M) to binary search which branch to take at each node. </a:t>
            </a:r>
            <a:r>
              <a:rPr lang="en-US" altLang="zh-CN" dirty="0">
                <a:solidFill>
                  <a:srgbClr val="FF3300"/>
                </a:solidFill>
                <a:ea typeface="宋体" pitchFamily="2" charset="-122"/>
              </a:rPr>
              <a:t>But M is small compared to N</a:t>
            </a:r>
            <a:r>
              <a:rPr lang="en-US" altLang="zh-CN" dirty="0">
                <a:ea typeface="宋体" pitchFamily="2" charset="-122"/>
              </a:rPr>
              <a:t>.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Total time to find an item is O(depth*log M) =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O(log N)</a:t>
            </a:r>
            <a:endParaRPr lang="en-US" altLang="zh-CN" sz="1600" dirty="0">
              <a:solidFill>
                <a:srgbClr val="0000FF"/>
              </a:solidFill>
              <a:ea typeface="宋体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FB65A54-878E-4DEB-9C89-C78F5358D55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08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208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11E3BEA-E490-4B60-B110-A34AF2E43FE3}" type="slidenum">
              <a:rPr lang="en-US" altLang="zh-CN" sz="1050"/>
            </a:fld>
            <a:endParaRPr lang="en-US" altLang="zh-CN" sz="1050"/>
          </a:p>
        </p:txBody>
      </p:sp>
      <p:sp>
        <p:nvSpPr>
          <p:cNvPr id="1208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Run Time Analysis of B-Tree Operations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208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6836" y="2627784"/>
            <a:ext cx="6266259" cy="3815754"/>
          </a:xfrm>
        </p:spPr>
        <p:txBody>
          <a:bodyPr>
            <a:normAutofit/>
          </a:bodyPr>
          <a:lstStyle/>
          <a:p>
            <a:r>
              <a:rPr lang="en-US" altLang="zh-CN" dirty="0"/>
              <a:t>How Do We Select the Order M?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In internal memory</a:t>
            </a:r>
            <a:r>
              <a:rPr lang="en-US" altLang="zh-CN" dirty="0"/>
              <a:t>, small orders, like 3 or </a:t>
            </a:r>
            <a:r>
              <a:rPr lang="en-US" altLang="zh-CN" dirty="0" smtClean="0"/>
              <a:t>4 are </a:t>
            </a:r>
            <a:r>
              <a:rPr lang="en-US" altLang="zh-CN" dirty="0"/>
              <a:t>fine.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 smtClean="0">
                <a:solidFill>
                  <a:srgbClr val="0000FF"/>
                </a:solidFill>
              </a:rPr>
              <a:t>On </a:t>
            </a:r>
            <a:r>
              <a:rPr lang="en-US" altLang="zh-CN" dirty="0">
                <a:solidFill>
                  <a:srgbClr val="0000FF"/>
                </a:solidFill>
              </a:rPr>
              <a:t>disk</a:t>
            </a:r>
            <a:r>
              <a:rPr lang="en-US" altLang="zh-CN" dirty="0"/>
              <a:t>, we have to worry about the </a:t>
            </a:r>
            <a:r>
              <a:rPr lang="en-US" altLang="zh-CN" dirty="0" smtClean="0"/>
              <a:t>number of </a:t>
            </a:r>
            <a:r>
              <a:rPr lang="en-US" altLang="zh-CN" dirty="0"/>
              <a:t>disk accesses to search the index and </a:t>
            </a:r>
            <a:r>
              <a:rPr lang="en-US" altLang="zh-CN" dirty="0" smtClean="0"/>
              <a:t>get to </a:t>
            </a:r>
            <a:r>
              <a:rPr lang="en-US" altLang="zh-CN" dirty="0"/>
              <a:t>the proper leaf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00047" y="4860032"/>
            <a:ext cx="5719836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CC0000"/>
                </a:solidFill>
                <a:latin typeface="Sitka Small" panose="02000505000000020004" pitchFamily="2" charset="0"/>
                <a:ea typeface="宋体" pitchFamily="2" charset="-122"/>
              </a:rPr>
              <a:t>Rule: Choose  the largest M so that an internal</a:t>
            </a:r>
            <a:endParaRPr lang="en-US" altLang="zh-CN" sz="1800" dirty="0">
              <a:solidFill>
                <a:srgbClr val="CC0000"/>
              </a:solidFill>
              <a:latin typeface="Sitka Small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solidFill>
                  <a:srgbClr val="CC0000"/>
                </a:solidFill>
                <a:latin typeface="Sitka Small" panose="02000505000000020004" pitchFamily="2" charset="0"/>
                <a:ea typeface="宋体" pitchFamily="2" charset="-122"/>
              </a:rPr>
              <a:t>node can fit into one physical block of the disk.</a:t>
            </a:r>
            <a:endParaRPr lang="en-US" altLang="zh-CN" sz="1800" dirty="0">
              <a:solidFill>
                <a:srgbClr val="CC0000"/>
              </a:solidFill>
              <a:latin typeface="Sitka Small" panose="02000505000000020004" pitchFamily="2" charset="0"/>
              <a:ea typeface="宋体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521218" y="5922248"/>
            <a:ext cx="535605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This leads to typical M’s between 32 and 256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And keeps the trees as shallow as possible.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日期占位符 3"/>
          <p:cNvSpPr>
            <a:spLocks noGrp="1"/>
          </p:cNvSpPr>
          <p:nvPr>
            <p:ph type="dt" sz="quarter" idx="10"/>
          </p:nvPr>
        </p:nvSpPr>
        <p:spPr>
          <a:xfrm>
            <a:off x="471488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AF7351A-B5CE-44E5-93F8-F9E3DAEAE1C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288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8475137"/>
            <a:ext cx="2314575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AVL Trees  - Lecture 4-3</a:t>
            </a:r>
            <a:endParaRPr lang="en-US" altLang="zh-CN" sz="1050"/>
          </a:p>
        </p:txBody>
      </p:sp>
      <p:sp>
        <p:nvSpPr>
          <p:cNvPr id="12288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9E5BA1C-0F84-43C1-98FF-D772BFD5D7DD}" type="slidenum">
              <a:rPr lang="en-US" altLang="zh-CN" sz="1050"/>
            </a:fld>
            <a:endParaRPr lang="en-US" altLang="zh-CN" sz="1050"/>
          </a:p>
        </p:txBody>
      </p:sp>
      <p:sp>
        <p:nvSpPr>
          <p:cNvPr id="12288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Summary of Search Trees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6729" y="2555776"/>
            <a:ext cx="6000750" cy="5400600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Problem with Binary Search </a:t>
            </a:r>
            <a:r>
              <a:rPr lang="en-US" altLang="zh-CN" dirty="0" smtClean="0">
                <a:ea typeface="宋体" pitchFamily="2" charset="-122"/>
              </a:rPr>
              <a:t>Trees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Must </a:t>
            </a:r>
            <a:r>
              <a:rPr lang="en-US" altLang="zh-CN" dirty="0">
                <a:ea typeface="宋体" pitchFamily="2" charset="-122"/>
              </a:rPr>
              <a:t>keep tree balanced to allow  fast access to stored items</a:t>
            </a:r>
            <a:endParaRPr lang="en-US" altLang="zh-CN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AVL trees: </a:t>
            </a:r>
            <a:r>
              <a:rPr lang="en-US" altLang="zh-CN" dirty="0">
                <a:ea typeface="宋体" pitchFamily="2" charset="-122"/>
              </a:rPr>
              <a:t>Insert/Delete operations keep tree balanced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Splay trees: </a:t>
            </a:r>
            <a:r>
              <a:rPr lang="en-US" altLang="zh-CN" dirty="0">
                <a:ea typeface="宋体" pitchFamily="2" charset="-122"/>
              </a:rPr>
              <a:t>Repeated Find operations produce balanced trees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solidFill>
                  <a:srgbClr val="008000"/>
                </a:solidFill>
                <a:ea typeface="宋体" pitchFamily="2" charset="-122"/>
              </a:rPr>
              <a:t>Multi-way search trees </a:t>
            </a:r>
            <a:r>
              <a:rPr lang="en-US" altLang="zh-CN" dirty="0">
                <a:ea typeface="宋体" pitchFamily="2" charset="-122"/>
              </a:rPr>
              <a:t>(e.g. B-Trees): 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More than two children per node allows shallow trees; all leaves are at the same depth.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Keeping tree balanced at all times.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Excellent for indexes in database systems.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7" grpId="0" autoUpdateAnimBg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Homework 3-4</a:t>
            </a:r>
            <a:endParaRPr lang="en-US" altLang="zh-CN" dirty="0" smtClean="0"/>
          </a:p>
          <a:p>
            <a:pPr lvl="1"/>
            <a:r>
              <a:rPr lang="en-US" altLang="zh-CN" dirty="0"/>
              <a:t>Show the updated B+-Tree with order 4 that results from inserting the records U and R in order.</a:t>
            </a:r>
            <a:endParaRPr lang="en-US" altLang="zh-CN" dirty="0"/>
          </a:p>
          <a:p>
            <a:pPr lvl="1"/>
            <a:r>
              <a:rPr lang="en-US" altLang="zh-CN" dirty="0"/>
              <a:t>Assume that the leaf nodes are capable of storing up to 3 records</a:t>
            </a:r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847359" y="8475137"/>
            <a:ext cx="1543050" cy="486833"/>
          </a:xfrm>
        </p:spPr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62A66D-53DC-4725-874B-139C818DCCD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AVL Trees  - Lecture 4-3</a:t>
            </a: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983034" y="4774679"/>
            <a:ext cx="4693444" cy="1160739"/>
            <a:chOff x="983034" y="4774679"/>
            <a:chExt cx="4693444" cy="1160739"/>
          </a:xfrm>
        </p:grpSpPr>
        <p:graphicFrame>
          <p:nvGraphicFramePr>
            <p:cNvPr id="8" name="Content Placeholder 4"/>
            <p:cNvGraphicFramePr/>
            <p:nvPr/>
          </p:nvGraphicFramePr>
          <p:xfrm>
            <a:off x="2924944" y="4774679"/>
            <a:ext cx="809625" cy="282058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269875"/>
                  <a:gridCol w="269875"/>
                  <a:gridCol w="269875"/>
                </a:tblGrid>
                <a:tr h="278606"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D</a:t>
                        </a:r>
                        <a:endParaRPr lang="zh-CN" altLang="en-US" sz="1400" dirty="0"/>
                      </a:p>
                    </a:txBody>
                    <a:tcPr marL="68541" marR="68541" marT="34349" marB="34349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M</a:t>
                        </a:r>
                        <a:endParaRPr lang="zh-CN" altLang="en-US" sz="1400" dirty="0"/>
                      </a:p>
                    </a:txBody>
                    <a:tcPr marL="68541" marR="68541" marT="34349" marB="34349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S</a:t>
                        </a:r>
                        <a:endParaRPr lang="zh-CN" altLang="en-US" sz="1400" dirty="0"/>
                      </a:p>
                    </a:txBody>
                    <a:tcPr marL="68541" marR="68541" marT="34349" marB="34349"/>
                  </a:tc>
                </a:tr>
              </a:tbl>
            </a:graphicData>
          </a:graphic>
        </p:graphicFrame>
        <p:graphicFrame>
          <p:nvGraphicFramePr>
            <p:cNvPr id="9" name="Content Placeholder 4"/>
            <p:cNvGraphicFramePr/>
            <p:nvPr/>
          </p:nvGraphicFramePr>
          <p:xfrm>
            <a:off x="4866853" y="5653360"/>
            <a:ext cx="809625" cy="282058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269875"/>
                  <a:gridCol w="269875"/>
                  <a:gridCol w="269875"/>
                </a:tblGrid>
                <a:tr h="278606"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S</a:t>
                        </a:r>
                        <a:endParaRPr lang="zh-CN" altLang="en-US" sz="1400" dirty="0"/>
                      </a:p>
                    </a:txBody>
                    <a:tcPr marL="68541" marR="68541" marT="34349" marB="34349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T</a:t>
                        </a:r>
                        <a:endParaRPr lang="zh-CN" altLang="en-US" sz="1400" dirty="0"/>
                      </a:p>
                    </a:txBody>
                    <a:tcPr marL="68541" marR="68541" marT="34349" marB="34349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W</a:t>
                        </a:r>
                        <a:endParaRPr lang="zh-CN" altLang="en-US" sz="1400" dirty="0"/>
                      </a:p>
                    </a:txBody>
                    <a:tcPr marL="68541" marR="68541" marT="34349" marB="34349"/>
                  </a:tc>
                </a:tr>
              </a:tbl>
            </a:graphicData>
          </a:graphic>
        </p:graphicFrame>
        <p:graphicFrame>
          <p:nvGraphicFramePr>
            <p:cNvPr id="10" name="Content Placeholder 4"/>
            <p:cNvGraphicFramePr/>
            <p:nvPr/>
          </p:nvGraphicFramePr>
          <p:xfrm>
            <a:off x="3572644" y="5653360"/>
            <a:ext cx="809625" cy="282058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269875"/>
                  <a:gridCol w="269875"/>
                  <a:gridCol w="269875"/>
                </a:tblGrid>
                <a:tr h="278606"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M</a:t>
                        </a:r>
                        <a:endParaRPr lang="zh-CN" altLang="en-US" sz="1400" dirty="0"/>
                      </a:p>
                    </a:txBody>
                    <a:tcPr marL="68541" marR="68541" marT="34349" marB="34349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N</a:t>
                        </a:r>
                        <a:endParaRPr lang="zh-CN" altLang="en-US" sz="1400" dirty="0"/>
                      </a:p>
                    </a:txBody>
                    <a:tcPr marL="68541" marR="68541" marT="34349" marB="34349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P</a:t>
                        </a:r>
                        <a:endParaRPr lang="zh-CN" altLang="en-US" sz="1400" dirty="0"/>
                      </a:p>
                    </a:txBody>
                    <a:tcPr marL="68541" marR="68541" marT="34349" marB="34349"/>
                  </a:tc>
                </a:tr>
              </a:tbl>
            </a:graphicData>
          </a:graphic>
        </p:graphicFrame>
        <p:graphicFrame>
          <p:nvGraphicFramePr>
            <p:cNvPr id="11" name="Content Placeholder 4"/>
            <p:cNvGraphicFramePr/>
            <p:nvPr/>
          </p:nvGraphicFramePr>
          <p:xfrm>
            <a:off x="2277243" y="5653360"/>
            <a:ext cx="810816" cy="282058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270272"/>
                  <a:gridCol w="270272"/>
                  <a:gridCol w="270272"/>
                </a:tblGrid>
                <a:tr h="278606"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D</a:t>
                        </a:r>
                        <a:endParaRPr lang="zh-CN" altLang="en-US" sz="1400" dirty="0"/>
                      </a:p>
                    </a:txBody>
                    <a:tcPr marL="68642" marR="68642" marT="34349" marB="34349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G</a:t>
                        </a:r>
                        <a:endParaRPr lang="zh-CN" altLang="en-US" sz="1400" dirty="0"/>
                      </a:p>
                    </a:txBody>
                    <a:tcPr marL="68642" marR="68642" marT="34349" marB="34349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I</a:t>
                        </a:r>
                        <a:endParaRPr lang="zh-CN" altLang="en-US" sz="1400" dirty="0"/>
                      </a:p>
                    </a:txBody>
                    <a:tcPr marL="68642" marR="68642" marT="34349" marB="34349"/>
                  </a:tc>
                </a:tr>
              </a:tbl>
            </a:graphicData>
          </a:graphic>
        </p:graphicFrame>
        <p:graphicFrame>
          <p:nvGraphicFramePr>
            <p:cNvPr id="12" name="Content Placeholder 4"/>
            <p:cNvGraphicFramePr/>
            <p:nvPr/>
          </p:nvGraphicFramePr>
          <p:xfrm>
            <a:off x="983034" y="5653360"/>
            <a:ext cx="810816" cy="282058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270272"/>
                  <a:gridCol w="270272"/>
                  <a:gridCol w="270272"/>
                </a:tblGrid>
                <a:tr h="278606"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A</a:t>
                        </a:r>
                        <a:endParaRPr lang="zh-CN" altLang="en-US" sz="1400" dirty="0"/>
                      </a:p>
                    </a:txBody>
                    <a:tcPr marL="68642" marR="68642" marT="34349" marB="34349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B</a:t>
                        </a:r>
                        <a:endParaRPr lang="zh-CN" altLang="en-US" sz="1400" dirty="0"/>
                      </a:p>
                    </a:txBody>
                    <a:tcPr marL="68642" marR="68642" marT="34349" marB="34349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400" dirty="0" smtClean="0"/>
                          <a:t>C</a:t>
                        </a:r>
                        <a:endParaRPr lang="zh-CN" altLang="en-US" sz="1400" dirty="0"/>
                      </a:p>
                    </a:txBody>
                    <a:tcPr marL="68642" marR="68642" marT="34349" marB="34349"/>
                  </a:tc>
                </a:tr>
              </a:tbl>
            </a:graphicData>
          </a:graphic>
        </p:graphicFrame>
        <p:cxnSp>
          <p:nvCxnSpPr>
            <p:cNvPr id="13" name="Straight Connector 31"/>
            <p:cNvCxnSpPr>
              <a:endCxn id="12" idx="0"/>
            </p:cNvCxnSpPr>
            <p:nvPr/>
          </p:nvCxnSpPr>
          <p:spPr>
            <a:xfrm flipH="1">
              <a:off x="1388441" y="5053284"/>
              <a:ext cx="1536503" cy="6000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2"/>
            <p:cNvCxnSpPr>
              <a:endCxn id="11" idx="0"/>
            </p:cNvCxnSpPr>
            <p:nvPr/>
          </p:nvCxnSpPr>
          <p:spPr>
            <a:xfrm flipH="1">
              <a:off x="2682651" y="5053284"/>
              <a:ext cx="514946" cy="6000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3"/>
            <p:cNvCxnSpPr>
              <a:endCxn id="10" idx="0"/>
            </p:cNvCxnSpPr>
            <p:nvPr/>
          </p:nvCxnSpPr>
          <p:spPr>
            <a:xfrm>
              <a:off x="3463106" y="5053284"/>
              <a:ext cx="514349" cy="6000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4"/>
            <p:cNvCxnSpPr>
              <a:endCxn id="9" idx="0"/>
            </p:cNvCxnSpPr>
            <p:nvPr/>
          </p:nvCxnSpPr>
          <p:spPr>
            <a:xfrm>
              <a:off x="3734569" y="5053284"/>
              <a:ext cx="1537096" cy="6000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42"/>
            <p:cNvGrpSpPr/>
            <p:nvPr/>
          </p:nvGrpSpPr>
          <p:grpSpPr bwMode="auto">
            <a:xfrm>
              <a:off x="1793849" y="5761707"/>
              <a:ext cx="470297" cy="92869"/>
              <a:chOff x="2267744" y="5248821"/>
              <a:chExt cx="627974" cy="124396"/>
            </a:xfrm>
          </p:grpSpPr>
          <p:cxnSp>
            <p:nvCxnSpPr>
              <p:cNvPr id="18" name="Straight Arrow Connector 36"/>
              <p:cNvCxnSpPr/>
              <p:nvPr/>
            </p:nvCxnSpPr>
            <p:spPr>
              <a:xfrm>
                <a:off x="2274103" y="5248821"/>
                <a:ext cx="62161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41"/>
              <p:cNvCxnSpPr/>
              <p:nvPr/>
            </p:nvCxnSpPr>
            <p:spPr>
              <a:xfrm>
                <a:off x="2267744" y="5373217"/>
                <a:ext cx="62161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43"/>
            <p:cNvGrpSpPr/>
            <p:nvPr/>
          </p:nvGrpSpPr>
          <p:grpSpPr bwMode="auto">
            <a:xfrm>
              <a:off x="3104728" y="5761707"/>
              <a:ext cx="470297" cy="92869"/>
              <a:chOff x="2267744" y="5248821"/>
              <a:chExt cx="627974" cy="124396"/>
            </a:xfrm>
          </p:grpSpPr>
          <p:cxnSp>
            <p:nvCxnSpPr>
              <p:cNvPr id="21" name="Straight Arrow Connector 44"/>
              <p:cNvCxnSpPr/>
              <p:nvPr/>
            </p:nvCxnSpPr>
            <p:spPr>
              <a:xfrm>
                <a:off x="2274103" y="5248821"/>
                <a:ext cx="62161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45"/>
              <p:cNvCxnSpPr/>
              <p:nvPr/>
            </p:nvCxnSpPr>
            <p:spPr>
              <a:xfrm>
                <a:off x="2267744" y="5373217"/>
                <a:ext cx="62161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46"/>
            <p:cNvGrpSpPr/>
            <p:nvPr/>
          </p:nvGrpSpPr>
          <p:grpSpPr bwMode="auto">
            <a:xfrm>
              <a:off x="4385840" y="5761707"/>
              <a:ext cx="470297" cy="92869"/>
              <a:chOff x="2267744" y="5248821"/>
              <a:chExt cx="627974" cy="124396"/>
            </a:xfrm>
          </p:grpSpPr>
          <p:cxnSp>
            <p:nvCxnSpPr>
              <p:cNvPr id="24" name="Straight Arrow Connector 47"/>
              <p:cNvCxnSpPr/>
              <p:nvPr/>
            </p:nvCxnSpPr>
            <p:spPr>
              <a:xfrm>
                <a:off x="2274103" y="5248821"/>
                <a:ext cx="62161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48"/>
              <p:cNvCxnSpPr/>
              <p:nvPr/>
            </p:nvCxnSpPr>
            <p:spPr>
              <a:xfrm>
                <a:off x="2267744" y="5373217"/>
                <a:ext cx="62161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11491</Words>
  <Application>WPS 文字</Application>
  <PresentationFormat>全屏显示(4:3)</PresentationFormat>
  <Paragraphs>1197</Paragraphs>
  <Slides>47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8" baseType="lpstr">
      <vt:lpstr>Arial</vt:lpstr>
      <vt:lpstr>宋体</vt:lpstr>
      <vt:lpstr>Wingdings</vt:lpstr>
      <vt:lpstr>Times New Roman</vt:lpstr>
      <vt:lpstr>Wingdings 2</vt:lpstr>
      <vt:lpstr>宋体-简</vt:lpstr>
      <vt:lpstr>微软雅黑</vt:lpstr>
      <vt:lpstr>汉仪旗黑</vt:lpstr>
      <vt:lpstr>宋体</vt:lpstr>
      <vt:lpstr>Arial Unicode MS</vt:lpstr>
      <vt:lpstr>Calibri</vt:lpstr>
      <vt:lpstr>Helvetica Neue</vt:lpstr>
      <vt:lpstr>等线</vt:lpstr>
      <vt:lpstr>苹方-简</vt:lpstr>
      <vt:lpstr>Symbol</vt:lpstr>
      <vt:lpstr>Sitka Text</vt:lpstr>
      <vt:lpstr>Kingsoft Sign</vt:lpstr>
      <vt:lpstr>Sitka Small</vt:lpstr>
      <vt:lpstr>HDOfficeLightV0</vt:lpstr>
      <vt:lpstr>MSPhotoEd.3</vt:lpstr>
      <vt:lpstr>MSPhotoEd.3</vt:lpstr>
      <vt:lpstr>Data Structures</vt:lpstr>
      <vt:lpstr>Contents</vt:lpstr>
      <vt:lpstr>Splay Trees</vt:lpstr>
      <vt:lpstr>Readings</vt:lpstr>
      <vt:lpstr>Self adjusting Trees</vt:lpstr>
      <vt:lpstr>Splay Trees</vt:lpstr>
      <vt:lpstr>Splay Trees</vt:lpstr>
      <vt:lpstr>Splay Trees</vt:lpstr>
      <vt:lpstr>Splay Trees</vt:lpstr>
      <vt:lpstr>Splay Trees</vt:lpstr>
      <vt:lpstr>Splay Trees</vt:lpstr>
      <vt:lpstr>Splay Trees</vt:lpstr>
      <vt:lpstr>Splay Trees</vt:lpstr>
      <vt:lpstr>Splay Trees</vt:lpstr>
      <vt:lpstr>Splay Trees</vt:lpstr>
      <vt:lpstr>Zig-Zig and Zig-Zag</vt:lpstr>
      <vt:lpstr>PowerPoint 演示文稿</vt:lpstr>
      <vt:lpstr>Zig at depth 1 (single rotation)</vt:lpstr>
      <vt:lpstr>Zig at depth 1 (single rotation)</vt:lpstr>
      <vt:lpstr>Zig-Zag operation</vt:lpstr>
      <vt:lpstr>Zig-Zig operation</vt:lpstr>
      <vt:lpstr>Decreasing depth - "autobalance"</vt:lpstr>
      <vt:lpstr>Splay Tree Insert and Delete</vt:lpstr>
      <vt:lpstr>Example Insert</vt:lpstr>
      <vt:lpstr>Example Insert</vt:lpstr>
      <vt:lpstr>Example Deletion</vt:lpstr>
      <vt:lpstr>Analysis of Splay Trees</vt:lpstr>
      <vt:lpstr>Homework </vt:lpstr>
      <vt:lpstr>B-Trees</vt:lpstr>
      <vt:lpstr>Beyond Binary Search Trees: Multi-Way Trees</vt:lpstr>
      <vt:lpstr>B-Trees</vt:lpstr>
      <vt:lpstr>B-Trees</vt:lpstr>
      <vt:lpstr>B-Tree Details</vt:lpstr>
      <vt:lpstr>Properties of B-Trees</vt:lpstr>
      <vt:lpstr>Properties of B-Trees</vt:lpstr>
      <vt:lpstr>Properties of B-Trees</vt:lpstr>
      <vt:lpstr> Searching in B-trees</vt:lpstr>
      <vt:lpstr> Searching in B-trees</vt:lpstr>
      <vt:lpstr>Inserting into B-Trees</vt:lpstr>
      <vt:lpstr>Inserting into B-Trees</vt:lpstr>
      <vt:lpstr>Inserting into B-Trees</vt:lpstr>
      <vt:lpstr>Example of Insertions</vt:lpstr>
      <vt:lpstr>Deleting From B-Trees</vt:lpstr>
      <vt:lpstr>Run Time Analysis of B-Tree Operations</vt:lpstr>
      <vt:lpstr>Run Time Analysis of B-Tree Operations</vt:lpstr>
      <vt:lpstr>Summary of Search Trees</vt:lpstr>
      <vt:lpstr>Homework 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JXWang</cp:lastModifiedBy>
  <cp:revision>777</cp:revision>
  <dcterms:created xsi:type="dcterms:W3CDTF">2025-04-24T08:52:35Z</dcterms:created>
  <dcterms:modified xsi:type="dcterms:W3CDTF">2025-04-24T08:52:35Z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2052-6.12.0.8652</vt:lpwstr>
  </property>
  <property fmtid="{D5CDD505-2E9C-101B-9397-08002B2CF9AE}" pid="3" name="ICV">
    <vt:lpwstr>51672478A7C073CD82FA09680D8B5BE6_43</vt:lpwstr>
  </property>
</Properties>
</file>