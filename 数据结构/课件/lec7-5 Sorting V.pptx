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651" r:id="rId3"/>
    <p:sldId id="1020" r:id="rId4"/>
    <p:sldId id="1021" r:id="rId5"/>
    <p:sldId id="1022" r:id="rId6"/>
    <p:sldId id="1023" r:id="rId7"/>
    <p:sldId id="1024" r:id="rId8"/>
    <p:sldId id="1025" r:id="rId9"/>
    <p:sldId id="1026" r:id="rId10"/>
    <p:sldId id="1027" r:id="rId11"/>
    <p:sldId id="1028" r:id="rId12"/>
    <p:sldId id="1029" r:id="rId13"/>
    <p:sldId id="1030" r:id="rId14"/>
    <p:sldId id="1031" r:id="rId15"/>
    <p:sldId id="1032" r:id="rId16"/>
    <p:sldId id="1033" r:id="rId17"/>
    <p:sldId id="1034" r:id="rId18"/>
    <p:sldId id="1035" r:id="rId19"/>
    <p:sldId id="1036" r:id="rId20"/>
    <p:sldId id="1037" r:id="rId21"/>
    <p:sldId id="1038" r:id="rId22"/>
    <p:sldId id="1039" r:id="rId23"/>
  </p:sldIdLst>
  <p:sldSz cx="6858000" cy="9144000" type="screen4x3"/>
  <p:notesSz cx="6858000" cy="91801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263AF8"/>
    <a:srgbClr val="99CCFF"/>
    <a:srgbClr val="3A3AB9"/>
    <a:srgbClr val="5D26F8"/>
    <a:srgbClr val="CC0000"/>
    <a:srgbClr val="5252D4"/>
    <a:srgbClr val="B545B5"/>
    <a:srgbClr val="339966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77" autoAdjust="0"/>
    <p:restoredTop sz="96429" autoAdjust="0"/>
  </p:normalViewPr>
  <p:slideViewPr>
    <p:cSldViewPr>
      <p:cViewPr varScale="1">
        <p:scale>
          <a:sx n="85" d="100"/>
          <a:sy n="85" d="100"/>
        </p:scale>
        <p:origin x="2778" y="9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025CC5D-31DA-4F4B-89AE-356C3429DFE9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38363" y="688975"/>
            <a:ext cx="2582862" cy="3441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60863"/>
            <a:ext cx="5029200" cy="41306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 smtClean="0"/>
              <a:t>Click to edit Master text styles</a:t>
            </a:r>
            <a:endParaRPr lang="en-US" altLang="zh-CN" noProof="0" smtClean="0"/>
          </a:p>
          <a:p>
            <a:pPr lvl="1"/>
            <a:r>
              <a:rPr lang="en-US" altLang="zh-CN" noProof="0" smtClean="0"/>
              <a:t>Second level</a:t>
            </a:r>
            <a:endParaRPr lang="en-US" altLang="zh-CN" noProof="0" smtClean="0"/>
          </a:p>
          <a:p>
            <a:pPr lvl="2"/>
            <a:r>
              <a:rPr lang="en-US" altLang="zh-CN" noProof="0" smtClean="0"/>
              <a:t>Third level</a:t>
            </a:r>
            <a:endParaRPr lang="en-US" altLang="zh-CN" noProof="0" smtClean="0"/>
          </a:p>
          <a:p>
            <a:pPr lvl="3"/>
            <a:r>
              <a:rPr lang="en-US" altLang="zh-CN" noProof="0" smtClean="0"/>
              <a:t>Fourth level</a:t>
            </a:r>
            <a:endParaRPr lang="en-US" altLang="zh-CN" noProof="0" smtClean="0"/>
          </a:p>
          <a:p>
            <a:pPr lvl="4"/>
            <a:r>
              <a:rPr lang="en-US" altLang="zh-CN" noProof="0" smtClean="0"/>
              <a:t>Fifth level</a:t>
            </a:r>
            <a:endParaRPr lang="en-US" altLang="zh-CN" noProof="0" smtClean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DA164DF-2D1A-4652-9C0E-EA404900A30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1499373"/>
            <a:ext cx="5143500" cy="3183467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57250" y="4802717"/>
            <a:ext cx="5143500" cy="2207683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 algn="ctr">
              <a:buNone/>
              <a:defRPr sz="1575"/>
            </a:lvl2pPr>
            <a:lvl3pPr marL="514350" indent="0" algn="ctr">
              <a:buNone/>
              <a:defRPr sz="1350"/>
            </a:lvl3pPr>
            <a:lvl4pPr marL="771525" indent="0" algn="ctr">
              <a:buNone/>
              <a:defRPr sz="1125"/>
            </a:lvl4pPr>
            <a:lvl5pPr marL="1028700" indent="0" algn="ctr">
              <a:buNone/>
              <a:defRPr sz="1125"/>
            </a:lvl5pPr>
            <a:lvl6pPr marL="1285875" indent="0" algn="ctr">
              <a:buNone/>
              <a:defRPr sz="1125"/>
            </a:lvl6pPr>
            <a:lvl7pPr marL="1543050" indent="0" algn="ctr">
              <a:buNone/>
              <a:defRPr sz="1125"/>
            </a:lvl7pPr>
            <a:lvl8pPr marL="1800225" indent="0" algn="ctr">
              <a:buNone/>
              <a:defRPr sz="1125"/>
            </a:lvl8pPr>
            <a:lvl9pPr marL="2057400" indent="0" algn="ctr">
              <a:buNone/>
              <a:defRPr sz="1125"/>
            </a:lvl9pPr>
          </a:lstStyle>
          <a:p>
            <a:r>
              <a:rPr lang="zh-CN" altLang="en-US" dirty="0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E2FF24-F61C-42D3-964B-BEF0164BFDE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7-5 Sorting V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29B4B7-6FC4-46C7-B312-FF4DD7F8F95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7956" y="179512"/>
            <a:ext cx="1083469" cy="1083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Sitka Small" panose="02000505000000020004" pitchFamily="2" charset="0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400">
                <a:latin typeface="Sitka Text" panose="02000505000000020004" pitchFamily="2" charset="0"/>
              </a:defRPr>
            </a:lvl1pPr>
            <a:lvl2pPr>
              <a:defRPr sz="2000">
                <a:latin typeface="Sitka Text" panose="02000505000000020004" pitchFamily="2" charset="0"/>
              </a:defRPr>
            </a:lvl2pPr>
            <a:lvl3pPr>
              <a:defRPr sz="1800">
                <a:latin typeface="Sitka Text" panose="02000505000000020004" pitchFamily="2" charset="0"/>
              </a:defRPr>
            </a:lvl3pPr>
            <a:lvl4pPr>
              <a:defRPr sz="1400">
                <a:latin typeface="Sitka Text" panose="02000505000000020004" pitchFamily="2" charset="0"/>
              </a:defRPr>
            </a:lvl4pPr>
            <a:lvl5pPr>
              <a:defRPr sz="1400">
                <a:latin typeface="Sitka Text" panose="02000505000000020004" pitchFamily="2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C6B8461-B589-4982-A850-389EEC1EFD8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7-5 Sorting V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8" y="2283233"/>
            <a:ext cx="5915025" cy="3801611"/>
          </a:xfrm>
        </p:spPr>
        <p:txBody>
          <a:bodyPr anchor="b">
            <a:normAutofit/>
          </a:bodyPr>
          <a:lstStyle>
            <a:lvl1pPr>
              <a:defRPr sz="3375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7918" y="6070181"/>
            <a:ext cx="5915025" cy="2000249"/>
          </a:xfrm>
        </p:spPr>
        <p:txBody>
          <a:bodyPr anchor="t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3EC691-8BCA-4D29-A490-08AA1D75F0C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7-5 Sorting V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75384" y="2438403"/>
            <a:ext cx="2914650" cy="580178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471863" y="2438403"/>
            <a:ext cx="2914650" cy="580178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441F69E-124D-43A8-965E-7194FFCDD2DB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7-5 Sorting V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B17B5-A930-4446-BA1F-272BF9AC38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75386" y="2242467"/>
            <a:ext cx="2900363" cy="110093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5386" y="3343403"/>
            <a:ext cx="2900363" cy="490736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471865" y="2242469"/>
            <a:ext cx="2914651" cy="1100931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3471865" y="3343403"/>
            <a:ext cx="2914651" cy="490736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36FAF9-A1F5-47C4-8E6D-738B83B68403}" type="datetime1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7-5 Sorting V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624403-EF1A-4B6F-946B-A6E534429E50}" type="slidenum">
              <a:rPr lang="zh-CN" altLang="en-US" smtClean="0"/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3DE106-EF1F-4071-827D-CA3D90473A55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7-5 Sorting V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mtClean="0"/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08A1C40-BC3D-4CE8-91A5-D06C6978A4E2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7-5 Sorting V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A7ABA4-88C9-4138-B5CD-00AB99C8AB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4" y="609603"/>
            <a:ext cx="2211705" cy="2133596"/>
          </a:xfrm>
        </p:spPr>
        <p:txBody>
          <a:bodyPr anchor="b">
            <a:normAutofit/>
          </a:bodyPr>
          <a:lstStyle>
            <a:lvl1pPr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914652" y="1320800"/>
            <a:ext cx="3471863" cy="6502400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73204" y="2743199"/>
            <a:ext cx="2211705" cy="508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5"/>
            </a:lvl3pPr>
            <a:lvl4pPr marL="771525" indent="0">
              <a:buNone/>
              <a:defRPr sz="505"/>
            </a:lvl4pPr>
            <a:lvl5pPr marL="1028700" indent="0">
              <a:buNone/>
              <a:defRPr sz="505"/>
            </a:lvl5pPr>
            <a:lvl6pPr marL="1285875" indent="0">
              <a:buNone/>
              <a:defRPr sz="505"/>
            </a:lvl6pPr>
            <a:lvl7pPr marL="1543050" indent="0">
              <a:buNone/>
              <a:defRPr sz="505"/>
            </a:lvl7pPr>
            <a:lvl8pPr marL="1800225" indent="0">
              <a:buNone/>
              <a:defRPr sz="505"/>
            </a:lvl8pPr>
            <a:lvl9pPr marL="2057400" indent="0">
              <a:buNone/>
              <a:defRPr sz="50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6ECCC7D-E44F-4DA0-8562-C72E03F2F7FB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7-5 Sorting V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7196B7-B9C7-42B1-8A5A-00AAACE51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4" y="609600"/>
            <a:ext cx="2211705" cy="2133600"/>
          </a:xfrm>
        </p:spPr>
        <p:txBody>
          <a:bodyPr anchor="b">
            <a:normAutofit/>
          </a:bodyPr>
          <a:lstStyle>
            <a:lvl1pPr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14652" y="1320800"/>
            <a:ext cx="3471863" cy="6502400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73204" y="2743200"/>
            <a:ext cx="2211705" cy="508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5"/>
            </a:lvl3pPr>
            <a:lvl4pPr marL="771525" indent="0">
              <a:buNone/>
              <a:defRPr sz="505"/>
            </a:lvl4pPr>
            <a:lvl5pPr marL="1028700" indent="0">
              <a:buNone/>
              <a:defRPr sz="505"/>
            </a:lvl5pPr>
            <a:lvl6pPr marL="1285875" indent="0">
              <a:buNone/>
              <a:defRPr sz="505"/>
            </a:lvl6pPr>
            <a:lvl7pPr marL="1543050" indent="0">
              <a:buNone/>
              <a:defRPr sz="505"/>
            </a:lvl7pPr>
            <a:lvl8pPr marL="1800225" indent="0">
              <a:buNone/>
              <a:defRPr sz="505"/>
            </a:lvl8pPr>
            <a:lvl9pPr marL="2057400" indent="0">
              <a:buNone/>
              <a:defRPr sz="50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4049C25-04FA-4F9F-BA8A-A7C4728444E5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7-5 Sorting V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1FAD-2A9A-4887-9496-291ED06DDA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A61825-F878-44AD-B06F-65377603555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7-5 Sorting V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60E623-7BE8-433A-A2F9-0757649116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8" y="480484"/>
            <a:ext cx="1478756" cy="774911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471489" y="480483"/>
            <a:ext cx="4350544" cy="7749116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F2B50E9-536A-4961-BB6F-C73463F8F19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7-5 Sorting V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FF39B-38BA-4A28-8FBF-A3AD744757D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454" y="467544"/>
            <a:ext cx="5915025" cy="1767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385" y="2438403"/>
            <a:ext cx="5915025" cy="5801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7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2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450D3A3F-32B1-44E9-8EEF-EE0A3D1579A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7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2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 smtClean="0"/>
              <a:t>lec 7-5 Sorting V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7359" y="8475137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EDFF39B-38BA-4A28-8FBF-A3AD744757D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Sitka Small" panose="02000505000000020004" pitchFamily="2" charset="0"/>
          <a:ea typeface="+mj-ea"/>
          <a:cs typeface="Times New Roman" panose="02020603050405020304" pitchFamily="18" charset="0"/>
        </a:defRPr>
      </a:lvl1pPr>
    </p:titleStyle>
    <p:bodyStyle>
      <a:lvl1pPr marL="128270" indent="-128270" algn="l" defTabSz="514350" rtl="0" eaLnBrk="1" latinLnBrk="0" hangingPunct="1">
        <a:lnSpc>
          <a:spcPct val="90000"/>
        </a:lnSpc>
        <a:spcBef>
          <a:spcPts val="565"/>
        </a:spcBef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1pPr>
      <a:lvl2pPr marL="385445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2pPr>
      <a:lvl3pPr marL="642620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3pPr>
      <a:lvl4pPr marL="899795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4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4pPr>
      <a:lvl5pPr marL="1156970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4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5pPr>
      <a:lvl6pPr marL="1414145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320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8495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5670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emf"/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6"/>
          <p:cNvSpPr>
            <a:spLocks noGrp="1"/>
          </p:cNvSpPr>
          <p:nvPr>
            <p:ph type="ctrTitle"/>
          </p:nvPr>
        </p:nvSpPr>
        <p:spPr>
          <a:xfrm>
            <a:off x="0" y="2350296"/>
            <a:ext cx="6858000" cy="1185863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Sorting</a:t>
            </a:r>
            <a:endParaRPr lang="zh-CN" altLang="en-US" dirty="0" smtClean="0">
              <a:latin typeface="Sitka Small" panose="02000505000000020004" pitchFamily="2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857250" y="4416266"/>
            <a:ext cx="5143500" cy="1420892"/>
          </a:xfrm>
        </p:spPr>
        <p:txBody>
          <a:bodyPr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 algn="ctr" eaLnBrk="1" hangingPunct="1">
              <a:buFontTx/>
              <a:buNone/>
            </a:pPr>
            <a:endParaRPr lang="en-US" altLang="zh-CN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Jiexin Wang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School of Software Engineering</a:t>
            </a:r>
            <a:endParaRPr lang="en-US" altLang="zh-CN" dirty="0">
              <a:solidFill>
                <a:schemeClr val="accent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South China University of Technology</a:t>
            </a:r>
            <a:endParaRPr lang="en-US" altLang="zh-CN" dirty="0">
              <a:solidFill>
                <a:schemeClr val="accent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External Sorting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896056C-45BA-40A0-BAF1-D513AA8F81C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7-5 Sorting V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External Sorting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External </a:t>
            </a:r>
            <a:r>
              <a:rPr lang="en-US" altLang="zh-CN" dirty="0"/>
              <a:t>sorting </a:t>
            </a:r>
            <a:r>
              <a:rPr lang="en-US" altLang="zh-CN" dirty="0" smtClean="0"/>
              <a:t>algorithms are </a:t>
            </a:r>
            <a:r>
              <a:rPr lang="en-US" altLang="zh-CN" dirty="0"/>
              <a:t>designed to handle very </a:t>
            </a:r>
            <a:r>
              <a:rPr lang="en-US" altLang="zh-CN" dirty="0" smtClean="0"/>
              <a:t>large inputs.</a:t>
            </a:r>
            <a:endParaRPr lang="en-US" altLang="zh-CN" dirty="0" smtClean="0"/>
          </a:p>
          <a:p>
            <a:pPr lvl="1"/>
            <a:r>
              <a:rPr lang="en-US" altLang="zh-CN" dirty="0"/>
              <a:t>T</a:t>
            </a:r>
            <a:r>
              <a:rPr lang="en-US" altLang="zh-CN" dirty="0" smtClean="0"/>
              <a:t>he </a:t>
            </a:r>
            <a:r>
              <a:rPr lang="en-US" altLang="zh-CN" dirty="0"/>
              <a:t>input is much too large to fit into </a:t>
            </a:r>
            <a:r>
              <a:rPr lang="en-US" altLang="zh-CN" dirty="0" smtClean="0"/>
              <a:t>memory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r>
              <a:rPr lang="en-US" altLang="zh-CN" dirty="0"/>
              <a:t>External </a:t>
            </a:r>
            <a:r>
              <a:rPr lang="en-US" altLang="zh-CN" dirty="0" smtClean="0"/>
              <a:t>sorts</a:t>
            </a:r>
            <a:endParaRPr lang="en-US" altLang="zh-CN" dirty="0"/>
          </a:p>
          <a:p>
            <a:pPr lvl="1"/>
            <a:r>
              <a:rPr lang="en-US" altLang="zh-CN" dirty="0"/>
              <a:t>Read some records from disk</a:t>
            </a:r>
            <a:endParaRPr lang="en-US" altLang="zh-CN" dirty="0"/>
          </a:p>
          <a:p>
            <a:pPr lvl="1"/>
            <a:r>
              <a:rPr lang="en-US" altLang="zh-CN" dirty="0"/>
              <a:t>Do some rearranging</a:t>
            </a:r>
            <a:endParaRPr lang="en-US" altLang="zh-CN" dirty="0"/>
          </a:p>
          <a:p>
            <a:pPr lvl="1"/>
            <a:r>
              <a:rPr lang="en-US" altLang="zh-CN" dirty="0"/>
              <a:t>Write them back to mass storage </a:t>
            </a:r>
            <a:r>
              <a:rPr lang="en-US" altLang="zh-CN" dirty="0" smtClean="0"/>
              <a:t>devices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Repeat </a:t>
            </a:r>
            <a:r>
              <a:rPr lang="en-US" altLang="zh-CN" dirty="0"/>
              <a:t>the process until the file is </a:t>
            </a:r>
            <a:r>
              <a:rPr lang="en-US" altLang="zh-CN" dirty="0" smtClean="0"/>
              <a:t>sorted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r>
              <a:rPr lang="en-US" altLang="zh-CN" dirty="0"/>
              <a:t>Primary goal: minimize the number of times information must be read from or written to mass storage devices</a:t>
            </a:r>
            <a:endParaRPr lang="en-US" altLang="zh-CN" dirty="0"/>
          </a:p>
          <a:p>
            <a:endParaRPr lang="en-US" altLang="zh-CN" dirty="0" smtClean="0"/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9A43F64-CB42-4944-99A6-05B5A842FC3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7-5 Sorting V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Model </a:t>
            </a:r>
            <a:r>
              <a:rPr lang="en-US" altLang="zh-CN" dirty="0"/>
              <a:t>for External Sorting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</a:t>
            </a:r>
            <a:r>
              <a:rPr lang="en-US" altLang="zh-CN" dirty="0" smtClean="0"/>
              <a:t>records are stored on tapes</a:t>
            </a:r>
            <a:r>
              <a:rPr lang="en-US" altLang="zh-CN" dirty="0"/>
              <a:t>, which can only be accessed </a:t>
            </a:r>
            <a:r>
              <a:rPr lang="en-US" altLang="zh-CN" dirty="0" smtClean="0"/>
              <a:t>sequentially.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Assume </a:t>
            </a:r>
            <a:r>
              <a:rPr lang="en-US" altLang="zh-CN" dirty="0"/>
              <a:t>that </a:t>
            </a:r>
            <a:r>
              <a:rPr lang="en-US" altLang="zh-CN" dirty="0" smtClean="0"/>
              <a:t>the algorithms will be performed on at </a:t>
            </a:r>
            <a:r>
              <a:rPr lang="en-US" altLang="zh-CN" dirty="0"/>
              <a:t>least three </a:t>
            </a:r>
            <a:r>
              <a:rPr lang="en-US" altLang="zh-CN" dirty="0" smtClean="0"/>
              <a:t>tapes.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2478B1-1BFA-49B6-BA4D-FC7B763608A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7-5 Sorting V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The </a:t>
            </a:r>
            <a:r>
              <a:rPr lang="en-US" altLang="zh-CN" dirty="0"/>
              <a:t>Simple Algorithm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External </a:t>
            </a:r>
            <a:r>
              <a:rPr lang="en-US" altLang="zh-CN" dirty="0" err="1" smtClean="0"/>
              <a:t>Mergesort</a:t>
            </a:r>
            <a:endParaRPr lang="en-US" altLang="zh-CN" dirty="0" smtClean="0"/>
          </a:p>
          <a:p>
            <a:pPr lvl="1"/>
            <a:r>
              <a:rPr lang="en-US" altLang="zh-CN" dirty="0"/>
              <a:t>Suppose </a:t>
            </a:r>
            <a:r>
              <a:rPr lang="en-US" altLang="zh-CN" dirty="0" smtClean="0"/>
              <a:t>th</a:t>
            </a:r>
            <a:r>
              <a:rPr lang="en-US" altLang="zh-CN" dirty="0"/>
              <a:t>e </a:t>
            </a:r>
            <a:r>
              <a:rPr lang="en-US" altLang="zh-CN" dirty="0" smtClean="0"/>
              <a:t>algorithm works on four </a:t>
            </a:r>
            <a:r>
              <a:rPr lang="en-US" altLang="zh-CN" dirty="0"/>
              <a:t>tapes, </a:t>
            </a:r>
            <a:r>
              <a:rPr lang="en-US" altLang="zh-CN" i="1" dirty="0"/>
              <a:t>Ta</a:t>
            </a:r>
            <a:r>
              <a:rPr lang="en-US" altLang="zh-CN" dirty="0"/>
              <a:t>1, </a:t>
            </a:r>
            <a:r>
              <a:rPr lang="en-US" altLang="zh-CN" i="1" dirty="0"/>
              <a:t>Ta</a:t>
            </a:r>
            <a:r>
              <a:rPr lang="en-US" altLang="zh-CN" dirty="0"/>
              <a:t>2, </a:t>
            </a:r>
            <a:r>
              <a:rPr lang="en-US" altLang="zh-CN" i="1" dirty="0"/>
              <a:t>Tb</a:t>
            </a:r>
            <a:r>
              <a:rPr lang="en-US" altLang="zh-CN" dirty="0"/>
              <a:t>1, </a:t>
            </a:r>
            <a:r>
              <a:rPr lang="en-US" altLang="zh-CN" i="1" dirty="0" smtClean="0"/>
              <a:t>Tb</a:t>
            </a:r>
            <a:r>
              <a:rPr lang="en-US" altLang="zh-CN" dirty="0" smtClean="0"/>
              <a:t>2, and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the </a:t>
            </a:r>
            <a:r>
              <a:rPr lang="en-US" altLang="zh-CN" dirty="0"/>
              <a:t>data are initially on </a:t>
            </a:r>
            <a:r>
              <a:rPr lang="en-US" altLang="zh-CN" i="1" dirty="0" smtClean="0"/>
              <a:t>Ta</a:t>
            </a:r>
            <a:r>
              <a:rPr lang="en-US" altLang="zh-CN" dirty="0" smtClean="0"/>
              <a:t>1, and</a:t>
            </a:r>
            <a:endParaRPr lang="en-US" altLang="zh-CN" dirty="0" smtClean="0"/>
          </a:p>
          <a:p>
            <a:pPr lvl="1"/>
            <a:r>
              <a:rPr lang="en-US" altLang="zh-CN" dirty="0"/>
              <a:t>the internal memory </a:t>
            </a:r>
            <a:r>
              <a:rPr lang="en-US" altLang="zh-CN" dirty="0" smtClean="0"/>
              <a:t>can </a:t>
            </a:r>
            <a:r>
              <a:rPr lang="en-US" altLang="zh-CN" dirty="0" err="1" smtClean="0"/>
              <a:t>hold&amp;sort</a:t>
            </a:r>
            <a:r>
              <a:rPr lang="en-US" altLang="zh-CN" dirty="0" smtClean="0"/>
              <a:t> </a:t>
            </a:r>
            <a:r>
              <a:rPr lang="en-US" altLang="zh-CN" dirty="0"/>
              <a:t>M records at a time</a:t>
            </a:r>
            <a:r>
              <a:rPr lang="en-US" altLang="zh-CN" dirty="0" smtClean="0"/>
              <a:t>. Here, M = 3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9110" y="8475137"/>
            <a:ext cx="1543050" cy="486833"/>
          </a:xfrm>
        </p:spPr>
        <p:txBody>
          <a:bodyPr/>
          <a:lstStyle/>
          <a:p>
            <a:pPr>
              <a:defRPr/>
            </a:pPr>
            <a:fld id="{E2C59079-A52F-40E1-9A30-A5F6CC9ED77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7-5 Sorting V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The </a:t>
            </a:r>
            <a:r>
              <a:rPr lang="en-US" altLang="zh-CN" dirty="0"/>
              <a:t>Simple Algorithm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External </a:t>
            </a:r>
            <a:r>
              <a:rPr lang="en-US" altLang="zh-CN" dirty="0" err="1" smtClean="0"/>
              <a:t>Mergesort</a:t>
            </a:r>
            <a:endParaRPr lang="en-US" altLang="zh-CN" dirty="0" smtClean="0"/>
          </a:p>
          <a:p>
            <a:pPr lvl="1"/>
            <a:r>
              <a:rPr lang="en-US" altLang="zh-CN" dirty="0"/>
              <a:t>Suppose </a:t>
            </a:r>
            <a:r>
              <a:rPr lang="en-US" altLang="zh-CN" dirty="0" smtClean="0"/>
              <a:t>th</a:t>
            </a:r>
            <a:r>
              <a:rPr lang="en-US" altLang="zh-CN" dirty="0"/>
              <a:t>e </a:t>
            </a:r>
            <a:r>
              <a:rPr lang="en-US" altLang="zh-CN" dirty="0" smtClean="0"/>
              <a:t>algorithm works on four </a:t>
            </a:r>
            <a:r>
              <a:rPr lang="en-US" altLang="zh-CN" dirty="0"/>
              <a:t>tapes, </a:t>
            </a:r>
            <a:r>
              <a:rPr lang="en-US" altLang="zh-CN" i="1" dirty="0"/>
              <a:t>Ta</a:t>
            </a:r>
            <a:r>
              <a:rPr lang="en-US" altLang="zh-CN" dirty="0"/>
              <a:t>1, </a:t>
            </a:r>
            <a:r>
              <a:rPr lang="en-US" altLang="zh-CN" i="1" dirty="0"/>
              <a:t>Ta</a:t>
            </a:r>
            <a:r>
              <a:rPr lang="en-US" altLang="zh-CN" dirty="0"/>
              <a:t>2, </a:t>
            </a:r>
            <a:r>
              <a:rPr lang="en-US" altLang="zh-CN" i="1" dirty="0"/>
              <a:t>Tb</a:t>
            </a:r>
            <a:r>
              <a:rPr lang="en-US" altLang="zh-CN" dirty="0"/>
              <a:t>1, </a:t>
            </a:r>
            <a:r>
              <a:rPr lang="en-US" altLang="zh-CN" i="1" dirty="0" smtClean="0"/>
              <a:t>Tb</a:t>
            </a:r>
            <a:r>
              <a:rPr lang="en-US" altLang="zh-CN" dirty="0" smtClean="0"/>
              <a:t>2, and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the </a:t>
            </a:r>
            <a:r>
              <a:rPr lang="en-US" altLang="zh-CN" dirty="0"/>
              <a:t>data are initially on </a:t>
            </a:r>
            <a:r>
              <a:rPr lang="en-US" altLang="zh-CN" i="1" dirty="0" smtClean="0"/>
              <a:t>Ta</a:t>
            </a:r>
            <a:r>
              <a:rPr lang="en-US" altLang="zh-CN" dirty="0" smtClean="0"/>
              <a:t>1, and</a:t>
            </a:r>
            <a:endParaRPr lang="en-US" altLang="zh-CN" dirty="0" smtClean="0"/>
          </a:p>
          <a:p>
            <a:pPr lvl="1"/>
            <a:r>
              <a:rPr lang="en-US" altLang="zh-CN" dirty="0"/>
              <a:t>the internal memory </a:t>
            </a:r>
            <a:r>
              <a:rPr lang="en-US" altLang="zh-CN" dirty="0" smtClean="0"/>
              <a:t>can </a:t>
            </a:r>
            <a:r>
              <a:rPr lang="en-US" altLang="zh-CN" dirty="0" err="1" smtClean="0"/>
              <a:t>hold&amp;sort</a:t>
            </a:r>
            <a:r>
              <a:rPr lang="en-US" altLang="zh-CN" dirty="0" smtClean="0"/>
              <a:t> </a:t>
            </a:r>
            <a:r>
              <a:rPr lang="en-US" altLang="zh-CN" dirty="0"/>
              <a:t>M records at a time</a:t>
            </a:r>
            <a:r>
              <a:rPr lang="en-US" altLang="zh-CN" dirty="0" smtClean="0"/>
              <a:t>. Here, M = 3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9110" y="8475137"/>
            <a:ext cx="1543050" cy="486833"/>
          </a:xfrm>
        </p:spPr>
        <p:txBody>
          <a:bodyPr/>
          <a:lstStyle/>
          <a:p>
            <a:pPr>
              <a:defRPr/>
            </a:pPr>
            <a:fld id="{C20D6620-FA1C-4F51-A215-69215EA152B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7-5 Sorting V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75592" y="4788024"/>
          <a:ext cx="6768748" cy="1296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3482"/>
                <a:gridCol w="483482"/>
                <a:gridCol w="483482"/>
                <a:gridCol w="483482"/>
                <a:gridCol w="483482"/>
                <a:gridCol w="483482"/>
                <a:gridCol w="483482"/>
                <a:gridCol w="483482"/>
                <a:gridCol w="483482"/>
                <a:gridCol w="483482"/>
                <a:gridCol w="483482"/>
                <a:gridCol w="483482"/>
                <a:gridCol w="483482"/>
                <a:gridCol w="483482"/>
              </a:tblGrid>
              <a:tr h="3268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>
                          <a:effectLst/>
                          <a:latin typeface="Sitka Text" panose="02000505000000020004" pitchFamily="2" charset="0"/>
                        </a:rPr>
                        <a:t>Ta1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effectLst/>
                          <a:latin typeface="Sitka Text" panose="02000505000000020004" pitchFamily="2" charset="0"/>
                        </a:rPr>
                        <a:t>81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effectLst/>
                          <a:latin typeface="Sitka Text" panose="02000505000000020004" pitchFamily="2" charset="0"/>
                        </a:rPr>
                        <a:t>94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effectLst/>
                          <a:latin typeface="Sitka Text" panose="02000505000000020004" pitchFamily="2" charset="0"/>
                        </a:rPr>
                        <a:t>11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effectLst/>
                          <a:latin typeface="Sitka Text" panose="02000505000000020004" pitchFamily="2" charset="0"/>
                        </a:rPr>
                        <a:t>96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effectLst/>
                          <a:latin typeface="Sitka Text" panose="02000505000000020004" pitchFamily="2" charset="0"/>
                        </a:rPr>
                        <a:t>12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effectLst/>
                          <a:latin typeface="Sitka Text" panose="02000505000000020004" pitchFamily="2" charset="0"/>
                        </a:rPr>
                        <a:t>35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effectLst/>
                          <a:latin typeface="Sitka Text" panose="02000505000000020004" pitchFamily="2" charset="0"/>
                        </a:rPr>
                        <a:t>17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effectLst/>
                          <a:latin typeface="Sitka Text" panose="02000505000000020004" pitchFamily="2" charset="0"/>
                        </a:rPr>
                        <a:t>99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effectLst/>
                          <a:latin typeface="Sitka Text" panose="02000505000000020004" pitchFamily="2" charset="0"/>
                        </a:rPr>
                        <a:t>28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effectLst/>
                          <a:latin typeface="Sitka Text" panose="02000505000000020004" pitchFamily="2" charset="0"/>
                        </a:rPr>
                        <a:t>58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effectLst/>
                          <a:latin typeface="Sitka Text" panose="02000505000000020004" pitchFamily="2" charset="0"/>
                        </a:rPr>
                        <a:t>41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effectLst/>
                          <a:latin typeface="Sitka Text" panose="02000505000000020004" pitchFamily="2" charset="0"/>
                        </a:rPr>
                        <a:t>75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effectLst/>
                          <a:latin typeface="Sitka Text" panose="02000505000000020004" pitchFamily="2" charset="0"/>
                        </a:rPr>
                        <a:t>15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</a:tr>
              <a:tr h="3212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>
                          <a:effectLst/>
                          <a:latin typeface="Sitka Text" panose="02000505000000020004" pitchFamily="2" charset="0"/>
                        </a:rPr>
                        <a:t>Ta2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</a:tr>
              <a:tr h="3212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>
                          <a:effectLst/>
                          <a:latin typeface="Sitka Text" panose="02000505000000020004" pitchFamily="2" charset="0"/>
                        </a:rPr>
                        <a:t>Tb1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</a:tr>
              <a:tr h="3268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>
                          <a:effectLst/>
                          <a:latin typeface="Sitka Text" panose="02000505000000020004" pitchFamily="2" charset="0"/>
                        </a:rPr>
                        <a:t>Tb2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116632" y="6317441"/>
            <a:ext cx="45736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1st  pass  </a:t>
            </a:r>
            <a:r>
              <a:rPr lang="en-US" altLang="zh-CN" dirty="0">
                <a:solidFill>
                  <a:srgbClr val="FF0000"/>
                </a:solidFill>
                <a:latin typeface="Sitka Text" panose="02000505000000020004" pitchFamily="2" charset="0"/>
              </a:rPr>
              <a:t>(initial run-constructing pass)</a:t>
            </a:r>
            <a:endParaRPr lang="zh-CN" altLang="en-US" dirty="0">
              <a:solidFill>
                <a:srgbClr val="FF0000"/>
              </a:solidFill>
              <a:latin typeface="Sitka Text" panose="02000505000000020004" pitchFamily="2" charset="0"/>
            </a:endParaRPr>
          </a:p>
        </p:txBody>
      </p:sp>
      <p:sp>
        <p:nvSpPr>
          <p:cNvPr id="15" name="AutoShape 2"/>
          <p:cNvSpPr>
            <a:spLocks noChangeAspect="1" noChangeArrowheads="1" noTextEdit="1"/>
          </p:cNvSpPr>
          <p:nvPr/>
        </p:nvSpPr>
        <p:spPr bwMode="auto">
          <a:xfrm>
            <a:off x="61913" y="6804025"/>
            <a:ext cx="6781800" cy="143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5088" y="6824663"/>
            <a:ext cx="484188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549276" y="6824663"/>
            <a:ext cx="482600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1031876" y="6824663"/>
            <a:ext cx="484188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9" name="Rectangle 7"/>
          <p:cNvSpPr>
            <a:spLocks noChangeArrowheads="1"/>
          </p:cNvSpPr>
          <p:nvPr/>
        </p:nvSpPr>
        <p:spPr bwMode="auto">
          <a:xfrm>
            <a:off x="1516063" y="6824663"/>
            <a:ext cx="482600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0" name="Rectangle 8"/>
          <p:cNvSpPr>
            <a:spLocks noChangeArrowheads="1"/>
          </p:cNvSpPr>
          <p:nvPr/>
        </p:nvSpPr>
        <p:spPr bwMode="auto">
          <a:xfrm>
            <a:off x="1998663" y="6824663"/>
            <a:ext cx="484188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1" name="Rectangle 9"/>
          <p:cNvSpPr>
            <a:spLocks noChangeArrowheads="1"/>
          </p:cNvSpPr>
          <p:nvPr/>
        </p:nvSpPr>
        <p:spPr bwMode="auto">
          <a:xfrm>
            <a:off x="2482851" y="6824663"/>
            <a:ext cx="482600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2965451" y="6824663"/>
            <a:ext cx="484188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3" name="Rectangle 11"/>
          <p:cNvSpPr>
            <a:spLocks noChangeArrowheads="1"/>
          </p:cNvSpPr>
          <p:nvPr/>
        </p:nvSpPr>
        <p:spPr bwMode="auto">
          <a:xfrm>
            <a:off x="3449638" y="6824663"/>
            <a:ext cx="484188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4" name="Rectangle 12"/>
          <p:cNvSpPr>
            <a:spLocks noChangeArrowheads="1"/>
          </p:cNvSpPr>
          <p:nvPr/>
        </p:nvSpPr>
        <p:spPr bwMode="auto">
          <a:xfrm>
            <a:off x="3933826" y="6824663"/>
            <a:ext cx="482600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4416426" y="6824663"/>
            <a:ext cx="484188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6" name="Rectangle 14"/>
          <p:cNvSpPr>
            <a:spLocks noChangeArrowheads="1"/>
          </p:cNvSpPr>
          <p:nvPr/>
        </p:nvSpPr>
        <p:spPr bwMode="auto">
          <a:xfrm>
            <a:off x="4900613" y="6824663"/>
            <a:ext cx="482600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7" name="Rectangle 15"/>
          <p:cNvSpPr>
            <a:spLocks noChangeArrowheads="1"/>
          </p:cNvSpPr>
          <p:nvPr/>
        </p:nvSpPr>
        <p:spPr bwMode="auto">
          <a:xfrm>
            <a:off x="5383213" y="6824663"/>
            <a:ext cx="484188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5867401" y="6824663"/>
            <a:ext cx="482600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9" name="Rectangle 17"/>
          <p:cNvSpPr>
            <a:spLocks noChangeArrowheads="1"/>
          </p:cNvSpPr>
          <p:nvPr/>
        </p:nvSpPr>
        <p:spPr bwMode="auto">
          <a:xfrm>
            <a:off x="6350001" y="6824663"/>
            <a:ext cx="484188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0" name="Rectangle 18"/>
          <p:cNvSpPr>
            <a:spLocks noChangeArrowheads="1"/>
          </p:cNvSpPr>
          <p:nvPr/>
        </p:nvSpPr>
        <p:spPr bwMode="auto">
          <a:xfrm>
            <a:off x="65088" y="7159625"/>
            <a:ext cx="484188" cy="33020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1" name="Rectangle 19"/>
          <p:cNvSpPr>
            <a:spLocks noChangeArrowheads="1"/>
          </p:cNvSpPr>
          <p:nvPr/>
        </p:nvSpPr>
        <p:spPr bwMode="auto">
          <a:xfrm>
            <a:off x="549276" y="7159625"/>
            <a:ext cx="482600" cy="33020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2" name="Rectangle 20"/>
          <p:cNvSpPr>
            <a:spLocks noChangeArrowheads="1"/>
          </p:cNvSpPr>
          <p:nvPr/>
        </p:nvSpPr>
        <p:spPr bwMode="auto">
          <a:xfrm>
            <a:off x="1031876" y="7159625"/>
            <a:ext cx="484188" cy="33020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" name="Rectangle 21"/>
          <p:cNvSpPr>
            <a:spLocks noChangeArrowheads="1"/>
          </p:cNvSpPr>
          <p:nvPr/>
        </p:nvSpPr>
        <p:spPr bwMode="auto">
          <a:xfrm>
            <a:off x="1516063" y="7159625"/>
            <a:ext cx="482600" cy="33020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4" name="Rectangle 22"/>
          <p:cNvSpPr>
            <a:spLocks noChangeArrowheads="1"/>
          </p:cNvSpPr>
          <p:nvPr/>
        </p:nvSpPr>
        <p:spPr bwMode="auto">
          <a:xfrm>
            <a:off x="1998663" y="7159625"/>
            <a:ext cx="484188" cy="33020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5" name="Rectangle 23"/>
          <p:cNvSpPr>
            <a:spLocks noChangeArrowheads="1"/>
          </p:cNvSpPr>
          <p:nvPr/>
        </p:nvSpPr>
        <p:spPr bwMode="auto">
          <a:xfrm>
            <a:off x="2482851" y="7159625"/>
            <a:ext cx="482600" cy="33020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6" name="Rectangle 24"/>
          <p:cNvSpPr>
            <a:spLocks noChangeArrowheads="1"/>
          </p:cNvSpPr>
          <p:nvPr/>
        </p:nvSpPr>
        <p:spPr bwMode="auto">
          <a:xfrm>
            <a:off x="2965451" y="7159625"/>
            <a:ext cx="484188" cy="33020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7" name="Rectangle 25"/>
          <p:cNvSpPr>
            <a:spLocks noChangeArrowheads="1"/>
          </p:cNvSpPr>
          <p:nvPr/>
        </p:nvSpPr>
        <p:spPr bwMode="auto">
          <a:xfrm>
            <a:off x="3449638" y="7159625"/>
            <a:ext cx="484188" cy="33020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8" name="Rectangle 26"/>
          <p:cNvSpPr>
            <a:spLocks noChangeArrowheads="1"/>
          </p:cNvSpPr>
          <p:nvPr/>
        </p:nvSpPr>
        <p:spPr bwMode="auto">
          <a:xfrm>
            <a:off x="3933826" y="7159625"/>
            <a:ext cx="482600" cy="33020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9" name="Rectangle 27"/>
          <p:cNvSpPr>
            <a:spLocks noChangeArrowheads="1"/>
          </p:cNvSpPr>
          <p:nvPr/>
        </p:nvSpPr>
        <p:spPr bwMode="auto">
          <a:xfrm>
            <a:off x="4416426" y="7159625"/>
            <a:ext cx="484188" cy="33020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0" name="Rectangle 28"/>
          <p:cNvSpPr>
            <a:spLocks noChangeArrowheads="1"/>
          </p:cNvSpPr>
          <p:nvPr/>
        </p:nvSpPr>
        <p:spPr bwMode="auto">
          <a:xfrm>
            <a:off x="4900613" y="7159625"/>
            <a:ext cx="482600" cy="33020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1" name="Rectangle 29"/>
          <p:cNvSpPr>
            <a:spLocks noChangeArrowheads="1"/>
          </p:cNvSpPr>
          <p:nvPr/>
        </p:nvSpPr>
        <p:spPr bwMode="auto">
          <a:xfrm>
            <a:off x="5383213" y="7159625"/>
            <a:ext cx="484188" cy="33020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2" name="Rectangle 30"/>
          <p:cNvSpPr>
            <a:spLocks noChangeArrowheads="1"/>
          </p:cNvSpPr>
          <p:nvPr/>
        </p:nvSpPr>
        <p:spPr bwMode="auto">
          <a:xfrm>
            <a:off x="5867401" y="7159625"/>
            <a:ext cx="482600" cy="33020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3" name="Rectangle 31"/>
          <p:cNvSpPr>
            <a:spLocks noChangeArrowheads="1"/>
          </p:cNvSpPr>
          <p:nvPr/>
        </p:nvSpPr>
        <p:spPr bwMode="auto">
          <a:xfrm>
            <a:off x="6350001" y="7159625"/>
            <a:ext cx="484188" cy="33020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4" name="Rectangle 32"/>
          <p:cNvSpPr>
            <a:spLocks noChangeArrowheads="1"/>
          </p:cNvSpPr>
          <p:nvPr/>
        </p:nvSpPr>
        <p:spPr bwMode="auto">
          <a:xfrm>
            <a:off x="65088" y="7489825"/>
            <a:ext cx="484188" cy="33020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5" name="Rectangle 33"/>
          <p:cNvSpPr>
            <a:spLocks noChangeArrowheads="1"/>
          </p:cNvSpPr>
          <p:nvPr/>
        </p:nvSpPr>
        <p:spPr bwMode="auto">
          <a:xfrm>
            <a:off x="549276" y="7489825"/>
            <a:ext cx="482600" cy="33020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6" name="Rectangle 34"/>
          <p:cNvSpPr>
            <a:spLocks noChangeArrowheads="1"/>
          </p:cNvSpPr>
          <p:nvPr/>
        </p:nvSpPr>
        <p:spPr bwMode="auto">
          <a:xfrm>
            <a:off x="1031876" y="7489825"/>
            <a:ext cx="484188" cy="33020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7" name="Rectangle 35"/>
          <p:cNvSpPr>
            <a:spLocks noChangeArrowheads="1"/>
          </p:cNvSpPr>
          <p:nvPr/>
        </p:nvSpPr>
        <p:spPr bwMode="auto">
          <a:xfrm>
            <a:off x="1516063" y="7489825"/>
            <a:ext cx="482600" cy="33020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8" name="Rectangle 36"/>
          <p:cNvSpPr>
            <a:spLocks noChangeArrowheads="1"/>
          </p:cNvSpPr>
          <p:nvPr/>
        </p:nvSpPr>
        <p:spPr bwMode="auto">
          <a:xfrm>
            <a:off x="1998663" y="7489825"/>
            <a:ext cx="484188" cy="33020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" name="Rectangle 37"/>
          <p:cNvSpPr>
            <a:spLocks noChangeArrowheads="1"/>
          </p:cNvSpPr>
          <p:nvPr/>
        </p:nvSpPr>
        <p:spPr bwMode="auto">
          <a:xfrm>
            <a:off x="2482851" y="7489825"/>
            <a:ext cx="482600" cy="33020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0" name="Rectangle 38"/>
          <p:cNvSpPr>
            <a:spLocks noChangeArrowheads="1"/>
          </p:cNvSpPr>
          <p:nvPr/>
        </p:nvSpPr>
        <p:spPr bwMode="auto">
          <a:xfrm>
            <a:off x="2965451" y="7489825"/>
            <a:ext cx="484188" cy="33020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1" name="Rectangle 39"/>
          <p:cNvSpPr>
            <a:spLocks noChangeArrowheads="1"/>
          </p:cNvSpPr>
          <p:nvPr/>
        </p:nvSpPr>
        <p:spPr bwMode="auto">
          <a:xfrm>
            <a:off x="3449638" y="7489825"/>
            <a:ext cx="484188" cy="33020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2" name="Rectangle 40"/>
          <p:cNvSpPr>
            <a:spLocks noChangeArrowheads="1"/>
          </p:cNvSpPr>
          <p:nvPr/>
        </p:nvSpPr>
        <p:spPr bwMode="auto">
          <a:xfrm>
            <a:off x="3933826" y="7489825"/>
            <a:ext cx="482600" cy="33020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3" name="Rectangle 41"/>
          <p:cNvSpPr>
            <a:spLocks noChangeArrowheads="1"/>
          </p:cNvSpPr>
          <p:nvPr/>
        </p:nvSpPr>
        <p:spPr bwMode="auto">
          <a:xfrm>
            <a:off x="4416426" y="7489825"/>
            <a:ext cx="484188" cy="33020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4" name="Rectangle 42"/>
          <p:cNvSpPr>
            <a:spLocks noChangeArrowheads="1"/>
          </p:cNvSpPr>
          <p:nvPr/>
        </p:nvSpPr>
        <p:spPr bwMode="auto">
          <a:xfrm>
            <a:off x="4900613" y="7489825"/>
            <a:ext cx="482600" cy="33020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5" name="Rectangle 43"/>
          <p:cNvSpPr>
            <a:spLocks noChangeArrowheads="1"/>
          </p:cNvSpPr>
          <p:nvPr/>
        </p:nvSpPr>
        <p:spPr bwMode="auto">
          <a:xfrm>
            <a:off x="5383213" y="7489825"/>
            <a:ext cx="484188" cy="33020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6" name="Rectangle 44"/>
          <p:cNvSpPr>
            <a:spLocks noChangeArrowheads="1"/>
          </p:cNvSpPr>
          <p:nvPr/>
        </p:nvSpPr>
        <p:spPr bwMode="auto">
          <a:xfrm>
            <a:off x="5867401" y="7489825"/>
            <a:ext cx="482600" cy="33020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7" name="Rectangle 45"/>
          <p:cNvSpPr>
            <a:spLocks noChangeArrowheads="1"/>
          </p:cNvSpPr>
          <p:nvPr/>
        </p:nvSpPr>
        <p:spPr bwMode="auto">
          <a:xfrm>
            <a:off x="6350001" y="7489825"/>
            <a:ext cx="484188" cy="33020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8" name="Rectangle 46"/>
          <p:cNvSpPr>
            <a:spLocks noChangeArrowheads="1"/>
          </p:cNvSpPr>
          <p:nvPr/>
        </p:nvSpPr>
        <p:spPr bwMode="auto">
          <a:xfrm>
            <a:off x="65088" y="7820025"/>
            <a:ext cx="484188" cy="3365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9" name="Rectangle 47"/>
          <p:cNvSpPr>
            <a:spLocks noChangeArrowheads="1"/>
          </p:cNvSpPr>
          <p:nvPr/>
        </p:nvSpPr>
        <p:spPr bwMode="auto">
          <a:xfrm>
            <a:off x="549276" y="7820025"/>
            <a:ext cx="482600" cy="3365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0" name="Rectangle 48"/>
          <p:cNvSpPr>
            <a:spLocks noChangeArrowheads="1"/>
          </p:cNvSpPr>
          <p:nvPr/>
        </p:nvSpPr>
        <p:spPr bwMode="auto">
          <a:xfrm>
            <a:off x="1031876" y="7820025"/>
            <a:ext cx="484188" cy="3365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1" name="Rectangle 49"/>
          <p:cNvSpPr>
            <a:spLocks noChangeArrowheads="1"/>
          </p:cNvSpPr>
          <p:nvPr/>
        </p:nvSpPr>
        <p:spPr bwMode="auto">
          <a:xfrm>
            <a:off x="1516063" y="7820025"/>
            <a:ext cx="482600" cy="3365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2" name="Rectangle 50"/>
          <p:cNvSpPr>
            <a:spLocks noChangeArrowheads="1"/>
          </p:cNvSpPr>
          <p:nvPr/>
        </p:nvSpPr>
        <p:spPr bwMode="auto">
          <a:xfrm>
            <a:off x="1998663" y="7820025"/>
            <a:ext cx="484188" cy="3365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3" name="Rectangle 51"/>
          <p:cNvSpPr>
            <a:spLocks noChangeArrowheads="1"/>
          </p:cNvSpPr>
          <p:nvPr/>
        </p:nvSpPr>
        <p:spPr bwMode="auto">
          <a:xfrm>
            <a:off x="2482851" y="7820025"/>
            <a:ext cx="482600" cy="3365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4" name="Rectangle 52"/>
          <p:cNvSpPr>
            <a:spLocks noChangeArrowheads="1"/>
          </p:cNvSpPr>
          <p:nvPr/>
        </p:nvSpPr>
        <p:spPr bwMode="auto">
          <a:xfrm>
            <a:off x="2965451" y="7820025"/>
            <a:ext cx="484188" cy="3365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5" name="Rectangle 53"/>
          <p:cNvSpPr>
            <a:spLocks noChangeArrowheads="1"/>
          </p:cNvSpPr>
          <p:nvPr/>
        </p:nvSpPr>
        <p:spPr bwMode="auto">
          <a:xfrm>
            <a:off x="3449638" y="7820025"/>
            <a:ext cx="484188" cy="3365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6" name="Rectangle 54"/>
          <p:cNvSpPr>
            <a:spLocks noChangeArrowheads="1"/>
          </p:cNvSpPr>
          <p:nvPr/>
        </p:nvSpPr>
        <p:spPr bwMode="auto">
          <a:xfrm>
            <a:off x="3933826" y="7820025"/>
            <a:ext cx="482600" cy="3365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7" name="Rectangle 55"/>
          <p:cNvSpPr>
            <a:spLocks noChangeArrowheads="1"/>
          </p:cNvSpPr>
          <p:nvPr/>
        </p:nvSpPr>
        <p:spPr bwMode="auto">
          <a:xfrm>
            <a:off x="4416426" y="7820025"/>
            <a:ext cx="484188" cy="3365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8" name="Rectangle 56"/>
          <p:cNvSpPr>
            <a:spLocks noChangeArrowheads="1"/>
          </p:cNvSpPr>
          <p:nvPr/>
        </p:nvSpPr>
        <p:spPr bwMode="auto">
          <a:xfrm>
            <a:off x="4900613" y="7820025"/>
            <a:ext cx="482600" cy="3365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9" name="Rectangle 57"/>
          <p:cNvSpPr>
            <a:spLocks noChangeArrowheads="1"/>
          </p:cNvSpPr>
          <p:nvPr/>
        </p:nvSpPr>
        <p:spPr bwMode="auto">
          <a:xfrm>
            <a:off x="5383213" y="7820025"/>
            <a:ext cx="484188" cy="3365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0" name="Rectangle 58"/>
          <p:cNvSpPr>
            <a:spLocks noChangeArrowheads="1"/>
          </p:cNvSpPr>
          <p:nvPr/>
        </p:nvSpPr>
        <p:spPr bwMode="auto">
          <a:xfrm>
            <a:off x="5867401" y="7820025"/>
            <a:ext cx="482600" cy="3365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1" name="Rectangle 59"/>
          <p:cNvSpPr>
            <a:spLocks noChangeArrowheads="1"/>
          </p:cNvSpPr>
          <p:nvPr/>
        </p:nvSpPr>
        <p:spPr bwMode="auto">
          <a:xfrm>
            <a:off x="6350001" y="7820025"/>
            <a:ext cx="484188" cy="336550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2" name="Line 60"/>
          <p:cNvSpPr>
            <a:spLocks noChangeShapeType="1"/>
          </p:cNvSpPr>
          <p:nvPr/>
        </p:nvSpPr>
        <p:spPr bwMode="auto">
          <a:xfrm>
            <a:off x="549276" y="6818313"/>
            <a:ext cx="0" cy="1344613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3" name="Line 61"/>
          <p:cNvSpPr>
            <a:spLocks noChangeShapeType="1"/>
          </p:cNvSpPr>
          <p:nvPr/>
        </p:nvSpPr>
        <p:spPr bwMode="auto">
          <a:xfrm>
            <a:off x="1031876" y="6818313"/>
            <a:ext cx="0" cy="1344613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4" name="Line 62"/>
          <p:cNvSpPr>
            <a:spLocks noChangeShapeType="1"/>
          </p:cNvSpPr>
          <p:nvPr/>
        </p:nvSpPr>
        <p:spPr bwMode="auto">
          <a:xfrm>
            <a:off x="1516063" y="6818313"/>
            <a:ext cx="0" cy="1344613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5" name="Line 63"/>
          <p:cNvSpPr>
            <a:spLocks noChangeShapeType="1"/>
          </p:cNvSpPr>
          <p:nvPr/>
        </p:nvSpPr>
        <p:spPr bwMode="auto">
          <a:xfrm>
            <a:off x="1998663" y="6818313"/>
            <a:ext cx="0" cy="1344613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6" name="Line 64"/>
          <p:cNvSpPr>
            <a:spLocks noChangeShapeType="1"/>
          </p:cNvSpPr>
          <p:nvPr/>
        </p:nvSpPr>
        <p:spPr bwMode="auto">
          <a:xfrm>
            <a:off x="2482851" y="6818313"/>
            <a:ext cx="0" cy="1344613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7" name="Line 65"/>
          <p:cNvSpPr>
            <a:spLocks noChangeShapeType="1"/>
          </p:cNvSpPr>
          <p:nvPr/>
        </p:nvSpPr>
        <p:spPr bwMode="auto">
          <a:xfrm>
            <a:off x="2965451" y="6818313"/>
            <a:ext cx="0" cy="1344613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8" name="Line 66"/>
          <p:cNvSpPr>
            <a:spLocks noChangeShapeType="1"/>
          </p:cNvSpPr>
          <p:nvPr/>
        </p:nvSpPr>
        <p:spPr bwMode="auto">
          <a:xfrm>
            <a:off x="3449638" y="6818313"/>
            <a:ext cx="0" cy="1344613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9" name="Line 67"/>
          <p:cNvSpPr>
            <a:spLocks noChangeShapeType="1"/>
          </p:cNvSpPr>
          <p:nvPr/>
        </p:nvSpPr>
        <p:spPr bwMode="auto">
          <a:xfrm>
            <a:off x="3933826" y="6818313"/>
            <a:ext cx="0" cy="1344613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0" name="Line 68"/>
          <p:cNvSpPr>
            <a:spLocks noChangeShapeType="1"/>
          </p:cNvSpPr>
          <p:nvPr/>
        </p:nvSpPr>
        <p:spPr bwMode="auto">
          <a:xfrm>
            <a:off x="4416426" y="6818313"/>
            <a:ext cx="0" cy="1344613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1" name="Line 69"/>
          <p:cNvSpPr>
            <a:spLocks noChangeShapeType="1"/>
          </p:cNvSpPr>
          <p:nvPr/>
        </p:nvSpPr>
        <p:spPr bwMode="auto">
          <a:xfrm>
            <a:off x="4900613" y="6818313"/>
            <a:ext cx="0" cy="1344613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2" name="Line 70"/>
          <p:cNvSpPr>
            <a:spLocks noChangeShapeType="1"/>
          </p:cNvSpPr>
          <p:nvPr/>
        </p:nvSpPr>
        <p:spPr bwMode="auto">
          <a:xfrm>
            <a:off x="5383213" y="6818313"/>
            <a:ext cx="0" cy="1344613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3" name="Line 71"/>
          <p:cNvSpPr>
            <a:spLocks noChangeShapeType="1"/>
          </p:cNvSpPr>
          <p:nvPr/>
        </p:nvSpPr>
        <p:spPr bwMode="auto">
          <a:xfrm>
            <a:off x="5867401" y="6818313"/>
            <a:ext cx="0" cy="1344613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4" name="Line 72"/>
          <p:cNvSpPr>
            <a:spLocks noChangeShapeType="1"/>
          </p:cNvSpPr>
          <p:nvPr/>
        </p:nvSpPr>
        <p:spPr bwMode="auto">
          <a:xfrm>
            <a:off x="6350001" y="6818313"/>
            <a:ext cx="0" cy="1344613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5" name="Line 73"/>
          <p:cNvSpPr>
            <a:spLocks noChangeShapeType="1"/>
          </p:cNvSpPr>
          <p:nvPr/>
        </p:nvSpPr>
        <p:spPr bwMode="auto">
          <a:xfrm>
            <a:off x="58738" y="7159625"/>
            <a:ext cx="6781800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6" name="Line 74"/>
          <p:cNvSpPr>
            <a:spLocks noChangeShapeType="1"/>
          </p:cNvSpPr>
          <p:nvPr/>
        </p:nvSpPr>
        <p:spPr bwMode="auto">
          <a:xfrm>
            <a:off x="58738" y="7489825"/>
            <a:ext cx="6781800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7" name="Line 75"/>
          <p:cNvSpPr>
            <a:spLocks noChangeShapeType="1"/>
          </p:cNvSpPr>
          <p:nvPr/>
        </p:nvSpPr>
        <p:spPr bwMode="auto">
          <a:xfrm>
            <a:off x="58738" y="7820025"/>
            <a:ext cx="6781800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8" name="Line 76"/>
          <p:cNvSpPr>
            <a:spLocks noChangeShapeType="1"/>
          </p:cNvSpPr>
          <p:nvPr/>
        </p:nvSpPr>
        <p:spPr bwMode="auto">
          <a:xfrm>
            <a:off x="65088" y="6818313"/>
            <a:ext cx="0" cy="1344613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9" name="Line 77"/>
          <p:cNvSpPr>
            <a:spLocks noChangeShapeType="1"/>
          </p:cNvSpPr>
          <p:nvPr/>
        </p:nvSpPr>
        <p:spPr bwMode="auto">
          <a:xfrm>
            <a:off x="6834188" y="6818313"/>
            <a:ext cx="0" cy="1344613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0" name="Line 78"/>
          <p:cNvSpPr>
            <a:spLocks noChangeShapeType="1"/>
          </p:cNvSpPr>
          <p:nvPr/>
        </p:nvSpPr>
        <p:spPr bwMode="auto">
          <a:xfrm>
            <a:off x="58738" y="6824663"/>
            <a:ext cx="6781800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1" name="Line 79"/>
          <p:cNvSpPr>
            <a:spLocks noChangeShapeType="1"/>
          </p:cNvSpPr>
          <p:nvPr/>
        </p:nvSpPr>
        <p:spPr bwMode="auto">
          <a:xfrm>
            <a:off x="58738" y="8156575"/>
            <a:ext cx="6781800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2" name="Rectangle 80"/>
          <p:cNvSpPr>
            <a:spLocks noChangeArrowheads="1"/>
          </p:cNvSpPr>
          <p:nvPr/>
        </p:nvSpPr>
        <p:spPr bwMode="auto">
          <a:xfrm>
            <a:off x="142876" y="6864350"/>
            <a:ext cx="469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700" b="0" i="1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Sitka Text" panose="02000505000000020004" pitchFamily="2" charset="0"/>
              </a:rPr>
              <a:t>Ta1</a:t>
            </a: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3" name="Rectangle 81"/>
          <p:cNvSpPr>
            <a:spLocks noChangeArrowheads="1"/>
          </p:cNvSpPr>
          <p:nvPr/>
        </p:nvSpPr>
        <p:spPr bwMode="auto">
          <a:xfrm>
            <a:off x="136526" y="7197725"/>
            <a:ext cx="488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700" b="0" i="1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Sitka Text" panose="02000505000000020004" pitchFamily="2" charset="0"/>
              </a:rPr>
              <a:t>Ta2</a:t>
            </a: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4" name="Rectangle 82"/>
          <p:cNvSpPr>
            <a:spLocks noChangeArrowheads="1"/>
          </p:cNvSpPr>
          <p:nvPr/>
        </p:nvSpPr>
        <p:spPr bwMode="auto">
          <a:xfrm>
            <a:off x="142876" y="7527925"/>
            <a:ext cx="469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700" b="0" i="1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Sitka Text" panose="02000505000000020004" pitchFamily="2" charset="0"/>
              </a:rPr>
              <a:t>Tb1</a:t>
            </a: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5" name="Rectangle 83"/>
          <p:cNvSpPr>
            <a:spLocks noChangeArrowheads="1"/>
          </p:cNvSpPr>
          <p:nvPr/>
        </p:nvSpPr>
        <p:spPr bwMode="auto">
          <a:xfrm>
            <a:off x="695326" y="7527925"/>
            <a:ext cx="20197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700" b="1" i="0" u="none" strike="noStrike" cap="none" normalizeH="0" baseline="0" dirty="0" smtClean="0">
                <a:ln>
                  <a:noFill/>
                </a:ln>
                <a:solidFill>
                  <a:srgbClr val="263AF8"/>
                </a:solidFill>
                <a:effectLst/>
                <a:latin typeface="Sitka Text" panose="02000505000000020004" pitchFamily="2" charset="0"/>
              </a:rPr>
              <a:t>11</a:t>
            </a:r>
            <a:endParaRPr kumimoji="0" lang="zh-CN" altLang="zh-CN" sz="1800" b="1" i="0" u="none" strike="noStrike" cap="none" normalizeH="0" baseline="0" dirty="0" smtClean="0">
              <a:ln>
                <a:noFill/>
              </a:ln>
              <a:solidFill>
                <a:srgbClr val="263AF8"/>
              </a:solidFill>
              <a:effectLst/>
            </a:endParaRPr>
          </a:p>
        </p:txBody>
      </p:sp>
      <p:sp>
        <p:nvSpPr>
          <p:cNvPr id="96" name="Rectangle 84"/>
          <p:cNvSpPr>
            <a:spLocks noChangeArrowheads="1"/>
          </p:cNvSpPr>
          <p:nvPr/>
        </p:nvSpPr>
        <p:spPr bwMode="auto">
          <a:xfrm>
            <a:off x="1166813" y="7527925"/>
            <a:ext cx="2404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700" b="1" i="0" u="none" strike="noStrike" cap="none" normalizeH="0" baseline="0" smtClean="0">
                <a:ln>
                  <a:noFill/>
                </a:ln>
                <a:solidFill>
                  <a:srgbClr val="263AF8"/>
                </a:solidFill>
                <a:effectLst/>
                <a:latin typeface="Sitka Text" panose="02000505000000020004" pitchFamily="2" charset="0"/>
              </a:rPr>
              <a:t>81</a:t>
            </a:r>
            <a:endParaRPr kumimoji="0" lang="zh-CN" altLang="zh-CN" sz="1800" b="1" i="0" u="none" strike="noStrike" cap="none" normalizeH="0" baseline="0" smtClean="0">
              <a:ln>
                <a:noFill/>
              </a:ln>
              <a:solidFill>
                <a:srgbClr val="263AF8"/>
              </a:solidFill>
              <a:effectLst/>
            </a:endParaRPr>
          </a:p>
        </p:txBody>
      </p:sp>
      <p:sp>
        <p:nvSpPr>
          <p:cNvPr id="97" name="Rectangle 85"/>
          <p:cNvSpPr>
            <a:spLocks noChangeArrowheads="1"/>
          </p:cNvSpPr>
          <p:nvPr/>
        </p:nvSpPr>
        <p:spPr bwMode="auto">
          <a:xfrm>
            <a:off x="1638301" y="7527925"/>
            <a:ext cx="26930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700" b="1" i="0" u="none" strike="noStrike" cap="none" normalizeH="0" baseline="0" smtClean="0">
                <a:ln>
                  <a:noFill/>
                </a:ln>
                <a:solidFill>
                  <a:srgbClr val="263AF8"/>
                </a:solidFill>
                <a:effectLst/>
                <a:latin typeface="Sitka Text" panose="02000505000000020004" pitchFamily="2" charset="0"/>
              </a:rPr>
              <a:t>94</a:t>
            </a:r>
            <a:endParaRPr kumimoji="0" lang="zh-CN" altLang="zh-CN" sz="1800" b="1" i="0" u="none" strike="noStrike" cap="none" normalizeH="0" baseline="0" smtClean="0">
              <a:ln>
                <a:noFill/>
              </a:ln>
              <a:solidFill>
                <a:srgbClr val="263AF8"/>
              </a:solidFill>
              <a:effectLst/>
            </a:endParaRPr>
          </a:p>
        </p:txBody>
      </p:sp>
      <p:sp>
        <p:nvSpPr>
          <p:cNvPr id="98" name="Rectangle 86"/>
          <p:cNvSpPr>
            <a:spLocks noChangeArrowheads="1"/>
          </p:cNvSpPr>
          <p:nvPr/>
        </p:nvSpPr>
        <p:spPr bwMode="auto">
          <a:xfrm>
            <a:off x="2139951" y="7527925"/>
            <a:ext cx="21961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700" b="1" i="0" u="none" strike="noStrike" cap="none" normalizeH="0" baseline="0" dirty="0" smtClean="0">
                <a:ln>
                  <a:noFill/>
                </a:ln>
                <a:solidFill>
                  <a:srgbClr val="263AF8"/>
                </a:solidFill>
                <a:effectLst/>
                <a:latin typeface="Sitka Text" panose="02000505000000020004" pitchFamily="2" charset="0"/>
              </a:rPr>
              <a:t>17</a:t>
            </a:r>
            <a:endParaRPr kumimoji="0" lang="zh-CN" altLang="zh-CN" sz="1800" b="1" i="0" u="none" strike="noStrike" cap="none" normalizeH="0" baseline="0" dirty="0" smtClean="0">
              <a:ln>
                <a:noFill/>
              </a:ln>
              <a:solidFill>
                <a:srgbClr val="263AF8"/>
              </a:solidFill>
              <a:effectLst/>
            </a:endParaRPr>
          </a:p>
        </p:txBody>
      </p:sp>
      <p:sp>
        <p:nvSpPr>
          <p:cNvPr id="99" name="Rectangle 87"/>
          <p:cNvSpPr>
            <a:spLocks noChangeArrowheads="1"/>
          </p:cNvSpPr>
          <p:nvPr/>
        </p:nvSpPr>
        <p:spPr bwMode="auto">
          <a:xfrm>
            <a:off x="2605088" y="7527925"/>
            <a:ext cx="26770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700" b="1" i="0" u="none" strike="noStrike" cap="none" normalizeH="0" baseline="0" smtClean="0">
                <a:ln>
                  <a:noFill/>
                </a:ln>
                <a:solidFill>
                  <a:srgbClr val="263AF8"/>
                </a:solidFill>
                <a:effectLst/>
                <a:latin typeface="Sitka Text" panose="02000505000000020004" pitchFamily="2" charset="0"/>
              </a:rPr>
              <a:t>28</a:t>
            </a:r>
            <a:endParaRPr kumimoji="0" lang="zh-CN" altLang="zh-CN" sz="1800" b="1" i="0" u="none" strike="noStrike" cap="none" normalizeH="0" baseline="0" smtClean="0">
              <a:ln>
                <a:noFill/>
              </a:ln>
              <a:solidFill>
                <a:srgbClr val="263AF8"/>
              </a:solidFill>
              <a:effectLst/>
            </a:endParaRPr>
          </a:p>
        </p:txBody>
      </p:sp>
      <p:sp>
        <p:nvSpPr>
          <p:cNvPr id="100" name="Rectangle 88"/>
          <p:cNvSpPr>
            <a:spLocks noChangeArrowheads="1"/>
          </p:cNvSpPr>
          <p:nvPr/>
        </p:nvSpPr>
        <p:spPr bwMode="auto">
          <a:xfrm>
            <a:off x="3087688" y="7527925"/>
            <a:ext cx="26930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700" b="1" i="0" u="none" strike="noStrike" cap="none" normalizeH="0" baseline="0" smtClean="0">
                <a:ln>
                  <a:noFill/>
                </a:ln>
                <a:solidFill>
                  <a:srgbClr val="263AF8"/>
                </a:solidFill>
                <a:effectLst/>
                <a:latin typeface="Sitka Text" panose="02000505000000020004" pitchFamily="2" charset="0"/>
              </a:rPr>
              <a:t>99</a:t>
            </a:r>
            <a:endParaRPr kumimoji="0" lang="zh-CN" altLang="zh-CN" sz="1800" b="1" i="0" u="none" strike="noStrike" cap="none" normalizeH="0" baseline="0" smtClean="0">
              <a:ln>
                <a:noFill/>
              </a:ln>
              <a:solidFill>
                <a:srgbClr val="263AF8"/>
              </a:solidFill>
              <a:effectLst/>
            </a:endParaRPr>
          </a:p>
        </p:txBody>
      </p:sp>
      <p:sp>
        <p:nvSpPr>
          <p:cNvPr id="101" name="Rectangle 89"/>
          <p:cNvSpPr>
            <a:spLocks noChangeArrowheads="1"/>
          </p:cNvSpPr>
          <p:nvPr/>
        </p:nvSpPr>
        <p:spPr bwMode="auto">
          <a:xfrm>
            <a:off x="3590926" y="7527925"/>
            <a:ext cx="227626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700" b="1" i="0" u="none" strike="noStrike" cap="none" normalizeH="0" baseline="0" dirty="0" smtClean="0">
                <a:ln>
                  <a:noFill/>
                </a:ln>
                <a:solidFill>
                  <a:srgbClr val="263AF8"/>
                </a:solidFill>
                <a:effectLst/>
                <a:latin typeface="Sitka Text" panose="02000505000000020004" pitchFamily="2" charset="0"/>
              </a:rPr>
              <a:t>15</a:t>
            </a:r>
            <a:endParaRPr kumimoji="0" lang="zh-CN" altLang="zh-CN" sz="1800" b="1" i="0" u="none" strike="noStrike" cap="none" normalizeH="0" baseline="0" dirty="0" smtClean="0">
              <a:ln>
                <a:noFill/>
              </a:ln>
              <a:solidFill>
                <a:srgbClr val="263AF8"/>
              </a:solidFill>
              <a:effectLst/>
            </a:endParaRPr>
          </a:p>
        </p:txBody>
      </p:sp>
      <p:sp>
        <p:nvSpPr>
          <p:cNvPr id="102" name="Rectangle 90"/>
          <p:cNvSpPr>
            <a:spLocks noChangeArrowheads="1"/>
          </p:cNvSpPr>
          <p:nvPr/>
        </p:nvSpPr>
        <p:spPr bwMode="auto">
          <a:xfrm>
            <a:off x="130176" y="7861300"/>
            <a:ext cx="495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700" b="0" i="1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Sitka Text" panose="02000505000000020004" pitchFamily="2" charset="0"/>
              </a:rPr>
              <a:t>Tb2</a:t>
            </a: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3" name="Rectangle 91"/>
          <p:cNvSpPr>
            <a:spLocks noChangeArrowheads="1"/>
          </p:cNvSpPr>
          <p:nvPr/>
        </p:nvSpPr>
        <p:spPr bwMode="auto">
          <a:xfrm>
            <a:off x="688976" y="7861300"/>
            <a:ext cx="22923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7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Sitka Text" panose="02000505000000020004" pitchFamily="2" charset="0"/>
              </a:rPr>
              <a:t>12</a:t>
            </a:r>
            <a:endParaRPr kumimoji="0" lang="zh-CN" altLang="zh-CN" sz="18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104" name="Rectangle 92"/>
          <p:cNvSpPr>
            <a:spLocks noChangeArrowheads="1"/>
          </p:cNvSpPr>
          <p:nvPr/>
        </p:nvSpPr>
        <p:spPr bwMode="auto">
          <a:xfrm>
            <a:off x="1160463" y="7861300"/>
            <a:ext cx="25327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700" b="1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Sitka Text" panose="02000505000000020004" pitchFamily="2" charset="0"/>
              </a:rPr>
              <a:t>35</a:t>
            </a:r>
            <a:endParaRPr kumimoji="0" lang="zh-CN" altLang="zh-CN" sz="1800" b="1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105" name="Rectangle 93"/>
          <p:cNvSpPr>
            <a:spLocks noChangeArrowheads="1"/>
          </p:cNvSpPr>
          <p:nvPr/>
        </p:nvSpPr>
        <p:spPr bwMode="auto">
          <a:xfrm>
            <a:off x="1638301" y="7861300"/>
            <a:ext cx="26930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700" b="1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Sitka Text" panose="02000505000000020004" pitchFamily="2" charset="0"/>
              </a:rPr>
              <a:t>96</a:t>
            </a:r>
            <a:endParaRPr kumimoji="0" lang="zh-CN" altLang="zh-CN" sz="1800" b="1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106" name="Rectangle 94"/>
          <p:cNvSpPr>
            <a:spLocks noChangeArrowheads="1"/>
          </p:cNvSpPr>
          <p:nvPr/>
        </p:nvSpPr>
        <p:spPr bwMode="auto">
          <a:xfrm>
            <a:off x="2133601" y="7861300"/>
            <a:ext cx="23564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7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Sitka Text" panose="02000505000000020004" pitchFamily="2" charset="0"/>
              </a:rPr>
              <a:t>41</a:t>
            </a:r>
            <a:endParaRPr kumimoji="0" lang="zh-CN" altLang="zh-CN" sz="18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107" name="Rectangle 95"/>
          <p:cNvSpPr>
            <a:spLocks noChangeArrowheads="1"/>
          </p:cNvSpPr>
          <p:nvPr/>
        </p:nvSpPr>
        <p:spPr bwMode="auto">
          <a:xfrm>
            <a:off x="2605088" y="7861300"/>
            <a:ext cx="26609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700" b="1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Sitka Text" panose="02000505000000020004" pitchFamily="2" charset="0"/>
              </a:rPr>
              <a:t>58</a:t>
            </a:r>
            <a:endParaRPr kumimoji="0" lang="zh-CN" altLang="zh-CN" sz="1800" b="1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108" name="Rectangle 96"/>
          <p:cNvSpPr>
            <a:spLocks noChangeArrowheads="1"/>
          </p:cNvSpPr>
          <p:nvPr/>
        </p:nvSpPr>
        <p:spPr bwMode="auto">
          <a:xfrm>
            <a:off x="3094038" y="7861300"/>
            <a:ext cx="24686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700" b="1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Sitka Text" panose="02000505000000020004" pitchFamily="2" charset="0"/>
              </a:rPr>
              <a:t>75</a:t>
            </a:r>
            <a:endParaRPr kumimoji="0" lang="zh-CN" altLang="zh-CN" sz="1800" b="1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136526" y="4347771"/>
            <a:ext cx="1032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Sitka Text" panose="02000505000000020004" pitchFamily="2" charset="0"/>
              </a:rPr>
              <a:t>initially</a:t>
            </a:r>
            <a:endParaRPr lang="zh-CN" altLang="en-US" dirty="0">
              <a:solidFill>
                <a:srgbClr val="FF0000"/>
              </a:solidFill>
              <a:latin typeface="Sitka Text" panose="02000505000000020004" pitchFamily="2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022160" y="7805930"/>
            <a:ext cx="1838888" cy="726356"/>
            <a:chOff x="2022160" y="7805930"/>
            <a:chExt cx="1838888" cy="726356"/>
          </a:xfrm>
        </p:grpSpPr>
        <p:sp>
          <p:nvSpPr>
            <p:cNvPr id="7" name="椭圆 6"/>
            <p:cNvSpPr/>
            <p:nvPr/>
          </p:nvSpPr>
          <p:spPr>
            <a:xfrm>
              <a:off x="2022160" y="7805930"/>
              <a:ext cx="1427478" cy="438478"/>
            </a:xfrm>
            <a:prstGeom prst="ellipse">
              <a:avLst/>
            </a:prstGeom>
            <a:noFill/>
            <a:ln w="19050"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212976" y="8201025"/>
              <a:ext cx="648072" cy="331261"/>
            </a:xfrm>
            <a:prstGeom prst="line">
              <a:avLst/>
            </a:prstGeom>
            <a:ln w="19050">
              <a:solidFill>
                <a:srgbClr val="008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文本框 12"/>
          <p:cNvSpPr txBox="1"/>
          <p:nvPr/>
        </p:nvSpPr>
        <p:spPr>
          <a:xfrm>
            <a:off x="3933826" y="8388424"/>
            <a:ext cx="2098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Run (initial run)</a:t>
            </a:r>
            <a:endParaRPr lang="zh-CN" altLang="en-US" b="1" dirty="0">
              <a:solidFill>
                <a:srgbClr val="FF0000"/>
              </a:solidFill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  <p:bldP spid="96" grpId="0"/>
      <p:bldP spid="97" grpId="0"/>
      <p:bldP spid="98" grpId="0"/>
      <p:bldP spid="99" grpId="0"/>
      <p:bldP spid="100" grpId="0"/>
      <p:bldP spid="101" grpId="0"/>
      <p:bldP spid="103" grpId="0"/>
      <p:bldP spid="104" grpId="0"/>
      <p:bldP spid="105" grpId="0"/>
      <p:bldP spid="106" grpId="0"/>
      <p:bldP spid="107" grpId="0"/>
      <p:bldP spid="108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Simple External </a:t>
            </a:r>
            <a:r>
              <a:rPr lang="en-US" altLang="zh-CN" dirty="0" err="1"/>
              <a:t>Mergesort</a:t>
            </a: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9110" y="8475137"/>
            <a:ext cx="1543050" cy="486833"/>
          </a:xfrm>
        </p:spPr>
        <p:txBody>
          <a:bodyPr/>
          <a:lstStyle/>
          <a:p>
            <a:pPr>
              <a:defRPr/>
            </a:pPr>
            <a:fld id="{A9CFE95F-B3A2-48CA-A07D-46257776AF2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7-5 Sorting V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16632" y="6317441"/>
            <a:ext cx="32480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3</a:t>
            </a:r>
            <a:r>
              <a:rPr lang="en-US" altLang="zh-CN" baseline="30000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rd</a:t>
            </a:r>
            <a:r>
              <a:rPr lang="en-US" altLang="zh-CN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  pass (continue merging)</a:t>
            </a:r>
            <a:endParaRPr lang="zh-CN" altLang="en-US" dirty="0">
              <a:solidFill>
                <a:srgbClr val="FF0000"/>
              </a:solidFill>
              <a:latin typeface="Sitka Text" panose="02000505000000020004" pitchFamily="2" charset="0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136526" y="4139952"/>
            <a:ext cx="60805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2</a:t>
            </a:r>
            <a:r>
              <a:rPr lang="en-US" altLang="zh-CN" baseline="30000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nd</a:t>
            </a:r>
            <a:r>
              <a:rPr lang="en-US" altLang="zh-CN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 pass (merge two runs from </a:t>
            </a:r>
            <a:r>
              <a:rPr lang="en-US" altLang="zh-CN" dirty="0">
                <a:solidFill>
                  <a:srgbClr val="FF0000"/>
                </a:solidFill>
                <a:latin typeface="Sitka Text" panose="02000505000000020004" pitchFamily="2" charset="0"/>
              </a:rPr>
              <a:t>each tape </a:t>
            </a:r>
            <a:r>
              <a:rPr lang="en-US" altLang="zh-CN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alternately)</a:t>
            </a:r>
            <a:endParaRPr lang="zh-CN" altLang="en-US" dirty="0">
              <a:solidFill>
                <a:srgbClr val="FF0000"/>
              </a:solidFill>
              <a:latin typeface="Sitka Text" panose="02000505000000020004" pitchFamily="2" charset="0"/>
            </a:endParaRPr>
          </a:p>
        </p:txBody>
      </p:sp>
      <p:sp>
        <p:nvSpPr>
          <p:cNvPr id="110" name="AutoShape 3"/>
          <p:cNvSpPr>
            <a:spLocks noChangeAspect="1" noChangeArrowheads="1" noTextEdit="1"/>
          </p:cNvSpPr>
          <p:nvPr/>
        </p:nvSpPr>
        <p:spPr bwMode="auto">
          <a:xfrm>
            <a:off x="20638" y="4529281"/>
            <a:ext cx="6813550" cy="145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1" name="Rectangle 5"/>
          <p:cNvSpPr>
            <a:spLocks noChangeArrowheads="1"/>
          </p:cNvSpPr>
          <p:nvPr/>
        </p:nvSpPr>
        <p:spPr bwMode="auto">
          <a:xfrm>
            <a:off x="25401" y="4551506"/>
            <a:ext cx="485775" cy="3413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2" name="Rectangle 6"/>
          <p:cNvSpPr>
            <a:spLocks noChangeArrowheads="1"/>
          </p:cNvSpPr>
          <p:nvPr/>
        </p:nvSpPr>
        <p:spPr bwMode="auto">
          <a:xfrm>
            <a:off x="511176" y="4551506"/>
            <a:ext cx="485775" cy="3413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3" name="Rectangle 7"/>
          <p:cNvSpPr>
            <a:spLocks noChangeArrowheads="1"/>
          </p:cNvSpPr>
          <p:nvPr/>
        </p:nvSpPr>
        <p:spPr bwMode="auto">
          <a:xfrm>
            <a:off x="996951" y="4551506"/>
            <a:ext cx="485775" cy="3413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4" name="Rectangle 8"/>
          <p:cNvSpPr>
            <a:spLocks noChangeArrowheads="1"/>
          </p:cNvSpPr>
          <p:nvPr/>
        </p:nvSpPr>
        <p:spPr bwMode="auto">
          <a:xfrm>
            <a:off x="1482726" y="4551506"/>
            <a:ext cx="485775" cy="3413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5" name="Rectangle 9"/>
          <p:cNvSpPr>
            <a:spLocks noChangeArrowheads="1"/>
          </p:cNvSpPr>
          <p:nvPr/>
        </p:nvSpPr>
        <p:spPr bwMode="auto">
          <a:xfrm>
            <a:off x="1968501" y="4551506"/>
            <a:ext cx="485775" cy="3413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6" name="Rectangle 10"/>
          <p:cNvSpPr>
            <a:spLocks noChangeArrowheads="1"/>
          </p:cNvSpPr>
          <p:nvPr/>
        </p:nvSpPr>
        <p:spPr bwMode="auto">
          <a:xfrm>
            <a:off x="2454276" y="4551506"/>
            <a:ext cx="485775" cy="3413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7" name="Rectangle 11"/>
          <p:cNvSpPr>
            <a:spLocks noChangeArrowheads="1"/>
          </p:cNvSpPr>
          <p:nvPr/>
        </p:nvSpPr>
        <p:spPr bwMode="auto">
          <a:xfrm>
            <a:off x="2940051" y="4551506"/>
            <a:ext cx="485775" cy="3413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8" name="Rectangle 12"/>
          <p:cNvSpPr>
            <a:spLocks noChangeArrowheads="1"/>
          </p:cNvSpPr>
          <p:nvPr/>
        </p:nvSpPr>
        <p:spPr bwMode="auto">
          <a:xfrm>
            <a:off x="3425826" y="4551506"/>
            <a:ext cx="485775" cy="3413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9" name="Rectangle 13"/>
          <p:cNvSpPr>
            <a:spLocks noChangeArrowheads="1"/>
          </p:cNvSpPr>
          <p:nvPr/>
        </p:nvSpPr>
        <p:spPr bwMode="auto">
          <a:xfrm>
            <a:off x="3911601" y="4551506"/>
            <a:ext cx="485775" cy="3413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0" name="Rectangle 14"/>
          <p:cNvSpPr>
            <a:spLocks noChangeArrowheads="1"/>
          </p:cNvSpPr>
          <p:nvPr/>
        </p:nvSpPr>
        <p:spPr bwMode="auto">
          <a:xfrm>
            <a:off x="4397376" y="4551506"/>
            <a:ext cx="485775" cy="3413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1" name="Rectangle 15"/>
          <p:cNvSpPr>
            <a:spLocks noChangeArrowheads="1"/>
          </p:cNvSpPr>
          <p:nvPr/>
        </p:nvSpPr>
        <p:spPr bwMode="auto">
          <a:xfrm>
            <a:off x="4883151" y="4551506"/>
            <a:ext cx="485775" cy="3413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2" name="Rectangle 16"/>
          <p:cNvSpPr>
            <a:spLocks noChangeArrowheads="1"/>
          </p:cNvSpPr>
          <p:nvPr/>
        </p:nvSpPr>
        <p:spPr bwMode="auto">
          <a:xfrm>
            <a:off x="5368926" y="4551506"/>
            <a:ext cx="485775" cy="3413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3" name="Rectangle 17"/>
          <p:cNvSpPr>
            <a:spLocks noChangeArrowheads="1"/>
          </p:cNvSpPr>
          <p:nvPr/>
        </p:nvSpPr>
        <p:spPr bwMode="auto">
          <a:xfrm>
            <a:off x="5854701" y="4551506"/>
            <a:ext cx="484188" cy="3413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4" name="Rectangle 18"/>
          <p:cNvSpPr>
            <a:spLocks noChangeArrowheads="1"/>
          </p:cNvSpPr>
          <p:nvPr/>
        </p:nvSpPr>
        <p:spPr bwMode="auto">
          <a:xfrm>
            <a:off x="6338888" y="4551506"/>
            <a:ext cx="487363" cy="3413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5" name="Rectangle 19"/>
          <p:cNvSpPr>
            <a:spLocks noChangeArrowheads="1"/>
          </p:cNvSpPr>
          <p:nvPr/>
        </p:nvSpPr>
        <p:spPr bwMode="auto">
          <a:xfrm>
            <a:off x="25401" y="4892819"/>
            <a:ext cx="485775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6" name="Rectangle 20"/>
          <p:cNvSpPr>
            <a:spLocks noChangeArrowheads="1"/>
          </p:cNvSpPr>
          <p:nvPr/>
        </p:nvSpPr>
        <p:spPr bwMode="auto">
          <a:xfrm>
            <a:off x="511176" y="4892819"/>
            <a:ext cx="485775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7" name="Rectangle 21"/>
          <p:cNvSpPr>
            <a:spLocks noChangeArrowheads="1"/>
          </p:cNvSpPr>
          <p:nvPr/>
        </p:nvSpPr>
        <p:spPr bwMode="auto">
          <a:xfrm>
            <a:off x="996951" y="4892819"/>
            <a:ext cx="485775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8" name="Rectangle 22"/>
          <p:cNvSpPr>
            <a:spLocks noChangeArrowheads="1"/>
          </p:cNvSpPr>
          <p:nvPr/>
        </p:nvSpPr>
        <p:spPr bwMode="auto">
          <a:xfrm>
            <a:off x="1482726" y="4892819"/>
            <a:ext cx="485775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9" name="Rectangle 23"/>
          <p:cNvSpPr>
            <a:spLocks noChangeArrowheads="1"/>
          </p:cNvSpPr>
          <p:nvPr/>
        </p:nvSpPr>
        <p:spPr bwMode="auto">
          <a:xfrm>
            <a:off x="1968501" y="4892819"/>
            <a:ext cx="485775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0" name="Rectangle 24"/>
          <p:cNvSpPr>
            <a:spLocks noChangeArrowheads="1"/>
          </p:cNvSpPr>
          <p:nvPr/>
        </p:nvSpPr>
        <p:spPr bwMode="auto">
          <a:xfrm>
            <a:off x="2454276" y="4892819"/>
            <a:ext cx="485775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1" name="Rectangle 25"/>
          <p:cNvSpPr>
            <a:spLocks noChangeArrowheads="1"/>
          </p:cNvSpPr>
          <p:nvPr/>
        </p:nvSpPr>
        <p:spPr bwMode="auto">
          <a:xfrm>
            <a:off x="2940051" y="4892819"/>
            <a:ext cx="485775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2" name="Rectangle 26"/>
          <p:cNvSpPr>
            <a:spLocks noChangeArrowheads="1"/>
          </p:cNvSpPr>
          <p:nvPr/>
        </p:nvSpPr>
        <p:spPr bwMode="auto">
          <a:xfrm>
            <a:off x="3425826" y="4892819"/>
            <a:ext cx="485775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3" name="Rectangle 27"/>
          <p:cNvSpPr>
            <a:spLocks noChangeArrowheads="1"/>
          </p:cNvSpPr>
          <p:nvPr/>
        </p:nvSpPr>
        <p:spPr bwMode="auto">
          <a:xfrm>
            <a:off x="3911601" y="4892819"/>
            <a:ext cx="485775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4" name="Rectangle 28"/>
          <p:cNvSpPr>
            <a:spLocks noChangeArrowheads="1"/>
          </p:cNvSpPr>
          <p:nvPr/>
        </p:nvSpPr>
        <p:spPr bwMode="auto">
          <a:xfrm>
            <a:off x="4397376" y="4892819"/>
            <a:ext cx="485775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5" name="Rectangle 29"/>
          <p:cNvSpPr>
            <a:spLocks noChangeArrowheads="1"/>
          </p:cNvSpPr>
          <p:nvPr/>
        </p:nvSpPr>
        <p:spPr bwMode="auto">
          <a:xfrm>
            <a:off x="4883151" y="4892819"/>
            <a:ext cx="485775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6" name="Rectangle 30"/>
          <p:cNvSpPr>
            <a:spLocks noChangeArrowheads="1"/>
          </p:cNvSpPr>
          <p:nvPr/>
        </p:nvSpPr>
        <p:spPr bwMode="auto">
          <a:xfrm>
            <a:off x="5368926" y="4892819"/>
            <a:ext cx="485775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7" name="Rectangle 31"/>
          <p:cNvSpPr>
            <a:spLocks noChangeArrowheads="1"/>
          </p:cNvSpPr>
          <p:nvPr/>
        </p:nvSpPr>
        <p:spPr bwMode="auto">
          <a:xfrm>
            <a:off x="5854701" y="4892819"/>
            <a:ext cx="484188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8" name="Rectangle 32"/>
          <p:cNvSpPr>
            <a:spLocks noChangeArrowheads="1"/>
          </p:cNvSpPr>
          <p:nvPr/>
        </p:nvSpPr>
        <p:spPr bwMode="auto">
          <a:xfrm>
            <a:off x="6338888" y="4892819"/>
            <a:ext cx="487363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9" name="Rectangle 33"/>
          <p:cNvSpPr>
            <a:spLocks noChangeArrowheads="1"/>
          </p:cNvSpPr>
          <p:nvPr/>
        </p:nvSpPr>
        <p:spPr bwMode="auto">
          <a:xfrm>
            <a:off x="25401" y="5227781"/>
            <a:ext cx="485775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0" name="Rectangle 34"/>
          <p:cNvSpPr>
            <a:spLocks noChangeArrowheads="1"/>
          </p:cNvSpPr>
          <p:nvPr/>
        </p:nvSpPr>
        <p:spPr bwMode="auto">
          <a:xfrm>
            <a:off x="511176" y="5227781"/>
            <a:ext cx="485775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1" name="Rectangle 35"/>
          <p:cNvSpPr>
            <a:spLocks noChangeArrowheads="1"/>
          </p:cNvSpPr>
          <p:nvPr/>
        </p:nvSpPr>
        <p:spPr bwMode="auto">
          <a:xfrm>
            <a:off x="996951" y="5227781"/>
            <a:ext cx="485775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2" name="Rectangle 36"/>
          <p:cNvSpPr>
            <a:spLocks noChangeArrowheads="1"/>
          </p:cNvSpPr>
          <p:nvPr/>
        </p:nvSpPr>
        <p:spPr bwMode="auto">
          <a:xfrm>
            <a:off x="1482726" y="5227781"/>
            <a:ext cx="485775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3" name="Rectangle 37"/>
          <p:cNvSpPr>
            <a:spLocks noChangeArrowheads="1"/>
          </p:cNvSpPr>
          <p:nvPr/>
        </p:nvSpPr>
        <p:spPr bwMode="auto">
          <a:xfrm>
            <a:off x="1968501" y="5227781"/>
            <a:ext cx="485775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4" name="Rectangle 38"/>
          <p:cNvSpPr>
            <a:spLocks noChangeArrowheads="1"/>
          </p:cNvSpPr>
          <p:nvPr/>
        </p:nvSpPr>
        <p:spPr bwMode="auto">
          <a:xfrm>
            <a:off x="2454276" y="5227781"/>
            <a:ext cx="485775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5" name="Rectangle 39"/>
          <p:cNvSpPr>
            <a:spLocks noChangeArrowheads="1"/>
          </p:cNvSpPr>
          <p:nvPr/>
        </p:nvSpPr>
        <p:spPr bwMode="auto">
          <a:xfrm>
            <a:off x="2940051" y="5227781"/>
            <a:ext cx="485775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6" name="Rectangle 40"/>
          <p:cNvSpPr>
            <a:spLocks noChangeArrowheads="1"/>
          </p:cNvSpPr>
          <p:nvPr/>
        </p:nvSpPr>
        <p:spPr bwMode="auto">
          <a:xfrm>
            <a:off x="3425826" y="5227781"/>
            <a:ext cx="485775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7" name="Rectangle 41"/>
          <p:cNvSpPr>
            <a:spLocks noChangeArrowheads="1"/>
          </p:cNvSpPr>
          <p:nvPr/>
        </p:nvSpPr>
        <p:spPr bwMode="auto">
          <a:xfrm>
            <a:off x="3911601" y="5227781"/>
            <a:ext cx="485775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8" name="Rectangle 42"/>
          <p:cNvSpPr>
            <a:spLocks noChangeArrowheads="1"/>
          </p:cNvSpPr>
          <p:nvPr/>
        </p:nvSpPr>
        <p:spPr bwMode="auto">
          <a:xfrm>
            <a:off x="4397376" y="5227781"/>
            <a:ext cx="485775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9" name="Rectangle 43"/>
          <p:cNvSpPr>
            <a:spLocks noChangeArrowheads="1"/>
          </p:cNvSpPr>
          <p:nvPr/>
        </p:nvSpPr>
        <p:spPr bwMode="auto">
          <a:xfrm>
            <a:off x="4883151" y="5227781"/>
            <a:ext cx="485775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0" name="Rectangle 44"/>
          <p:cNvSpPr>
            <a:spLocks noChangeArrowheads="1"/>
          </p:cNvSpPr>
          <p:nvPr/>
        </p:nvSpPr>
        <p:spPr bwMode="auto">
          <a:xfrm>
            <a:off x="5368926" y="5227781"/>
            <a:ext cx="485775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1" name="Rectangle 45"/>
          <p:cNvSpPr>
            <a:spLocks noChangeArrowheads="1"/>
          </p:cNvSpPr>
          <p:nvPr/>
        </p:nvSpPr>
        <p:spPr bwMode="auto">
          <a:xfrm>
            <a:off x="5854701" y="5227781"/>
            <a:ext cx="484188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2" name="Rectangle 46"/>
          <p:cNvSpPr>
            <a:spLocks noChangeArrowheads="1"/>
          </p:cNvSpPr>
          <p:nvPr/>
        </p:nvSpPr>
        <p:spPr bwMode="auto">
          <a:xfrm>
            <a:off x="6338888" y="5227781"/>
            <a:ext cx="487363" cy="33496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3" name="Rectangle 47"/>
          <p:cNvSpPr>
            <a:spLocks noChangeArrowheads="1"/>
          </p:cNvSpPr>
          <p:nvPr/>
        </p:nvSpPr>
        <p:spPr bwMode="auto">
          <a:xfrm>
            <a:off x="25401" y="5562744"/>
            <a:ext cx="485775" cy="3413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4" name="Rectangle 48"/>
          <p:cNvSpPr>
            <a:spLocks noChangeArrowheads="1"/>
          </p:cNvSpPr>
          <p:nvPr/>
        </p:nvSpPr>
        <p:spPr bwMode="auto">
          <a:xfrm>
            <a:off x="511176" y="5562744"/>
            <a:ext cx="485775" cy="3413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5" name="Rectangle 49"/>
          <p:cNvSpPr>
            <a:spLocks noChangeArrowheads="1"/>
          </p:cNvSpPr>
          <p:nvPr/>
        </p:nvSpPr>
        <p:spPr bwMode="auto">
          <a:xfrm>
            <a:off x="996951" y="5562744"/>
            <a:ext cx="485775" cy="3413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6" name="Rectangle 50"/>
          <p:cNvSpPr>
            <a:spLocks noChangeArrowheads="1"/>
          </p:cNvSpPr>
          <p:nvPr/>
        </p:nvSpPr>
        <p:spPr bwMode="auto">
          <a:xfrm>
            <a:off x="1482726" y="5562744"/>
            <a:ext cx="485775" cy="3413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7" name="Rectangle 51"/>
          <p:cNvSpPr>
            <a:spLocks noChangeArrowheads="1"/>
          </p:cNvSpPr>
          <p:nvPr/>
        </p:nvSpPr>
        <p:spPr bwMode="auto">
          <a:xfrm>
            <a:off x="1968501" y="5562744"/>
            <a:ext cx="485775" cy="3413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8" name="Rectangle 52"/>
          <p:cNvSpPr>
            <a:spLocks noChangeArrowheads="1"/>
          </p:cNvSpPr>
          <p:nvPr/>
        </p:nvSpPr>
        <p:spPr bwMode="auto">
          <a:xfrm>
            <a:off x="2454276" y="5562744"/>
            <a:ext cx="485775" cy="3413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9" name="Rectangle 53"/>
          <p:cNvSpPr>
            <a:spLocks noChangeArrowheads="1"/>
          </p:cNvSpPr>
          <p:nvPr/>
        </p:nvSpPr>
        <p:spPr bwMode="auto">
          <a:xfrm>
            <a:off x="2940051" y="5562744"/>
            <a:ext cx="485775" cy="3413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60" name="Rectangle 54"/>
          <p:cNvSpPr>
            <a:spLocks noChangeArrowheads="1"/>
          </p:cNvSpPr>
          <p:nvPr/>
        </p:nvSpPr>
        <p:spPr bwMode="auto">
          <a:xfrm>
            <a:off x="3425826" y="5562744"/>
            <a:ext cx="485775" cy="3413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61" name="Rectangle 55"/>
          <p:cNvSpPr>
            <a:spLocks noChangeArrowheads="1"/>
          </p:cNvSpPr>
          <p:nvPr/>
        </p:nvSpPr>
        <p:spPr bwMode="auto">
          <a:xfrm>
            <a:off x="3911601" y="5562744"/>
            <a:ext cx="485775" cy="3413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62" name="Rectangle 56"/>
          <p:cNvSpPr>
            <a:spLocks noChangeArrowheads="1"/>
          </p:cNvSpPr>
          <p:nvPr/>
        </p:nvSpPr>
        <p:spPr bwMode="auto">
          <a:xfrm>
            <a:off x="4397376" y="5562744"/>
            <a:ext cx="485775" cy="3413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63" name="Rectangle 57"/>
          <p:cNvSpPr>
            <a:spLocks noChangeArrowheads="1"/>
          </p:cNvSpPr>
          <p:nvPr/>
        </p:nvSpPr>
        <p:spPr bwMode="auto">
          <a:xfrm>
            <a:off x="4883151" y="5562744"/>
            <a:ext cx="485775" cy="3413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64" name="Rectangle 58"/>
          <p:cNvSpPr>
            <a:spLocks noChangeArrowheads="1"/>
          </p:cNvSpPr>
          <p:nvPr/>
        </p:nvSpPr>
        <p:spPr bwMode="auto">
          <a:xfrm>
            <a:off x="5368926" y="5562744"/>
            <a:ext cx="485775" cy="3413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65" name="Rectangle 59"/>
          <p:cNvSpPr>
            <a:spLocks noChangeArrowheads="1"/>
          </p:cNvSpPr>
          <p:nvPr/>
        </p:nvSpPr>
        <p:spPr bwMode="auto">
          <a:xfrm>
            <a:off x="5854701" y="5562744"/>
            <a:ext cx="484188" cy="3413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66" name="Rectangle 60"/>
          <p:cNvSpPr>
            <a:spLocks noChangeArrowheads="1"/>
          </p:cNvSpPr>
          <p:nvPr/>
        </p:nvSpPr>
        <p:spPr bwMode="auto">
          <a:xfrm>
            <a:off x="6338888" y="5562744"/>
            <a:ext cx="487363" cy="341313"/>
          </a:xfrm>
          <a:prstGeom prst="rect">
            <a:avLst/>
          </a:prstGeom>
          <a:solidFill>
            <a:srgbClr val="EA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67" name="Line 61"/>
          <p:cNvSpPr>
            <a:spLocks noChangeShapeType="1"/>
          </p:cNvSpPr>
          <p:nvPr/>
        </p:nvSpPr>
        <p:spPr bwMode="auto">
          <a:xfrm>
            <a:off x="511176" y="4545156"/>
            <a:ext cx="0" cy="136525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68" name="Line 62"/>
          <p:cNvSpPr>
            <a:spLocks noChangeShapeType="1"/>
          </p:cNvSpPr>
          <p:nvPr/>
        </p:nvSpPr>
        <p:spPr bwMode="auto">
          <a:xfrm>
            <a:off x="996951" y="4545156"/>
            <a:ext cx="0" cy="136525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69" name="Line 63"/>
          <p:cNvSpPr>
            <a:spLocks noChangeShapeType="1"/>
          </p:cNvSpPr>
          <p:nvPr/>
        </p:nvSpPr>
        <p:spPr bwMode="auto">
          <a:xfrm>
            <a:off x="1482726" y="4545156"/>
            <a:ext cx="0" cy="136525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70" name="Line 64"/>
          <p:cNvSpPr>
            <a:spLocks noChangeShapeType="1"/>
          </p:cNvSpPr>
          <p:nvPr/>
        </p:nvSpPr>
        <p:spPr bwMode="auto">
          <a:xfrm>
            <a:off x="1968501" y="4545156"/>
            <a:ext cx="0" cy="136525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71" name="Line 65"/>
          <p:cNvSpPr>
            <a:spLocks noChangeShapeType="1"/>
          </p:cNvSpPr>
          <p:nvPr/>
        </p:nvSpPr>
        <p:spPr bwMode="auto">
          <a:xfrm>
            <a:off x="2454276" y="4545156"/>
            <a:ext cx="0" cy="136525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72" name="Line 66"/>
          <p:cNvSpPr>
            <a:spLocks noChangeShapeType="1"/>
          </p:cNvSpPr>
          <p:nvPr/>
        </p:nvSpPr>
        <p:spPr bwMode="auto">
          <a:xfrm>
            <a:off x="2940051" y="4545156"/>
            <a:ext cx="0" cy="136525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73" name="Line 67"/>
          <p:cNvSpPr>
            <a:spLocks noChangeShapeType="1"/>
          </p:cNvSpPr>
          <p:nvPr/>
        </p:nvSpPr>
        <p:spPr bwMode="auto">
          <a:xfrm>
            <a:off x="3425826" y="4545156"/>
            <a:ext cx="0" cy="136525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74" name="Line 68"/>
          <p:cNvSpPr>
            <a:spLocks noChangeShapeType="1"/>
          </p:cNvSpPr>
          <p:nvPr/>
        </p:nvSpPr>
        <p:spPr bwMode="auto">
          <a:xfrm>
            <a:off x="3911601" y="4545156"/>
            <a:ext cx="0" cy="136525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75" name="Line 69"/>
          <p:cNvSpPr>
            <a:spLocks noChangeShapeType="1"/>
          </p:cNvSpPr>
          <p:nvPr/>
        </p:nvSpPr>
        <p:spPr bwMode="auto">
          <a:xfrm>
            <a:off x="4397376" y="4545156"/>
            <a:ext cx="0" cy="136525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76" name="Line 70"/>
          <p:cNvSpPr>
            <a:spLocks noChangeShapeType="1"/>
          </p:cNvSpPr>
          <p:nvPr/>
        </p:nvSpPr>
        <p:spPr bwMode="auto">
          <a:xfrm>
            <a:off x="4883151" y="4545156"/>
            <a:ext cx="0" cy="136525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77" name="Line 71"/>
          <p:cNvSpPr>
            <a:spLocks noChangeShapeType="1"/>
          </p:cNvSpPr>
          <p:nvPr/>
        </p:nvSpPr>
        <p:spPr bwMode="auto">
          <a:xfrm>
            <a:off x="5368926" y="4545156"/>
            <a:ext cx="0" cy="136525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78" name="Line 72"/>
          <p:cNvSpPr>
            <a:spLocks noChangeShapeType="1"/>
          </p:cNvSpPr>
          <p:nvPr/>
        </p:nvSpPr>
        <p:spPr bwMode="auto">
          <a:xfrm>
            <a:off x="5854701" y="4545156"/>
            <a:ext cx="0" cy="136525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79" name="Line 73"/>
          <p:cNvSpPr>
            <a:spLocks noChangeShapeType="1"/>
          </p:cNvSpPr>
          <p:nvPr/>
        </p:nvSpPr>
        <p:spPr bwMode="auto">
          <a:xfrm>
            <a:off x="6338888" y="4545156"/>
            <a:ext cx="0" cy="136525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80" name="Line 74"/>
          <p:cNvSpPr>
            <a:spLocks noChangeShapeType="1"/>
          </p:cNvSpPr>
          <p:nvPr/>
        </p:nvSpPr>
        <p:spPr bwMode="auto">
          <a:xfrm>
            <a:off x="19051" y="4892819"/>
            <a:ext cx="6813550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81" name="Line 75"/>
          <p:cNvSpPr>
            <a:spLocks noChangeShapeType="1"/>
          </p:cNvSpPr>
          <p:nvPr/>
        </p:nvSpPr>
        <p:spPr bwMode="auto">
          <a:xfrm>
            <a:off x="19051" y="5227781"/>
            <a:ext cx="6813550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82" name="Line 76"/>
          <p:cNvSpPr>
            <a:spLocks noChangeShapeType="1"/>
          </p:cNvSpPr>
          <p:nvPr/>
        </p:nvSpPr>
        <p:spPr bwMode="auto">
          <a:xfrm>
            <a:off x="19051" y="5562744"/>
            <a:ext cx="6813550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83" name="Line 77"/>
          <p:cNvSpPr>
            <a:spLocks noChangeShapeType="1"/>
          </p:cNvSpPr>
          <p:nvPr/>
        </p:nvSpPr>
        <p:spPr bwMode="auto">
          <a:xfrm>
            <a:off x="25401" y="4545156"/>
            <a:ext cx="0" cy="136525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84" name="Line 78"/>
          <p:cNvSpPr>
            <a:spLocks noChangeShapeType="1"/>
          </p:cNvSpPr>
          <p:nvPr/>
        </p:nvSpPr>
        <p:spPr bwMode="auto">
          <a:xfrm>
            <a:off x="6826251" y="4545156"/>
            <a:ext cx="0" cy="136525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85" name="Line 79"/>
          <p:cNvSpPr>
            <a:spLocks noChangeShapeType="1"/>
          </p:cNvSpPr>
          <p:nvPr/>
        </p:nvSpPr>
        <p:spPr bwMode="auto">
          <a:xfrm>
            <a:off x="19051" y="4551506"/>
            <a:ext cx="6813550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86" name="Line 80"/>
          <p:cNvSpPr>
            <a:spLocks noChangeShapeType="1"/>
          </p:cNvSpPr>
          <p:nvPr/>
        </p:nvSpPr>
        <p:spPr bwMode="auto">
          <a:xfrm>
            <a:off x="19051" y="5904056"/>
            <a:ext cx="6813550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87" name="Rectangle 81"/>
          <p:cNvSpPr>
            <a:spLocks noChangeArrowheads="1"/>
          </p:cNvSpPr>
          <p:nvPr/>
        </p:nvSpPr>
        <p:spPr bwMode="auto">
          <a:xfrm>
            <a:off x="111126" y="4602306"/>
            <a:ext cx="4683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1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Sitka Text" panose="02000505000000020004" pitchFamily="2" charset="0"/>
              </a:rPr>
              <a:t>Ta1</a:t>
            </a: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8" name="Rectangle 82"/>
          <p:cNvSpPr>
            <a:spLocks noChangeArrowheads="1"/>
          </p:cNvSpPr>
          <p:nvPr/>
        </p:nvSpPr>
        <p:spPr bwMode="auto">
          <a:xfrm>
            <a:off x="663576" y="4602306"/>
            <a:ext cx="1923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1" i="0" u="none" strike="noStrike" cap="none" normalizeH="0" baseline="0" dirty="0" smtClean="0">
                <a:ln>
                  <a:noFill/>
                </a:ln>
                <a:solidFill>
                  <a:srgbClr val="263AF8"/>
                </a:solidFill>
                <a:effectLst/>
                <a:latin typeface="Sitka Text" panose="02000505000000020004" pitchFamily="2" charset="0"/>
              </a:rPr>
              <a:t>11</a:t>
            </a:r>
            <a:endParaRPr kumimoji="0" lang="zh-CN" altLang="zh-CN" sz="1800" b="0" i="0" u="none" strike="noStrike" cap="none" normalizeH="0" baseline="0" dirty="0" smtClean="0">
              <a:ln>
                <a:noFill/>
              </a:ln>
              <a:solidFill>
                <a:srgbClr val="263AF8"/>
              </a:solidFill>
              <a:effectLst/>
            </a:endParaRPr>
          </a:p>
        </p:txBody>
      </p:sp>
      <p:sp>
        <p:nvSpPr>
          <p:cNvPr id="189" name="Rectangle 83"/>
          <p:cNvSpPr>
            <a:spLocks noChangeArrowheads="1"/>
          </p:cNvSpPr>
          <p:nvPr/>
        </p:nvSpPr>
        <p:spPr bwMode="auto">
          <a:xfrm>
            <a:off x="1139826" y="4602306"/>
            <a:ext cx="21640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1" i="0" u="none" strike="noStrike" cap="none" normalizeH="0" baseline="0" dirty="0" smtClean="0">
                <a:ln>
                  <a:noFill/>
                </a:ln>
                <a:solidFill>
                  <a:srgbClr val="263AF8"/>
                </a:solidFill>
                <a:effectLst/>
                <a:latin typeface="Sitka Text" panose="02000505000000020004" pitchFamily="2" charset="0"/>
              </a:rPr>
              <a:t>12</a:t>
            </a:r>
            <a:endParaRPr kumimoji="0" lang="zh-CN" altLang="zh-CN" sz="1800" b="0" i="0" u="none" strike="noStrike" cap="none" normalizeH="0" baseline="0" dirty="0" smtClean="0">
              <a:ln>
                <a:noFill/>
              </a:ln>
              <a:solidFill>
                <a:srgbClr val="263AF8"/>
              </a:solidFill>
              <a:effectLst/>
            </a:endParaRPr>
          </a:p>
        </p:txBody>
      </p:sp>
      <p:sp>
        <p:nvSpPr>
          <p:cNvPr id="190" name="Rectangle 84"/>
          <p:cNvSpPr>
            <a:spLocks noChangeArrowheads="1"/>
          </p:cNvSpPr>
          <p:nvPr/>
        </p:nvSpPr>
        <p:spPr bwMode="auto">
          <a:xfrm>
            <a:off x="1616076" y="4602306"/>
            <a:ext cx="23884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1" i="0" u="none" strike="noStrike" cap="none" normalizeH="0" baseline="0" dirty="0" smtClean="0">
                <a:ln>
                  <a:noFill/>
                </a:ln>
                <a:solidFill>
                  <a:srgbClr val="263AF8"/>
                </a:solidFill>
                <a:effectLst/>
                <a:latin typeface="Sitka Text" panose="02000505000000020004" pitchFamily="2" charset="0"/>
              </a:rPr>
              <a:t>35</a:t>
            </a:r>
            <a:endParaRPr kumimoji="0" lang="zh-CN" altLang="zh-CN" sz="1800" b="0" i="0" u="none" strike="noStrike" cap="none" normalizeH="0" baseline="0" dirty="0" smtClean="0">
              <a:ln>
                <a:noFill/>
              </a:ln>
              <a:solidFill>
                <a:srgbClr val="263AF8"/>
              </a:solidFill>
              <a:effectLst/>
            </a:endParaRPr>
          </a:p>
        </p:txBody>
      </p:sp>
      <p:sp>
        <p:nvSpPr>
          <p:cNvPr id="191" name="Rectangle 85"/>
          <p:cNvSpPr>
            <a:spLocks noChangeArrowheads="1"/>
          </p:cNvSpPr>
          <p:nvPr/>
        </p:nvSpPr>
        <p:spPr bwMode="auto">
          <a:xfrm>
            <a:off x="2101851" y="4602306"/>
            <a:ext cx="22762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1" i="0" u="none" strike="noStrike" cap="none" normalizeH="0" baseline="0" dirty="0" smtClean="0">
                <a:ln>
                  <a:noFill/>
                </a:ln>
                <a:solidFill>
                  <a:srgbClr val="263AF8"/>
                </a:solidFill>
                <a:effectLst/>
                <a:latin typeface="Sitka Text" panose="02000505000000020004" pitchFamily="2" charset="0"/>
              </a:rPr>
              <a:t>81</a:t>
            </a:r>
            <a:endParaRPr kumimoji="0" lang="zh-CN" altLang="zh-CN" sz="1800" b="0" i="0" u="none" strike="noStrike" cap="none" normalizeH="0" baseline="0" dirty="0" smtClean="0">
              <a:ln>
                <a:noFill/>
              </a:ln>
              <a:solidFill>
                <a:srgbClr val="263AF8"/>
              </a:solidFill>
              <a:effectLst/>
            </a:endParaRPr>
          </a:p>
        </p:txBody>
      </p:sp>
      <p:sp>
        <p:nvSpPr>
          <p:cNvPr id="192" name="Rectangle 86"/>
          <p:cNvSpPr>
            <a:spLocks noChangeArrowheads="1"/>
          </p:cNvSpPr>
          <p:nvPr/>
        </p:nvSpPr>
        <p:spPr bwMode="auto">
          <a:xfrm>
            <a:off x="2578101" y="4602306"/>
            <a:ext cx="25327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1" i="0" u="none" strike="noStrike" cap="none" normalizeH="0" baseline="0" dirty="0" smtClean="0">
                <a:ln>
                  <a:noFill/>
                </a:ln>
                <a:solidFill>
                  <a:srgbClr val="263AF8"/>
                </a:solidFill>
                <a:effectLst/>
                <a:latin typeface="Sitka Text" panose="02000505000000020004" pitchFamily="2" charset="0"/>
              </a:rPr>
              <a:t>94</a:t>
            </a:r>
            <a:endParaRPr kumimoji="0" lang="zh-CN" altLang="zh-CN" sz="1800" b="0" i="0" u="none" strike="noStrike" cap="none" normalizeH="0" baseline="0" dirty="0" smtClean="0">
              <a:ln>
                <a:noFill/>
              </a:ln>
              <a:solidFill>
                <a:srgbClr val="263AF8"/>
              </a:solidFill>
              <a:effectLst/>
            </a:endParaRPr>
          </a:p>
        </p:txBody>
      </p:sp>
      <p:sp>
        <p:nvSpPr>
          <p:cNvPr id="193" name="Rectangle 87"/>
          <p:cNvSpPr>
            <a:spLocks noChangeArrowheads="1"/>
          </p:cNvSpPr>
          <p:nvPr/>
        </p:nvSpPr>
        <p:spPr bwMode="auto">
          <a:xfrm>
            <a:off x="3063876" y="4602306"/>
            <a:ext cx="25327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1" i="0" u="none" strike="noStrike" cap="none" normalizeH="0" baseline="0" dirty="0" smtClean="0">
                <a:ln>
                  <a:noFill/>
                </a:ln>
                <a:solidFill>
                  <a:srgbClr val="263AF8"/>
                </a:solidFill>
                <a:effectLst/>
                <a:latin typeface="Sitka Text" panose="02000505000000020004" pitchFamily="2" charset="0"/>
              </a:rPr>
              <a:t>96</a:t>
            </a:r>
            <a:endParaRPr kumimoji="0" lang="zh-CN" altLang="zh-CN" sz="1800" b="0" i="0" u="none" strike="noStrike" cap="none" normalizeH="0" baseline="0" dirty="0" smtClean="0">
              <a:ln>
                <a:noFill/>
              </a:ln>
              <a:solidFill>
                <a:srgbClr val="263AF8"/>
              </a:solidFill>
              <a:effectLst/>
            </a:endParaRPr>
          </a:p>
        </p:txBody>
      </p:sp>
      <p:sp>
        <p:nvSpPr>
          <p:cNvPr id="194" name="Rectangle 88"/>
          <p:cNvSpPr>
            <a:spLocks noChangeArrowheads="1"/>
          </p:cNvSpPr>
          <p:nvPr/>
        </p:nvSpPr>
        <p:spPr bwMode="auto">
          <a:xfrm>
            <a:off x="3568701" y="4602306"/>
            <a:ext cx="21480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1" i="0" u="none" strike="noStrike" cap="none" normalizeH="0" baseline="0" dirty="0" smtClean="0">
                <a:ln>
                  <a:noFill/>
                </a:ln>
                <a:solidFill>
                  <a:srgbClr val="263AF8"/>
                </a:solidFill>
                <a:effectLst/>
                <a:latin typeface="Sitka Text" panose="02000505000000020004" pitchFamily="2" charset="0"/>
              </a:rPr>
              <a:t>15</a:t>
            </a:r>
            <a:endParaRPr kumimoji="0" lang="zh-CN" altLang="zh-CN" sz="1800" b="0" i="0" u="none" strike="noStrike" cap="none" normalizeH="0" baseline="0" dirty="0" smtClean="0">
              <a:ln>
                <a:noFill/>
              </a:ln>
              <a:solidFill>
                <a:srgbClr val="263AF8"/>
              </a:solidFill>
              <a:effectLst/>
            </a:endParaRPr>
          </a:p>
        </p:txBody>
      </p:sp>
      <p:sp>
        <p:nvSpPr>
          <p:cNvPr id="195" name="Rectangle 89"/>
          <p:cNvSpPr>
            <a:spLocks noChangeArrowheads="1"/>
          </p:cNvSpPr>
          <p:nvPr/>
        </p:nvSpPr>
        <p:spPr bwMode="auto">
          <a:xfrm>
            <a:off x="101601" y="4940444"/>
            <a:ext cx="4873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1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Sitka Text" panose="02000505000000020004" pitchFamily="2" charset="0"/>
              </a:rPr>
              <a:t>Ta2</a:t>
            </a: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6" name="Rectangle 90"/>
          <p:cNvSpPr>
            <a:spLocks noChangeArrowheads="1"/>
          </p:cNvSpPr>
          <p:nvPr/>
        </p:nvSpPr>
        <p:spPr bwMode="auto">
          <a:xfrm>
            <a:off x="654051" y="4940444"/>
            <a:ext cx="20999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Sitka Text" panose="02000505000000020004" pitchFamily="2" charset="0"/>
              </a:rPr>
              <a:t>17</a:t>
            </a:r>
            <a:endParaRPr kumimoji="0" lang="zh-CN" altLang="zh-CN" sz="18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197" name="Rectangle 91"/>
          <p:cNvSpPr>
            <a:spLocks noChangeArrowheads="1"/>
          </p:cNvSpPr>
          <p:nvPr/>
        </p:nvSpPr>
        <p:spPr bwMode="auto">
          <a:xfrm>
            <a:off x="1120776" y="4940444"/>
            <a:ext cx="25167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1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Sitka Text" panose="02000505000000020004" pitchFamily="2" charset="0"/>
              </a:rPr>
              <a:t>28</a:t>
            </a: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198" name="Rectangle 92"/>
          <p:cNvSpPr>
            <a:spLocks noChangeArrowheads="1"/>
          </p:cNvSpPr>
          <p:nvPr/>
        </p:nvSpPr>
        <p:spPr bwMode="auto">
          <a:xfrm>
            <a:off x="1616076" y="4940444"/>
            <a:ext cx="22281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1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Sitka Text" panose="02000505000000020004" pitchFamily="2" charset="0"/>
              </a:rPr>
              <a:t>41</a:t>
            </a: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199" name="Rectangle 93"/>
          <p:cNvSpPr>
            <a:spLocks noChangeArrowheads="1"/>
          </p:cNvSpPr>
          <p:nvPr/>
        </p:nvSpPr>
        <p:spPr bwMode="auto">
          <a:xfrm>
            <a:off x="2092326" y="4940444"/>
            <a:ext cx="25006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1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Sitka Text" panose="02000505000000020004" pitchFamily="2" charset="0"/>
              </a:rPr>
              <a:t>58</a:t>
            </a: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200" name="Rectangle 94"/>
          <p:cNvSpPr>
            <a:spLocks noChangeArrowheads="1"/>
          </p:cNvSpPr>
          <p:nvPr/>
        </p:nvSpPr>
        <p:spPr bwMode="auto">
          <a:xfrm>
            <a:off x="2587626" y="4940444"/>
            <a:ext cx="23243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1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Sitka Text" panose="02000505000000020004" pitchFamily="2" charset="0"/>
              </a:rPr>
              <a:t>75</a:t>
            </a: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201" name="Rectangle 95"/>
          <p:cNvSpPr>
            <a:spLocks noChangeArrowheads="1"/>
          </p:cNvSpPr>
          <p:nvPr/>
        </p:nvSpPr>
        <p:spPr bwMode="auto">
          <a:xfrm>
            <a:off x="3063876" y="4940444"/>
            <a:ext cx="25327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1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Sitka Text" panose="02000505000000020004" pitchFamily="2" charset="0"/>
              </a:rPr>
              <a:t>99</a:t>
            </a: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202" name="Rectangle 96"/>
          <p:cNvSpPr>
            <a:spLocks noChangeArrowheads="1"/>
          </p:cNvSpPr>
          <p:nvPr/>
        </p:nvSpPr>
        <p:spPr bwMode="auto">
          <a:xfrm>
            <a:off x="101601" y="5273819"/>
            <a:ext cx="4683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700" b="0" i="1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Sitka Text" panose="02000505000000020004" pitchFamily="2" charset="0"/>
              </a:rPr>
              <a:t>Tb1</a:t>
            </a: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3" name="Rectangle 97"/>
          <p:cNvSpPr>
            <a:spLocks noChangeArrowheads="1"/>
          </p:cNvSpPr>
          <p:nvPr/>
        </p:nvSpPr>
        <p:spPr bwMode="auto">
          <a:xfrm>
            <a:off x="92076" y="5611956"/>
            <a:ext cx="4873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700" b="0" i="1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Sitka Text" panose="02000505000000020004" pitchFamily="2" charset="0"/>
              </a:rPr>
              <a:t>Tb2</a:t>
            </a: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4" name="矩形 203"/>
          <p:cNvSpPr/>
          <p:nvPr/>
        </p:nvSpPr>
        <p:spPr>
          <a:xfrm>
            <a:off x="4416426" y="4697391"/>
            <a:ext cx="2272929" cy="6783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smtClean="0">
                <a:solidFill>
                  <a:schemeClr val="tx1"/>
                </a:solidFill>
                <a:latin typeface="Sitka Text" panose="02000505000000020004" pitchFamily="2" charset="0"/>
              </a:rPr>
              <a:t>Tb1,Tb2 as input</a:t>
            </a:r>
            <a:endParaRPr lang="en-US" altLang="zh-CN" dirty="0" smtClean="0">
              <a:solidFill>
                <a:schemeClr val="tx1"/>
              </a:solidFill>
              <a:latin typeface="Sitka Text" panose="02000505000000020004" pitchFamily="2" charset="0"/>
            </a:endParaRPr>
          </a:p>
          <a:p>
            <a:r>
              <a:rPr lang="en-US" altLang="zh-CN" dirty="0" smtClean="0">
                <a:solidFill>
                  <a:schemeClr val="tx1"/>
                </a:solidFill>
                <a:latin typeface="Sitka Text" panose="02000505000000020004" pitchFamily="2" charset="0"/>
              </a:rPr>
              <a:t>Ta1, Ta2 as output</a:t>
            </a:r>
            <a:endParaRPr lang="zh-CN" altLang="en-US" dirty="0">
              <a:solidFill>
                <a:schemeClr val="tx1"/>
              </a:solidFill>
              <a:latin typeface="Sitka Text" panose="02000505000000020004" pitchFamily="2" charset="0"/>
            </a:endParaRPr>
          </a:p>
        </p:txBody>
      </p:sp>
      <p:sp>
        <p:nvSpPr>
          <p:cNvPr id="205" name="矩形 204"/>
          <p:cNvSpPr/>
          <p:nvPr/>
        </p:nvSpPr>
        <p:spPr>
          <a:xfrm>
            <a:off x="4421202" y="5549542"/>
            <a:ext cx="2272929" cy="6783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smtClean="0">
                <a:solidFill>
                  <a:schemeClr val="tx1"/>
                </a:solidFill>
                <a:latin typeface="Sitka Text" panose="02000505000000020004" pitchFamily="2" charset="0"/>
              </a:rPr>
              <a:t>We get the runs of 2M length.</a:t>
            </a:r>
            <a:endParaRPr lang="zh-CN" altLang="en-US" dirty="0">
              <a:solidFill>
                <a:schemeClr val="tx1"/>
              </a:solidFill>
              <a:latin typeface="Sitka Text" panose="02000505000000020004" pitchFamily="2" charset="0"/>
            </a:endParaRPr>
          </a:p>
        </p:txBody>
      </p:sp>
      <p:graphicFrame>
        <p:nvGraphicFramePr>
          <p:cNvPr id="206" name="表格 205"/>
          <p:cNvGraphicFramePr>
            <a:graphicFrameLocks noGrp="1"/>
          </p:cNvGraphicFramePr>
          <p:nvPr/>
        </p:nvGraphicFramePr>
        <p:xfrm>
          <a:off x="41452" y="6991666"/>
          <a:ext cx="6768748" cy="1296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3482"/>
                <a:gridCol w="483482"/>
                <a:gridCol w="483482"/>
                <a:gridCol w="483482"/>
                <a:gridCol w="483482"/>
                <a:gridCol w="483482"/>
                <a:gridCol w="483482"/>
                <a:gridCol w="483482"/>
                <a:gridCol w="483482"/>
                <a:gridCol w="483482"/>
                <a:gridCol w="483482"/>
                <a:gridCol w="483482"/>
                <a:gridCol w="483482"/>
                <a:gridCol w="483482"/>
              </a:tblGrid>
              <a:tr h="3268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>
                          <a:effectLst/>
                          <a:latin typeface="Sitka Text" panose="02000505000000020004" pitchFamily="2" charset="0"/>
                        </a:rPr>
                        <a:t>Ta1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</a:tr>
              <a:tr h="3212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>
                          <a:effectLst/>
                          <a:latin typeface="Sitka Text" panose="02000505000000020004" pitchFamily="2" charset="0"/>
                        </a:rPr>
                        <a:t>Ta2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i="0" u="none" strike="noStrike" kern="1200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i="0" u="none" strike="noStrike" kern="1200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i="0" u="none" strike="noStrike" kern="1200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i="0" u="none" strike="noStrike" kern="1200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i="0" u="none" strike="noStrike" kern="1200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i="0" u="none" strike="noStrike" kern="1200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063" marR="4063" marT="4063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</a:tr>
              <a:tr h="3212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>
                          <a:effectLst/>
                          <a:latin typeface="Sitka Text" panose="02000505000000020004" pitchFamily="2" charset="0"/>
                        </a:rPr>
                        <a:t>Tb1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u="none" strike="noStrike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</a:rPr>
                        <a:t>11</a:t>
                      </a:r>
                      <a:endParaRPr lang="zh-CN" altLang="en-US" sz="1600" b="1" i="0" u="none" strike="noStrike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u="none" strike="noStrike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</a:rPr>
                        <a:t>12</a:t>
                      </a:r>
                      <a:endParaRPr lang="zh-CN" altLang="en-US" sz="1600" b="1" i="0" u="none" strike="noStrike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u="none" strike="noStrike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</a:rPr>
                        <a:t>17</a:t>
                      </a:r>
                      <a:endParaRPr lang="zh-CN" altLang="en-US" sz="1600" b="1" i="0" u="none" strike="noStrike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u="none" strike="noStrike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</a:rPr>
                        <a:t>28</a:t>
                      </a:r>
                      <a:endParaRPr lang="zh-CN" altLang="en-US" sz="1600" b="1" i="0" u="none" strike="noStrike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u="none" strike="noStrike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</a:rPr>
                        <a:t>35</a:t>
                      </a:r>
                      <a:endParaRPr lang="zh-CN" altLang="en-US" sz="1600" b="1" i="0" u="none" strike="noStrike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u="none" strike="noStrike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</a:rPr>
                        <a:t>41</a:t>
                      </a:r>
                      <a:endParaRPr lang="zh-CN" altLang="en-US" sz="1600" b="1" i="0" u="none" strike="noStrike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u="none" strike="noStrike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</a:rPr>
                        <a:t>58</a:t>
                      </a:r>
                      <a:endParaRPr lang="zh-CN" altLang="en-US" sz="1600" b="1" i="0" u="none" strike="noStrike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u="none" strike="noStrike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</a:rPr>
                        <a:t>75</a:t>
                      </a:r>
                      <a:endParaRPr lang="zh-CN" altLang="en-US" sz="1600" b="1" i="0" u="none" strike="noStrike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u="none" strike="noStrike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</a:rPr>
                        <a:t>81</a:t>
                      </a:r>
                      <a:endParaRPr lang="zh-CN" altLang="en-US" sz="1600" b="1" i="0" u="none" strike="noStrike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u="none" strike="noStrike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</a:rPr>
                        <a:t>94</a:t>
                      </a:r>
                      <a:endParaRPr lang="zh-CN" altLang="en-US" sz="1600" b="1" i="0" u="none" strike="noStrike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u="none" strike="noStrike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</a:rPr>
                        <a:t>96</a:t>
                      </a:r>
                      <a:endParaRPr lang="zh-CN" altLang="en-US" sz="1600" b="1" i="0" u="none" strike="noStrike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u="none" strike="noStrike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</a:rPr>
                        <a:t>99</a:t>
                      </a:r>
                      <a:endParaRPr lang="zh-CN" altLang="en-US" sz="1600" b="1" i="0" u="none" strike="noStrike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</a:tr>
              <a:tr h="3268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>
                          <a:effectLst/>
                          <a:latin typeface="Sitka Text" panose="02000505000000020004" pitchFamily="2" charset="0"/>
                        </a:rPr>
                        <a:t>Tb2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u="none" strike="noStrike" dirty="0" smtClean="0">
                          <a:solidFill>
                            <a:srgbClr val="FF0000"/>
                          </a:solidFill>
                          <a:effectLst/>
                          <a:latin typeface="Sitka Text" panose="02000505000000020004" pitchFamily="2" charset="0"/>
                        </a:rPr>
                        <a:t>15</a:t>
                      </a:r>
                      <a:endParaRPr lang="zh-CN" alt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</a:tr>
            </a:tbl>
          </a:graphicData>
        </a:graphic>
      </p:graphicFrame>
      <p:grpSp>
        <p:nvGrpSpPr>
          <p:cNvPr id="305" name="组合 304"/>
          <p:cNvGrpSpPr/>
          <p:nvPr/>
        </p:nvGrpSpPr>
        <p:grpSpPr>
          <a:xfrm>
            <a:off x="16015" y="2132297"/>
            <a:ext cx="6810236" cy="1600098"/>
            <a:chOff x="34926" y="2339752"/>
            <a:chExt cx="6810236" cy="1600098"/>
          </a:xfrm>
        </p:grpSpPr>
        <p:sp>
          <p:nvSpPr>
            <p:cNvPr id="208" name="AutoShape 2"/>
            <p:cNvSpPr>
              <a:spLocks noChangeAspect="1" noChangeArrowheads="1" noTextEdit="1"/>
            </p:cNvSpPr>
            <p:nvPr/>
          </p:nvSpPr>
          <p:spPr bwMode="auto">
            <a:xfrm>
              <a:off x="63362" y="2503162"/>
              <a:ext cx="6781800" cy="1436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9" name="Rectangle 4"/>
            <p:cNvSpPr>
              <a:spLocks noChangeArrowheads="1"/>
            </p:cNvSpPr>
            <p:nvPr/>
          </p:nvSpPr>
          <p:spPr bwMode="auto">
            <a:xfrm>
              <a:off x="66537" y="2523800"/>
              <a:ext cx="484188" cy="334963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0" name="Rectangle 5"/>
            <p:cNvSpPr>
              <a:spLocks noChangeArrowheads="1"/>
            </p:cNvSpPr>
            <p:nvPr/>
          </p:nvSpPr>
          <p:spPr bwMode="auto">
            <a:xfrm>
              <a:off x="550725" y="2523800"/>
              <a:ext cx="482600" cy="334963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1" name="Rectangle 6"/>
            <p:cNvSpPr>
              <a:spLocks noChangeArrowheads="1"/>
            </p:cNvSpPr>
            <p:nvPr/>
          </p:nvSpPr>
          <p:spPr bwMode="auto">
            <a:xfrm>
              <a:off x="1033325" y="2523800"/>
              <a:ext cx="484188" cy="334963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2" name="Rectangle 7"/>
            <p:cNvSpPr>
              <a:spLocks noChangeArrowheads="1"/>
            </p:cNvSpPr>
            <p:nvPr/>
          </p:nvSpPr>
          <p:spPr bwMode="auto">
            <a:xfrm>
              <a:off x="1517512" y="2523800"/>
              <a:ext cx="482600" cy="334963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3" name="Rectangle 8"/>
            <p:cNvSpPr>
              <a:spLocks noChangeArrowheads="1"/>
            </p:cNvSpPr>
            <p:nvPr/>
          </p:nvSpPr>
          <p:spPr bwMode="auto">
            <a:xfrm>
              <a:off x="2000112" y="2523800"/>
              <a:ext cx="484188" cy="334963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4" name="Rectangle 9"/>
            <p:cNvSpPr>
              <a:spLocks noChangeArrowheads="1"/>
            </p:cNvSpPr>
            <p:nvPr/>
          </p:nvSpPr>
          <p:spPr bwMode="auto">
            <a:xfrm>
              <a:off x="2484300" y="2523800"/>
              <a:ext cx="482600" cy="334963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5" name="Rectangle 10"/>
            <p:cNvSpPr>
              <a:spLocks noChangeArrowheads="1"/>
            </p:cNvSpPr>
            <p:nvPr/>
          </p:nvSpPr>
          <p:spPr bwMode="auto">
            <a:xfrm>
              <a:off x="2966900" y="2523800"/>
              <a:ext cx="484188" cy="334963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6" name="Rectangle 11"/>
            <p:cNvSpPr>
              <a:spLocks noChangeArrowheads="1"/>
            </p:cNvSpPr>
            <p:nvPr/>
          </p:nvSpPr>
          <p:spPr bwMode="auto">
            <a:xfrm>
              <a:off x="3451087" y="2523800"/>
              <a:ext cx="484188" cy="334963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7" name="Rectangle 12"/>
            <p:cNvSpPr>
              <a:spLocks noChangeArrowheads="1"/>
            </p:cNvSpPr>
            <p:nvPr/>
          </p:nvSpPr>
          <p:spPr bwMode="auto">
            <a:xfrm>
              <a:off x="3935275" y="2523800"/>
              <a:ext cx="482600" cy="334963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8" name="Rectangle 13"/>
            <p:cNvSpPr>
              <a:spLocks noChangeArrowheads="1"/>
            </p:cNvSpPr>
            <p:nvPr/>
          </p:nvSpPr>
          <p:spPr bwMode="auto">
            <a:xfrm>
              <a:off x="4417875" y="2523800"/>
              <a:ext cx="484188" cy="334963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9" name="Rectangle 14"/>
            <p:cNvSpPr>
              <a:spLocks noChangeArrowheads="1"/>
            </p:cNvSpPr>
            <p:nvPr/>
          </p:nvSpPr>
          <p:spPr bwMode="auto">
            <a:xfrm>
              <a:off x="4902062" y="2523800"/>
              <a:ext cx="482600" cy="334963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0" name="Rectangle 15"/>
            <p:cNvSpPr>
              <a:spLocks noChangeArrowheads="1"/>
            </p:cNvSpPr>
            <p:nvPr/>
          </p:nvSpPr>
          <p:spPr bwMode="auto">
            <a:xfrm>
              <a:off x="5384662" y="2523800"/>
              <a:ext cx="484188" cy="334963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1" name="Rectangle 16"/>
            <p:cNvSpPr>
              <a:spLocks noChangeArrowheads="1"/>
            </p:cNvSpPr>
            <p:nvPr/>
          </p:nvSpPr>
          <p:spPr bwMode="auto">
            <a:xfrm>
              <a:off x="5868850" y="2523800"/>
              <a:ext cx="482600" cy="334963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2" name="Rectangle 17"/>
            <p:cNvSpPr>
              <a:spLocks noChangeArrowheads="1"/>
            </p:cNvSpPr>
            <p:nvPr/>
          </p:nvSpPr>
          <p:spPr bwMode="auto">
            <a:xfrm>
              <a:off x="6351450" y="2523800"/>
              <a:ext cx="484188" cy="334963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3" name="Rectangle 18"/>
            <p:cNvSpPr>
              <a:spLocks noChangeArrowheads="1"/>
            </p:cNvSpPr>
            <p:nvPr/>
          </p:nvSpPr>
          <p:spPr bwMode="auto">
            <a:xfrm>
              <a:off x="66537" y="2858762"/>
              <a:ext cx="484188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4" name="Rectangle 19"/>
            <p:cNvSpPr>
              <a:spLocks noChangeArrowheads="1"/>
            </p:cNvSpPr>
            <p:nvPr/>
          </p:nvSpPr>
          <p:spPr bwMode="auto">
            <a:xfrm>
              <a:off x="550725" y="2858762"/>
              <a:ext cx="482600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5" name="Rectangle 20"/>
            <p:cNvSpPr>
              <a:spLocks noChangeArrowheads="1"/>
            </p:cNvSpPr>
            <p:nvPr/>
          </p:nvSpPr>
          <p:spPr bwMode="auto">
            <a:xfrm>
              <a:off x="1033325" y="2858762"/>
              <a:ext cx="484188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6" name="Rectangle 21"/>
            <p:cNvSpPr>
              <a:spLocks noChangeArrowheads="1"/>
            </p:cNvSpPr>
            <p:nvPr/>
          </p:nvSpPr>
          <p:spPr bwMode="auto">
            <a:xfrm>
              <a:off x="1517512" y="2858762"/>
              <a:ext cx="482600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7" name="Rectangle 22"/>
            <p:cNvSpPr>
              <a:spLocks noChangeArrowheads="1"/>
            </p:cNvSpPr>
            <p:nvPr/>
          </p:nvSpPr>
          <p:spPr bwMode="auto">
            <a:xfrm>
              <a:off x="2000112" y="2858762"/>
              <a:ext cx="484188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8" name="Rectangle 23"/>
            <p:cNvSpPr>
              <a:spLocks noChangeArrowheads="1"/>
            </p:cNvSpPr>
            <p:nvPr/>
          </p:nvSpPr>
          <p:spPr bwMode="auto">
            <a:xfrm>
              <a:off x="2484300" y="2858762"/>
              <a:ext cx="482600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9" name="Rectangle 24"/>
            <p:cNvSpPr>
              <a:spLocks noChangeArrowheads="1"/>
            </p:cNvSpPr>
            <p:nvPr/>
          </p:nvSpPr>
          <p:spPr bwMode="auto">
            <a:xfrm>
              <a:off x="2966900" y="2858762"/>
              <a:ext cx="484188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0" name="Rectangle 25"/>
            <p:cNvSpPr>
              <a:spLocks noChangeArrowheads="1"/>
            </p:cNvSpPr>
            <p:nvPr/>
          </p:nvSpPr>
          <p:spPr bwMode="auto">
            <a:xfrm>
              <a:off x="3451087" y="2858762"/>
              <a:ext cx="484188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1" name="Rectangle 26"/>
            <p:cNvSpPr>
              <a:spLocks noChangeArrowheads="1"/>
            </p:cNvSpPr>
            <p:nvPr/>
          </p:nvSpPr>
          <p:spPr bwMode="auto">
            <a:xfrm>
              <a:off x="3935275" y="2858762"/>
              <a:ext cx="482600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2" name="Rectangle 27"/>
            <p:cNvSpPr>
              <a:spLocks noChangeArrowheads="1"/>
            </p:cNvSpPr>
            <p:nvPr/>
          </p:nvSpPr>
          <p:spPr bwMode="auto">
            <a:xfrm>
              <a:off x="4417875" y="2858762"/>
              <a:ext cx="484188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3" name="Rectangle 28"/>
            <p:cNvSpPr>
              <a:spLocks noChangeArrowheads="1"/>
            </p:cNvSpPr>
            <p:nvPr/>
          </p:nvSpPr>
          <p:spPr bwMode="auto">
            <a:xfrm>
              <a:off x="4902062" y="2858762"/>
              <a:ext cx="482600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4" name="Rectangle 29"/>
            <p:cNvSpPr>
              <a:spLocks noChangeArrowheads="1"/>
            </p:cNvSpPr>
            <p:nvPr/>
          </p:nvSpPr>
          <p:spPr bwMode="auto">
            <a:xfrm>
              <a:off x="5384662" y="2858762"/>
              <a:ext cx="484188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5" name="Rectangle 30"/>
            <p:cNvSpPr>
              <a:spLocks noChangeArrowheads="1"/>
            </p:cNvSpPr>
            <p:nvPr/>
          </p:nvSpPr>
          <p:spPr bwMode="auto">
            <a:xfrm>
              <a:off x="5868850" y="2858762"/>
              <a:ext cx="482600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6" name="Rectangle 31"/>
            <p:cNvSpPr>
              <a:spLocks noChangeArrowheads="1"/>
            </p:cNvSpPr>
            <p:nvPr/>
          </p:nvSpPr>
          <p:spPr bwMode="auto">
            <a:xfrm>
              <a:off x="6351450" y="2858762"/>
              <a:ext cx="484188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7" name="Rectangle 32"/>
            <p:cNvSpPr>
              <a:spLocks noChangeArrowheads="1"/>
            </p:cNvSpPr>
            <p:nvPr/>
          </p:nvSpPr>
          <p:spPr bwMode="auto">
            <a:xfrm>
              <a:off x="66537" y="3188962"/>
              <a:ext cx="484188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8" name="Rectangle 33"/>
            <p:cNvSpPr>
              <a:spLocks noChangeArrowheads="1"/>
            </p:cNvSpPr>
            <p:nvPr/>
          </p:nvSpPr>
          <p:spPr bwMode="auto">
            <a:xfrm>
              <a:off x="550725" y="3188962"/>
              <a:ext cx="482600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9" name="Rectangle 34"/>
            <p:cNvSpPr>
              <a:spLocks noChangeArrowheads="1"/>
            </p:cNvSpPr>
            <p:nvPr/>
          </p:nvSpPr>
          <p:spPr bwMode="auto">
            <a:xfrm>
              <a:off x="1033325" y="3188962"/>
              <a:ext cx="484188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0" name="Rectangle 35"/>
            <p:cNvSpPr>
              <a:spLocks noChangeArrowheads="1"/>
            </p:cNvSpPr>
            <p:nvPr/>
          </p:nvSpPr>
          <p:spPr bwMode="auto">
            <a:xfrm>
              <a:off x="1517512" y="3188962"/>
              <a:ext cx="482600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1" name="Rectangle 36"/>
            <p:cNvSpPr>
              <a:spLocks noChangeArrowheads="1"/>
            </p:cNvSpPr>
            <p:nvPr/>
          </p:nvSpPr>
          <p:spPr bwMode="auto">
            <a:xfrm>
              <a:off x="2000112" y="3188962"/>
              <a:ext cx="484188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2" name="Rectangle 37"/>
            <p:cNvSpPr>
              <a:spLocks noChangeArrowheads="1"/>
            </p:cNvSpPr>
            <p:nvPr/>
          </p:nvSpPr>
          <p:spPr bwMode="auto">
            <a:xfrm>
              <a:off x="2484300" y="3188962"/>
              <a:ext cx="482600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3" name="Rectangle 38"/>
            <p:cNvSpPr>
              <a:spLocks noChangeArrowheads="1"/>
            </p:cNvSpPr>
            <p:nvPr/>
          </p:nvSpPr>
          <p:spPr bwMode="auto">
            <a:xfrm>
              <a:off x="2966900" y="3188962"/>
              <a:ext cx="484188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4" name="Rectangle 39"/>
            <p:cNvSpPr>
              <a:spLocks noChangeArrowheads="1"/>
            </p:cNvSpPr>
            <p:nvPr/>
          </p:nvSpPr>
          <p:spPr bwMode="auto">
            <a:xfrm>
              <a:off x="3451087" y="3188962"/>
              <a:ext cx="484188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5" name="Rectangle 40"/>
            <p:cNvSpPr>
              <a:spLocks noChangeArrowheads="1"/>
            </p:cNvSpPr>
            <p:nvPr/>
          </p:nvSpPr>
          <p:spPr bwMode="auto">
            <a:xfrm>
              <a:off x="3935275" y="3188962"/>
              <a:ext cx="482600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6" name="Rectangle 41"/>
            <p:cNvSpPr>
              <a:spLocks noChangeArrowheads="1"/>
            </p:cNvSpPr>
            <p:nvPr/>
          </p:nvSpPr>
          <p:spPr bwMode="auto">
            <a:xfrm>
              <a:off x="4417875" y="3188962"/>
              <a:ext cx="484188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7" name="Rectangle 42"/>
            <p:cNvSpPr>
              <a:spLocks noChangeArrowheads="1"/>
            </p:cNvSpPr>
            <p:nvPr/>
          </p:nvSpPr>
          <p:spPr bwMode="auto">
            <a:xfrm>
              <a:off x="4902062" y="3188962"/>
              <a:ext cx="482600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8" name="Rectangle 43"/>
            <p:cNvSpPr>
              <a:spLocks noChangeArrowheads="1"/>
            </p:cNvSpPr>
            <p:nvPr/>
          </p:nvSpPr>
          <p:spPr bwMode="auto">
            <a:xfrm>
              <a:off x="5384662" y="3188962"/>
              <a:ext cx="484188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9" name="Rectangle 44"/>
            <p:cNvSpPr>
              <a:spLocks noChangeArrowheads="1"/>
            </p:cNvSpPr>
            <p:nvPr/>
          </p:nvSpPr>
          <p:spPr bwMode="auto">
            <a:xfrm>
              <a:off x="5868850" y="3188962"/>
              <a:ext cx="482600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0" name="Rectangle 45"/>
            <p:cNvSpPr>
              <a:spLocks noChangeArrowheads="1"/>
            </p:cNvSpPr>
            <p:nvPr/>
          </p:nvSpPr>
          <p:spPr bwMode="auto">
            <a:xfrm>
              <a:off x="6351450" y="3188962"/>
              <a:ext cx="484188" cy="33020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1" name="Rectangle 46"/>
            <p:cNvSpPr>
              <a:spLocks noChangeArrowheads="1"/>
            </p:cNvSpPr>
            <p:nvPr/>
          </p:nvSpPr>
          <p:spPr bwMode="auto">
            <a:xfrm>
              <a:off x="66537" y="3519162"/>
              <a:ext cx="484188" cy="33655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2" name="Rectangle 47"/>
            <p:cNvSpPr>
              <a:spLocks noChangeArrowheads="1"/>
            </p:cNvSpPr>
            <p:nvPr/>
          </p:nvSpPr>
          <p:spPr bwMode="auto">
            <a:xfrm>
              <a:off x="550725" y="3519162"/>
              <a:ext cx="482600" cy="33655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3" name="Rectangle 48"/>
            <p:cNvSpPr>
              <a:spLocks noChangeArrowheads="1"/>
            </p:cNvSpPr>
            <p:nvPr/>
          </p:nvSpPr>
          <p:spPr bwMode="auto">
            <a:xfrm>
              <a:off x="1033325" y="3519162"/>
              <a:ext cx="484188" cy="33655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4" name="Rectangle 49"/>
            <p:cNvSpPr>
              <a:spLocks noChangeArrowheads="1"/>
            </p:cNvSpPr>
            <p:nvPr/>
          </p:nvSpPr>
          <p:spPr bwMode="auto">
            <a:xfrm>
              <a:off x="1517512" y="3519162"/>
              <a:ext cx="482600" cy="33655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5" name="Rectangle 50"/>
            <p:cNvSpPr>
              <a:spLocks noChangeArrowheads="1"/>
            </p:cNvSpPr>
            <p:nvPr/>
          </p:nvSpPr>
          <p:spPr bwMode="auto">
            <a:xfrm>
              <a:off x="2000112" y="3519162"/>
              <a:ext cx="484188" cy="33655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6" name="Rectangle 51"/>
            <p:cNvSpPr>
              <a:spLocks noChangeArrowheads="1"/>
            </p:cNvSpPr>
            <p:nvPr/>
          </p:nvSpPr>
          <p:spPr bwMode="auto">
            <a:xfrm>
              <a:off x="2484300" y="3519162"/>
              <a:ext cx="482600" cy="33655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7" name="Rectangle 52"/>
            <p:cNvSpPr>
              <a:spLocks noChangeArrowheads="1"/>
            </p:cNvSpPr>
            <p:nvPr/>
          </p:nvSpPr>
          <p:spPr bwMode="auto">
            <a:xfrm>
              <a:off x="2966900" y="3519162"/>
              <a:ext cx="484188" cy="33655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8" name="Rectangle 53"/>
            <p:cNvSpPr>
              <a:spLocks noChangeArrowheads="1"/>
            </p:cNvSpPr>
            <p:nvPr/>
          </p:nvSpPr>
          <p:spPr bwMode="auto">
            <a:xfrm>
              <a:off x="3451087" y="3519162"/>
              <a:ext cx="484188" cy="33655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9" name="Rectangle 54"/>
            <p:cNvSpPr>
              <a:spLocks noChangeArrowheads="1"/>
            </p:cNvSpPr>
            <p:nvPr/>
          </p:nvSpPr>
          <p:spPr bwMode="auto">
            <a:xfrm>
              <a:off x="3935275" y="3519162"/>
              <a:ext cx="482600" cy="33655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0" name="Rectangle 55"/>
            <p:cNvSpPr>
              <a:spLocks noChangeArrowheads="1"/>
            </p:cNvSpPr>
            <p:nvPr/>
          </p:nvSpPr>
          <p:spPr bwMode="auto">
            <a:xfrm>
              <a:off x="4417875" y="3519162"/>
              <a:ext cx="484188" cy="33655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1" name="Rectangle 56"/>
            <p:cNvSpPr>
              <a:spLocks noChangeArrowheads="1"/>
            </p:cNvSpPr>
            <p:nvPr/>
          </p:nvSpPr>
          <p:spPr bwMode="auto">
            <a:xfrm>
              <a:off x="4902062" y="3519162"/>
              <a:ext cx="482600" cy="33655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2" name="Rectangle 57"/>
            <p:cNvSpPr>
              <a:spLocks noChangeArrowheads="1"/>
            </p:cNvSpPr>
            <p:nvPr/>
          </p:nvSpPr>
          <p:spPr bwMode="auto">
            <a:xfrm>
              <a:off x="5384662" y="3519162"/>
              <a:ext cx="484188" cy="33655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3" name="Rectangle 58"/>
            <p:cNvSpPr>
              <a:spLocks noChangeArrowheads="1"/>
            </p:cNvSpPr>
            <p:nvPr/>
          </p:nvSpPr>
          <p:spPr bwMode="auto">
            <a:xfrm>
              <a:off x="5868850" y="3519162"/>
              <a:ext cx="482600" cy="33655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4" name="Rectangle 59"/>
            <p:cNvSpPr>
              <a:spLocks noChangeArrowheads="1"/>
            </p:cNvSpPr>
            <p:nvPr/>
          </p:nvSpPr>
          <p:spPr bwMode="auto">
            <a:xfrm>
              <a:off x="6351450" y="3519162"/>
              <a:ext cx="484188" cy="336550"/>
            </a:xfrm>
            <a:prstGeom prst="rect">
              <a:avLst/>
            </a:prstGeom>
            <a:solidFill>
              <a:srgbClr val="EA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5" name="Line 60"/>
            <p:cNvSpPr>
              <a:spLocks noChangeShapeType="1"/>
            </p:cNvSpPr>
            <p:nvPr/>
          </p:nvSpPr>
          <p:spPr bwMode="auto">
            <a:xfrm>
              <a:off x="550725" y="2517450"/>
              <a:ext cx="0" cy="13446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6" name="Line 61"/>
            <p:cNvSpPr>
              <a:spLocks noChangeShapeType="1"/>
            </p:cNvSpPr>
            <p:nvPr/>
          </p:nvSpPr>
          <p:spPr bwMode="auto">
            <a:xfrm>
              <a:off x="1033325" y="2517450"/>
              <a:ext cx="0" cy="13446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7" name="Line 62"/>
            <p:cNvSpPr>
              <a:spLocks noChangeShapeType="1"/>
            </p:cNvSpPr>
            <p:nvPr/>
          </p:nvSpPr>
          <p:spPr bwMode="auto">
            <a:xfrm>
              <a:off x="1517512" y="2517450"/>
              <a:ext cx="0" cy="13446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8" name="Line 63"/>
            <p:cNvSpPr>
              <a:spLocks noChangeShapeType="1"/>
            </p:cNvSpPr>
            <p:nvPr/>
          </p:nvSpPr>
          <p:spPr bwMode="auto">
            <a:xfrm>
              <a:off x="2000112" y="2517450"/>
              <a:ext cx="0" cy="1344613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9" name="Line 64"/>
            <p:cNvSpPr>
              <a:spLocks noChangeShapeType="1"/>
            </p:cNvSpPr>
            <p:nvPr/>
          </p:nvSpPr>
          <p:spPr bwMode="auto">
            <a:xfrm>
              <a:off x="2484300" y="2517450"/>
              <a:ext cx="0" cy="13446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0" name="Line 65"/>
            <p:cNvSpPr>
              <a:spLocks noChangeShapeType="1"/>
            </p:cNvSpPr>
            <p:nvPr/>
          </p:nvSpPr>
          <p:spPr bwMode="auto">
            <a:xfrm>
              <a:off x="2966900" y="2517450"/>
              <a:ext cx="0" cy="13446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1" name="Line 66"/>
            <p:cNvSpPr>
              <a:spLocks noChangeShapeType="1"/>
            </p:cNvSpPr>
            <p:nvPr/>
          </p:nvSpPr>
          <p:spPr bwMode="auto">
            <a:xfrm>
              <a:off x="3451087" y="2517450"/>
              <a:ext cx="0" cy="1344613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2" name="Line 67"/>
            <p:cNvSpPr>
              <a:spLocks noChangeShapeType="1"/>
            </p:cNvSpPr>
            <p:nvPr/>
          </p:nvSpPr>
          <p:spPr bwMode="auto">
            <a:xfrm>
              <a:off x="3935275" y="2517450"/>
              <a:ext cx="0" cy="13446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3" name="Line 68"/>
            <p:cNvSpPr>
              <a:spLocks noChangeShapeType="1"/>
            </p:cNvSpPr>
            <p:nvPr/>
          </p:nvSpPr>
          <p:spPr bwMode="auto">
            <a:xfrm>
              <a:off x="4417875" y="2517450"/>
              <a:ext cx="0" cy="13446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4" name="Line 69"/>
            <p:cNvSpPr>
              <a:spLocks noChangeShapeType="1"/>
            </p:cNvSpPr>
            <p:nvPr/>
          </p:nvSpPr>
          <p:spPr bwMode="auto">
            <a:xfrm>
              <a:off x="4902062" y="2517450"/>
              <a:ext cx="0" cy="13446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5" name="Line 70"/>
            <p:cNvSpPr>
              <a:spLocks noChangeShapeType="1"/>
            </p:cNvSpPr>
            <p:nvPr/>
          </p:nvSpPr>
          <p:spPr bwMode="auto">
            <a:xfrm>
              <a:off x="5384662" y="2517450"/>
              <a:ext cx="0" cy="13446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6" name="Line 71"/>
            <p:cNvSpPr>
              <a:spLocks noChangeShapeType="1"/>
            </p:cNvSpPr>
            <p:nvPr/>
          </p:nvSpPr>
          <p:spPr bwMode="auto">
            <a:xfrm>
              <a:off x="5868850" y="2517450"/>
              <a:ext cx="0" cy="13446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7" name="Line 72"/>
            <p:cNvSpPr>
              <a:spLocks noChangeShapeType="1"/>
            </p:cNvSpPr>
            <p:nvPr/>
          </p:nvSpPr>
          <p:spPr bwMode="auto">
            <a:xfrm>
              <a:off x="6351450" y="2517450"/>
              <a:ext cx="0" cy="13446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8" name="Line 73"/>
            <p:cNvSpPr>
              <a:spLocks noChangeShapeType="1"/>
            </p:cNvSpPr>
            <p:nvPr/>
          </p:nvSpPr>
          <p:spPr bwMode="auto">
            <a:xfrm>
              <a:off x="60187" y="2858762"/>
              <a:ext cx="6781800" cy="0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9" name="Line 74"/>
            <p:cNvSpPr>
              <a:spLocks noChangeShapeType="1"/>
            </p:cNvSpPr>
            <p:nvPr/>
          </p:nvSpPr>
          <p:spPr bwMode="auto">
            <a:xfrm>
              <a:off x="60187" y="3188962"/>
              <a:ext cx="6781800" cy="0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0" name="Line 75"/>
            <p:cNvSpPr>
              <a:spLocks noChangeShapeType="1"/>
            </p:cNvSpPr>
            <p:nvPr/>
          </p:nvSpPr>
          <p:spPr bwMode="auto">
            <a:xfrm>
              <a:off x="60187" y="3519162"/>
              <a:ext cx="6781800" cy="0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1" name="Line 76"/>
            <p:cNvSpPr>
              <a:spLocks noChangeShapeType="1"/>
            </p:cNvSpPr>
            <p:nvPr/>
          </p:nvSpPr>
          <p:spPr bwMode="auto">
            <a:xfrm>
              <a:off x="66537" y="2517450"/>
              <a:ext cx="0" cy="13446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2" name="Line 77"/>
            <p:cNvSpPr>
              <a:spLocks noChangeShapeType="1"/>
            </p:cNvSpPr>
            <p:nvPr/>
          </p:nvSpPr>
          <p:spPr bwMode="auto">
            <a:xfrm>
              <a:off x="6835637" y="2517450"/>
              <a:ext cx="0" cy="13446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3" name="Line 78"/>
            <p:cNvSpPr>
              <a:spLocks noChangeShapeType="1"/>
            </p:cNvSpPr>
            <p:nvPr/>
          </p:nvSpPr>
          <p:spPr bwMode="auto">
            <a:xfrm>
              <a:off x="34926" y="2339752"/>
              <a:ext cx="6781800" cy="0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4" name="Line 79"/>
            <p:cNvSpPr>
              <a:spLocks noChangeShapeType="1"/>
            </p:cNvSpPr>
            <p:nvPr/>
          </p:nvSpPr>
          <p:spPr bwMode="auto">
            <a:xfrm>
              <a:off x="60187" y="3855712"/>
              <a:ext cx="6781800" cy="0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5" name="Rectangle 80"/>
            <p:cNvSpPr>
              <a:spLocks noChangeArrowheads="1"/>
            </p:cNvSpPr>
            <p:nvPr/>
          </p:nvSpPr>
          <p:spPr bwMode="auto">
            <a:xfrm>
              <a:off x="144325" y="2563487"/>
              <a:ext cx="4699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700" b="0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itka Text" panose="02000505000000020004" pitchFamily="2" charset="0"/>
                </a:rPr>
                <a:t>Ta1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6" name="Rectangle 81"/>
            <p:cNvSpPr>
              <a:spLocks noChangeArrowheads="1"/>
            </p:cNvSpPr>
            <p:nvPr/>
          </p:nvSpPr>
          <p:spPr bwMode="auto">
            <a:xfrm>
              <a:off x="137975" y="2896862"/>
              <a:ext cx="4889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700" b="0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itka Text" panose="02000505000000020004" pitchFamily="2" charset="0"/>
                </a:rPr>
                <a:t>Ta2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7" name="Rectangle 82"/>
            <p:cNvSpPr>
              <a:spLocks noChangeArrowheads="1"/>
            </p:cNvSpPr>
            <p:nvPr/>
          </p:nvSpPr>
          <p:spPr bwMode="auto">
            <a:xfrm>
              <a:off x="144325" y="3227062"/>
              <a:ext cx="4699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700" b="0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itka Text" panose="02000505000000020004" pitchFamily="2" charset="0"/>
                </a:rPr>
                <a:t>Tb1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8" name="Rectangle 83"/>
            <p:cNvSpPr>
              <a:spLocks noChangeArrowheads="1"/>
            </p:cNvSpPr>
            <p:nvPr/>
          </p:nvSpPr>
          <p:spPr bwMode="auto">
            <a:xfrm>
              <a:off x="696775" y="3227062"/>
              <a:ext cx="20197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700" b="1" i="0" u="none" strike="noStrike" cap="none" normalizeH="0" baseline="0" dirty="0" smtClean="0">
                  <a:ln>
                    <a:noFill/>
                  </a:ln>
                  <a:solidFill>
                    <a:srgbClr val="263AF8"/>
                  </a:solidFill>
                  <a:effectLst/>
                  <a:latin typeface="Sitka Text" panose="02000505000000020004" pitchFamily="2" charset="0"/>
                </a:rPr>
                <a:t>11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263AF8"/>
                </a:solidFill>
                <a:effectLst/>
              </a:endParaRPr>
            </a:p>
          </p:txBody>
        </p:sp>
        <p:sp>
          <p:nvSpPr>
            <p:cNvPr id="289" name="Rectangle 84"/>
            <p:cNvSpPr>
              <a:spLocks noChangeArrowheads="1"/>
            </p:cNvSpPr>
            <p:nvPr/>
          </p:nvSpPr>
          <p:spPr bwMode="auto">
            <a:xfrm>
              <a:off x="1168262" y="3227062"/>
              <a:ext cx="24045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700" b="1" i="0" u="none" strike="noStrike" cap="none" normalizeH="0" baseline="0" smtClean="0">
                  <a:ln>
                    <a:noFill/>
                  </a:ln>
                  <a:solidFill>
                    <a:srgbClr val="263AF8"/>
                  </a:solidFill>
                  <a:effectLst/>
                  <a:latin typeface="Sitka Text" panose="02000505000000020004" pitchFamily="2" charset="0"/>
                </a:rPr>
                <a:t>81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rgbClr val="263AF8"/>
                </a:solidFill>
                <a:effectLst/>
              </a:endParaRPr>
            </a:p>
          </p:txBody>
        </p:sp>
        <p:sp>
          <p:nvSpPr>
            <p:cNvPr id="290" name="Rectangle 85"/>
            <p:cNvSpPr>
              <a:spLocks noChangeArrowheads="1"/>
            </p:cNvSpPr>
            <p:nvPr/>
          </p:nvSpPr>
          <p:spPr bwMode="auto">
            <a:xfrm>
              <a:off x="1639750" y="3227062"/>
              <a:ext cx="269304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700" b="1" i="0" u="none" strike="noStrike" cap="none" normalizeH="0" baseline="0" smtClean="0">
                  <a:ln>
                    <a:noFill/>
                  </a:ln>
                  <a:solidFill>
                    <a:srgbClr val="263AF8"/>
                  </a:solidFill>
                  <a:effectLst/>
                  <a:latin typeface="Sitka Text" panose="02000505000000020004" pitchFamily="2" charset="0"/>
                </a:rPr>
                <a:t>94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rgbClr val="263AF8"/>
                </a:solidFill>
                <a:effectLst/>
              </a:endParaRPr>
            </a:p>
          </p:txBody>
        </p:sp>
        <p:sp>
          <p:nvSpPr>
            <p:cNvPr id="291" name="Rectangle 86"/>
            <p:cNvSpPr>
              <a:spLocks noChangeArrowheads="1"/>
            </p:cNvSpPr>
            <p:nvPr/>
          </p:nvSpPr>
          <p:spPr bwMode="auto">
            <a:xfrm>
              <a:off x="2141400" y="3227062"/>
              <a:ext cx="219612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700" b="1" i="0" u="none" strike="noStrike" cap="none" normalizeH="0" baseline="0" dirty="0" smtClean="0">
                  <a:ln>
                    <a:noFill/>
                  </a:ln>
                  <a:solidFill>
                    <a:srgbClr val="263AF8"/>
                  </a:solidFill>
                  <a:effectLst/>
                  <a:latin typeface="Sitka Text" panose="02000505000000020004" pitchFamily="2" charset="0"/>
                </a:rPr>
                <a:t>17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263AF8"/>
                </a:solidFill>
                <a:effectLst/>
              </a:endParaRPr>
            </a:p>
          </p:txBody>
        </p:sp>
        <p:sp>
          <p:nvSpPr>
            <p:cNvPr id="292" name="Rectangle 87"/>
            <p:cNvSpPr>
              <a:spLocks noChangeArrowheads="1"/>
            </p:cNvSpPr>
            <p:nvPr/>
          </p:nvSpPr>
          <p:spPr bwMode="auto">
            <a:xfrm>
              <a:off x="2606537" y="3227062"/>
              <a:ext cx="267702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700" b="1" i="0" u="none" strike="noStrike" cap="none" normalizeH="0" baseline="0" dirty="0" smtClean="0">
                  <a:ln>
                    <a:noFill/>
                  </a:ln>
                  <a:solidFill>
                    <a:srgbClr val="263AF8"/>
                  </a:solidFill>
                  <a:effectLst/>
                  <a:latin typeface="Sitka Text" panose="02000505000000020004" pitchFamily="2" charset="0"/>
                </a:rPr>
                <a:t>28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263AF8"/>
                </a:solidFill>
                <a:effectLst/>
              </a:endParaRPr>
            </a:p>
          </p:txBody>
        </p:sp>
        <p:sp>
          <p:nvSpPr>
            <p:cNvPr id="293" name="Rectangle 88"/>
            <p:cNvSpPr>
              <a:spLocks noChangeArrowheads="1"/>
            </p:cNvSpPr>
            <p:nvPr/>
          </p:nvSpPr>
          <p:spPr bwMode="auto">
            <a:xfrm>
              <a:off x="3089137" y="3227062"/>
              <a:ext cx="269304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700" b="1" i="0" u="none" strike="noStrike" cap="none" normalizeH="0" baseline="0" smtClean="0">
                  <a:ln>
                    <a:noFill/>
                  </a:ln>
                  <a:solidFill>
                    <a:srgbClr val="263AF8"/>
                  </a:solidFill>
                  <a:effectLst/>
                  <a:latin typeface="Sitka Text" panose="02000505000000020004" pitchFamily="2" charset="0"/>
                </a:rPr>
                <a:t>99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rgbClr val="263AF8"/>
                </a:solidFill>
                <a:effectLst/>
              </a:endParaRPr>
            </a:p>
          </p:txBody>
        </p:sp>
        <p:sp>
          <p:nvSpPr>
            <p:cNvPr id="294" name="Rectangle 89"/>
            <p:cNvSpPr>
              <a:spLocks noChangeArrowheads="1"/>
            </p:cNvSpPr>
            <p:nvPr/>
          </p:nvSpPr>
          <p:spPr bwMode="auto">
            <a:xfrm>
              <a:off x="3592375" y="3227062"/>
              <a:ext cx="227626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700" b="1" i="0" u="none" strike="noStrike" cap="none" normalizeH="0" baseline="0" dirty="0" smtClean="0">
                  <a:ln>
                    <a:noFill/>
                  </a:ln>
                  <a:solidFill>
                    <a:srgbClr val="263AF8"/>
                  </a:solidFill>
                  <a:effectLst/>
                  <a:latin typeface="Sitka Text" panose="02000505000000020004" pitchFamily="2" charset="0"/>
                </a:rPr>
                <a:t>15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263AF8"/>
                </a:solidFill>
                <a:effectLst/>
              </a:endParaRPr>
            </a:p>
          </p:txBody>
        </p:sp>
        <p:sp>
          <p:nvSpPr>
            <p:cNvPr id="295" name="Rectangle 90"/>
            <p:cNvSpPr>
              <a:spLocks noChangeArrowheads="1"/>
            </p:cNvSpPr>
            <p:nvPr/>
          </p:nvSpPr>
          <p:spPr bwMode="auto">
            <a:xfrm>
              <a:off x="131625" y="3560437"/>
              <a:ext cx="4953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700" b="0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itka Text" panose="02000505000000020004" pitchFamily="2" charset="0"/>
                </a:rPr>
                <a:t>Tb2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6" name="Rectangle 91"/>
            <p:cNvSpPr>
              <a:spLocks noChangeArrowheads="1"/>
            </p:cNvSpPr>
            <p:nvPr/>
          </p:nvSpPr>
          <p:spPr bwMode="auto">
            <a:xfrm>
              <a:off x="690425" y="3560437"/>
              <a:ext cx="22923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7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Sitka Text" panose="02000505000000020004" pitchFamily="2" charset="0"/>
                </a:rPr>
                <a:t>12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297" name="Rectangle 92"/>
            <p:cNvSpPr>
              <a:spLocks noChangeArrowheads="1"/>
            </p:cNvSpPr>
            <p:nvPr/>
          </p:nvSpPr>
          <p:spPr bwMode="auto">
            <a:xfrm>
              <a:off x="1161912" y="3560437"/>
              <a:ext cx="253274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700" b="1" i="0" u="none" strike="noStrike" cap="none" normalizeH="0" baseline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Sitka Text" panose="02000505000000020004" pitchFamily="2" charset="0"/>
                </a:rPr>
                <a:t>35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298" name="Rectangle 93"/>
            <p:cNvSpPr>
              <a:spLocks noChangeArrowheads="1"/>
            </p:cNvSpPr>
            <p:nvPr/>
          </p:nvSpPr>
          <p:spPr bwMode="auto">
            <a:xfrm>
              <a:off x="1639750" y="3560437"/>
              <a:ext cx="269304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700" b="1" i="0" u="none" strike="noStrike" cap="none" normalizeH="0" baseline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Sitka Text" panose="02000505000000020004" pitchFamily="2" charset="0"/>
                </a:rPr>
                <a:t>96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299" name="Rectangle 94"/>
            <p:cNvSpPr>
              <a:spLocks noChangeArrowheads="1"/>
            </p:cNvSpPr>
            <p:nvPr/>
          </p:nvSpPr>
          <p:spPr bwMode="auto">
            <a:xfrm>
              <a:off x="2135050" y="3560437"/>
              <a:ext cx="235642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7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Sitka Text" panose="02000505000000020004" pitchFamily="2" charset="0"/>
                </a:rPr>
                <a:t>41</a:t>
              </a:r>
              <a:endParaRPr kumimoji="0" lang="zh-CN" altLang="zh-CN" sz="1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300" name="Rectangle 95"/>
            <p:cNvSpPr>
              <a:spLocks noChangeArrowheads="1"/>
            </p:cNvSpPr>
            <p:nvPr/>
          </p:nvSpPr>
          <p:spPr bwMode="auto">
            <a:xfrm>
              <a:off x="2606537" y="3560437"/>
              <a:ext cx="26609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700" b="1" i="0" u="none" strike="noStrike" cap="none" normalizeH="0" baseline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Sitka Text" panose="02000505000000020004" pitchFamily="2" charset="0"/>
                </a:rPr>
                <a:t>58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301" name="Rectangle 96"/>
            <p:cNvSpPr>
              <a:spLocks noChangeArrowheads="1"/>
            </p:cNvSpPr>
            <p:nvPr/>
          </p:nvSpPr>
          <p:spPr bwMode="auto">
            <a:xfrm>
              <a:off x="3095487" y="3560437"/>
              <a:ext cx="246862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700" b="1" i="0" u="none" strike="noStrike" cap="none" normalizeH="0" baseline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Sitka Text" panose="02000505000000020004" pitchFamily="2" charset="0"/>
                </a:rPr>
                <a:t>75</a:t>
              </a:r>
              <a:endParaRPr kumimoji="0" lang="zh-CN" altLang="zh-CN" sz="1800" b="1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88" grpId="0"/>
      <p:bldP spid="189" grpId="0"/>
      <p:bldP spid="190" grpId="0"/>
      <p:bldP spid="191" grpId="0"/>
      <p:bldP spid="192" grpId="0"/>
      <p:bldP spid="193" grpId="0"/>
      <p:bldP spid="194" grpId="0"/>
      <p:bldP spid="196" grpId="0"/>
      <p:bldP spid="197" grpId="0"/>
      <p:bldP spid="198" grpId="0"/>
      <p:bldP spid="199" grpId="0"/>
      <p:bldP spid="200" grpId="0"/>
      <p:bldP spid="201" grpId="0"/>
      <p:bldP spid="204" grpId="0" animBg="1"/>
      <p:bldP spid="20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Simple External </a:t>
            </a:r>
            <a:r>
              <a:rPr lang="en-US" altLang="zh-CN" dirty="0" err="1"/>
              <a:t>Mergesort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75385" y="4788024"/>
                <a:ext cx="5915025" cy="3452162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 smtClean="0"/>
                  <a:t>The algorithm need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i="0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altLang="zh-CN" dirty="0"/>
                  <a:t> passes, plus the initial run-constructing </a:t>
                </a:r>
                <a:r>
                  <a:rPr lang="en-US" altLang="zh-CN" dirty="0" smtClean="0"/>
                  <a:t>pass.</a:t>
                </a:r>
                <a:endParaRPr lang="en-US" altLang="zh-CN" dirty="0" smtClean="0"/>
              </a:p>
              <a:p>
                <a:r>
                  <a:rPr lang="en-US" altLang="zh-CN" dirty="0"/>
                  <a:t>e.g. 10 </a:t>
                </a:r>
                <a:r>
                  <a:rPr lang="en-US" altLang="zh-CN" dirty="0" smtClean="0"/>
                  <a:t>million (10*</a:t>
                </a:r>
                <a:r>
                  <a:rPr lang="en-US" altLang="zh-CN" dirty="0"/>
                  <a:t>2</a:t>
                </a:r>
                <a:r>
                  <a:rPr lang="en-US" altLang="zh-CN" baseline="30000" dirty="0"/>
                  <a:t>20</a:t>
                </a:r>
                <a:r>
                  <a:rPr lang="en-US" altLang="zh-CN" dirty="0" smtClean="0"/>
                  <a:t>) </a:t>
                </a:r>
                <a:r>
                  <a:rPr lang="en-US" altLang="zh-CN" dirty="0"/>
                  <a:t>records of 128 bytes </a:t>
                </a:r>
                <a:r>
                  <a:rPr lang="en-US" altLang="zh-CN" dirty="0" smtClean="0"/>
                  <a:t>(2</a:t>
                </a:r>
                <a:r>
                  <a:rPr lang="en-US" altLang="zh-CN" baseline="30000" dirty="0" smtClean="0"/>
                  <a:t>7</a:t>
                </a:r>
                <a:r>
                  <a:rPr lang="en-US" altLang="zh-CN" dirty="0" smtClean="0"/>
                  <a:t>bytes) each</a:t>
                </a:r>
                <a:r>
                  <a:rPr lang="en-US" altLang="zh-CN" dirty="0"/>
                  <a:t>, and </a:t>
                </a:r>
                <a:r>
                  <a:rPr lang="en-US" altLang="zh-CN" dirty="0" smtClean="0"/>
                  <a:t>4 </a:t>
                </a:r>
                <a:r>
                  <a:rPr lang="en-US" altLang="zh-CN" dirty="0"/>
                  <a:t>megabytes </a:t>
                </a:r>
                <a:r>
                  <a:rPr lang="en-US" altLang="zh-CN" dirty="0" smtClean="0"/>
                  <a:t>(4*2</a:t>
                </a:r>
                <a:r>
                  <a:rPr lang="en-US" altLang="zh-CN" baseline="30000" dirty="0" smtClean="0"/>
                  <a:t>20</a:t>
                </a:r>
                <a:r>
                  <a:rPr lang="en-US" altLang="zh-CN" dirty="0" smtClean="0"/>
                  <a:t>bytes) of internal </a:t>
                </a:r>
                <a:r>
                  <a:rPr lang="en-US" altLang="zh-CN" dirty="0"/>
                  <a:t>memory, </a:t>
                </a:r>
                <a:r>
                  <a:rPr lang="en-US" altLang="zh-CN" dirty="0" smtClean="0"/>
                  <a:t>the number of </a:t>
                </a:r>
                <a:r>
                  <a:rPr lang="en-US" altLang="zh-CN" dirty="0"/>
                  <a:t>initial </a:t>
                </a:r>
                <a:r>
                  <a:rPr lang="en-US" altLang="zh-CN" dirty="0" smtClean="0"/>
                  <a:t>runs is </a:t>
                </a:r>
                <a:r>
                  <a:rPr lang="en-US" altLang="zh-CN" dirty="0"/>
                  <a:t>320 </a:t>
                </a:r>
                <a:r>
                  <a:rPr lang="en-US" altLang="zh-CN" dirty="0" smtClean="0"/>
                  <a:t>, we need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320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altLang="zh-CN" dirty="0" smtClean="0"/>
                  <a:t> = 9 passes to merge the runs.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5385" y="4788024"/>
                <a:ext cx="5915025" cy="3452162"/>
              </a:xfrm>
              <a:blipFill rotWithShape="1">
                <a:blip r:embed="rId1"/>
                <a:stretch>
                  <a:fillRect l="-7" t="-4" r="7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9110" y="8475137"/>
            <a:ext cx="1543050" cy="486833"/>
          </a:xfrm>
        </p:spPr>
        <p:txBody>
          <a:bodyPr/>
          <a:lstStyle/>
          <a:p>
            <a:pPr>
              <a:defRPr/>
            </a:pPr>
            <a:fld id="{B434B707-2E14-4BBE-8AE9-9A31A4F0C88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7-5 Sorting V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75592" y="3140045"/>
          <a:ext cx="6768748" cy="1296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3482"/>
                <a:gridCol w="483482"/>
                <a:gridCol w="483482"/>
                <a:gridCol w="483482"/>
                <a:gridCol w="483482"/>
                <a:gridCol w="483482"/>
                <a:gridCol w="483482"/>
                <a:gridCol w="483482"/>
                <a:gridCol w="483482"/>
                <a:gridCol w="483482"/>
                <a:gridCol w="483482"/>
                <a:gridCol w="483482"/>
                <a:gridCol w="483482"/>
                <a:gridCol w="483482"/>
              </a:tblGrid>
              <a:tr h="3268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>
                          <a:effectLst/>
                          <a:latin typeface="Sitka Text" panose="02000505000000020004" pitchFamily="2" charset="0"/>
                        </a:rPr>
                        <a:t>Ta1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u="none" strike="noStrike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</a:rPr>
                        <a:t>11</a:t>
                      </a:r>
                      <a:endParaRPr lang="zh-CN" altLang="en-US" sz="1600" b="1" i="0" u="none" strike="noStrike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u="none" strike="noStrike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</a:rPr>
                        <a:t>12</a:t>
                      </a:r>
                      <a:endParaRPr lang="zh-CN" altLang="en-US" sz="1600" b="1" i="0" u="none" strike="noStrike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u="none" strike="noStrike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</a:rPr>
                        <a:t>17</a:t>
                      </a:r>
                      <a:endParaRPr lang="zh-CN" altLang="en-US" sz="1600" b="1" i="0" u="none" strike="noStrike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u="none" strike="noStrike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</a:rPr>
                        <a:t>28</a:t>
                      </a:r>
                      <a:endParaRPr lang="zh-CN" altLang="en-US" sz="1600" b="1" i="0" u="none" strike="noStrike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u="none" strike="noStrike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</a:rPr>
                        <a:t>35</a:t>
                      </a:r>
                      <a:endParaRPr lang="zh-CN" altLang="en-US" sz="1600" b="1" i="0" u="none" strike="noStrike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u="none" strike="noStrike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</a:rPr>
                        <a:t>41</a:t>
                      </a:r>
                      <a:endParaRPr lang="zh-CN" altLang="en-US" sz="1600" b="1" i="0" u="none" strike="noStrike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u="none" strike="noStrike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</a:rPr>
                        <a:t>58</a:t>
                      </a:r>
                      <a:endParaRPr lang="zh-CN" altLang="en-US" sz="1600" b="1" i="0" u="none" strike="noStrike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u="none" strike="noStrike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</a:rPr>
                        <a:t>75</a:t>
                      </a:r>
                      <a:endParaRPr lang="zh-CN" altLang="en-US" sz="1600" b="1" i="0" u="none" strike="noStrike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u="none" strike="noStrike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</a:rPr>
                        <a:t>81</a:t>
                      </a:r>
                      <a:endParaRPr lang="zh-CN" altLang="en-US" sz="1600" b="1" i="0" u="none" strike="noStrike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u="none" strike="noStrike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</a:rPr>
                        <a:t>94</a:t>
                      </a:r>
                      <a:endParaRPr lang="zh-CN" altLang="en-US" sz="1600" b="1" i="0" u="none" strike="noStrike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u="none" strike="noStrike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</a:rPr>
                        <a:t>96</a:t>
                      </a:r>
                      <a:endParaRPr lang="zh-CN" altLang="en-US" sz="1600" b="1" i="0" u="none" strike="noStrike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u="none" strike="noStrike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</a:rPr>
                        <a:t>99</a:t>
                      </a:r>
                      <a:endParaRPr lang="zh-CN" altLang="en-US" sz="1600" b="1" i="0" u="none" strike="noStrike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i="0" u="none" strike="noStrike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  <a:ea typeface="等线" panose="02010600030101010101" pitchFamily="2" charset="-122"/>
                        </a:rPr>
                        <a:t>15</a:t>
                      </a:r>
                      <a:endParaRPr lang="en-US" altLang="zh-CN" sz="1600" b="1" i="0" u="none" strike="noStrike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</a:tr>
              <a:tr h="3212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>
                          <a:effectLst/>
                          <a:latin typeface="Sitka Text" panose="02000505000000020004" pitchFamily="2" charset="0"/>
                        </a:rPr>
                        <a:t>Ta2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i="0" u="none" strike="noStrike" kern="1200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i="0" u="none" strike="noStrike" kern="1200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i="0" u="none" strike="noStrike" kern="1200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i="0" u="none" strike="noStrike" kern="1200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i="0" u="none" strike="noStrike" kern="1200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i="0" u="none" strike="noStrike" kern="1200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4063" marR="4063" marT="4063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</a:tr>
              <a:tr h="3212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>
                          <a:effectLst/>
                          <a:latin typeface="Sitka Text" panose="02000505000000020004" pitchFamily="2" charset="0"/>
                        </a:rPr>
                        <a:t>Tb1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1" i="0" u="none" strike="noStrike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1" i="0" u="none" strike="noStrike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1" i="0" u="none" strike="noStrike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1" i="0" u="none" strike="noStrike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1" i="0" u="none" strike="noStrike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1" i="0" u="none" strike="noStrike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1" i="0" u="none" strike="noStrike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1" i="0" u="none" strike="noStrike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1" i="0" u="none" strike="noStrike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1" i="0" u="none" strike="noStrike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1" i="0" u="none" strike="noStrike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1" i="0" u="none" strike="noStrike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</a:tr>
              <a:tr h="3268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>
                          <a:effectLst/>
                          <a:latin typeface="Sitka Text" panose="02000505000000020004" pitchFamily="2" charset="0"/>
                        </a:rPr>
                        <a:t>Tb2</a:t>
                      </a:r>
                      <a:endParaRPr lang="en-US" sz="1600" b="0" i="1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u="none" strike="noStrike" dirty="0">
                          <a:effectLst/>
                          <a:latin typeface="Sitka Text" panose="02000505000000020004" pitchFamily="2" charset="0"/>
                        </a:rPr>
                        <a:t>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/>
                </a:tc>
              </a:tr>
            </a:tbl>
          </a:graphicData>
        </a:graphic>
      </p:graphicFrame>
      <p:sp>
        <p:nvSpPr>
          <p:cNvPr id="109" name="矩形 108"/>
          <p:cNvSpPr/>
          <p:nvPr/>
        </p:nvSpPr>
        <p:spPr>
          <a:xfrm>
            <a:off x="136526" y="2699792"/>
            <a:ext cx="58801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Final pass (merge the runs into the </a:t>
            </a:r>
            <a:r>
              <a:rPr lang="en-US" altLang="zh-CN" dirty="0">
                <a:solidFill>
                  <a:srgbClr val="FF0000"/>
                </a:solidFill>
                <a:latin typeface="Sitka Text" panose="02000505000000020004" pitchFamily="2" charset="0"/>
              </a:rPr>
              <a:t>one </a:t>
            </a:r>
            <a:r>
              <a:rPr lang="en-US" altLang="zh-CN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of </a:t>
            </a:r>
            <a:r>
              <a:rPr lang="en-US" altLang="zh-CN" dirty="0">
                <a:solidFill>
                  <a:srgbClr val="FF0000"/>
                </a:solidFill>
                <a:latin typeface="Sitka Text" panose="02000505000000020004" pitchFamily="2" charset="0"/>
              </a:rPr>
              <a:t>length N.)</a:t>
            </a:r>
            <a:endParaRPr lang="zh-CN" altLang="en-US" dirty="0">
              <a:solidFill>
                <a:srgbClr val="FF0000"/>
              </a:solidFill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Simple External </a:t>
            </a:r>
            <a:r>
              <a:rPr lang="en-US" altLang="zh-CN" dirty="0" err="1" smtClean="0"/>
              <a:t>Mergesort</a:t>
            </a:r>
            <a:endParaRPr lang="zh-CN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1" y="2699793"/>
            <a:ext cx="6326981" cy="3898652"/>
          </a:xfrm>
        </p:spPr>
        <p:txBody>
          <a:bodyPr>
            <a:normAutofit/>
          </a:bodyPr>
          <a:lstStyle/>
          <a:p>
            <a:r>
              <a:rPr lang="en-US" altLang="zh-CN" dirty="0"/>
              <a:t>Any possible </a:t>
            </a:r>
            <a:r>
              <a:rPr lang="en-US" altLang="zh-CN" dirty="0" smtClean="0"/>
              <a:t>improvement?</a:t>
            </a:r>
            <a:endParaRPr lang="en-US" altLang="zh-CN" dirty="0"/>
          </a:p>
          <a:p>
            <a:pPr lvl="1"/>
            <a:r>
              <a:rPr lang="en-US" altLang="zh-CN" dirty="0" smtClean="0"/>
              <a:t>build </a:t>
            </a:r>
            <a:r>
              <a:rPr lang="en-US" altLang="zh-CN" dirty="0"/>
              <a:t>initial runs as large as possible</a:t>
            </a:r>
            <a:endParaRPr lang="en-US" altLang="zh-CN" dirty="0"/>
          </a:p>
          <a:p>
            <a:pPr lvl="1"/>
            <a:endParaRPr lang="en-US" altLang="zh-CN" dirty="0" smtClean="0">
              <a:solidFill>
                <a:srgbClr val="FF0000"/>
              </a:solidFill>
            </a:endParaRPr>
          </a:p>
          <a:p>
            <a:pPr lvl="1"/>
            <a:r>
              <a:rPr lang="en-US" altLang="zh-CN" dirty="0" smtClean="0"/>
              <a:t>Increase </a:t>
            </a:r>
            <a:r>
              <a:rPr lang="en-US" altLang="zh-CN" dirty="0"/>
              <a:t>the number of runs that are merged together during each pass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pPr lvl="2"/>
            <a:r>
              <a:rPr lang="en-US" altLang="zh-CN" dirty="0">
                <a:solidFill>
                  <a:srgbClr val="263AF8"/>
                </a:solidFill>
              </a:rPr>
              <a:t>Multiway Merge</a:t>
            </a:r>
            <a:endParaRPr lang="en-US" altLang="zh-CN" dirty="0">
              <a:solidFill>
                <a:srgbClr val="263AF8"/>
              </a:solidFill>
            </a:endParaRPr>
          </a:p>
          <a:p>
            <a:endParaRPr lang="zh-CN" altLang="en-US" dirty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577FC9F-0CCB-47E2-A6CB-B12E81BD114B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Multiway </a:t>
            </a:r>
            <a:r>
              <a:rPr lang="en-US" altLang="zh-CN" dirty="0"/>
              <a:t>Merge</a:t>
            </a:r>
            <a:endParaRPr lang="zh-CN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1" y="2699793"/>
            <a:ext cx="6326981" cy="3898652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Extending </a:t>
            </a:r>
            <a:r>
              <a:rPr lang="en-US" altLang="zh-CN" dirty="0"/>
              <a:t>the basic (two-way) merge to a </a:t>
            </a:r>
            <a:r>
              <a:rPr lang="en-US" altLang="zh-CN" dirty="0">
                <a:solidFill>
                  <a:srgbClr val="263AF8"/>
                </a:solidFill>
              </a:rPr>
              <a:t>k-way</a:t>
            </a:r>
            <a:r>
              <a:rPr lang="en-US" altLang="zh-CN" dirty="0"/>
              <a:t> </a:t>
            </a:r>
            <a:r>
              <a:rPr lang="en-US" altLang="zh-CN" dirty="0" smtClean="0"/>
              <a:t>merge</a:t>
            </a:r>
            <a:endParaRPr lang="en-US" altLang="zh-CN" dirty="0"/>
          </a:p>
          <a:p>
            <a:pPr lvl="1"/>
            <a:r>
              <a:rPr lang="en-US" altLang="zh-CN" dirty="0"/>
              <a:t>k-way </a:t>
            </a:r>
            <a:r>
              <a:rPr lang="en-US" altLang="zh-CN" dirty="0" smtClean="0"/>
              <a:t>merge works </a:t>
            </a:r>
            <a:r>
              <a:rPr lang="en-US" altLang="zh-CN" dirty="0"/>
              <a:t>the same </a:t>
            </a:r>
            <a:r>
              <a:rPr lang="en-US" altLang="zh-CN" dirty="0" smtClean="0"/>
              <a:t>way </a:t>
            </a:r>
            <a:r>
              <a:rPr lang="en-US" altLang="zh-CN" dirty="0"/>
              <a:t>as the two-way</a:t>
            </a:r>
            <a:endParaRPr lang="en-US" altLang="zh-CN" dirty="0"/>
          </a:p>
          <a:p>
            <a:pPr lvl="1"/>
            <a:endParaRPr lang="en-US" altLang="zh-CN" dirty="0" smtClean="0">
              <a:solidFill>
                <a:srgbClr val="FF0000"/>
              </a:solidFill>
            </a:endParaRPr>
          </a:p>
          <a:p>
            <a:pPr lvl="1"/>
            <a:r>
              <a:rPr lang="en-US" altLang="zh-CN" dirty="0" smtClean="0">
                <a:solidFill>
                  <a:srgbClr val="263AF8"/>
                </a:solidFill>
              </a:rPr>
              <a:t>Difference</a:t>
            </a:r>
            <a:r>
              <a:rPr lang="en-US" altLang="zh-CN" dirty="0" smtClean="0"/>
              <a:t>: find </a:t>
            </a:r>
            <a:r>
              <a:rPr lang="en-US" altLang="zh-CN" dirty="0"/>
              <a:t>the smallest of the k </a:t>
            </a:r>
            <a:r>
              <a:rPr lang="en-US" altLang="zh-CN" dirty="0" smtClean="0"/>
              <a:t>elements</a:t>
            </a:r>
            <a:endParaRPr lang="en-US" altLang="zh-CN" dirty="0" smtClean="0"/>
          </a:p>
          <a:p>
            <a:pPr lvl="2"/>
            <a:r>
              <a:rPr lang="en-US" altLang="zh-CN" dirty="0"/>
              <a:t>using a priority queue</a:t>
            </a:r>
            <a:endParaRPr lang="zh-CN" altLang="en-US" dirty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577FC9F-0CCB-47E2-A6CB-B12E81BD114B}" type="slidenum">
              <a:rPr lang="en-US" altLang="zh-CN" smtClean="0"/>
            </a:fld>
            <a:endParaRPr lang="en-US" altLang="zh-CN" smtClean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5788" y="5580112"/>
          <a:ext cx="676642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Ta1</a:t>
                      </a:r>
                      <a:endParaRPr lang="en-US" sz="1600" b="0" i="1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81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94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11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96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12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35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17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99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28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58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41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75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15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Ta2</a:t>
                      </a:r>
                      <a:endParaRPr lang="en-US" sz="1600" b="0" i="1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Ta3</a:t>
                      </a:r>
                      <a:endParaRPr lang="en-US" sz="1600" b="0" i="1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Tb1</a:t>
                      </a:r>
                      <a:endParaRPr lang="en-US" sz="1600" b="0" i="1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Tb2</a:t>
                      </a:r>
                      <a:endParaRPr lang="en-US" sz="1600" b="0" i="1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Tb3</a:t>
                      </a:r>
                      <a:endParaRPr lang="en-US" sz="1600" b="0" i="1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79903" y="5115279"/>
            <a:ext cx="17155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3-way </a:t>
            </a:r>
            <a:r>
              <a:rPr lang="en-US" altLang="zh-CN" b="1" dirty="0">
                <a:solidFill>
                  <a:srgbClr val="FF0000"/>
                </a:solidFill>
                <a:latin typeface="Sitka Text" panose="02000505000000020004" pitchFamily="2" charset="0"/>
              </a:rPr>
              <a:t>merge </a:t>
            </a:r>
            <a:endParaRPr lang="zh-CN" altLang="en-US" b="1" dirty="0">
              <a:solidFill>
                <a:srgbClr val="FF0000"/>
              </a:solidFill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Multiway </a:t>
            </a:r>
            <a:r>
              <a:rPr lang="en-US" altLang="zh-CN" dirty="0"/>
              <a:t>Merge</a:t>
            </a:r>
            <a:endParaRPr lang="zh-CN" altLang="en-US" dirty="0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577FC9F-0CCB-47E2-A6CB-B12E81BD114B}" type="slidenum">
              <a:rPr lang="en-US" altLang="zh-CN" smtClean="0"/>
            </a:fld>
            <a:endParaRPr lang="en-US" altLang="zh-CN" smtClean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76754" y="2975036"/>
          <a:ext cx="676642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Ta1</a:t>
                      </a:r>
                      <a:endParaRPr lang="en-US" sz="1600" b="0" i="1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Ta2</a:t>
                      </a:r>
                      <a:endParaRPr lang="en-US" sz="1600" b="0" i="1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Ta3</a:t>
                      </a:r>
                      <a:endParaRPr lang="en-US" sz="1600" b="0" i="1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Tb1</a:t>
                      </a:r>
                      <a:endParaRPr lang="en-US" sz="1600" b="0" i="1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11</a:t>
                      </a:r>
                      <a:endParaRPr lang="zh-CN" altLang="en-US" sz="16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81</a:t>
                      </a:r>
                      <a:endParaRPr lang="zh-CN" altLang="en-US" sz="16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94</a:t>
                      </a:r>
                      <a:endParaRPr lang="zh-CN" altLang="en-US" sz="16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41</a:t>
                      </a:r>
                      <a:endParaRPr lang="zh-CN" altLang="en-US" sz="16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58</a:t>
                      </a:r>
                      <a:endParaRPr lang="zh-CN" altLang="en-US" sz="16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75</a:t>
                      </a:r>
                      <a:endParaRPr lang="zh-CN" altLang="en-US" sz="16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Tb2</a:t>
                      </a:r>
                      <a:endParaRPr lang="en-US" sz="1600" b="0" i="1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12</a:t>
                      </a:r>
                      <a:endParaRPr lang="zh-CN" altLang="en-US" sz="1600" b="1" u="none" strike="noStrike" kern="1200" dirty="0">
                        <a:solidFill>
                          <a:srgbClr val="FF0000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35</a:t>
                      </a:r>
                      <a:endParaRPr lang="zh-CN" altLang="en-US" sz="1600" b="1" u="none" strike="noStrike" kern="1200" dirty="0">
                        <a:solidFill>
                          <a:srgbClr val="FF0000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96</a:t>
                      </a:r>
                      <a:endParaRPr lang="zh-CN" altLang="en-US" sz="1600" b="1" u="none" strike="noStrike" kern="1200" dirty="0">
                        <a:solidFill>
                          <a:srgbClr val="FF0000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15</a:t>
                      </a:r>
                      <a:endParaRPr lang="zh-CN" altLang="en-US" sz="1600" b="1" u="none" strike="noStrike" kern="1200" dirty="0">
                        <a:solidFill>
                          <a:srgbClr val="FF0000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Tb3</a:t>
                      </a:r>
                      <a:endParaRPr lang="en-US" sz="1600" b="0" i="1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008000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17</a:t>
                      </a:r>
                      <a:endParaRPr lang="zh-CN" altLang="en-US" sz="1600" b="1" u="none" strike="noStrike" kern="1200" dirty="0">
                        <a:solidFill>
                          <a:srgbClr val="008000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008000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28</a:t>
                      </a:r>
                      <a:endParaRPr lang="zh-CN" altLang="en-US" sz="1600" b="1" u="none" strike="noStrike" kern="1200" dirty="0">
                        <a:solidFill>
                          <a:srgbClr val="008000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008000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99</a:t>
                      </a:r>
                      <a:endParaRPr lang="zh-CN" altLang="en-US" sz="1600" b="1" u="none" strike="noStrike" kern="1200" dirty="0">
                        <a:solidFill>
                          <a:srgbClr val="008000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76754" y="2420332"/>
            <a:ext cx="14895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Initial runs</a:t>
            </a:r>
            <a:endParaRPr lang="zh-CN" altLang="en-US" b="1" dirty="0">
              <a:solidFill>
                <a:srgbClr val="FF0000"/>
              </a:solidFill>
              <a:latin typeface="Sitka Text" panose="02000505000000020004" pitchFamily="2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57709" y="5940152"/>
          <a:ext cx="676642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Ta1</a:t>
                      </a:r>
                      <a:endParaRPr lang="en-US" sz="1600" b="0" i="1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11</a:t>
                      </a:r>
                      <a:endParaRPr lang="zh-CN" altLang="en-US" sz="16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12</a:t>
                      </a:r>
                      <a:endParaRPr lang="zh-CN" altLang="en-US" sz="16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17</a:t>
                      </a:r>
                      <a:endParaRPr lang="zh-CN" altLang="en-US" sz="16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28</a:t>
                      </a:r>
                      <a:endParaRPr lang="zh-CN" altLang="en-US" sz="16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35</a:t>
                      </a:r>
                      <a:endParaRPr lang="zh-CN" altLang="en-US" sz="16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81</a:t>
                      </a:r>
                      <a:endParaRPr lang="zh-CN" altLang="en-US" sz="16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94</a:t>
                      </a:r>
                      <a:endParaRPr lang="zh-CN" altLang="en-US" sz="16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96</a:t>
                      </a:r>
                      <a:endParaRPr lang="zh-CN" altLang="en-US" sz="16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99</a:t>
                      </a:r>
                      <a:endParaRPr lang="zh-CN" altLang="en-US" sz="16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Ta2</a:t>
                      </a:r>
                      <a:endParaRPr lang="en-US" sz="1600" b="0" i="1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15</a:t>
                      </a:r>
                      <a:endParaRPr lang="zh-CN" altLang="en-US" sz="1600" b="1" u="none" strike="noStrike" kern="1200" dirty="0">
                        <a:solidFill>
                          <a:srgbClr val="FF0000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41</a:t>
                      </a:r>
                      <a:endParaRPr lang="zh-CN" altLang="en-US" sz="1600" b="1" u="none" strike="noStrike" kern="1200" dirty="0">
                        <a:solidFill>
                          <a:srgbClr val="FF0000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58</a:t>
                      </a:r>
                      <a:endParaRPr lang="zh-CN" altLang="en-US" sz="1600" b="1" u="none" strike="noStrike" kern="1200" dirty="0">
                        <a:solidFill>
                          <a:srgbClr val="FF0000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75</a:t>
                      </a:r>
                      <a:endParaRPr lang="zh-CN" altLang="en-US" sz="1600" b="1" u="none" strike="noStrike" kern="1200" dirty="0">
                        <a:solidFill>
                          <a:srgbClr val="FF0000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Ta3</a:t>
                      </a:r>
                      <a:endParaRPr lang="en-US" sz="1600" b="0" i="1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Tb1</a:t>
                      </a:r>
                      <a:endParaRPr lang="en-US" sz="1600" b="0" i="1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Tb2</a:t>
                      </a:r>
                      <a:endParaRPr lang="en-US" sz="1600" b="0" i="1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Tb3</a:t>
                      </a:r>
                      <a:endParaRPr lang="en-US" sz="1600" b="0" i="1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30975" y="5427868"/>
            <a:ext cx="2545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1</a:t>
            </a:r>
            <a:r>
              <a:rPr lang="en-US" altLang="zh-CN" b="1" baseline="30000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st</a:t>
            </a:r>
            <a:r>
              <a:rPr lang="en-US" altLang="zh-CN" b="1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 k way-merge pass</a:t>
            </a:r>
            <a:endParaRPr lang="zh-CN" altLang="en-US" b="1" dirty="0">
              <a:solidFill>
                <a:srgbClr val="FF0000"/>
              </a:solidFill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Multiway </a:t>
            </a:r>
            <a:r>
              <a:rPr lang="en-US" altLang="zh-CN" dirty="0"/>
              <a:t>Merge</a:t>
            </a:r>
            <a:endParaRPr lang="zh-CN" altLang="en-US" dirty="0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577FC9F-0CCB-47E2-A6CB-B12E81BD114B}" type="slidenum">
              <a:rPr lang="en-US" altLang="zh-CN" smtClean="0"/>
            </a:fld>
            <a:endParaRPr lang="en-US" altLang="zh-CN" smtClean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45788" y="2843808"/>
          <a:ext cx="676642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Ta1</a:t>
                      </a:r>
                      <a:endParaRPr lang="en-US" sz="1600" b="0" i="1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Ta2</a:t>
                      </a:r>
                      <a:endParaRPr lang="en-US" sz="1600" b="0" i="1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rgbClr val="FF0000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rgbClr val="FF0000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rgbClr val="FF0000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rgbClr val="FF0000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Ta3</a:t>
                      </a:r>
                      <a:endParaRPr lang="en-US" sz="1600" b="0" i="1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Tb1</a:t>
                      </a:r>
                      <a:endParaRPr lang="en-US" sz="1600" b="0" i="1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11</a:t>
                      </a:r>
                      <a:endParaRPr lang="zh-CN" altLang="en-US" sz="16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12</a:t>
                      </a:r>
                      <a:endParaRPr lang="zh-CN" altLang="en-US" sz="16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15</a:t>
                      </a:r>
                      <a:endParaRPr lang="zh-CN" altLang="en-US" sz="16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17</a:t>
                      </a:r>
                      <a:endParaRPr lang="zh-CN" altLang="en-US" sz="16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28</a:t>
                      </a:r>
                      <a:endParaRPr lang="zh-CN" altLang="en-US" sz="16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35</a:t>
                      </a:r>
                      <a:endParaRPr lang="zh-CN" altLang="en-US" sz="16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41</a:t>
                      </a:r>
                      <a:endParaRPr lang="zh-CN" altLang="en-US" sz="16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58</a:t>
                      </a:r>
                      <a:endParaRPr lang="zh-CN" altLang="en-US" sz="16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75</a:t>
                      </a:r>
                      <a:endParaRPr lang="zh-CN" altLang="en-US" sz="16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81</a:t>
                      </a:r>
                      <a:endParaRPr lang="zh-CN" altLang="en-US" sz="16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94</a:t>
                      </a:r>
                      <a:endParaRPr lang="zh-CN" altLang="en-US" sz="16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96</a:t>
                      </a:r>
                      <a:endParaRPr lang="zh-CN" altLang="en-US" sz="16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r>
                        <a:rPr lang="en-US" altLang="zh-CN" sz="1600" b="1" u="none" strike="noStrike" kern="1200" dirty="0" smtClean="0">
                          <a:solidFill>
                            <a:srgbClr val="263AF8"/>
                          </a:solidFill>
                          <a:effectLst/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99</a:t>
                      </a:r>
                      <a:endParaRPr lang="zh-CN" altLang="en-US" sz="1600" b="1" u="none" strike="noStrike" kern="1200" dirty="0">
                        <a:solidFill>
                          <a:srgbClr val="263AF8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Tb2</a:t>
                      </a:r>
                      <a:endParaRPr lang="en-US" sz="1600" b="0" i="1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Tb3</a:t>
                      </a:r>
                      <a:endParaRPr lang="en-US" sz="1600" b="0" i="1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fontAlgn="ctr" latinLnBrk="0" hangingPunct="1"/>
                      <a:endParaRPr lang="zh-CN" altLang="en-US" sz="1600" b="1" u="none" strike="noStrike" kern="1200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188640" y="2276298"/>
            <a:ext cx="40158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Final pass (2</a:t>
            </a:r>
            <a:r>
              <a:rPr lang="en-US" altLang="zh-CN" b="1" baseline="30000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st</a:t>
            </a:r>
            <a:r>
              <a:rPr lang="en-US" altLang="zh-CN" b="1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 k way-merge pass)</a:t>
            </a:r>
            <a:endParaRPr lang="zh-CN" altLang="en-US" b="1" dirty="0">
              <a:solidFill>
                <a:srgbClr val="FF0000"/>
              </a:solidFill>
              <a:latin typeface="Sitka Text" panose="02000505000000020004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96475" y="5436096"/>
                <a:ext cx="6326981" cy="2833888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 smtClean="0"/>
                  <a:t>The algorithm need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⁡</m:t>
                        </m:r>
                        <m:r>
                          <m:rPr>
                            <m:sty m:val="p"/>
                          </m:rPr>
                          <a:rPr lang="en-US" altLang="zh-CN" b="0" i="0" baseline="-25000" dirty="0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altLang="zh-CN" dirty="0"/>
                  <a:t> passes, plus the initial run-constructing </a:t>
                </a:r>
                <a:r>
                  <a:rPr lang="en-US" altLang="zh-CN" dirty="0" smtClean="0"/>
                  <a:t>pass</a:t>
                </a:r>
                <a:endParaRPr lang="en-US" altLang="zh-CN" dirty="0" smtClean="0"/>
              </a:p>
              <a:p>
                <a:pPr lvl="1"/>
                <a:r>
                  <a:rPr lang="en-US" altLang="zh-CN" dirty="0" smtClean="0"/>
                  <a:t>320 initial runs and 5-way, require 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⁡</m:t>
                        </m:r>
                        <m:r>
                          <a:rPr lang="en-US" altLang="zh-CN" b="0" i="0" baseline="-25000" dirty="0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320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passes.</a:t>
                </a:r>
                <a:endParaRPr lang="zh-CN" altLang="en-US" dirty="0"/>
              </a:p>
            </p:txBody>
          </p:sp>
        </mc:Choice>
        <mc:Fallback>
          <p:sp>
            <p:nvSpPr>
              <p:cNvPr id="11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6475" y="5436096"/>
                <a:ext cx="6326981" cy="2833888"/>
              </a:xfrm>
              <a:blipFill rotWithShape="1">
                <a:blip r:embed="rId1"/>
                <a:stretch>
                  <a:fillRect l="-9" t="-18" r="6" b="1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Multiway </a:t>
            </a:r>
            <a:r>
              <a:rPr lang="en-US" altLang="zh-CN" dirty="0"/>
              <a:t>Merge</a:t>
            </a:r>
            <a:endParaRPr lang="zh-CN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1" y="2699793"/>
            <a:ext cx="6326981" cy="3898652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Extending </a:t>
            </a:r>
            <a:r>
              <a:rPr lang="en-US" altLang="zh-CN" dirty="0"/>
              <a:t>the basic (two-way) merge to a </a:t>
            </a:r>
            <a:r>
              <a:rPr lang="en-US" altLang="zh-CN" dirty="0">
                <a:solidFill>
                  <a:srgbClr val="263AF8"/>
                </a:solidFill>
              </a:rPr>
              <a:t>k-way</a:t>
            </a:r>
            <a:r>
              <a:rPr lang="en-US" altLang="zh-CN" dirty="0"/>
              <a:t> </a:t>
            </a:r>
            <a:r>
              <a:rPr lang="en-US" altLang="zh-CN" dirty="0" smtClean="0"/>
              <a:t>merge</a:t>
            </a:r>
            <a:endParaRPr lang="en-US" altLang="zh-CN" dirty="0"/>
          </a:p>
          <a:p>
            <a:pPr lvl="1"/>
            <a:r>
              <a:rPr lang="en-US" altLang="zh-CN" dirty="0"/>
              <a:t>k-way </a:t>
            </a:r>
            <a:r>
              <a:rPr lang="en-US" altLang="zh-CN" dirty="0" smtClean="0"/>
              <a:t>merge works </a:t>
            </a:r>
            <a:r>
              <a:rPr lang="en-US" altLang="zh-CN" dirty="0"/>
              <a:t>the same </a:t>
            </a:r>
            <a:r>
              <a:rPr lang="en-US" altLang="zh-CN" dirty="0" smtClean="0"/>
              <a:t>way </a:t>
            </a:r>
            <a:r>
              <a:rPr lang="en-US" altLang="zh-CN" dirty="0"/>
              <a:t>as the two-way</a:t>
            </a:r>
            <a:endParaRPr lang="en-US" altLang="zh-CN" dirty="0"/>
          </a:p>
          <a:p>
            <a:pPr lvl="1"/>
            <a:endParaRPr lang="en-US" altLang="zh-CN" dirty="0" smtClean="0">
              <a:solidFill>
                <a:srgbClr val="FF0000"/>
              </a:solidFill>
            </a:endParaRPr>
          </a:p>
          <a:p>
            <a:pPr lvl="1"/>
            <a:r>
              <a:rPr lang="en-US" altLang="zh-CN" dirty="0" smtClean="0">
                <a:solidFill>
                  <a:srgbClr val="263AF8"/>
                </a:solidFill>
              </a:rPr>
              <a:t>Difference</a:t>
            </a:r>
            <a:r>
              <a:rPr lang="en-US" altLang="zh-CN" dirty="0" smtClean="0"/>
              <a:t>: find </a:t>
            </a:r>
            <a:r>
              <a:rPr lang="en-US" altLang="zh-CN" dirty="0"/>
              <a:t>the smallest of the k </a:t>
            </a:r>
            <a:r>
              <a:rPr lang="en-US" altLang="zh-CN" dirty="0" smtClean="0"/>
              <a:t>elements</a:t>
            </a:r>
            <a:endParaRPr lang="en-US" altLang="zh-CN" dirty="0" smtClean="0"/>
          </a:p>
          <a:p>
            <a:pPr lvl="2"/>
            <a:r>
              <a:rPr lang="en-US" altLang="zh-CN" dirty="0"/>
              <a:t>using a priority queue</a:t>
            </a:r>
            <a:endParaRPr lang="zh-CN" altLang="en-US" dirty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577FC9F-0CCB-47E2-A6CB-B12E81BD114B}" type="slidenum">
              <a:rPr lang="en-US" altLang="zh-CN" smtClean="0"/>
            </a:fld>
            <a:endParaRPr lang="en-US" altLang="zh-CN" smtClean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5788" y="5580112"/>
          <a:ext cx="676642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Ta1</a:t>
                      </a:r>
                      <a:endParaRPr lang="en-US" sz="1600" b="0" i="1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81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94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11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96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12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35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17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99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28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58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41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75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15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Ta2</a:t>
                      </a:r>
                      <a:endParaRPr lang="en-US" sz="1600" b="0" i="1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Ta3</a:t>
                      </a:r>
                      <a:endParaRPr lang="en-US" sz="1600" b="0" i="1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Tb1</a:t>
                      </a:r>
                      <a:endParaRPr lang="en-US" sz="1600" b="0" i="1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Tb2</a:t>
                      </a:r>
                      <a:endParaRPr lang="en-US" sz="1600" b="0" i="1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Tb3</a:t>
                      </a:r>
                      <a:endParaRPr lang="en-US" sz="1600" b="0" i="1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79903" y="5115279"/>
            <a:ext cx="17155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3-way </a:t>
            </a:r>
            <a:r>
              <a:rPr lang="en-US" altLang="zh-CN" b="1" dirty="0">
                <a:solidFill>
                  <a:srgbClr val="FF0000"/>
                </a:solidFill>
                <a:latin typeface="Sitka Text" panose="02000505000000020004" pitchFamily="2" charset="0"/>
              </a:rPr>
              <a:t>merge </a:t>
            </a:r>
            <a:endParaRPr lang="zh-CN" altLang="en-US" b="1" dirty="0">
              <a:solidFill>
                <a:srgbClr val="FF0000"/>
              </a:solidFill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Replacement </a:t>
            </a:r>
            <a:r>
              <a:rPr lang="en-US" altLang="zh-CN" dirty="0"/>
              <a:t>Selection</a:t>
            </a:r>
            <a:endParaRPr lang="zh-CN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1" y="2699793"/>
            <a:ext cx="6326981" cy="3898652"/>
          </a:xfrm>
        </p:spPr>
        <p:txBody>
          <a:bodyPr>
            <a:noAutofit/>
          </a:bodyPr>
          <a:lstStyle/>
          <a:p>
            <a:r>
              <a:rPr lang="en-US" altLang="zh-CN" dirty="0"/>
              <a:t>How to create initial runs as large as possible</a:t>
            </a:r>
            <a:r>
              <a:rPr lang="en-US" altLang="zh-CN" dirty="0" smtClean="0"/>
              <a:t>?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/>
              <a:t>Assume the available memory can hold M records</a:t>
            </a:r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 smtClean="0"/>
              <a:t>In the Simple </a:t>
            </a:r>
            <a:r>
              <a:rPr lang="en-US" altLang="zh-CN" dirty="0"/>
              <a:t>External </a:t>
            </a:r>
            <a:r>
              <a:rPr lang="en-US" altLang="zh-CN" dirty="0" err="1" smtClean="0"/>
              <a:t>Mergesort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Load </a:t>
            </a:r>
            <a:r>
              <a:rPr lang="en-US" altLang="zh-CN" dirty="0"/>
              <a:t>M records into memory and sort them 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Break </a:t>
            </a:r>
            <a:r>
              <a:rPr lang="en-US" altLang="zh-CN" dirty="0"/>
              <a:t>the input file into initial runs of length </a:t>
            </a:r>
            <a:r>
              <a:rPr lang="en-US" altLang="zh-CN" dirty="0" smtClean="0"/>
              <a:t>M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 better approach is to use </a:t>
            </a:r>
            <a:r>
              <a:rPr lang="en-US" altLang="zh-CN" dirty="0">
                <a:solidFill>
                  <a:srgbClr val="263AF8"/>
                </a:solidFill>
              </a:rPr>
              <a:t>replacement selection algorithm</a:t>
            </a:r>
            <a:r>
              <a:rPr lang="en-US" altLang="zh-CN" dirty="0"/>
              <a:t> to create runs of </a:t>
            </a:r>
            <a:r>
              <a:rPr lang="en-US" altLang="zh-CN" dirty="0" smtClean="0"/>
              <a:t>length 2M, </a:t>
            </a:r>
            <a:r>
              <a:rPr lang="en-US" altLang="zh-CN" dirty="0"/>
              <a:t>on average.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577FC9F-0CCB-47E2-A6CB-B12E81BD114B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Replacement Selection</a:t>
            </a:r>
            <a:endParaRPr lang="zh-CN" altLang="en-US" dirty="0" smtClean="0"/>
          </a:p>
        </p:txBody>
      </p:sp>
      <p:sp>
        <p:nvSpPr>
          <p:cNvPr id="75779" name="Content Placeholder 2"/>
          <p:cNvSpPr>
            <a:spLocks noGrp="1"/>
          </p:cNvSpPr>
          <p:nvPr>
            <p:ph idx="1"/>
          </p:nvPr>
        </p:nvSpPr>
        <p:spPr>
          <a:xfrm>
            <a:off x="260648" y="2438403"/>
            <a:ext cx="6264696" cy="5801783"/>
          </a:xfrm>
        </p:spPr>
        <p:txBody>
          <a:bodyPr>
            <a:normAutofit/>
          </a:bodyPr>
          <a:lstStyle/>
          <a:p>
            <a:r>
              <a:rPr lang="en-US" altLang="zh-CN" dirty="0"/>
              <a:t>Replacement selection is a </a:t>
            </a:r>
            <a:r>
              <a:rPr lang="en-US" altLang="zh-CN" dirty="0" smtClean="0"/>
              <a:t>variation </a:t>
            </a:r>
            <a:r>
              <a:rPr lang="en-US" altLang="zh-CN" dirty="0"/>
              <a:t>of Heapsort</a:t>
            </a:r>
            <a:endParaRPr lang="en-US" altLang="zh-CN" dirty="0"/>
          </a:p>
          <a:p>
            <a:pPr lvl="1"/>
            <a:r>
              <a:rPr lang="en-US" altLang="zh-CN" sz="2400" dirty="0" smtClean="0"/>
              <a:t>Read M </a:t>
            </a:r>
            <a:r>
              <a:rPr lang="en-US" altLang="zh-CN" sz="2400" dirty="0"/>
              <a:t>records into memory, Set LAST = M-1;</a:t>
            </a:r>
            <a:endParaRPr lang="en-US" altLang="zh-CN" sz="2400" dirty="0" smtClean="0"/>
          </a:p>
          <a:p>
            <a:pPr lvl="1"/>
            <a:r>
              <a:rPr lang="en-US" altLang="zh-CN" sz="2400" dirty="0" smtClean="0"/>
              <a:t>Place </a:t>
            </a:r>
            <a:r>
              <a:rPr lang="en-US" altLang="zh-CN" sz="2400" dirty="0"/>
              <a:t>these M </a:t>
            </a:r>
            <a:r>
              <a:rPr lang="en-US" altLang="zh-CN" sz="2400" dirty="0" smtClean="0"/>
              <a:t>records in </a:t>
            </a:r>
            <a:r>
              <a:rPr lang="en-US" altLang="zh-CN" sz="2400" dirty="0"/>
              <a:t>a </a:t>
            </a:r>
            <a:r>
              <a:rPr lang="en-US" altLang="zh-CN" sz="2400" dirty="0" smtClean="0"/>
              <a:t>min-heap;</a:t>
            </a:r>
            <a:endParaRPr lang="en-US" altLang="zh-CN" sz="2400" dirty="0" smtClean="0"/>
          </a:p>
          <a:p>
            <a:pPr lvl="1"/>
            <a:r>
              <a:rPr lang="en-US" altLang="zh-CN" sz="2400" dirty="0"/>
              <a:t>Repeat until the </a:t>
            </a:r>
            <a:r>
              <a:rPr lang="en-US" altLang="zh-CN" sz="2400" dirty="0" smtClean="0"/>
              <a:t>heap </a:t>
            </a:r>
            <a:r>
              <a:rPr lang="en-US" altLang="zh-CN" sz="2400" dirty="0"/>
              <a:t>is </a:t>
            </a:r>
            <a:r>
              <a:rPr lang="en-US" altLang="zh-CN" sz="2400" dirty="0" smtClean="0"/>
              <a:t>empty</a:t>
            </a:r>
            <a:endParaRPr lang="en-US" altLang="zh-CN" sz="2400" dirty="0" smtClean="0"/>
          </a:p>
          <a:p>
            <a:pPr lvl="2"/>
            <a:r>
              <a:rPr lang="en-US" altLang="zh-CN" sz="2000" dirty="0" err="1" smtClean="0"/>
              <a:t>deleteMin</a:t>
            </a:r>
            <a:r>
              <a:rPr lang="en-US" altLang="zh-CN" sz="2000" dirty="0" smtClean="0"/>
              <a:t> and writing </a:t>
            </a:r>
            <a:r>
              <a:rPr lang="en-US" altLang="zh-CN" sz="2000" dirty="0"/>
              <a:t>the smallest </a:t>
            </a:r>
            <a:r>
              <a:rPr lang="en-US" altLang="zh-CN" sz="2000" dirty="0" smtClean="0"/>
              <a:t>record </a:t>
            </a:r>
            <a:r>
              <a:rPr lang="en-US" altLang="zh-CN" sz="2000" dirty="0"/>
              <a:t>to the output </a:t>
            </a:r>
            <a:r>
              <a:rPr lang="en-US" altLang="zh-CN" sz="2000" dirty="0" smtClean="0"/>
              <a:t>tape;</a:t>
            </a:r>
            <a:endParaRPr lang="en-US" altLang="zh-CN" sz="2000" dirty="0" smtClean="0"/>
          </a:p>
          <a:p>
            <a:pPr lvl="2"/>
            <a:r>
              <a:rPr lang="en-US" altLang="zh-CN" sz="2000" dirty="0"/>
              <a:t>Let R be the next record in the input </a:t>
            </a:r>
            <a:r>
              <a:rPr lang="en-US" altLang="zh-CN" sz="2000" dirty="0" smtClean="0"/>
              <a:t>tape, </a:t>
            </a:r>
            <a:r>
              <a:rPr lang="en-US" altLang="zh-CN" sz="2000" dirty="0">
                <a:solidFill>
                  <a:srgbClr val="263AF8"/>
                </a:solidFill>
              </a:rPr>
              <a:t>If</a:t>
            </a:r>
            <a:r>
              <a:rPr lang="en-US" altLang="zh-CN" sz="2000" dirty="0"/>
              <a:t> R’s value is greater than the record just output, place R at the root</a:t>
            </a:r>
            <a:r>
              <a:rPr lang="en-US" altLang="zh-CN" sz="2000" dirty="0" smtClean="0"/>
              <a:t>; </a:t>
            </a:r>
            <a:r>
              <a:rPr lang="en-US" altLang="zh-CN" sz="2000" dirty="0" smtClean="0">
                <a:solidFill>
                  <a:srgbClr val="263AF8"/>
                </a:solidFill>
              </a:rPr>
              <a:t>Else</a:t>
            </a:r>
            <a:r>
              <a:rPr lang="en-US" altLang="zh-CN" sz="2000" dirty="0"/>
              <a:t>, </a:t>
            </a:r>
            <a:r>
              <a:rPr lang="en-US" altLang="zh-CN" sz="2000" dirty="0" smtClean="0"/>
              <a:t>replace </a:t>
            </a:r>
            <a:r>
              <a:rPr lang="en-US" altLang="zh-CN" sz="2000" dirty="0"/>
              <a:t>the root with the record in array position LAST, and place R at position LAST. Set LAST = LAST-1.</a:t>
            </a:r>
            <a:endParaRPr lang="en-US" altLang="zh-CN" sz="2000" dirty="0"/>
          </a:p>
          <a:p>
            <a:pPr lvl="2"/>
            <a:r>
              <a:rPr lang="en-US" altLang="zh-CN" sz="2000" dirty="0" smtClean="0"/>
              <a:t>reorder </a:t>
            </a:r>
            <a:r>
              <a:rPr lang="en-US" altLang="zh-CN" sz="2000" dirty="0"/>
              <a:t>the </a:t>
            </a:r>
            <a:r>
              <a:rPr lang="en-US" altLang="zh-CN" sz="2000" dirty="0" smtClean="0"/>
              <a:t>heap</a:t>
            </a:r>
            <a:endParaRPr lang="en-US" altLang="zh-CN" sz="2000" dirty="0" smtClean="0"/>
          </a:p>
          <a:p>
            <a:pPr lvl="1"/>
            <a:endParaRPr lang="zh-CN" altLang="en-US" sz="2200" dirty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D0F5130F-84B8-4DDD-9EEC-EE3B3114CF63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Replacement Selection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C6B8461-B589-4982-A850-389EEC1EFD8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7-5 Sorting V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9806" y="3909802"/>
            <a:ext cx="1798388" cy="1253067"/>
          </a:xfrm>
          <a:prstGeom prst="rect">
            <a:avLst/>
          </a:prstGeom>
        </p:spPr>
      </p:pic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332655" y="3237173"/>
          <a:ext cx="6192690" cy="5079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9"/>
                <a:gridCol w="3024336"/>
                <a:gridCol w="1656185"/>
              </a:tblGrid>
              <a:tr h="4834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</a:rPr>
                        <a:t>input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Sitka Text" panose="02000505000000020004" pitchFamily="2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</a:rPr>
                        <a:t>memory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Sitka Text" panose="02000505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</a:rPr>
                        <a:t>output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Sitka Text" panose="02000505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95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latin typeface="Sitka Text" panose="02000505000000020004" pitchFamily="2" charset="0"/>
                        </a:rPr>
                        <a:t>96</a:t>
                      </a:r>
                      <a:endParaRPr lang="zh-CN" altLang="en-US" sz="2000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11</a:t>
                      </a:r>
                      <a:endParaRPr lang="zh-CN" altLang="en-US" sz="2000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9511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kern="1200" dirty="0" smtClean="0">
                          <a:solidFill>
                            <a:schemeClr val="dk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12</a:t>
                      </a:r>
                      <a:endParaRPr lang="zh-CN" altLang="en-US" sz="2000" kern="1200" dirty="0">
                        <a:solidFill>
                          <a:schemeClr val="dk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11,81</a:t>
                      </a:r>
                      <a:endParaRPr lang="zh-CN" altLang="en-US" sz="2000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56739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kern="1200" dirty="0" smtClean="0">
                          <a:solidFill>
                            <a:schemeClr val="dk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35</a:t>
                      </a:r>
                      <a:endParaRPr lang="zh-CN" altLang="en-US" sz="2000" kern="1200" dirty="0">
                        <a:solidFill>
                          <a:schemeClr val="dk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2000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11,81,94</a:t>
                      </a:r>
                      <a:endParaRPr lang="zh-CN" altLang="en-US" sz="2000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242237" y="2469963"/>
          <a:ext cx="628310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</a:tblGrid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81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94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11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96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12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35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17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99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28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58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41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75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15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806" y="5426899"/>
            <a:ext cx="1798388" cy="125306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9806" y="7011075"/>
            <a:ext cx="1798388" cy="123333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Replacement Selection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C6B8461-B589-4982-A850-389EEC1EFD8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7-5 Sorting V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332655" y="3237173"/>
          <a:ext cx="6192690" cy="5079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9"/>
                <a:gridCol w="3024336"/>
                <a:gridCol w="1656185"/>
              </a:tblGrid>
              <a:tr h="4834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</a:rPr>
                        <a:t>input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Sitka Text" panose="02000505000000020004" pitchFamily="2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</a:rPr>
                        <a:t>memory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Sitka Text" panose="02000505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</a:rPr>
                        <a:t>output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Sitka Text" panose="02000505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95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latin typeface="Sitka Text" panose="02000505000000020004" pitchFamily="2" charset="0"/>
                        </a:rPr>
                        <a:t>17</a:t>
                      </a:r>
                      <a:endParaRPr lang="zh-CN" altLang="en-US" sz="2000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11,81,94,96</a:t>
                      </a:r>
                      <a:br>
                        <a:rPr lang="en-US" altLang="zh-CN" sz="2000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</a:br>
                      <a:r>
                        <a:rPr lang="en-US" altLang="zh-CN" sz="2000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(run 1)</a:t>
                      </a:r>
                      <a:endParaRPr lang="zh-CN" altLang="en-US" sz="2000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9511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kern="1200" dirty="0" smtClean="0">
                          <a:solidFill>
                            <a:schemeClr val="dk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99</a:t>
                      </a:r>
                      <a:endParaRPr lang="zh-CN" altLang="en-US" sz="2000" kern="1200" dirty="0">
                        <a:solidFill>
                          <a:schemeClr val="dk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rebuild heap</a:t>
                      </a:r>
                      <a:endParaRPr lang="zh-CN" altLang="en-US" sz="2000" kern="1200" dirty="0" smtClean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  <a:p>
                      <a:pPr marL="0" algn="l" defTabSz="514350" rtl="0" eaLnBrk="1" latinLnBrk="0" hangingPunct="1"/>
                      <a:endParaRPr lang="zh-CN" altLang="en-US" sz="2000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kern="1200" dirty="0" smtClean="0">
                          <a:solidFill>
                            <a:srgbClr val="263AF8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12</a:t>
                      </a:r>
                      <a:endParaRPr lang="zh-CN" altLang="en-US" sz="2000" kern="1200" dirty="0">
                        <a:solidFill>
                          <a:srgbClr val="263AF8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56739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kern="1200" dirty="0" smtClean="0">
                          <a:solidFill>
                            <a:schemeClr val="dk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28</a:t>
                      </a:r>
                      <a:endParaRPr lang="zh-CN" altLang="en-US" sz="2000" kern="1200" dirty="0">
                        <a:solidFill>
                          <a:schemeClr val="dk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2000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kern="1200" dirty="0" smtClean="0">
                          <a:solidFill>
                            <a:srgbClr val="263AF8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12,17</a:t>
                      </a:r>
                      <a:endParaRPr lang="zh-CN" altLang="en-US" sz="2000" kern="1200" dirty="0">
                        <a:solidFill>
                          <a:srgbClr val="263AF8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242237" y="2469963"/>
          <a:ext cx="628310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</a:tblGrid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81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94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11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96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12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35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17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99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28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58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41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75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15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9806" y="5407165"/>
            <a:ext cx="1798388" cy="125306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806" y="6991341"/>
            <a:ext cx="1798388" cy="1253067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9806" y="3955333"/>
            <a:ext cx="1798388" cy="123333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Replacement Selection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C6B8461-B589-4982-A850-389EEC1EFD8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7-5 Sorting V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332655" y="3237173"/>
          <a:ext cx="6192690" cy="5079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9"/>
                <a:gridCol w="3024336"/>
                <a:gridCol w="1656185"/>
              </a:tblGrid>
              <a:tr h="4834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</a:rPr>
                        <a:t>input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Sitka Text" panose="02000505000000020004" pitchFamily="2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</a:rPr>
                        <a:t>memory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Sitka Text" panose="02000505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</a:rPr>
                        <a:t>output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Sitka Text" panose="02000505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95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latin typeface="Sitka Text" panose="02000505000000020004" pitchFamily="2" charset="0"/>
                        </a:rPr>
                        <a:t>58</a:t>
                      </a:r>
                      <a:endParaRPr lang="zh-CN" altLang="en-US" sz="2000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kern="1200" dirty="0" smtClean="0">
                          <a:solidFill>
                            <a:srgbClr val="263AF8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12,17,28</a:t>
                      </a:r>
                      <a:endParaRPr lang="zh-CN" altLang="en-US" sz="2000" kern="1200" dirty="0">
                        <a:solidFill>
                          <a:srgbClr val="263AF8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9511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kern="1200" dirty="0" smtClean="0">
                          <a:solidFill>
                            <a:schemeClr val="dk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41</a:t>
                      </a:r>
                      <a:endParaRPr lang="zh-CN" altLang="en-US" sz="2000" kern="1200" dirty="0">
                        <a:solidFill>
                          <a:schemeClr val="dk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kern="1200" dirty="0" smtClean="0">
                          <a:solidFill>
                            <a:srgbClr val="263AF8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12,17,28,35</a:t>
                      </a:r>
                      <a:endParaRPr lang="zh-CN" altLang="en-US" sz="2000" kern="1200" dirty="0">
                        <a:solidFill>
                          <a:srgbClr val="263AF8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56739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kern="1200" dirty="0" smtClean="0">
                          <a:solidFill>
                            <a:schemeClr val="dk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75</a:t>
                      </a:r>
                      <a:endParaRPr lang="zh-CN" altLang="en-US" sz="2000" kern="1200" dirty="0">
                        <a:solidFill>
                          <a:schemeClr val="dk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2000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kern="1200" dirty="0" smtClean="0">
                          <a:solidFill>
                            <a:srgbClr val="263AF8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12,17,28,35,41</a:t>
                      </a:r>
                      <a:endParaRPr lang="zh-CN" altLang="en-US" sz="2000" kern="1200" dirty="0">
                        <a:solidFill>
                          <a:srgbClr val="263AF8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242237" y="2469963"/>
          <a:ext cx="628310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</a:tblGrid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81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94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11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96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12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35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17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99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28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58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41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75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15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9806" y="3955333"/>
            <a:ext cx="1798388" cy="123333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597" y="5366895"/>
            <a:ext cx="1798388" cy="123333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2896" y="7011075"/>
            <a:ext cx="1798388" cy="123333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Replacement Selection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C6B8461-B589-4982-A850-389EEC1EFD8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7-5 Sorting V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332655" y="3237173"/>
          <a:ext cx="6192690" cy="5367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9"/>
                <a:gridCol w="3024336"/>
                <a:gridCol w="1656185"/>
              </a:tblGrid>
              <a:tr h="48348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</a:rPr>
                        <a:t>input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Sitka Text" panose="02000505000000020004" pitchFamily="2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</a:rPr>
                        <a:t>memory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Sitka Text" panose="02000505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</a:rPr>
                        <a:t>output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Sitka Text" panose="02000505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5540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latin typeface="Sitka Text" panose="02000505000000020004" pitchFamily="2" charset="0"/>
                        </a:rPr>
                        <a:t>15</a:t>
                      </a:r>
                      <a:endParaRPr lang="zh-CN" altLang="en-US" sz="2000" dirty="0">
                        <a:latin typeface="Sitka Text" panose="02000505000000020004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kern="1200" dirty="0" smtClean="0">
                          <a:solidFill>
                            <a:srgbClr val="263AF8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12,17,28,35,41,58</a:t>
                      </a:r>
                      <a:endParaRPr lang="zh-CN" altLang="en-US" sz="2000" kern="1200" dirty="0">
                        <a:solidFill>
                          <a:srgbClr val="263AF8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68152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2000" kern="1200" dirty="0">
                        <a:solidFill>
                          <a:schemeClr val="dk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kern="1200" dirty="0" smtClean="0">
                          <a:solidFill>
                            <a:srgbClr val="263AF8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12,17,28,35,41,58,75</a:t>
                      </a:r>
                      <a:endParaRPr lang="zh-CN" altLang="en-US" sz="2000" kern="1200" dirty="0">
                        <a:solidFill>
                          <a:srgbClr val="263AF8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52128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2000" kern="1200" dirty="0">
                        <a:solidFill>
                          <a:schemeClr val="dk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2000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kern="1200" dirty="0" smtClean="0">
                          <a:solidFill>
                            <a:srgbClr val="263AF8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12,17,28,35,41,58,75,99</a:t>
                      </a:r>
                      <a:br>
                        <a:rPr lang="en-US" altLang="zh-CN" sz="2000" kern="1200" dirty="0" smtClean="0">
                          <a:solidFill>
                            <a:srgbClr val="263AF8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</a:br>
                      <a:r>
                        <a:rPr lang="en-US" altLang="zh-CN" sz="2000" kern="1200" dirty="0" smtClean="0">
                          <a:solidFill>
                            <a:srgbClr val="263AF8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(run 2)</a:t>
                      </a:r>
                      <a:endParaRPr lang="zh-CN" altLang="en-US" sz="2000" kern="1200" dirty="0">
                        <a:solidFill>
                          <a:srgbClr val="263AF8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08112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2000" kern="1200" dirty="0">
                        <a:solidFill>
                          <a:schemeClr val="dk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514350" rtl="0" eaLnBrk="1" latinLnBrk="0" hangingPunct="1"/>
                      <a:r>
                        <a:rPr lang="en-US" altLang="zh-CN" sz="2000" kern="1200" dirty="0" smtClean="0">
                          <a:solidFill>
                            <a:srgbClr val="FF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rebuild heap</a:t>
                      </a:r>
                      <a:endParaRPr lang="zh-CN" altLang="en-US" sz="2000" kern="1200" dirty="0">
                        <a:solidFill>
                          <a:srgbClr val="FF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2000" b="1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15</a:t>
                      </a:r>
                      <a:r>
                        <a:rPr lang="en-US" altLang="zh-CN" sz="2000" kern="1200" dirty="0" smtClean="0">
                          <a:solidFill>
                            <a:srgbClr val="008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 (run 3)</a:t>
                      </a:r>
                      <a:endParaRPr lang="zh-CN" altLang="en-US" sz="2000" kern="1200" dirty="0">
                        <a:solidFill>
                          <a:srgbClr val="008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242237" y="2469963"/>
          <a:ext cx="628310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  <a:gridCol w="483316"/>
              </a:tblGrid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81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94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11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96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12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35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17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99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28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58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41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75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1" u="none" strike="noStrike" dirty="0">
                          <a:solidFill>
                            <a:schemeClr val="tx1"/>
                          </a:solidFill>
                          <a:effectLst/>
                          <a:latin typeface="Sitka Text" panose="02000505000000020004" pitchFamily="2" charset="0"/>
                        </a:rPr>
                        <a:t>15</a:t>
                      </a:r>
                      <a:endParaRPr lang="en-US" altLang="zh-CN" sz="1600" b="1" i="0" u="none" strike="noStrike" dirty="0">
                        <a:solidFill>
                          <a:schemeClr val="tx1"/>
                        </a:solidFill>
                        <a:effectLst/>
                        <a:latin typeface="Sitka Text" panose="02000505000000020004" pitchFamily="2" charset="0"/>
                        <a:ea typeface="等线" panose="02010600030101010101" pitchFamily="2" charset="-122"/>
                      </a:endParaRPr>
                    </a:p>
                  </a:txBody>
                  <a:tcPr marL="4063" marR="4063" marT="4063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9806" y="3779912"/>
            <a:ext cx="1798388" cy="1233333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853" y="5148064"/>
            <a:ext cx="1798388" cy="123333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9806" y="6709379"/>
            <a:ext cx="1798388" cy="670933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828" y="7933515"/>
            <a:ext cx="671925" cy="67093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Replacement Selection</a:t>
            </a:r>
            <a:endParaRPr lang="zh-CN" altLang="en-US" dirty="0" smtClean="0"/>
          </a:p>
        </p:txBody>
      </p:sp>
      <p:sp>
        <p:nvSpPr>
          <p:cNvPr id="8192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Assume the input randomly </a:t>
            </a:r>
            <a:r>
              <a:rPr lang="en-US" altLang="zh-CN" sz="2800" dirty="0" smtClean="0"/>
              <a:t>distributed</a:t>
            </a:r>
            <a:endParaRPr lang="en-US" altLang="zh-CN" sz="2800" dirty="0"/>
          </a:p>
          <a:p>
            <a:pPr lvl="1"/>
            <a:r>
              <a:rPr lang="en-US" altLang="zh-CN" sz="2400" dirty="0" smtClean="0"/>
              <a:t>The </a:t>
            </a:r>
            <a:r>
              <a:rPr lang="en-US" altLang="zh-CN" sz="2400" dirty="0"/>
              <a:t>total length of the run </a:t>
            </a:r>
            <a:r>
              <a:rPr lang="en-US" altLang="zh-CN" sz="2400" dirty="0" smtClean="0"/>
              <a:t>is </a:t>
            </a:r>
            <a:r>
              <a:rPr lang="en-US" altLang="zh-CN" sz="2400" dirty="0"/>
              <a:t>expected to be twice the size of the array – </a:t>
            </a:r>
            <a:r>
              <a:rPr lang="en-US" altLang="zh-CN" sz="2400" dirty="0">
                <a:solidFill>
                  <a:srgbClr val="FF0000"/>
                </a:solidFill>
              </a:rPr>
              <a:t>2M records</a:t>
            </a:r>
            <a:r>
              <a:rPr lang="en-US" altLang="zh-CN" sz="2400" dirty="0"/>
              <a:t>.</a:t>
            </a:r>
            <a:endParaRPr lang="en-US" altLang="zh-CN" sz="2400" dirty="0"/>
          </a:p>
          <a:p>
            <a:endParaRPr lang="zh-CN" altLang="en-US" sz="2800" dirty="0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971CEBBB-5C13-4167-AA25-0755E87E6100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Homework 5-4</a:t>
            </a:r>
            <a:endParaRPr lang="zh-CN" altLang="en-US" dirty="0" smtClean="0"/>
          </a:p>
        </p:txBody>
      </p:sp>
      <p:sp>
        <p:nvSpPr>
          <p:cNvPr id="8192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Self </a:t>
            </a:r>
            <a:r>
              <a:rPr lang="en-US" altLang="zh-CN" sz="2800" dirty="0" smtClean="0"/>
              <a:t>study: </a:t>
            </a:r>
            <a:r>
              <a:rPr lang="en-US" altLang="zh-CN" sz="2800" dirty="0"/>
              <a:t>7.12.5 </a:t>
            </a:r>
            <a:r>
              <a:rPr lang="en-US" altLang="zh-CN" sz="2800" dirty="0" err="1"/>
              <a:t>Polyphase</a:t>
            </a:r>
            <a:r>
              <a:rPr lang="en-US" altLang="zh-CN" sz="2800" dirty="0"/>
              <a:t> Merge</a:t>
            </a:r>
            <a:endParaRPr lang="en-US" altLang="zh-CN" sz="2400" dirty="0"/>
          </a:p>
          <a:p>
            <a:endParaRPr lang="zh-CN" altLang="en-US" sz="2800" dirty="0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971CEBBB-5C13-4167-AA25-0755E87E6100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TM02900720[[fn=积分]]</Template>
  <TotalTime>0</TotalTime>
  <Words>4638</Words>
  <Application>WPS Presentation</Application>
  <PresentationFormat>全屏显示(4:3)</PresentationFormat>
  <Paragraphs>965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42" baseType="lpstr">
      <vt:lpstr>Arial</vt:lpstr>
      <vt:lpstr>SimSun</vt:lpstr>
      <vt:lpstr>Wingdings</vt:lpstr>
      <vt:lpstr>Sitka Small</vt:lpstr>
      <vt:lpstr>苹方-简</vt:lpstr>
      <vt:lpstr>Times New Roman</vt:lpstr>
      <vt:lpstr>Wingdings 2</vt:lpstr>
      <vt:lpstr>Sitka Text</vt:lpstr>
      <vt:lpstr>SimSun</vt:lpstr>
      <vt:lpstr>宋体-简</vt:lpstr>
      <vt:lpstr>等线</vt:lpstr>
      <vt:lpstr>Cambria Math</vt:lpstr>
      <vt:lpstr>Kingsoft Math</vt:lpstr>
      <vt:lpstr>Microsoft YaHei</vt:lpstr>
      <vt:lpstr>汉仪旗黑</vt:lpstr>
      <vt:lpstr>Arial Unicode MS</vt:lpstr>
      <vt:lpstr>Calibri</vt:lpstr>
      <vt:lpstr>Helvetica Neue</vt:lpstr>
      <vt:lpstr>SimSun</vt:lpstr>
      <vt:lpstr>DejaVu Math TeX Gyre</vt:lpstr>
      <vt:lpstr>HDOfficeLightV0</vt:lpstr>
      <vt:lpstr>Sorting</vt:lpstr>
      <vt:lpstr>External Sorting</vt:lpstr>
      <vt:lpstr>External Sorting</vt:lpstr>
      <vt:lpstr>Model for External Sorting</vt:lpstr>
      <vt:lpstr>The Simple Algorithm</vt:lpstr>
      <vt:lpstr>The Simple Algorithm</vt:lpstr>
      <vt:lpstr>Simple External Mergesort</vt:lpstr>
      <vt:lpstr>Simple External Mergesort</vt:lpstr>
      <vt:lpstr>Simple External Mergesort</vt:lpstr>
      <vt:lpstr>Multiway Merge</vt:lpstr>
      <vt:lpstr>Multiway Merge</vt:lpstr>
      <vt:lpstr>Multiway Merge</vt:lpstr>
      <vt:lpstr>Multiway Merge</vt:lpstr>
      <vt:lpstr>Replacement Selection</vt:lpstr>
      <vt:lpstr>Replacement Selection</vt:lpstr>
      <vt:lpstr>Replacement Selection</vt:lpstr>
      <vt:lpstr>Replacement Selection</vt:lpstr>
      <vt:lpstr>Replacement Selection</vt:lpstr>
      <vt:lpstr>Replacement Selection</vt:lpstr>
      <vt:lpstr>Replacement Selection</vt:lpstr>
      <vt:lpstr>Homework 5-4</vt:lpstr>
    </vt:vector>
  </TitlesOfParts>
  <Company>scut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 qin</dc:creator>
  <cp:lastModifiedBy>jiexin</cp:lastModifiedBy>
  <cp:revision>868</cp:revision>
  <dcterms:created xsi:type="dcterms:W3CDTF">2023-10-20T02:20:29Z</dcterms:created>
  <dcterms:modified xsi:type="dcterms:W3CDTF">2023-10-20T02:20:29Z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1033-4.4.1.7618</vt:lpwstr>
  </property>
</Properties>
</file>