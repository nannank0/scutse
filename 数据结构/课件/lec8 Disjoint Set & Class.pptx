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651" r:id="rId3"/>
    <p:sldId id="1040" r:id="rId5"/>
    <p:sldId id="1041" r:id="rId6"/>
    <p:sldId id="1110" r:id="rId7"/>
    <p:sldId id="1042" r:id="rId8"/>
    <p:sldId id="1043" r:id="rId9"/>
    <p:sldId id="1081" r:id="rId10"/>
    <p:sldId id="1082" r:id="rId11"/>
    <p:sldId id="1083" r:id="rId12"/>
    <p:sldId id="1049" r:id="rId13"/>
    <p:sldId id="1050" r:id="rId14"/>
    <p:sldId id="1051" r:id="rId15"/>
    <p:sldId id="1052" r:id="rId16"/>
    <p:sldId id="1053" r:id="rId17"/>
    <p:sldId id="1054" r:id="rId18"/>
    <p:sldId id="1084" r:id="rId19"/>
    <p:sldId id="1085" r:id="rId20"/>
    <p:sldId id="1086" r:id="rId21"/>
    <p:sldId id="1087" r:id="rId22"/>
    <p:sldId id="1113" r:id="rId23"/>
    <p:sldId id="1112" r:id="rId24"/>
    <p:sldId id="1089" r:id="rId25"/>
    <p:sldId id="1090" r:id="rId26"/>
    <p:sldId id="1091" r:id="rId27"/>
    <p:sldId id="1092" r:id="rId28"/>
    <p:sldId id="1093" r:id="rId29"/>
    <p:sldId id="1094" r:id="rId30"/>
    <p:sldId id="1095" r:id="rId31"/>
    <p:sldId id="1096" r:id="rId32"/>
    <p:sldId id="1114" r:id="rId33"/>
    <p:sldId id="1116" r:id="rId34"/>
    <p:sldId id="1097" r:id="rId35"/>
    <p:sldId id="1098" r:id="rId36"/>
    <p:sldId id="1099" r:id="rId37"/>
    <p:sldId id="1100" r:id="rId38"/>
    <p:sldId id="1117" r:id="rId39"/>
    <p:sldId id="1101" r:id="rId40"/>
    <p:sldId id="1103" r:id="rId41"/>
    <p:sldId id="1104" r:id="rId42"/>
    <p:sldId id="1105" r:id="rId43"/>
    <p:sldId id="1106" r:id="rId44"/>
    <p:sldId id="1107" r:id="rId45"/>
    <p:sldId id="1108" r:id="rId46"/>
    <p:sldId id="1118" r:id="rId47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77" autoAdjust="0"/>
    <p:restoredTop sz="96429" autoAdjust="0"/>
  </p:normalViewPr>
  <p:slideViewPr>
    <p:cSldViewPr>
      <p:cViewPr varScale="1">
        <p:scale>
          <a:sx n="85" d="100"/>
          <a:sy n="85" d="100"/>
        </p:scale>
        <p:origin x="2778" y="96"/>
      </p:cViewPr>
      <p:guideLst>
        <p:guide orient="horz" pos="2846"/>
        <p:guide pos="2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smtClean="0">
              <a:latin typeface="Sitka Text" panose="02000505000000020004" pitchFamily="2" charset="0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47476-3707-45A3-AADD-75B5ABC2D7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FB9FF9-2C21-4BB1-A990-8B82B2961E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05A472-81F4-4E06-A995-E85261F833F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641C85-8648-424C-A674-FDD08973EE6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43C2FF-4C00-45C0-BEE7-7114950D5E6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C2F720-F92F-49DB-8E68-5DC0FABBB05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F3480-258F-49F5-8243-5E07CEAAC34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9E600C-6995-4B8F-A3AF-2DA0090236A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F04F26-51E4-48B1-8CA3-E60A298815B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B6F42A-B0C7-4976-8774-34E134961BF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893E28-D31E-46FA-81F0-F41F6BEE33F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87F388C1-EAAA-44AD-83BC-8F3298A2E6F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/>
              <a:t>Disjoint Set </a:t>
            </a:r>
            <a:r>
              <a:rPr lang="en-US" altLang="zh-CN" dirty="0" smtClean="0"/>
              <a:t>Class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B9EE04D-E680-4FFB-82A0-2F3F985248A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79FBFF0-198B-4D03-97D3-C8846925D53A}" type="slidenum">
              <a:rPr lang="en-US" altLang="zh-CN" sz="1050"/>
            </a:fld>
            <a:endParaRPr lang="en-US" altLang="zh-CN" sz="105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Equivalence Relations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A relation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R</a:t>
            </a:r>
            <a:r>
              <a:rPr lang="en-US" altLang="zh-CN" dirty="0" smtClean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is</a:t>
            </a:r>
            <a:r>
              <a:rPr lang="en-US" altLang="zh-CN" dirty="0" smtClean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defined on set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S</a:t>
            </a:r>
            <a:r>
              <a:rPr lang="en-US" altLang="zh-CN" dirty="0" smtClean="0">
                <a:ea typeface="宋体" pitchFamily="2" charset="-122"/>
              </a:rPr>
              <a:t> if for every pair of elements a, b </a:t>
            </a:r>
            <a:r>
              <a:rPr lang="el-GR" altLang="zh-CN" dirty="0" smtClean="0">
                <a:ea typeface="宋体" pitchFamily="2" charset="-122"/>
              </a:rPr>
              <a:t>ϵ</a:t>
            </a:r>
            <a:r>
              <a:rPr lang="en-US" altLang="zh-CN" dirty="0" smtClean="0">
                <a:ea typeface="宋体" pitchFamily="2" charset="-122"/>
              </a:rPr>
              <a:t> S,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a R b </a:t>
            </a:r>
            <a:r>
              <a:rPr lang="en-US" altLang="zh-CN" dirty="0" smtClean="0">
                <a:ea typeface="宋体" pitchFamily="2" charset="-122"/>
              </a:rPr>
              <a:t>is either true or false. 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An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equivalence relation </a:t>
            </a:r>
            <a:r>
              <a:rPr lang="en-US" altLang="zh-CN" dirty="0" smtClean="0">
                <a:ea typeface="宋体" pitchFamily="2" charset="-122"/>
              </a:rPr>
              <a:t>is a relation R that satisfies the 3 properties: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Reflexive:</a:t>
            </a:r>
            <a:r>
              <a:rPr lang="en-US" altLang="zh-CN" dirty="0" smtClean="0">
                <a:ea typeface="宋体" pitchFamily="2" charset="-122"/>
              </a:rPr>
              <a:t> a R a for all a </a:t>
            </a:r>
            <a:r>
              <a:rPr lang="el-GR" altLang="zh-CN" dirty="0"/>
              <a:t>ϵ</a:t>
            </a:r>
            <a:r>
              <a:rPr lang="en-US" altLang="zh-CN" dirty="0" smtClean="0">
                <a:ea typeface="宋体" pitchFamily="2" charset="-122"/>
              </a:rPr>
              <a:t> S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Symmetric:</a:t>
            </a:r>
            <a:r>
              <a:rPr lang="en-US" altLang="zh-CN" dirty="0" smtClean="0">
                <a:ea typeface="宋体" pitchFamily="2" charset="-122"/>
              </a:rPr>
              <a:t> a R b </a:t>
            </a:r>
            <a:r>
              <a:rPr lang="en-US" altLang="zh-CN" dirty="0" err="1" smtClean="0">
                <a:ea typeface="宋体" pitchFamily="2" charset="-122"/>
              </a:rPr>
              <a:t>iff</a:t>
            </a:r>
            <a:r>
              <a:rPr lang="en-US" altLang="zh-CN" dirty="0" smtClean="0">
                <a:ea typeface="宋体" pitchFamily="2" charset="-122"/>
              </a:rPr>
              <a:t> b R a; a, b </a:t>
            </a:r>
            <a:r>
              <a:rPr lang="el-GR" altLang="zh-CN" dirty="0"/>
              <a:t>ϵ </a:t>
            </a:r>
            <a:r>
              <a:rPr lang="en-US" altLang="zh-CN" dirty="0" smtClean="0">
                <a:ea typeface="宋体" pitchFamily="2" charset="-122"/>
              </a:rPr>
              <a:t>S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Transitive:</a:t>
            </a:r>
            <a:r>
              <a:rPr lang="en-US" altLang="zh-CN" dirty="0" smtClean="0">
                <a:ea typeface="宋体" pitchFamily="2" charset="-122"/>
              </a:rPr>
              <a:t> a R b and b R c implies a R c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some examples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Relation “≤”, “</a:t>
            </a:r>
            <a:r>
              <a:rPr lang="en-US" altLang="zh-CN" dirty="0"/>
              <a:t>≥</a:t>
            </a:r>
            <a:r>
              <a:rPr lang="en-US" altLang="zh-CN" dirty="0" smtClean="0">
                <a:ea typeface="宋体" pitchFamily="2" charset="-122"/>
              </a:rPr>
              <a:t>”---</a:t>
            </a:r>
            <a:r>
              <a:rPr lang="en-US" altLang="zh-CN" dirty="0" smtClean="0"/>
              <a:t>not </a:t>
            </a:r>
            <a:r>
              <a:rPr lang="en-US" altLang="zh-CN" dirty="0"/>
              <a:t>equivalence relation </a:t>
            </a:r>
            <a:endParaRPr lang="en-US" altLang="zh-CN" dirty="0" smtClean="0"/>
          </a:p>
          <a:p>
            <a:pPr lvl="1"/>
            <a:r>
              <a:rPr lang="en-US" altLang="zh-CN" dirty="0" smtClean="0">
                <a:ea typeface="宋体" pitchFamily="2" charset="-122"/>
              </a:rPr>
              <a:t>Relation “be in the same </a:t>
            </a:r>
            <a:r>
              <a:rPr lang="en-US" altLang="zh-CN" dirty="0"/>
              <a:t>class”, “Electrical </a:t>
            </a:r>
            <a:r>
              <a:rPr lang="en-US" altLang="zh-CN" dirty="0" smtClean="0"/>
              <a:t>connectivity” ---</a:t>
            </a:r>
            <a:r>
              <a:rPr lang="en-US" altLang="zh-CN" dirty="0"/>
              <a:t> equivalence relation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FD32032-DDF7-454C-8D26-EBFF538B945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1B0ADF9-5238-437D-879A-D86D5DE9E4FE}" type="slidenum">
              <a:rPr lang="en-US" altLang="zh-CN" sz="1050"/>
            </a:fld>
            <a:endParaRPr lang="en-US" altLang="zh-CN" sz="105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Equivalence Classes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520" y="2450095"/>
            <a:ext cx="6049959" cy="5801783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Given an equivalence relation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R</a:t>
            </a:r>
            <a:r>
              <a:rPr lang="en-US" altLang="zh-CN" dirty="0" smtClean="0">
                <a:ea typeface="宋体" pitchFamily="2" charset="-122"/>
              </a:rPr>
              <a:t>, decide whether a pair of any elements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a, b </a:t>
            </a:r>
            <a:r>
              <a:rPr lang="el-GR" altLang="zh-CN" dirty="0">
                <a:solidFill>
                  <a:srgbClr val="263AF8"/>
                </a:solidFill>
              </a:rPr>
              <a:t>ϵ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S</a:t>
            </a:r>
            <a:r>
              <a:rPr lang="en-US" altLang="zh-CN" dirty="0" smtClean="0">
                <a:ea typeface="宋体" pitchFamily="2" charset="-122"/>
              </a:rPr>
              <a:t> is such that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a R b</a:t>
            </a:r>
            <a:r>
              <a:rPr lang="en-US" altLang="zh-CN" dirty="0" smtClean="0">
                <a:ea typeface="宋体" pitchFamily="2" charset="-122"/>
              </a:rPr>
              <a:t>.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The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equivalence class </a:t>
            </a:r>
            <a:r>
              <a:rPr lang="en-US" altLang="zh-CN" dirty="0" smtClean="0">
                <a:ea typeface="宋体" pitchFamily="2" charset="-122"/>
              </a:rPr>
              <a:t>of an element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a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l-GR" altLang="zh-CN" dirty="0">
                <a:solidFill>
                  <a:srgbClr val="263AF8"/>
                </a:solidFill>
              </a:rPr>
              <a:t>ϵ </a:t>
            </a:r>
            <a:r>
              <a:rPr lang="en-US" altLang="zh-CN" dirty="0">
                <a:solidFill>
                  <a:srgbClr val="263AF8"/>
                </a:solidFill>
              </a:rPr>
              <a:t>S</a:t>
            </a:r>
            <a:r>
              <a:rPr lang="en-US" altLang="zh-CN" dirty="0"/>
              <a:t> </a:t>
            </a:r>
            <a:r>
              <a:rPr lang="en-US" altLang="zh-CN" dirty="0" smtClean="0">
                <a:ea typeface="宋体" pitchFamily="2" charset="-122"/>
              </a:rPr>
              <a:t>is the subset of S of all elements related to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a</a:t>
            </a:r>
            <a:r>
              <a:rPr lang="en-US" altLang="zh-CN" dirty="0" smtClean="0">
                <a:ea typeface="宋体" pitchFamily="2" charset="-122"/>
              </a:rPr>
              <a:t>.</a:t>
            </a:r>
            <a:r>
              <a:rPr lang="en-US" altLang="zh-CN" dirty="0" smtClean="0">
                <a:solidFill>
                  <a:schemeClr val="accent2"/>
                </a:solidFill>
                <a:ea typeface="宋体" pitchFamily="2" charset="-122"/>
              </a:rPr>
              <a:t> </a:t>
            </a:r>
            <a:endParaRPr lang="en-US" altLang="zh-CN" dirty="0" smtClean="0">
              <a:solidFill>
                <a:schemeClr val="accent2"/>
              </a:solidFill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Different equivalence classes of S are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disjoint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.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dirty="0"/>
              <a:t>Every member of S appears in exactly one equivalence class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133283" y="6660735"/>
            <a:ext cx="432048" cy="4544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576227" y="7317678"/>
            <a:ext cx="432048" cy="4544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735955" y="7317678"/>
            <a:ext cx="432048" cy="4544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789040" y="6955890"/>
            <a:ext cx="432048" cy="4544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603416" y="6955890"/>
            <a:ext cx="432048" cy="4544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5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>
            <a:stCxn id="2" idx="3"/>
            <a:endCxn id="30" idx="7"/>
          </p:cNvCxnSpPr>
          <p:nvPr/>
        </p:nvCxnSpPr>
        <p:spPr>
          <a:xfrm flipH="1">
            <a:off x="1945003" y="7048672"/>
            <a:ext cx="251552" cy="3355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2" idx="5"/>
            <a:endCxn id="31" idx="1"/>
          </p:cNvCxnSpPr>
          <p:nvPr/>
        </p:nvCxnSpPr>
        <p:spPr>
          <a:xfrm>
            <a:off x="2502059" y="7048672"/>
            <a:ext cx="297168" cy="3355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30" idx="6"/>
            <a:endCxn id="31" idx="2"/>
          </p:cNvCxnSpPr>
          <p:nvPr/>
        </p:nvCxnSpPr>
        <p:spPr>
          <a:xfrm>
            <a:off x="2008275" y="7544926"/>
            <a:ext cx="7276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32" idx="6"/>
            <a:endCxn id="33" idx="2"/>
          </p:cNvCxnSpPr>
          <p:nvPr/>
        </p:nvCxnSpPr>
        <p:spPr>
          <a:xfrm>
            <a:off x="4221088" y="7183138"/>
            <a:ext cx="3823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FD32032-DDF7-454C-8D26-EBFF538B945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1B0ADF9-5238-437D-879A-D86D5DE9E4FE}" type="slidenum">
              <a:rPr lang="en-US" altLang="zh-CN" sz="1050"/>
            </a:fld>
            <a:endParaRPr lang="en-US" altLang="zh-CN" sz="105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Equivalence Problem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520" y="2450095"/>
            <a:ext cx="6049959" cy="5801783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Given an equivalence relation R, decide whether a pair of elements a, b </a:t>
            </a:r>
            <a:r>
              <a:rPr lang="el-GR" altLang="zh-CN" dirty="0"/>
              <a:t>ϵ </a:t>
            </a:r>
            <a:r>
              <a:rPr lang="en-US" altLang="zh-CN" dirty="0" smtClean="0">
                <a:ea typeface="宋体" pitchFamily="2" charset="-122"/>
              </a:rPr>
              <a:t>S is such that a R b.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 smtClean="0"/>
          </a:p>
          <a:p>
            <a:r>
              <a:rPr lang="en-US" altLang="zh-CN" dirty="0" smtClean="0"/>
              <a:t>Check </a:t>
            </a:r>
            <a:r>
              <a:rPr lang="en-US" altLang="zh-CN" dirty="0"/>
              <a:t>whether a and b are in the </a:t>
            </a:r>
            <a:r>
              <a:rPr lang="en-US" altLang="zh-CN" dirty="0">
                <a:solidFill>
                  <a:srgbClr val="263AF8"/>
                </a:solidFill>
              </a:rPr>
              <a:t>same</a:t>
            </a:r>
            <a:r>
              <a:rPr lang="en-US" altLang="zh-CN" dirty="0"/>
              <a:t> equivalence </a:t>
            </a:r>
            <a:r>
              <a:rPr lang="en-US" altLang="zh-CN" dirty="0" smtClean="0"/>
              <a:t>class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Equivalence </a:t>
            </a:r>
            <a:r>
              <a:rPr lang="en-US" altLang="zh-CN" dirty="0" smtClean="0"/>
              <a:t>Problem</a:t>
            </a:r>
            <a:endParaRPr lang="en-US" altLang="zh-CN" dirty="0" smtClean="0"/>
          </a:p>
          <a:p>
            <a:pPr lvl="1"/>
            <a:r>
              <a:rPr lang="en-US" altLang="zh-CN" dirty="0"/>
              <a:t>the problem of assigning the members of a set to </a:t>
            </a:r>
            <a:r>
              <a:rPr lang="en-US" altLang="zh-CN" dirty="0" smtClean="0"/>
              <a:t>equivalence </a:t>
            </a:r>
            <a:r>
              <a:rPr lang="en-US" altLang="zh-CN" dirty="0"/>
              <a:t>classes.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3068960" y="3635896"/>
            <a:ext cx="432048" cy="648072"/>
          </a:xfrm>
          <a:prstGeom prst="downArrow">
            <a:avLst/>
          </a:prstGeom>
          <a:solidFill>
            <a:srgbClr val="263A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B367AA3-4F97-44B8-BE02-40D7D3848B2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2126282-91A9-4D18-AC91-280C8E7FADE2}" type="slidenum">
              <a:rPr lang="en-US" altLang="zh-CN" sz="1050"/>
            </a:fld>
            <a:endParaRPr lang="en-US" altLang="zh-CN" sz="105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Equivalence Problem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Strategy</a:t>
            </a:r>
            <a:r>
              <a:rPr lang="zh-CN" altLang="en-US" dirty="0" smtClean="0">
                <a:ea typeface="宋体" pitchFamily="2" charset="-122"/>
              </a:rPr>
              <a:t>：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Starting </a:t>
            </a:r>
            <a:r>
              <a:rPr lang="en-US" altLang="zh-CN" dirty="0">
                <a:ea typeface="宋体" pitchFamily="2" charset="-122"/>
              </a:rPr>
              <a:t>with each element in a singleton </a:t>
            </a:r>
            <a:r>
              <a:rPr lang="en-US" altLang="zh-CN" dirty="0" smtClean="0">
                <a:ea typeface="宋体" pitchFamily="2" charset="-122"/>
              </a:rPr>
              <a:t>set. These singleton sets are </a:t>
            </a:r>
            <a:r>
              <a:rPr lang="en-US" altLang="zh-CN" b="1" dirty="0" smtClean="0"/>
              <a:t>disjoint.</a:t>
            </a:r>
            <a:r>
              <a:rPr lang="en-US" altLang="zh-CN" dirty="0" smtClean="0">
                <a:ea typeface="宋体" pitchFamily="2" charset="-122"/>
              </a:rPr>
              <a:t> 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two </a:t>
            </a:r>
            <a:r>
              <a:rPr lang="en-US" altLang="zh-CN" dirty="0">
                <a:ea typeface="宋体" pitchFamily="2" charset="-122"/>
              </a:rPr>
              <a:t>operations:</a:t>
            </a:r>
            <a:endParaRPr lang="en-US" altLang="zh-CN" dirty="0">
              <a:ea typeface="宋体" pitchFamily="2" charset="-122"/>
            </a:endParaRPr>
          </a:p>
          <a:p>
            <a:pPr lvl="2"/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Find</a:t>
            </a:r>
            <a:r>
              <a:rPr lang="en-US" altLang="zh-CN" dirty="0">
                <a:ea typeface="宋体" pitchFamily="2" charset="-122"/>
              </a:rPr>
              <a:t> the equivalence class (set) of a given element</a:t>
            </a:r>
            <a:endParaRPr lang="en-US" altLang="zh-CN" dirty="0">
              <a:ea typeface="宋体" pitchFamily="2" charset="-122"/>
            </a:endParaRPr>
          </a:p>
          <a:p>
            <a:pPr lvl="2"/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Union</a:t>
            </a:r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of two sets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It is a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dynamic</a:t>
            </a:r>
            <a:r>
              <a:rPr lang="en-US" altLang="zh-CN" dirty="0">
                <a:ea typeface="宋体" pitchFamily="2" charset="-122"/>
              </a:rPr>
              <a:t> (on-line) problem because the sets change during the operations and Find must be able to cope!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ADA695D-7669-4140-A1E3-757B8530907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614E7C9-6762-41D7-9378-93E7AD0C5C36}" type="slidenum">
              <a:rPr lang="en-US" altLang="zh-CN" sz="1050"/>
            </a:fld>
            <a:endParaRPr lang="en-US" altLang="zh-CN" sz="105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Disjoint Union/Find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 set of pairwise disjoint sets.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Each set has a unique name, one of its members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{3,</a:t>
            </a:r>
            <a:r>
              <a:rPr lang="en-US" altLang="zh-CN" u="sng" dirty="0" smtClean="0">
                <a:solidFill>
                  <a:srgbClr val="263AF8"/>
                </a:solidFill>
                <a:ea typeface="宋体" pitchFamily="2" charset="-122"/>
              </a:rPr>
              <a:t>5</a:t>
            </a:r>
            <a:r>
              <a:rPr lang="en-US" altLang="zh-CN" dirty="0" smtClean="0">
                <a:ea typeface="宋体" pitchFamily="2" charset="-122"/>
              </a:rPr>
              <a:t>,7} , {4,2,</a:t>
            </a:r>
            <a:r>
              <a:rPr lang="en-US" altLang="zh-CN" u="sng" dirty="0" smtClean="0">
                <a:solidFill>
                  <a:srgbClr val="263AF8"/>
                </a:solidFill>
                <a:ea typeface="宋体" pitchFamily="2" charset="-122"/>
              </a:rPr>
              <a:t>8</a:t>
            </a:r>
            <a:r>
              <a:rPr lang="en-US" altLang="zh-CN" dirty="0" smtClean="0">
                <a:ea typeface="宋体" pitchFamily="2" charset="-122"/>
              </a:rPr>
              <a:t>}, {</a:t>
            </a:r>
            <a:r>
              <a:rPr lang="en-US" altLang="zh-CN" u="sng" dirty="0" smtClean="0">
                <a:solidFill>
                  <a:srgbClr val="263AF8"/>
                </a:solidFill>
                <a:ea typeface="宋体" pitchFamily="2" charset="-122"/>
              </a:rPr>
              <a:t>9</a:t>
            </a:r>
            <a:r>
              <a:rPr lang="en-US" altLang="zh-CN" dirty="0" smtClean="0">
                <a:ea typeface="宋体" pitchFamily="2" charset="-122"/>
              </a:rPr>
              <a:t>}, {</a:t>
            </a:r>
            <a:r>
              <a:rPr lang="en-US" altLang="zh-CN" u="sng" dirty="0" smtClean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dirty="0" smtClean="0">
                <a:ea typeface="宋体" pitchFamily="2" charset="-122"/>
              </a:rPr>
              <a:t>,6}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263AF8"/>
                </a:solidFill>
              </a:rPr>
              <a:t>Find</a:t>
            </a:r>
            <a:r>
              <a:rPr lang="en-US" altLang="zh-CN" dirty="0"/>
              <a:t>(x) – return the name of the set containing x.</a:t>
            </a:r>
            <a:endParaRPr lang="en-US" altLang="zh-CN" dirty="0"/>
          </a:p>
          <a:p>
            <a:pPr lvl="1"/>
            <a:r>
              <a:rPr lang="en-US" altLang="zh-CN" dirty="0" smtClean="0"/>
              <a:t>Find(6</a:t>
            </a:r>
            <a:r>
              <a:rPr lang="en-US" altLang="zh-CN" dirty="0"/>
              <a:t>) = 1</a:t>
            </a:r>
            <a:endParaRPr lang="en-US" altLang="zh-CN" dirty="0"/>
          </a:p>
          <a:p>
            <a:pPr lvl="1"/>
            <a:r>
              <a:rPr lang="en-US" altLang="zh-CN" dirty="0"/>
              <a:t>Find(4) = 8</a:t>
            </a:r>
            <a:endParaRPr lang="en-US" altLang="zh-CN" dirty="0"/>
          </a:p>
          <a:p>
            <a:pPr lvl="1"/>
            <a:r>
              <a:rPr lang="en-US" altLang="zh-CN" dirty="0"/>
              <a:t>Find(9) = </a:t>
            </a:r>
            <a:r>
              <a:rPr lang="en-US" altLang="zh-CN" dirty="0" smtClean="0"/>
              <a:t>9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en-US" altLang="zh-CN" dirty="0">
                <a:solidFill>
                  <a:srgbClr val="263AF8"/>
                </a:solidFill>
              </a:rPr>
              <a:t>Union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 – take the union of two sets named x and </a:t>
            </a:r>
            <a:r>
              <a:rPr lang="en-US" altLang="zh-CN" dirty="0" smtClean="0"/>
              <a:t>y</a:t>
            </a:r>
            <a:endParaRPr lang="en-US" altLang="zh-CN" dirty="0" smtClean="0"/>
          </a:p>
          <a:p>
            <a:pPr lvl="1"/>
            <a:r>
              <a:rPr lang="en-US" altLang="zh-CN" dirty="0"/>
              <a:t>Union(5,1) = {3,</a:t>
            </a:r>
            <a:r>
              <a:rPr lang="en-US" altLang="zh-CN" u="sng" dirty="0">
                <a:solidFill>
                  <a:srgbClr val="263AF8"/>
                </a:solidFill>
                <a:ea typeface="宋体" pitchFamily="2" charset="-122"/>
              </a:rPr>
              <a:t>5</a:t>
            </a:r>
            <a:r>
              <a:rPr lang="en-US" altLang="zh-CN" dirty="0"/>
              <a:t>,7,1,6}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35A04CA-C7E8-4B03-B766-261B3A23C85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AE157C5-01C7-495F-BA1C-19F27F2E3C6F}" type="slidenum">
              <a:rPr lang="en-US" altLang="zh-CN" sz="1050"/>
            </a:fld>
            <a:endParaRPr lang="en-US" altLang="zh-CN" sz="105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 Application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663" y="2564441"/>
            <a:ext cx="6012815" cy="40005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Build a  random maze by erasing edges.</a:t>
            </a: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117" name="Group 6"/>
          <p:cNvGrpSpPr/>
          <p:nvPr/>
        </p:nvGrpSpPr>
        <p:grpSpPr bwMode="auto">
          <a:xfrm>
            <a:off x="1456184" y="3793232"/>
            <a:ext cx="609600" cy="533400"/>
            <a:chOff x="1200" y="1824"/>
            <a:chExt cx="384" cy="336"/>
          </a:xfrm>
        </p:grpSpPr>
        <p:sp>
          <p:nvSpPr>
            <p:cNvPr id="118" name="Line 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0" name="Group 7"/>
          <p:cNvGrpSpPr/>
          <p:nvPr/>
        </p:nvGrpSpPr>
        <p:grpSpPr bwMode="auto">
          <a:xfrm>
            <a:off x="2065784" y="3793232"/>
            <a:ext cx="609600" cy="533400"/>
            <a:chOff x="1200" y="1824"/>
            <a:chExt cx="384" cy="336"/>
          </a:xfrm>
        </p:grpSpPr>
        <p:sp>
          <p:nvSpPr>
            <p:cNvPr id="121" name="Line 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Line 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3" name="Group 10"/>
          <p:cNvGrpSpPr/>
          <p:nvPr/>
        </p:nvGrpSpPr>
        <p:grpSpPr bwMode="auto">
          <a:xfrm>
            <a:off x="2675384" y="3793232"/>
            <a:ext cx="609600" cy="533400"/>
            <a:chOff x="1200" y="1824"/>
            <a:chExt cx="384" cy="336"/>
          </a:xfrm>
        </p:grpSpPr>
        <p:sp>
          <p:nvSpPr>
            <p:cNvPr id="124" name="Line 1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Line 1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6" name="Group 13"/>
          <p:cNvGrpSpPr/>
          <p:nvPr/>
        </p:nvGrpSpPr>
        <p:grpSpPr bwMode="auto">
          <a:xfrm>
            <a:off x="3284984" y="3793232"/>
            <a:ext cx="609600" cy="533400"/>
            <a:chOff x="1200" y="1824"/>
            <a:chExt cx="384" cy="336"/>
          </a:xfrm>
        </p:grpSpPr>
        <p:sp>
          <p:nvSpPr>
            <p:cNvPr id="127" name="Line 1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1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9" name="Group 16"/>
          <p:cNvGrpSpPr/>
          <p:nvPr/>
        </p:nvGrpSpPr>
        <p:grpSpPr bwMode="auto">
          <a:xfrm>
            <a:off x="3894584" y="3793232"/>
            <a:ext cx="609600" cy="533400"/>
            <a:chOff x="1200" y="1824"/>
            <a:chExt cx="384" cy="336"/>
          </a:xfrm>
        </p:grpSpPr>
        <p:sp>
          <p:nvSpPr>
            <p:cNvPr id="130" name="Line 1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Line 1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2" name="Group 19"/>
          <p:cNvGrpSpPr/>
          <p:nvPr/>
        </p:nvGrpSpPr>
        <p:grpSpPr bwMode="auto">
          <a:xfrm>
            <a:off x="4504184" y="3793232"/>
            <a:ext cx="609600" cy="533400"/>
            <a:chOff x="1200" y="1824"/>
            <a:chExt cx="384" cy="336"/>
          </a:xfrm>
        </p:grpSpPr>
        <p:sp>
          <p:nvSpPr>
            <p:cNvPr id="133" name="Line 2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Line 2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" name="Group 22"/>
          <p:cNvGrpSpPr/>
          <p:nvPr/>
        </p:nvGrpSpPr>
        <p:grpSpPr bwMode="auto">
          <a:xfrm>
            <a:off x="1456184" y="4326632"/>
            <a:ext cx="609600" cy="533400"/>
            <a:chOff x="1200" y="1824"/>
            <a:chExt cx="384" cy="336"/>
          </a:xfrm>
        </p:grpSpPr>
        <p:sp>
          <p:nvSpPr>
            <p:cNvPr id="136" name="Line 23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24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" name="Group 25"/>
          <p:cNvGrpSpPr/>
          <p:nvPr/>
        </p:nvGrpSpPr>
        <p:grpSpPr bwMode="auto">
          <a:xfrm>
            <a:off x="2065784" y="4326632"/>
            <a:ext cx="609600" cy="533400"/>
            <a:chOff x="1200" y="1824"/>
            <a:chExt cx="384" cy="336"/>
          </a:xfrm>
        </p:grpSpPr>
        <p:sp>
          <p:nvSpPr>
            <p:cNvPr id="139" name="Line 26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27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1" name="Group 28"/>
          <p:cNvGrpSpPr/>
          <p:nvPr/>
        </p:nvGrpSpPr>
        <p:grpSpPr bwMode="auto">
          <a:xfrm>
            <a:off x="2675384" y="4326632"/>
            <a:ext cx="609600" cy="533400"/>
            <a:chOff x="1200" y="1824"/>
            <a:chExt cx="384" cy="336"/>
          </a:xfrm>
        </p:grpSpPr>
        <p:sp>
          <p:nvSpPr>
            <p:cNvPr id="142" name="Line 29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30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4" name="Group 31"/>
          <p:cNvGrpSpPr/>
          <p:nvPr/>
        </p:nvGrpSpPr>
        <p:grpSpPr bwMode="auto">
          <a:xfrm>
            <a:off x="3284984" y="4326632"/>
            <a:ext cx="609600" cy="533400"/>
            <a:chOff x="1200" y="1824"/>
            <a:chExt cx="384" cy="336"/>
          </a:xfrm>
        </p:grpSpPr>
        <p:sp>
          <p:nvSpPr>
            <p:cNvPr id="145" name="Line 32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7" name="Group 34"/>
          <p:cNvGrpSpPr/>
          <p:nvPr/>
        </p:nvGrpSpPr>
        <p:grpSpPr bwMode="auto">
          <a:xfrm>
            <a:off x="3894584" y="4326632"/>
            <a:ext cx="609600" cy="533400"/>
            <a:chOff x="1200" y="1824"/>
            <a:chExt cx="384" cy="336"/>
          </a:xfrm>
        </p:grpSpPr>
        <p:sp>
          <p:nvSpPr>
            <p:cNvPr id="148" name="Line 35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0" name="Group 37"/>
          <p:cNvGrpSpPr/>
          <p:nvPr/>
        </p:nvGrpSpPr>
        <p:grpSpPr bwMode="auto">
          <a:xfrm>
            <a:off x="4504184" y="4326632"/>
            <a:ext cx="609600" cy="533400"/>
            <a:chOff x="1200" y="1824"/>
            <a:chExt cx="384" cy="336"/>
          </a:xfrm>
        </p:grpSpPr>
        <p:sp>
          <p:nvSpPr>
            <p:cNvPr id="151" name="Line 3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" name="Group 40"/>
          <p:cNvGrpSpPr/>
          <p:nvPr/>
        </p:nvGrpSpPr>
        <p:grpSpPr bwMode="auto">
          <a:xfrm>
            <a:off x="1456184" y="4860032"/>
            <a:ext cx="609600" cy="533400"/>
            <a:chOff x="1200" y="1824"/>
            <a:chExt cx="384" cy="336"/>
          </a:xfrm>
        </p:grpSpPr>
        <p:sp>
          <p:nvSpPr>
            <p:cNvPr id="154" name="Line 4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4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" name="Group 43"/>
          <p:cNvGrpSpPr/>
          <p:nvPr/>
        </p:nvGrpSpPr>
        <p:grpSpPr bwMode="auto">
          <a:xfrm>
            <a:off x="2065784" y="4860032"/>
            <a:ext cx="609600" cy="533400"/>
            <a:chOff x="1200" y="1824"/>
            <a:chExt cx="384" cy="336"/>
          </a:xfrm>
        </p:grpSpPr>
        <p:sp>
          <p:nvSpPr>
            <p:cNvPr id="157" name="Line 4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4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9" name="Group 46"/>
          <p:cNvGrpSpPr/>
          <p:nvPr/>
        </p:nvGrpSpPr>
        <p:grpSpPr bwMode="auto">
          <a:xfrm>
            <a:off x="2675384" y="4860032"/>
            <a:ext cx="609600" cy="533400"/>
            <a:chOff x="1200" y="1824"/>
            <a:chExt cx="384" cy="336"/>
          </a:xfrm>
        </p:grpSpPr>
        <p:sp>
          <p:nvSpPr>
            <p:cNvPr id="160" name="Line 4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4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2" name="Group 49"/>
          <p:cNvGrpSpPr/>
          <p:nvPr/>
        </p:nvGrpSpPr>
        <p:grpSpPr bwMode="auto">
          <a:xfrm>
            <a:off x="3284984" y="4860032"/>
            <a:ext cx="609600" cy="533400"/>
            <a:chOff x="1200" y="1824"/>
            <a:chExt cx="384" cy="336"/>
          </a:xfrm>
        </p:grpSpPr>
        <p:sp>
          <p:nvSpPr>
            <p:cNvPr id="163" name="Line 5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5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5" name="Group 52"/>
          <p:cNvGrpSpPr/>
          <p:nvPr/>
        </p:nvGrpSpPr>
        <p:grpSpPr bwMode="auto">
          <a:xfrm>
            <a:off x="3894584" y="4860032"/>
            <a:ext cx="609600" cy="533400"/>
            <a:chOff x="1200" y="1824"/>
            <a:chExt cx="384" cy="336"/>
          </a:xfrm>
        </p:grpSpPr>
        <p:sp>
          <p:nvSpPr>
            <p:cNvPr id="166" name="Line 53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Line 54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8" name="Group 55"/>
          <p:cNvGrpSpPr/>
          <p:nvPr/>
        </p:nvGrpSpPr>
        <p:grpSpPr bwMode="auto">
          <a:xfrm>
            <a:off x="4504184" y="4860032"/>
            <a:ext cx="609600" cy="533400"/>
            <a:chOff x="1200" y="1824"/>
            <a:chExt cx="384" cy="336"/>
          </a:xfrm>
        </p:grpSpPr>
        <p:sp>
          <p:nvSpPr>
            <p:cNvPr id="169" name="Line 56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57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" name="Group 58"/>
          <p:cNvGrpSpPr/>
          <p:nvPr/>
        </p:nvGrpSpPr>
        <p:grpSpPr bwMode="auto">
          <a:xfrm>
            <a:off x="1456184" y="5393432"/>
            <a:ext cx="609600" cy="533400"/>
            <a:chOff x="1200" y="1824"/>
            <a:chExt cx="384" cy="336"/>
          </a:xfrm>
        </p:grpSpPr>
        <p:sp>
          <p:nvSpPr>
            <p:cNvPr id="172" name="Line 59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Line 60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4" name="Group 61"/>
          <p:cNvGrpSpPr/>
          <p:nvPr/>
        </p:nvGrpSpPr>
        <p:grpSpPr bwMode="auto">
          <a:xfrm>
            <a:off x="2065784" y="5393432"/>
            <a:ext cx="609600" cy="533400"/>
            <a:chOff x="1200" y="1824"/>
            <a:chExt cx="384" cy="336"/>
          </a:xfrm>
        </p:grpSpPr>
        <p:sp>
          <p:nvSpPr>
            <p:cNvPr id="175" name="Line 62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Line 63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7" name="Group 64"/>
          <p:cNvGrpSpPr/>
          <p:nvPr/>
        </p:nvGrpSpPr>
        <p:grpSpPr bwMode="auto">
          <a:xfrm>
            <a:off x="2675384" y="5393432"/>
            <a:ext cx="609600" cy="533400"/>
            <a:chOff x="1200" y="1824"/>
            <a:chExt cx="384" cy="336"/>
          </a:xfrm>
        </p:grpSpPr>
        <p:sp>
          <p:nvSpPr>
            <p:cNvPr id="178" name="Line 65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Line 66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0" name="Group 67"/>
          <p:cNvGrpSpPr/>
          <p:nvPr/>
        </p:nvGrpSpPr>
        <p:grpSpPr bwMode="auto">
          <a:xfrm>
            <a:off x="3284984" y="5393432"/>
            <a:ext cx="609600" cy="533400"/>
            <a:chOff x="1200" y="1824"/>
            <a:chExt cx="384" cy="336"/>
          </a:xfrm>
        </p:grpSpPr>
        <p:sp>
          <p:nvSpPr>
            <p:cNvPr id="181" name="Line 6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Line 6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3" name="Group 70"/>
          <p:cNvGrpSpPr/>
          <p:nvPr/>
        </p:nvGrpSpPr>
        <p:grpSpPr bwMode="auto">
          <a:xfrm>
            <a:off x="3894584" y="5393432"/>
            <a:ext cx="609600" cy="533400"/>
            <a:chOff x="1200" y="1824"/>
            <a:chExt cx="384" cy="336"/>
          </a:xfrm>
        </p:grpSpPr>
        <p:sp>
          <p:nvSpPr>
            <p:cNvPr id="184" name="Line 7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Line 7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" name="Group 73"/>
          <p:cNvGrpSpPr/>
          <p:nvPr/>
        </p:nvGrpSpPr>
        <p:grpSpPr bwMode="auto">
          <a:xfrm>
            <a:off x="4504184" y="5393432"/>
            <a:ext cx="609600" cy="533400"/>
            <a:chOff x="1200" y="1824"/>
            <a:chExt cx="384" cy="336"/>
          </a:xfrm>
        </p:grpSpPr>
        <p:sp>
          <p:nvSpPr>
            <p:cNvPr id="187" name="Line 7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Line 7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9" name="Group 76"/>
          <p:cNvGrpSpPr/>
          <p:nvPr/>
        </p:nvGrpSpPr>
        <p:grpSpPr bwMode="auto">
          <a:xfrm>
            <a:off x="1456184" y="5926832"/>
            <a:ext cx="609600" cy="533400"/>
            <a:chOff x="1200" y="1824"/>
            <a:chExt cx="384" cy="336"/>
          </a:xfrm>
        </p:grpSpPr>
        <p:sp>
          <p:nvSpPr>
            <p:cNvPr id="190" name="Line 7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7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2" name="Group 79"/>
          <p:cNvGrpSpPr/>
          <p:nvPr/>
        </p:nvGrpSpPr>
        <p:grpSpPr bwMode="auto">
          <a:xfrm>
            <a:off x="2065784" y="5926832"/>
            <a:ext cx="609600" cy="533400"/>
            <a:chOff x="1200" y="1824"/>
            <a:chExt cx="384" cy="336"/>
          </a:xfrm>
        </p:grpSpPr>
        <p:sp>
          <p:nvSpPr>
            <p:cNvPr id="193" name="Line 8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8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5" name="Group 82"/>
          <p:cNvGrpSpPr/>
          <p:nvPr/>
        </p:nvGrpSpPr>
        <p:grpSpPr bwMode="auto">
          <a:xfrm>
            <a:off x="2675384" y="5926832"/>
            <a:ext cx="609600" cy="533400"/>
            <a:chOff x="1200" y="1824"/>
            <a:chExt cx="384" cy="336"/>
          </a:xfrm>
        </p:grpSpPr>
        <p:sp>
          <p:nvSpPr>
            <p:cNvPr id="196" name="Line 83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Line 84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8" name="Group 85"/>
          <p:cNvGrpSpPr/>
          <p:nvPr/>
        </p:nvGrpSpPr>
        <p:grpSpPr bwMode="auto">
          <a:xfrm>
            <a:off x="3284984" y="5926832"/>
            <a:ext cx="609600" cy="533400"/>
            <a:chOff x="1200" y="1824"/>
            <a:chExt cx="384" cy="336"/>
          </a:xfrm>
        </p:grpSpPr>
        <p:sp>
          <p:nvSpPr>
            <p:cNvPr id="199" name="Line 86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Line 87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1" name="Group 88"/>
          <p:cNvGrpSpPr/>
          <p:nvPr/>
        </p:nvGrpSpPr>
        <p:grpSpPr bwMode="auto">
          <a:xfrm>
            <a:off x="3894584" y="5926832"/>
            <a:ext cx="609600" cy="533400"/>
            <a:chOff x="1200" y="1824"/>
            <a:chExt cx="384" cy="336"/>
          </a:xfrm>
        </p:grpSpPr>
        <p:sp>
          <p:nvSpPr>
            <p:cNvPr id="202" name="Line 89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Line 90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" name="Group 91"/>
          <p:cNvGrpSpPr/>
          <p:nvPr/>
        </p:nvGrpSpPr>
        <p:grpSpPr bwMode="auto">
          <a:xfrm>
            <a:off x="4504184" y="5926832"/>
            <a:ext cx="609600" cy="533400"/>
            <a:chOff x="1200" y="1824"/>
            <a:chExt cx="384" cy="336"/>
          </a:xfrm>
        </p:grpSpPr>
        <p:sp>
          <p:nvSpPr>
            <p:cNvPr id="205" name="Line 92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Line 93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7" name="Group 94"/>
          <p:cNvGrpSpPr/>
          <p:nvPr/>
        </p:nvGrpSpPr>
        <p:grpSpPr bwMode="auto">
          <a:xfrm>
            <a:off x="1456184" y="6460232"/>
            <a:ext cx="609600" cy="533400"/>
            <a:chOff x="1200" y="1824"/>
            <a:chExt cx="384" cy="336"/>
          </a:xfrm>
        </p:grpSpPr>
        <p:sp>
          <p:nvSpPr>
            <p:cNvPr id="208" name="Line 95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" name="Line 96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0" name="Group 97"/>
          <p:cNvGrpSpPr/>
          <p:nvPr/>
        </p:nvGrpSpPr>
        <p:grpSpPr bwMode="auto">
          <a:xfrm>
            <a:off x="2065784" y="6460232"/>
            <a:ext cx="609600" cy="533400"/>
            <a:chOff x="1200" y="1824"/>
            <a:chExt cx="384" cy="336"/>
          </a:xfrm>
        </p:grpSpPr>
        <p:sp>
          <p:nvSpPr>
            <p:cNvPr id="211" name="Line 98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" name="Line 99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3" name="Group 100"/>
          <p:cNvGrpSpPr/>
          <p:nvPr/>
        </p:nvGrpSpPr>
        <p:grpSpPr bwMode="auto">
          <a:xfrm>
            <a:off x="2675384" y="6460232"/>
            <a:ext cx="609600" cy="533400"/>
            <a:chOff x="1200" y="1824"/>
            <a:chExt cx="384" cy="336"/>
          </a:xfrm>
        </p:grpSpPr>
        <p:sp>
          <p:nvSpPr>
            <p:cNvPr id="214" name="Line 101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" name="Line 102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6" name="Group 103"/>
          <p:cNvGrpSpPr/>
          <p:nvPr/>
        </p:nvGrpSpPr>
        <p:grpSpPr bwMode="auto">
          <a:xfrm>
            <a:off x="3284984" y="6460232"/>
            <a:ext cx="609600" cy="533400"/>
            <a:chOff x="1200" y="1824"/>
            <a:chExt cx="384" cy="336"/>
          </a:xfrm>
        </p:grpSpPr>
        <p:sp>
          <p:nvSpPr>
            <p:cNvPr id="217" name="Line 104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Line 105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9" name="Group 106"/>
          <p:cNvGrpSpPr/>
          <p:nvPr/>
        </p:nvGrpSpPr>
        <p:grpSpPr bwMode="auto">
          <a:xfrm>
            <a:off x="3894584" y="6460232"/>
            <a:ext cx="609600" cy="533400"/>
            <a:chOff x="1200" y="1824"/>
            <a:chExt cx="384" cy="336"/>
          </a:xfrm>
        </p:grpSpPr>
        <p:sp>
          <p:nvSpPr>
            <p:cNvPr id="220" name="Line 107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Line 108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2" name="Group 109"/>
          <p:cNvGrpSpPr/>
          <p:nvPr/>
        </p:nvGrpSpPr>
        <p:grpSpPr bwMode="auto">
          <a:xfrm>
            <a:off x="4504184" y="6460232"/>
            <a:ext cx="609600" cy="533400"/>
            <a:chOff x="1200" y="1824"/>
            <a:chExt cx="384" cy="336"/>
          </a:xfrm>
        </p:grpSpPr>
        <p:sp>
          <p:nvSpPr>
            <p:cNvPr id="223" name="Line 110"/>
            <p:cNvSpPr>
              <a:spLocks noChangeShapeType="1"/>
            </p:cNvSpPr>
            <p:nvPr/>
          </p:nvSpPr>
          <p:spPr bwMode="auto">
            <a:xfrm>
              <a:off x="1200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Line 111"/>
            <p:cNvSpPr>
              <a:spLocks noChangeShapeType="1"/>
            </p:cNvSpPr>
            <p:nvPr/>
          </p:nvSpPr>
          <p:spPr bwMode="auto">
            <a:xfrm>
              <a:off x="15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" name="Line 113"/>
          <p:cNvSpPr>
            <a:spLocks noChangeShapeType="1"/>
          </p:cNvSpPr>
          <p:nvPr/>
        </p:nvSpPr>
        <p:spPr bwMode="auto">
          <a:xfrm rot="10800000">
            <a:off x="1456184" y="699363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" name="Line 114"/>
          <p:cNvSpPr>
            <a:spLocks noChangeShapeType="1"/>
          </p:cNvSpPr>
          <p:nvPr/>
        </p:nvSpPr>
        <p:spPr bwMode="auto">
          <a:xfrm rot="10800000">
            <a:off x="1456184" y="3793232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5CC97A5-6520-46ED-8BDC-6E79A0117EF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0FB9FC2-AC26-4CA1-8486-DD0B40F6314F}" type="slidenum">
              <a:rPr lang="en-US" altLang="zh-CN" sz="1050"/>
            </a:fld>
            <a:endParaRPr lang="en-US" altLang="zh-CN" sz="105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 Application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810" y="2579293"/>
            <a:ext cx="5829300" cy="2857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Pick Start and End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83" name="Line 6"/>
          <p:cNvSpPr>
            <a:spLocks noChangeShapeType="1"/>
          </p:cNvSpPr>
          <p:nvPr/>
        </p:nvSpPr>
        <p:spPr bwMode="auto">
          <a:xfrm>
            <a:off x="2032248" y="3763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4" name="Line 8"/>
          <p:cNvSpPr>
            <a:spLocks noChangeShapeType="1"/>
          </p:cNvSpPr>
          <p:nvPr/>
        </p:nvSpPr>
        <p:spPr bwMode="auto">
          <a:xfrm>
            <a:off x="2032248" y="3763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5" name="Line 9"/>
          <p:cNvSpPr>
            <a:spLocks noChangeShapeType="1"/>
          </p:cNvSpPr>
          <p:nvPr/>
        </p:nvSpPr>
        <p:spPr bwMode="auto">
          <a:xfrm>
            <a:off x="2641848" y="3763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6" name="Line 11"/>
          <p:cNvSpPr>
            <a:spLocks noChangeShapeType="1"/>
          </p:cNvSpPr>
          <p:nvPr/>
        </p:nvSpPr>
        <p:spPr bwMode="auto">
          <a:xfrm>
            <a:off x="2641848" y="3763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>
            <a:off x="3251448" y="3763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8" name="Line 14"/>
          <p:cNvSpPr>
            <a:spLocks noChangeShapeType="1"/>
          </p:cNvSpPr>
          <p:nvPr/>
        </p:nvSpPr>
        <p:spPr bwMode="auto">
          <a:xfrm>
            <a:off x="3251448" y="3763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9" name="Line 15"/>
          <p:cNvSpPr>
            <a:spLocks noChangeShapeType="1"/>
          </p:cNvSpPr>
          <p:nvPr/>
        </p:nvSpPr>
        <p:spPr bwMode="auto">
          <a:xfrm>
            <a:off x="3861048" y="3763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0" name="Line 17"/>
          <p:cNvSpPr>
            <a:spLocks noChangeShapeType="1"/>
          </p:cNvSpPr>
          <p:nvPr/>
        </p:nvSpPr>
        <p:spPr bwMode="auto">
          <a:xfrm>
            <a:off x="3861048" y="3763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1" name="Line 18"/>
          <p:cNvSpPr>
            <a:spLocks noChangeShapeType="1"/>
          </p:cNvSpPr>
          <p:nvPr/>
        </p:nvSpPr>
        <p:spPr bwMode="auto">
          <a:xfrm>
            <a:off x="4470648" y="3763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2" name="Line 20"/>
          <p:cNvSpPr>
            <a:spLocks noChangeShapeType="1"/>
          </p:cNvSpPr>
          <p:nvPr/>
        </p:nvSpPr>
        <p:spPr bwMode="auto">
          <a:xfrm>
            <a:off x="4470648" y="3763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3" name="Line 21"/>
          <p:cNvSpPr>
            <a:spLocks noChangeShapeType="1"/>
          </p:cNvSpPr>
          <p:nvPr/>
        </p:nvSpPr>
        <p:spPr bwMode="auto">
          <a:xfrm>
            <a:off x="5080248" y="3763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4" name="Line 23"/>
          <p:cNvSpPr>
            <a:spLocks noChangeShapeType="1"/>
          </p:cNvSpPr>
          <p:nvPr/>
        </p:nvSpPr>
        <p:spPr bwMode="auto">
          <a:xfrm>
            <a:off x="1422648" y="4297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5" name="Line 24"/>
          <p:cNvSpPr>
            <a:spLocks noChangeShapeType="1"/>
          </p:cNvSpPr>
          <p:nvPr/>
        </p:nvSpPr>
        <p:spPr bwMode="auto">
          <a:xfrm>
            <a:off x="2032248" y="42972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6" name="Line 26"/>
          <p:cNvSpPr>
            <a:spLocks noChangeShapeType="1"/>
          </p:cNvSpPr>
          <p:nvPr/>
        </p:nvSpPr>
        <p:spPr bwMode="auto">
          <a:xfrm>
            <a:off x="2032248" y="4297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7" name="Line 27"/>
          <p:cNvSpPr>
            <a:spLocks noChangeShapeType="1"/>
          </p:cNvSpPr>
          <p:nvPr/>
        </p:nvSpPr>
        <p:spPr bwMode="auto">
          <a:xfrm>
            <a:off x="2641848" y="42972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8" name="Line 29"/>
          <p:cNvSpPr>
            <a:spLocks noChangeShapeType="1"/>
          </p:cNvSpPr>
          <p:nvPr/>
        </p:nvSpPr>
        <p:spPr bwMode="auto">
          <a:xfrm>
            <a:off x="2641848" y="4297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9" name="Line 30"/>
          <p:cNvSpPr>
            <a:spLocks noChangeShapeType="1"/>
          </p:cNvSpPr>
          <p:nvPr/>
        </p:nvSpPr>
        <p:spPr bwMode="auto">
          <a:xfrm>
            <a:off x="3251448" y="42972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0" name="Line 32"/>
          <p:cNvSpPr>
            <a:spLocks noChangeShapeType="1"/>
          </p:cNvSpPr>
          <p:nvPr/>
        </p:nvSpPr>
        <p:spPr bwMode="auto">
          <a:xfrm>
            <a:off x="3251448" y="4297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Line 33"/>
          <p:cNvSpPr>
            <a:spLocks noChangeShapeType="1"/>
          </p:cNvSpPr>
          <p:nvPr/>
        </p:nvSpPr>
        <p:spPr bwMode="auto">
          <a:xfrm>
            <a:off x="3861048" y="42972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2" name="Line 35"/>
          <p:cNvSpPr>
            <a:spLocks noChangeShapeType="1"/>
          </p:cNvSpPr>
          <p:nvPr/>
        </p:nvSpPr>
        <p:spPr bwMode="auto">
          <a:xfrm>
            <a:off x="3861048" y="4297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36"/>
          <p:cNvSpPr>
            <a:spLocks noChangeShapeType="1"/>
          </p:cNvSpPr>
          <p:nvPr/>
        </p:nvSpPr>
        <p:spPr bwMode="auto">
          <a:xfrm>
            <a:off x="4470648" y="42972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38"/>
          <p:cNvSpPr>
            <a:spLocks noChangeShapeType="1"/>
          </p:cNvSpPr>
          <p:nvPr/>
        </p:nvSpPr>
        <p:spPr bwMode="auto">
          <a:xfrm>
            <a:off x="4470648" y="4297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Line 39"/>
          <p:cNvSpPr>
            <a:spLocks noChangeShapeType="1"/>
          </p:cNvSpPr>
          <p:nvPr/>
        </p:nvSpPr>
        <p:spPr bwMode="auto">
          <a:xfrm>
            <a:off x="5080248" y="42972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6" name="Line 41"/>
          <p:cNvSpPr>
            <a:spLocks noChangeShapeType="1"/>
          </p:cNvSpPr>
          <p:nvPr/>
        </p:nvSpPr>
        <p:spPr bwMode="auto">
          <a:xfrm>
            <a:off x="1422648" y="48306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Line 42"/>
          <p:cNvSpPr>
            <a:spLocks noChangeShapeType="1"/>
          </p:cNvSpPr>
          <p:nvPr/>
        </p:nvSpPr>
        <p:spPr bwMode="auto">
          <a:xfrm>
            <a:off x="2032248" y="48306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44"/>
          <p:cNvSpPr>
            <a:spLocks noChangeShapeType="1"/>
          </p:cNvSpPr>
          <p:nvPr/>
        </p:nvSpPr>
        <p:spPr bwMode="auto">
          <a:xfrm>
            <a:off x="2032248" y="48306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45"/>
          <p:cNvSpPr>
            <a:spLocks noChangeShapeType="1"/>
          </p:cNvSpPr>
          <p:nvPr/>
        </p:nvSpPr>
        <p:spPr bwMode="auto">
          <a:xfrm>
            <a:off x="2641848" y="48306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0" name="Line 47"/>
          <p:cNvSpPr>
            <a:spLocks noChangeShapeType="1"/>
          </p:cNvSpPr>
          <p:nvPr/>
        </p:nvSpPr>
        <p:spPr bwMode="auto">
          <a:xfrm>
            <a:off x="2641848" y="48306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Line 48"/>
          <p:cNvSpPr>
            <a:spLocks noChangeShapeType="1"/>
          </p:cNvSpPr>
          <p:nvPr/>
        </p:nvSpPr>
        <p:spPr bwMode="auto">
          <a:xfrm>
            <a:off x="3251448" y="48306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2" name="Line 50"/>
          <p:cNvSpPr>
            <a:spLocks noChangeShapeType="1"/>
          </p:cNvSpPr>
          <p:nvPr/>
        </p:nvSpPr>
        <p:spPr bwMode="auto">
          <a:xfrm>
            <a:off x="3251448" y="48306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Line 51"/>
          <p:cNvSpPr>
            <a:spLocks noChangeShapeType="1"/>
          </p:cNvSpPr>
          <p:nvPr/>
        </p:nvSpPr>
        <p:spPr bwMode="auto">
          <a:xfrm>
            <a:off x="3861048" y="48306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4" name="Line 53"/>
          <p:cNvSpPr>
            <a:spLocks noChangeShapeType="1"/>
          </p:cNvSpPr>
          <p:nvPr/>
        </p:nvSpPr>
        <p:spPr bwMode="auto">
          <a:xfrm>
            <a:off x="3861048" y="48306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5" name="Line 54"/>
          <p:cNvSpPr>
            <a:spLocks noChangeShapeType="1"/>
          </p:cNvSpPr>
          <p:nvPr/>
        </p:nvSpPr>
        <p:spPr bwMode="auto">
          <a:xfrm>
            <a:off x="4470648" y="48306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6" name="Line 56"/>
          <p:cNvSpPr>
            <a:spLocks noChangeShapeType="1"/>
          </p:cNvSpPr>
          <p:nvPr/>
        </p:nvSpPr>
        <p:spPr bwMode="auto">
          <a:xfrm>
            <a:off x="4470648" y="48306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7" name="Line 57"/>
          <p:cNvSpPr>
            <a:spLocks noChangeShapeType="1"/>
          </p:cNvSpPr>
          <p:nvPr/>
        </p:nvSpPr>
        <p:spPr bwMode="auto">
          <a:xfrm>
            <a:off x="5080248" y="48306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8" name="Line 59"/>
          <p:cNvSpPr>
            <a:spLocks noChangeShapeType="1"/>
          </p:cNvSpPr>
          <p:nvPr/>
        </p:nvSpPr>
        <p:spPr bwMode="auto">
          <a:xfrm>
            <a:off x="1422648" y="5364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9" name="Line 60"/>
          <p:cNvSpPr>
            <a:spLocks noChangeShapeType="1"/>
          </p:cNvSpPr>
          <p:nvPr/>
        </p:nvSpPr>
        <p:spPr bwMode="auto">
          <a:xfrm>
            <a:off x="2032248" y="53640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0" name="Line 62"/>
          <p:cNvSpPr>
            <a:spLocks noChangeShapeType="1"/>
          </p:cNvSpPr>
          <p:nvPr/>
        </p:nvSpPr>
        <p:spPr bwMode="auto">
          <a:xfrm>
            <a:off x="2032248" y="5364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Line 63"/>
          <p:cNvSpPr>
            <a:spLocks noChangeShapeType="1"/>
          </p:cNvSpPr>
          <p:nvPr/>
        </p:nvSpPr>
        <p:spPr bwMode="auto">
          <a:xfrm>
            <a:off x="2641848" y="53640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2" name="Line 65"/>
          <p:cNvSpPr>
            <a:spLocks noChangeShapeType="1"/>
          </p:cNvSpPr>
          <p:nvPr/>
        </p:nvSpPr>
        <p:spPr bwMode="auto">
          <a:xfrm>
            <a:off x="2641848" y="5364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Line 66"/>
          <p:cNvSpPr>
            <a:spLocks noChangeShapeType="1"/>
          </p:cNvSpPr>
          <p:nvPr/>
        </p:nvSpPr>
        <p:spPr bwMode="auto">
          <a:xfrm>
            <a:off x="3251448" y="53640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4" name="Line 68"/>
          <p:cNvSpPr>
            <a:spLocks noChangeShapeType="1"/>
          </p:cNvSpPr>
          <p:nvPr/>
        </p:nvSpPr>
        <p:spPr bwMode="auto">
          <a:xfrm>
            <a:off x="3251448" y="5364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5" name="Line 69"/>
          <p:cNvSpPr>
            <a:spLocks noChangeShapeType="1"/>
          </p:cNvSpPr>
          <p:nvPr/>
        </p:nvSpPr>
        <p:spPr bwMode="auto">
          <a:xfrm>
            <a:off x="3861048" y="53640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6" name="Line 71"/>
          <p:cNvSpPr>
            <a:spLocks noChangeShapeType="1"/>
          </p:cNvSpPr>
          <p:nvPr/>
        </p:nvSpPr>
        <p:spPr bwMode="auto">
          <a:xfrm>
            <a:off x="3861048" y="5364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7" name="Line 72"/>
          <p:cNvSpPr>
            <a:spLocks noChangeShapeType="1"/>
          </p:cNvSpPr>
          <p:nvPr/>
        </p:nvSpPr>
        <p:spPr bwMode="auto">
          <a:xfrm>
            <a:off x="4470648" y="53640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8" name="Line 74"/>
          <p:cNvSpPr>
            <a:spLocks noChangeShapeType="1"/>
          </p:cNvSpPr>
          <p:nvPr/>
        </p:nvSpPr>
        <p:spPr bwMode="auto">
          <a:xfrm>
            <a:off x="4470648" y="53640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9" name="Line 75"/>
          <p:cNvSpPr>
            <a:spLocks noChangeShapeType="1"/>
          </p:cNvSpPr>
          <p:nvPr/>
        </p:nvSpPr>
        <p:spPr bwMode="auto">
          <a:xfrm>
            <a:off x="5080248" y="53640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0" name="Line 77"/>
          <p:cNvSpPr>
            <a:spLocks noChangeShapeType="1"/>
          </p:cNvSpPr>
          <p:nvPr/>
        </p:nvSpPr>
        <p:spPr bwMode="auto">
          <a:xfrm>
            <a:off x="1422648" y="58974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1" name="Line 78"/>
          <p:cNvSpPr>
            <a:spLocks noChangeShapeType="1"/>
          </p:cNvSpPr>
          <p:nvPr/>
        </p:nvSpPr>
        <p:spPr bwMode="auto">
          <a:xfrm>
            <a:off x="2032248" y="5897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2" name="Line 80"/>
          <p:cNvSpPr>
            <a:spLocks noChangeShapeType="1"/>
          </p:cNvSpPr>
          <p:nvPr/>
        </p:nvSpPr>
        <p:spPr bwMode="auto">
          <a:xfrm>
            <a:off x="2032248" y="58974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3" name="Line 81"/>
          <p:cNvSpPr>
            <a:spLocks noChangeShapeType="1"/>
          </p:cNvSpPr>
          <p:nvPr/>
        </p:nvSpPr>
        <p:spPr bwMode="auto">
          <a:xfrm>
            <a:off x="2641848" y="5897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4" name="Line 83"/>
          <p:cNvSpPr>
            <a:spLocks noChangeShapeType="1"/>
          </p:cNvSpPr>
          <p:nvPr/>
        </p:nvSpPr>
        <p:spPr bwMode="auto">
          <a:xfrm>
            <a:off x="2641848" y="58974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5" name="Line 84"/>
          <p:cNvSpPr>
            <a:spLocks noChangeShapeType="1"/>
          </p:cNvSpPr>
          <p:nvPr/>
        </p:nvSpPr>
        <p:spPr bwMode="auto">
          <a:xfrm>
            <a:off x="3251448" y="5897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6" name="Line 86"/>
          <p:cNvSpPr>
            <a:spLocks noChangeShapeType="1"/>
          </p:cNvSpPr>
          <p:nvPr/>
        </p:nvSpPr>
        <p:spPr bwMode="auto">
          <a:xfrm>
            <a:off x="3251448" y="58974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7" name="Line 87"/>
          <p:cNvSpPr>
            <a:spLocks noChangeShapeType="1"/>
          </p:cNvSpPr>
          <p:nvPr/>
        </p:nvSpPr>
        <p:spPr bwMode="auto">
          <a:xfrm>
            <a:off x="3861048" y="5897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8" name="Line 89"/>
          <p:cNvSpPr>
            <a:spLocks noChangeShapeType="1"/>
          </p:cNvSpPr>
          <p:nvPr/>
        </p:nvSpPr>
        <p:spPr bwMode="auto">
          <a:xfrm>
            <a:off x="3861048" y="58974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9" name="Line 90"/>
          <p:cNvSpPr>
            <a:spLocks noChangeShapeType="1"/>
          </p:cNvSpPr>
          <p:nvPr/>
        </p:nvSpPr>
        <p:spPr bwMode="auto">
          <a:xfrm>
            <a:off x="4470648" y="5897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0" name="Line 92"/>
          <p:cNvSpPr>
            <a:spLocks noChangeShapeType="1"/>
          </p:cNvSpPr>
          <p:nvPr/>
        </p:nvSpPr>
        <p:spPr bwMode="auto">
          <a:xfrm>
            <a:off x="4470648" y="58974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1" name="Line 93"/>
          <p:cNvSpPr>
            <a:spLocks noChangeShapeType="1"/>
          </p:cNvSpPr>
          <p:nvPr/>
        </p:nvSpPr>
        <p:spPr bwMode="auto">
          <a:xfrm>
            <a:off x="5080248" y="5897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2" name="Line 95"/>
          <p:cNvSpPr>
            <a:spLocks noChangeShapeType="1"/>
          </p:cNvSpPr>
          <p:nvPr/>
        </p:nvSpPr>
        <p:spPr bwMode="auto">
          <a:xfrm>
            <a:off x="1422648" y="6430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3" name="Line 96"/>
          <p:cNvSpPr>
            <a:spLocks noChangeShapeType="1"/>
          </p:cNvSpPr>
          <p:nvPr/>
        </p:nvSpPr>
        <p:spPr bwMode="auto">
          <a:xfrm>
            <a:off x="2032248" y="6430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4" name="Line 98"/>
          <p:cNvSpPr>
            <a:spLocks noChangeShapeType="1"/>
          </p:cNvSpPr>
          <p:nvPr/>
        </p:nvSpPr>
        <p:spPr bwMode="auto">
          <a:xfrm>
            <a:off x="2032248" y="6430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5" name="Line 99"/>
          <p:cNvSpPr>
            <a:spLocks noChangeShapeType="1"/>
          </p:cNvSpPr>
          <p:nvPr/>
        </p:nvSpPr>
        <p:spPr bwMode="auto">
          <a:xfrm>
            <a:off x="2641848" y="6430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6" name="Line 101"/>
          <p:cNvSpPr>
            <a:spLocks noChangeShapeType="1"/>
          </p:cNvSpPr>
          <p:nvPr/>
        </p:nvSpPr>
        <p:spPr bwMode="auto">
          <a:xfrm>
            <a:off x="2641848" y="6430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7" name="Line 102"/>
          <p:cNvSpPr>
            <a:spLocks noChangeShapeType="1"/>
          </p:cNvSpPr>
          <p:nvPr/>
        </p:nvSpPr>
        <p:spPr bwMode="auto">
          <a:xfrm>
            <a:off x="3251448" y="6430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8" name="Line 104"/>
          <p:cNvSpPr>
            <a:spLocks noChangeShapeType="1"/>
          </p:cNvSpPr>
          <p:nvPr/>
        </p:nvSpPr>
        <p:spPr bwMode="auto">
          <a:xfrm>
            <a:off x="3251448" y="6430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9" name="Line 105"/>
          <p:cNvSpPr>
            <a:spLocks noChangeShapeType="1"/>
          </p:cNvSpPr>
          <p:nvPr/>
        </p:nvSpPr>
        <p:spPr bwMode="auto">
          <a:xfrm>
            <a:off x="3861048" y="6430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0" name="Line 107"/>
          <p:cNvSpPr>
            <a:spLocks noChangeShapeType="1"/>
          </p:cNvSpPr>
          <p:nvPr/>
        </p:nvSpPr>
        <p:spPr bwMode="auto">
          <a:xfrm>
            <a:off x="3861048" y="6430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1" name="Line 108"/>
          <p:cNvSpPr>
            <a:spLocks noChangeShapeType="1"/>
          </p:cNvSpPr>
          <p:nvPr/>
        </p:nvSpPr>
        <p:spPr bwMode="auto">
          <a:xfrm>
            <a:off x="4470648" y="6430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2" name="Line 110"/>
          <p:cNvSpPr>
            <a:spLocks noChangeShapeType="1"/>
          </p:cNvSpPr>
          <p:nvPr/>
        </p:nvSpPr>
        <p:spPr bwMode="auto">
          <a:xfrm>
            <a:off x="4470648" y="6430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3" name="Line 112"/>
          <p:cNvSpPr>
            <a:spLocks noChangeShapeType="1"/>
          </p:cNvSpPr>
          <p:nvPr/>
        </p:nvSpPr>
        <p:spPr bwMode="auto">
          <a:xfrm rot="10800000">
            <a:off x="1422648" y="6964288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4" name="Line 113"/>
          <p:cNvSpPr>
            <a:spLocks noChangeShapeType="1"/>
          </p:cNvSpPr>
          <p:nvPr/>
        </p:nvSpPr>
        <p:spPr bwMode="auto">
          <a:xfrm rot="10800000">
            <a:off x="1422648" y="4297288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5" name="Text Box 114"/>
          <p:cNvSpPr txBox="1">
            <a:spLocks noChangeArrowheads="1"/>
          </p:cNvSpPr>
          <p:nvPr/>
        </p:nvSpPr>
        <p:spPr bwMode="auto">
          <a:xfrm>
            <a:off x="965448" y="3763888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6" name="Text Box 115"/>
          <p:cNvSpPr txBox="1">
            <a:spLocks noChangeArrowheads="1"/>
          </p:cNvSpPr>
          <p:nvPr/>
        </p:nvSpPr>
        <p:spPr bwMode="auto">
          <a:xfrm>
            <a:off x="4851648" y="6507088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7" name="Line 116"/>
          <p:cNvSpPr>
            <a:spLocks noChangeShapeType="1"/>
          </p:cNvSpPr>
          <p:nvPr/>
        </p:nvSpPr>
        <p:spPr bwMode="auto">
          <a:xfrm>
            <a:off x="1498848" y="3763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8" name="Line 117"/>
          <p:cNvSpPr>
            <a:spLocks noChangeShapeType="1"/>
          </p:cNvSpPr>
          <p:nvPr/>
        </p:nvSpPr>
        <p:spPr bwMode="auto">
          <a:xfrm>
            <a:off x="4470648" y="6964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54E5ECF-1077-4A27-9AE7-BA528AF1BAC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48C84DE-2CA1-40FB-A6CB-5878CA1D3D73}" type="slidenum">
              <a:rPr lang="en-US" altLang="zh-CN" sz="1050"/>
            </a:fld>
            <a:endParaRPr lang="en-US" altLang="zh-CN" sz="105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 Application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700028"/>
            <a:ext cx="5829300" cy="400050"/>
          </a:xfrm>
        </p:spPr>
        <p:txBody>
          <a:bodyPr/>
          <a:lstStyle/>
          <a:p>
            <a:r>
              <a:rPr lang="en-US" altLang="zh-CN" sz="2100" dirty="0">
                <a:ea typeface="宋体" pitchFamily="2" charset="-122"/>
              </a:rPr>
              <a:t>Repeatedly pick random edges to delete.</a:t>
            </a:r>
            <a:endParaRPr lang="en-US" altLang="zh-CN" sz="2100" dirty="0">
              <a:ea typeface="宋体" pitchFamily="2" charset="-122"/>
            </a:endParaRPr>
          </a:p>
        </p:txBody>
      </p:sp>
      <p:sp>
        <p:nvSpPr>
          <p:cNvPr id="62" name="Line 5"/>
          <p:cNvSpPr>
            <a:spLocks noChangeShapeType="1"/>
          </p:cNvSpPr>
          <p:nvPr/>
        </p:nvSpPr>
        <p:spPr bwMode="auto">
          <a:xfrm>
            <a:off x="2281808" y="4067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3" name="Line 6"/>
          <p:cNvSpPr>
            <a:spLocks noChangeShapeType="1"/>
          </p:cNvSpPr>
          <p:nvPr/>
        </p:nvSpPr>
        <p:spPr bwMode="auto">
          <a:xfrm>
            <a:off x="2891408" y="40679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4" name="Line 7"/>
          <p:cNvSpPr>
            <a:spLocks noChangeShapeType="1"/>
          </p:cNvSpPr>
          <p:nvPr/>
        </p:nvSpPr>
        <p:spPr bwMode="auto">
          <a:xfrm>
            <a:off x="2891408" y="4067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8"/>
          <p:cNvSpPr>
            <a:spLocks noChangeShapeType="1"/>
          </p:cNvSpPr>
          <p:nvPr/>
        </p:nvSpPr>
        <p:spPr bwMode="auto">
          <a:xfrm>
            <a:off x="3501008" y="40679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9"/>
          <p:cNvSpPr>
            <a:spLocks noChangeShapeType="1"/>
          </p:cNvSpPr>
          <p:nvPr/>
        </p:nvSpPr>
        <p:spPr bwMode="auto">
          <a:xfrm>
            <a:off x="3501008" y="4067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>
            <a:off x="4110608" y="40679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1"/>
          <p:cNvSpPr>
            <a:spLocks noChangeShapeType="1"/>
          </p:cNvSpPr>
          <p:nvPr/>
        </p:nvSpPr>
        <p:spPr bwMode="auto">
          <a:xfrm>
            <a:off x="4110608" y="4067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2"/>
          <p:cNvSpPr>
            <a:spLocks noChangeShapeType="1"/>
          </p:cNvSpPr>
          <p:nvPr/>
        </p:nvSpPr>
        <p:spPr bwMode="auto">
          <a:xfrm>
            <a:off x="4720208" y="40679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3"/>
          <p:cNvSpPr>
            <a:spLocks noChangeShapeType="1"/>
          </p:cNvSpPr>
          <p:nvPr/>
        </p:nvSpPr>
        <p:spPr bwMode="auto">
          <a:xfrm>
            <a:off x="4720208" y="4067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>
            <a:off x="5329808" y="40679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5"/>
          <p:cNvSpPr>
            <a:spLocks noChangeShapeType="1"/>
          </p:cNvSpPr>
          <p:nvPr/>
        </p:nvSpPr>
        <p:spPr bwMode="auto">
          <a:xfrm>
            <a:off x="1672208" y="46013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2891408" y="46013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Line 20"/>
          <p:cNvSpPr>
            <a:spLocks noChangeShapeType="1"/>
          </p:cNvSpPr>
          <p:nvPr/>
        </p:nvSpPr>
        <p:spPr bwMode="auto">
          <a:xfrm>
            <a:off x="3501008" y="46013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5" name="Line 21"/>
          <p:cNvSpPr>
            <a:spLocks noChangeShapeType="1"/>
          </p:cNvSpPr>
          <p:nvPr/>
        </p:nvSpPr>
        <p:spPr bwMode="auto">
          <a:xfrm>
            <a:off x="3501008" y="46013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6" name="Line 22"/>
          <p:cNvSpPr>
            <a:spLocks noChangeShapeType="1"/>
          </p:cNvSpPr>
          <p:nvPr/>
        </p:nvSpPr>
        <p:spPr bwMode="auto">
          <a:xfrm>
            <a:off x="4110608" y="46013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7" name="Line 23"/>
          <p:cNvSpPr>
            <a:spLocks noChangeShapeType="1"/>
          </p:cNvSpPr>
          <p:nvPr/>
        </p:nvSpPr>
        <p:spPr bwMode="auto">
          <a:xfrm>
            <a:off x="4110608" y="46013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8" name="Line 24"/>
          <p:cNvSpPr>
            <a:spLocks noChangeShapeType="1"/>
          </p:cNvSpPr>
          <p:nvPr/>
        </p:nvSpPr>
        <p:spPr bwMode="auto">
          <a:xfrm>
            <a:off x="4720208" y="46013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9" name="Line 25"/>
          <p:cNvSpPr>
            <a:spLocks noChangeShapeType="1"/>
          </p:cNvSpPr>
          <p:nvPr/>
        </p:nvSpPr>
        <p:spPr bwMode="auto">
          <a:xfrm>
            <a:off x="4720208" y="46013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0" name="Line 26"/>
          <p:cNvSpPr>
            <a:spLocks noChangeShapeType="1"/>
          </p:cNvSpPr>
          <p:nvPr/>
        </p:nvSpPr>
        <p:spPr bwMode="auto">
          <a:xfrm>
            <a:off x="5329808" y="46013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1" name="Line 28"/>
          <p:cNvSpPr>
            <a:spLocks noChangeShapeType="1"/>
          </p:cNvSpPr>
          <p:nvPr/>
        </p:nvSpPr>
        <p:spPr bwMode="auto">
          <a:xfrm>
            <a:off x="2281808" y="51347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2" name="Line 29"/>
          <p:cNvSpPr>
            <a:spLocks noChangeShapeType="1"/>
          </p:cNvSpPr>
          <p:nvPr/>
        </p:nvSpPr>
        <p:spPr bwMode="auto">
          <a:xfrm>
            <a:off x="2281808" y="51347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2891408" y="51347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4" name="Line 31"/>
          <p:cNvSpPr>
            <a:spLocks noChangeShapeType="1"/>
          </p:cNvSpPr>
          <p:nvPr/>
        </p:nvSpPr>
        <p:spPr bwMode="auto">
          <a:xfrm>
            <a:off x="2891408" y="51347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5" name="Line 33"/>
          <p:cNvSpPr>
            <a:spLocks noChangeShapeType="1"/>
          </p:cNvSpPr>
          <p:nvPr/>
        </p:nvSpPr>
        <p:spPr bwMode="auto">
          <a:xfrm>
            <a:off x="3501008" y="51347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6" name="Line 34"/>
          <p:cNvSpPr>
            <a:spLocks noChangeShapeType="1"/>
          </p:cNvSpPr>
          <p:nvPr/>
        </p:nvSpPr>
        <p:spPr bwMode="auto">
          <a:xfrm>
            <a:off x="4110608" y="51347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7" name="Line 36"/>
          <p:cNvSpPr>
            <a:spLocks noChangeShapeType="1"/>
          </p:cNvSpPr>
          <p:nvPr/>
        </p:nvSpPr>
        <p:spPr bwMode="auto">
          <a:xfrm>
            <a:off x="4720208" y="51347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8" name="Line 37"/>
          <p:cNvSpPr>
            <a:spLocks noChangeShapeType="1"/>
          </p:cNvSpPr>
          <p:nvPr/>
        </p:nvSpPr>
        <p:spPr bwMode="auto">
          <a:xfrm>
            <a:off x="4720208" y="51347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9" name="Line 38"/>
          <p:cNvSpPr>
            <a:spLocks noChangeShapeType="1"/>
          </p:cNvSpPr>
          <p:nvPr/>
        </p:nvSpPr>
        <p:spPr bwMode="auto">
          <a:xfrm>
            <a:off x="5329808" y="51347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0" name="Line 40"/>
          <p:cNvSpPr>
            <a:spLocks noChangeShapeType="1"/>
          </p:cNvSpPr>
          <p:nvPr/>
        </p:nvSpPr>
        <p:spPr bwMode="auto">
          <a:xfrm>
            <a:off x="2281808" y="56681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1" name="Line 42"/>
          <p:cNvSpPr>
            <a:spLocks noChangeShapeType="1"/>
          </p:cNvSpPr>
          <p:nvPr/>
        </p:nvSpPr>
        <p:spPr bwMode="auto">
          <a:xfrm>
            <a:off x="2891408" y="56681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2" name="Line 44"/>
          <p:cNvSpPr>
            <a:spLocks noChangeShapeType="1"/>
          </p:cNvSpPr>
          <p:nvPr/>
        </p:nvSpPr>
        <p:spPr bwMode="auto">
          <a:xfrm>
            <a:off x="3501008" y="56681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3" name="Line 45"/>
          <p:cNvSpPr>
            <a:spLocks noChangeShapeType="1"/>
          </p:cNvSpPr>
          <p:nvPr/>
        </p:nvSpPr>
        <p:spPr bwMode="auto">
          <a:xfrm>
            <a:off x="3501008" y="56681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4" name="Line 47"/>
          <p:cNvSpPr>
            <a:spLocks noChangeShapeType="1"/>
          </p:cNvSpPr>
          <p:nvPr/>
        </p:nvSpPr>
        <p:spPr bwMode="auto">
          <a:xfrm>
            <a:off x="4110608" y="56681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5" name="Line 48"/>
          <p:cNvSpPr>
            <a:spLocks noChangeShapeType="1"/>
          </p:cNvSpPr>
          <p:nvPr/>
        </p:nvSpPr>
        <p:spPr bwMode="auto">
          <a:xfrm>
            <a:off x="4720208" y="56681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6" name="Line 49"/>
          <p:cNvSpPr>
            <a:spLocks noChangeShapeType="1"/>
          </p:cNvSpPr>
          <p:nvPr/>
        </p:nvSpPr>
        <p:spPr bwMode="auto">
          <a:xfrm>
            <a:off x="4720208" y="56681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7" name="Line 50"/>
          <p:cNvSpPr>
            <a:spLocks noChangeShapeType="1"/>
          </p:cNvSpPr>
          <p:nvPr/>
        </p:nvSpPr>
        <p:spPr bwMode="auto">
          <a:xfrm>
            <a:off x="5329808" y="56681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8" name="Line 51"/>
          <p:cNvSpPr>
            <a:spLocks noChangeShapeType="1"/>
          </p:cNvSpPr>
          <p:nvPr/>
        </p:nvSpPr>
        <p:spPr bwMode="auto">
          <a:xfrm>
            <a:off x="1672208" y="62015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9" name="Line 52"/>
          <p:cNvSpPr>
            <a:spLocks noChangeShapeType="1"/>
          </p:cNvSpPr>
          <p:nvPr/>
        </p:nvSpPr>
        <p:spPr bwMode="auto">
          <a:xfrm>
            <a:off x="2281808" y="62015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0" name="Line 55"/>
          <p:cNvSpPr>
            <a:spLocks noChangeShapeType="1"/>
          </p:cNvSpPr>
          <p:nvPr/>
        </p:nvSpPr>
        <p:spPr bwMode="auto">
          <a:xfrm>
            <a:off x="2891408" y="62015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Line 56"/>
          <p:cNvSpPr>
            <a:spLocks noChangeShapeType="1"/>
          </p:cNvSpPr>
          <p:nvPr/>
        </p:nvSpPr>
        <p:spPr bwMode="auto">
          <a:xfrm>
            <a:off x="3501008" y="62015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2" name="Line 57"/>
          <p:cNvSpPr>
            <a:spLocks noChangeShapeType="1"/>
          </p:cNvSpPr>
          <p:nvPr/>
        </p:nvSpPr>
        <p:spPr bwMode="auto">
          <a:xfrm>
            <a:off x="3501008" y="62015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58"/>
          <p:cNvSpPr>
            <a:spLocks noChangeShapeType="1"/>
          </p:cNvSpPr>
          <p:nvPr/>
        </p:nvSpPr>
        <p:spPr bwMode="auto">
          <a:xfrm>
            <a:off x="4110608" y="62015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62"/>
          <p:cNvSpPr>
            <a:spLocks noChangeShapeType="1"/>
          </p:cNvSpPr>
          <p:nvPr/>
        </p:nvSpPr>
        <p:spPr bwMode="auto">
          <a:xfrm>
            <a:off x="5329808" y="62015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Line 63"/>
          <p:cNvSpPr>
            <a:spLocks noChangeShapeType="1"/>
          </p:cNvSpPr>
          <p:nvPr/>
        </p:nvSpPr>
        <p:spPr bwMode="auto">
          <a:xfrm>
            <a:off x="1672208" y="6734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6" name="Line 64"/>
          <p:cNvSpPr>
            <a:spLocks noChangeShapeType="1"/>
          </p:cNvSpPr>
          <p:nvPr/>
        </p:nvSpPr>
        <p:spPr bwMode="auto">
          <a:xfrm>
            <a:off x="2281808" y="673494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Line 65"/>
          <p:cNvSpPr>
            <a:spLocks noChangeShapeType="1"/>
          </p:cNvSpPr>
          <p:nvPr/>
        </p:nvSpPr>
        <p:spPr bwMode="auto">
          <a:xfrm>
            <a:off x="2281808" y="6734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67"/>
          <p:cNvSpPr>
            <a:spLocks noChangeShapeType="1"/>
          </p:cNvSpPr>
          <p:nvPr/>
        </p:nvSpPr>
        <p:spPr bwMode="auto">
          <a:xfrm>
            <a:off x="2891408" y="6734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69"/>
          <p:cNvSpPr>
            <a:spLocks noChangeShapeType="1"/>
          </p:cNvSpPr>
          <p:nvPr/>
        </p:nvSpPr>
        <p:spPr bwMode="auto">
          <a:xfrm>
            <a:off x="3501008" y="6734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0" name="Line 73"/>
          <p:cNvSpPr>
            <a:spLocks noChangeShapeType="1"/>
          </p:cNvSpPr>
          <p:nvPr/>
        </p:nvSpPr>
        <p:spPr bwMode="auto">
          <a:xfrm>
            <a:off x="4720208" y="6734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Line 74"/>
          <p:cNvSpPr>
            <a:spLocks noChangeShapeType="1"/>
          </p:cNvSpPr>
          <p:nvPr/>
        </p:nvSpPr>
        <p:spPr bwMode="auto">
          <a:xfrm rot="10800000">
            <a:off x="1672208" y="7268344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2" name="Line 75"/>
          <p:cNvSpPr>
            <a:spLocks noChangeShapeType="1"/>
          </p:cNvSpPr>
          <p:nvPr/>
        </p:nvSpPr>
        <p:spPr bwMode="auto">
          <a:xfrm rot="10800000">
            <a:off x="1672208" y="4601344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Text Box 76"/>
          <p:cNvSpPr txBox="1">
            <a:spLocks noChangeArrowheads="1"/>
          </p:cNvSpPr>
          <p:nvPr/>
        </p:nvSpPr>
        <p:spPr bwMode="auto">
          <a:xfrm>
            <a:off x="1215008" y="4067944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14" name="Text Box 77"/>
          <p:cNvSpPr txBox="1">
            <a:spLocks noChangeArrowheads="1"/>
          </p:cNvSpPr>
          <p:nvPr/>
        </p:nvSpPr>
        <p:spPr bwMode="auto">
          <a:xfrm>
            <a:off x="5101208" y="6811144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15" name="Line 78"/>
          <p:cNvSpPr>
            <a:spLocks noChangeShapeType="1"/>
          </p:cNvSpPr>
          <p:nvPr/>
        </p:nvSpPr>
        <p:spPr bwMode="auto">
          <a:xfrm>
            <a:off x="1748408" y="40679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6" name="Line 79"/>
          <p:cNvSpPr>
            <a:spLocks noChangeShapeType="1"/>
          </p:cNvSpPr>
          <p:nvPr/>
        </p:nvSpPr>
        <p:spPr bwMode="auto">
          <a:xfrm>
            <a:off x="4720208" y="726834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9630534-505D-4C96-80AD-AB8B7C2B1A7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68407B0-3540-4221-8AE5-24A292592CDC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Desired Properties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None of the boundary is deleted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Every cell is reachable from every other cell.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There are no cycles – no cell can reach itself by a path unless it retraces some part of the path.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FC7F5DE-299C-43DF-B13A-873A41AAED5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741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74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C811E91-4BDC-4134-B566-BB09CF50E831}" type="slidenum">
              <a:rPr lang="en-US" altLang="zh-CN" sz="1050"/>
            </a:fld>
            <a:endParaRPr lang="en-US" altLang="zh-CN" sz="105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 Cycle (we don’t want that)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8" name="Line 3"/>
          <p:cNvSpPr>
            <a:spLocks noChangeShapeType="1"/>
          </p:cNvSpPr>
          <p:nvPr/>
        </p:nvSpPr>
        <p:spPr bwMode="auto">
          <a:xfrm>
            <a:off x="2209800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9" name="Line 4"/>
          <p:cNvSpPr>
            <a:spLocks noChangeShapeType="1"/>
          </p:cNvSpPr>
          <p:nvPr/>
        </p:nvSpPr>
        <p:spPr bwMode="auto">
          <a:xfrm>
            <a:off x="2819400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0" name="Line 5"/>
          <p:cNvSpPr>
            <a:spLocks noChangeShapeType="1"/>
          </p:cNvSpPr>
          <p:nvPr/>
        </p:nvSpPr>
        <p:spPr bwMode="auto">
          <a:xfrm>
            <a:off x="2819400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1" name="Line 6"/>
          <p:cNvSpPr>
            <a:spLocks noChangeShapeType="1"/>
          </p:cNvSpPr>
          <p:nvPr/>
        </p:nvSpPr>
        <p:spPr bwMode="auto">
          <a:xfrm>
            <a:off x="3429000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2" name="Line 7"/>
          <p:cNvSpPr>
            <a:spLocks noChangeShapeType="1"/>
          </p:cNvSpPr>
          <p:nvPr/>
        </p:nvSpPr>
        <p:spPr bwMode="auto">
          <a:xfrm>
            <a:off x="3429000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3" name="Line 8"/>
          <p:cNvSpPr>
            <a:spLocks noChangeShapeType="1"/>
          </p:cNvSpPr>
          <p:nvPr/>
        </p:nvSpPr>
        <p:spPr bwMode="auto">
          <a:xfrm>
            <a:off x="4038600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4" name="Line 9"/>
          <p:cNvSpPr>
            <a:spLocks noChangeShapeType="1"/>
          </p:cNvSpPr>
          <p:nvPr/>
        </p:nvSpPr>
        <p:spPr bwMode="auto">
          <a:xfrm>
            <a:off x="4038600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10"/>
          <p:cNvSpPr>
            <a:spLocks noChangeShapeType="1"/>
          </p:cNvSpPr>
          <p:nvPr/>
        </p:nvSpPr>
        <p:spPr bwMode="auto">
          <a:xfrm>
            <a:off x="4648200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1"/>
          <p:cNvSpPr>
            <a:spLocks noChangeShapeType="1"/>
          </p:cNvSpPr>
          <p:nvPr/>
        </p:nvSpPr>
        <p:spPr bwMode="auto">
          <a:xfrm>
            <a:off x="4648200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2"/>
          <p:cNvSpPr>
            <a:spLocks noChangeShapeType="1"/>
          </p:cNvSpPr>
          <p:nvPr/>
        </p:nvSpPr>
        <p:spPr bwMode="auto">
          <a:xfrm>
            <a:off x="5257800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3"/>
          <p:cNvSpPr>
            <a:spLocks noChangeShapeType="1"/>
          </p:cNvSpPr>
          <p:nvPr/>
        </p:nvSpPr>
        <p:spPr bwMode="auto">
          <a:xfrm>
            <a:off x="1600200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4"/>
          <p:cNvSpPr>
            <a:spLocks noChangeShapeType="1"/>
          </p:cNvSpPr>
          <p:nvPr/>
        </p:nvSpPr>
        <p:spPr bwMode="auto">
          <a:xfrm>
            <a:off x="2819400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5"/>
          <p:cNvSpPr>
            <a:spLocks noChangeShapeType="1"/>
          </p:cNvSpPr>
          <p:nvPr/>
        </p:nvSpPr>
        <p:spPr bwMode="auto">
          <a:xfrm>
            <a:off x="3429000" y="4025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16"/>
          <p:cNvSpPr>
            <a:spLocks noChangeShapeType="1"/>
          </p:cNvSpPr>
          <p:nvPr/>
        </p:nvSpPr>
        <p:spPr bwMode="auto">
          <a:xfrm>
            <a:off x="3429000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17"/>
          <p:cNvSpPr>
            <a:spLocks noChangeShapeType="1"/>
          </p:cNvSpPr>
          <p:nvPr/>
        </p:nvSpPr>
        <p:spPr bwMode="auto">
          <a:xfrm>
            <a:off x="4038600" y="4025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18"/>
          <p:cNvSpPr>
            <a:spLocks noChangeShapeType="1"/>
          </p:cNvSpPr>
          <p:nvPr/>
        </p:nvSpPr>
        <p:spPr bwMode="auto">
          <a:xfrm>
            <a:off x="4038600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Line 19"/>
          <p:cNvSpPr>
            <a:spLocks noChangeShapeType="1"/>
          </p:cNvSpPr>
          <p:nvPr/>
        </p:nvSpPr>
        <p:spPr bwMode="auto">
          <a:xfrm>
            <a:off x="4648200" y="4025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5" name="Line 20"/>
          <p:cNvSpPr>
            <a:spLocks noChangeShapeType="1"/>
          </p:cNvSpPr>
          <p:nvPr/>
        </p:nvSpPr>
        <p:spPr bwMode="auto">
          <a:xfrm>
            <a:off x="4648200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6" name="Line 21"/>
          <p:cNvSpPr>
            <a:spLocks noChangeShapeType="1"/>
          </p:cNvSpPr>
          <p:nvPr/>
        </p:nvSpPr>
        <p:spPr bwMode="auto">
          <a:xfrm>
            <a:off x="5257800" y="4025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7" name="Line 22"/>
          <p:cNvSpPr>
            <a:spLocks noChangeShapeType="1"/>
          </p:cNvSpPr>
          <p:nvPr/>
        </p:nvSpPr>
        <p:spPr bwMode="auto">
          <a:xfrm>
            <a:off x="2209800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8" name="Line 24"/>
          <p:cNvSpPr>
            <a:spLocks noChangeShapeType="1"/>
          </p:cNvSpPr>
          <p:nvPr/>
        </p:nvSpPr>
        <p:spPr bwMode="auto">
          <a:xfrm>
            <a:off x="2819400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9" name="Line 26"/>
          <p:cNvSpPr>
            <a:spLocks noChangeShapeType="1"/>
          </p:cNvSpPr>
          <p:nvPr/>
        </p:nvSpPr>
        <p:spPr bwMode="auto">
          <a:xfrm>
            <a:off x="3429000" y="4558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0" name="Line 27"/>
          <p:cNvSpPr>
            <a:spLocks noChangeShapeType="1"/>
          </p:cNvSpPr>
          <p:nvPr/>
        </p:nvSpPr>
        <p:spPr bwMode="auto">
          <a:xfrm>
            <a:off x="4038600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1" name="Line 28"/>
          <p:cNvSpPr>
            <a:spLocks noChangeShapeType="1"/>
          </p:cNvSpPr>
          <p:nvPr/>
        </p:nvSpPr>
        <p:spPr bwMode="auto">
          <a:xfrm>
            <a:off x="4648200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2" name="Line 29"/>
          <p:cNvSpPr>
            <a:spLocks noChangeShapeType="1"/>
          </p:cNvSpPr>
          <p:nvPr/>
        </p:nvSpPr>
        <p:spPr bwMode="auto">
          <a:xfrm>
            <a:off x="4648200" y="4558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5257800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4" name="Line 31"/>
          <p:cNvSpPr>
            <a:spLocks noChangeShapeType="1"/>
          </p:cNvSpPr>
          <p:nvPr/>
        </p:nvSpPr>
        <p:spPr bwMode="auto">
          <a:xfrm>
            <a:off x="2209800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5" name="Line 32"/>
          <p:cNvSpPr>
            <a:spLocks noChangeShapeType="1"/>
          </p:cNvSpPr>
          <p:nvPr/>
        </p:nvSpPr>
        <p:spPr bwMode="auto">
          <a:xfrm>
            <a:off x="2819400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6" name="Line 34"/>
          <p:cNvSpPr>
            <a:spLocks noChangeShapeType="1"/>
          </p:cNvSpPr>
          <p:nvPr/>
        </p:nvSpPr>
        <p:spPr bwMode="auto">
          <a:xfrm>
            <a:off x="3429000" y="5092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7" name="Line 35"/>
          <p:cNvSpPr>
            <a:spLocks noChangeShapeType="1"/>
          </p:cNvSpPr>
          <p:nvPr/>
        </p:nvSpPr>
        <p:spPr bwMode="auto">
          <a:xfrm>
            <a:off x="4038600" y="5092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8" name="Line 36"/>
          <p:cNvSpPr>
            <a:spLocks noChangeShapeType="1"/>
          </p:cNvSpPr>
          <p:nvPr/>
        </p:nvSpPr>
        <p:spPr bwMode="auto">
          <a:xfrm>
            <a:off x="4648200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9" name="Line 37"/>
          <p:cNvSpPr>
            <a:spLocks noChangeShapeType="1"/>
          </p:cNvSpPr>
          <p:nvPr/>
        </p:nvSpPr>
        <p:spPr bwMode="auto">
          <a:xfrm>
            <a:off x="4648200" y="5092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0" name="Line 38"/>
          <p:cNvSpPr>
            <a:spLocks noChangeShapeType="1"/>
          </p:cNvSpPr>
          <p:nvPr/>
        </p:nvSpPr>
        <p:spPr bwMode="auto">
          <a:xfrm>
            <a:off x="5257800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1" name="Line 39"/>
          <p:cNvSpPr>
            <a:spLocks noChangeShapeType="1"/>
          </p:cNvSpPr>
          <p:nvPr/>
        </p:nvSpPr>
        <p:spPr bwMode="auto">
          <a:xfrm>
            <a:off x="1600200" y="5625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2209800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3" name="Line 41"/>
          <p:cNvSpPr>
            <a:spLocks noChangeShapeType="1"/>
          </p:cNvSpPr>
          <p:nvPr/>
        </p:nvSpPr>
        <p:spPr bwMode="auto">
          <a:xfrm>
            <a:off x="2819400" y="5625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4" name="Line 42"/>
          <p:cNvSpPr>
            <a:spLocks noChangeShapeType="1"/>
          </p:cNvSpPr>
          <p:nvPr/>
        </p:nvSpPr>
        <p:spPr bwMode="auto">
          <a:xfrm>
            <a:off x="3429000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>
            <a:off x="3429000" y="5625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6" name="Line 44"/>
          <p:cNvSpPr>
            <a:spLocks noChangeShapeType="1"/>
          </p:cNvSpPr>
          <p:nvPr/>
        </p:nvSpPr>
        <p:spPr bwMode="auto">
          <a:xfrm>
            <a:off x="4038600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7" name="Line 45"/>
          <p:cNvSpPr>
            <a:spLocks noChangeShapeType="1"/>
          </p:cNvSpPr>
          <p:nvPr/>
        </p:nvSpPr>
        <p:spPr bwMode="auto">
          <a:xfrm>
            <a:off x="5257800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8" name="Line 46"/>
          <p:cNvSpPr>
            <a:spLocks noChangeShapeType="1"/>
          </p:cNvSpPr>
          <p:nvPr/>
        </p:nvSpPr>
        <p:spPr bwMode="auto">
          <a:xfrm>
            <a:off x="1600200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9" name="Line 47"/>
          <p:cNvSpPr>
            <a:spLocks noChangeShapeType="1"/>
          </p:cNvSpPr>
          <p:nvPr/>
        </p:nvSpPr>
        <p:spPr bwMode="auto">
          <a:xfrm>
            <a:off x="2209800" y="6158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0" name="Line 49"/>
          <p:cNvSpPr>
            <a:spLocks noChangeShapeType="1"/>
          </p:cNvSpPr>
          <p:nvPr/>
        </p:nvSpPr>
        <p:spPr bwMode="auto">
          <a:xfrm>
            <a:off x="2819400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Line 50"/>
          <p:cNvSpPr>
            <a:spLocks noChangeShapeType="1"/>
          </p:cNvSpPr>
          <p:nvPr/>
        </p:nvSpPr>
        <p:spPr bwMode="auto">
          <a:xfrm>
            <a:off x="3429000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2" name="Line 51"/>
          <p:cNvSpPr>
            <a:spLocks noChangeShapeType="1"/>
          </p:cNvSpPr>
          <p:nvPr/>
        </p:nvSpPr>
        <p:spPr bwMode="auto">
          <a:xfrm>
            <a:off x="4648200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52"/>
          <p:cNvSpPr>
            <a:spLocks noChangeShapeType="1"/>
          </p:cNvSpPr>
          <p:nvPr/>
        </p:nvSpPr>
        <p:spPr bwMode="auto">
          <a:xfrm rot="10800000">
            <a:off x="1600200" y="669228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53"/>
          <p:cNvSpPr>
            <a:spLocks noChangeShapeType="1"/>
          </p:cNvSpPr>
          <p:nvPr/>
        </p:nvSpPr>
        <p:spPr bwMode="auto">
          <a:xfrm rot="10800000">
            <a:off x="1600200" y="402528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Text Box 54"/>
          <p:cNvSpPr txBox="1">
            <a:spLocks noChangeArrowheads="1"/>
          </p:cNvSpPr>
          <p:nvPr/>
        </p:nvSpPr>
        <p:spPr bwMode="auto">
          <a:xfrm>
            <a:off x="914400" y="3491880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06" name="Text Box 55"/>
          <p:cNvSpPr txBox="1">
            <a:spLocks noChangeArrowheads="1"/>
          </p:cNvSpPr>
          <p:nvPr/>
        </p:nvSpPr>
        <p:spPr bwMode="auto">
          <a:xfrm>
            <a:off x="5257800" y="6235080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07" name="Freeform 56"/>
          <p:cNvSpPr/>
          <p:nvPr/>
        </p:nvSpPr>
        <p:spPr bwMode="auto">
          <a:xfrm>
            <a:off x="2384425" y="4285630"/>
            <a:ext cx="1949450" cy="2251075"/>
          </a:xfrm>
          <a:custGeom>
            <a:avLst/>
            <a:gdLst>
              <a:gd name="T0" fmla="*/ 120650 w 1228"/>
              <a:gd name="T1" fmla="*/ 147638 h 1418"/>
              <a:gd name="T2" fmla="*/ 41275 w 1228"/>
              <a:gd name="T3" fmla="*/ 523875 h 1418"/>
              <a:gd name="T4" fmla="*/ 0 w 1228"/>
              <a:gd name="T5" fmla="*/ 860425 h 1418"/>
              <a:gd name="T6" fmla="*/ 14288 w 1228"/>
              <a:gd name="T7" fmla="*/ 1693863 h 1418"/>
              <a:gd name="T8" fmla="*/ 201613 w 1228"/>
              <a:gd name="T9" fmla="*/ 2097088 h 1418"/>
              <a:gd name="T10" fmla="*/ 604838 w 1228"/>
              <a:gd name="T11" fmla="*/ 2232025 h 1418"/>
              <a:gd name="T12" fmla="*/ 1479550 w 1228"/>
              <a:gd name="T13" fmla="*/ 2190750 h 1418"/>
              <a:gd name="T14" fmla="*/ 1560513 w 1228"/>
              <a:gd name="T15" fmla="*/ 2111375 h 1418"/>
              <a:gd name="T16" fmla="*/ 1735138 w 1228"/>
              <a:gd name="T17" fmla="*/ 2003425 h 1418"/>
              <a:gd name="T18" fmla="*/ 1870075 w 1228"/>
              <a:gd name="T19" fmla="*/ 1787525 h 1418"/>
              <a:gd name="T20" fmla="*/ 1949450 w 1228"/>
              <a:gd name="T21" fmla="*/ 1504950 h 1418"/>
              <a:gd name="T22" fmla="*/ 1922463 w 1228"/>
              <a:gd name="T23" fmla="*/ 1250950 h 1418"/>
              <a:gd name="T24" fmla="*/ 1909763 w 1228"/>
              <a:gd name="T25" fmla="*/ 1209675 h 1418"/>
              <a:gd name="T26" fmla="*/ 1666875 w 1228"/>
              <a:gd name="T27" fmla="*/ 1169988 h 1418"/>
              <a:gd name="T28" fmla="*/ 887413 w 1228"/>
              <a:gd name="T29" fmla="*/ 1128713 h 1418"/>
              <a:gd name="T30" fmla="*/ 727075 w 1228"/>
              <a:gd name="T31" fmla="*/ 1074738 h 1418"/>
              <a:gd name="T32" fmla="*/ 739775 w 1228"/>
              <a:gd name="T33" fmla="*/ 819150 h 1418"/>
              <a:gd name="T34" fmla="*/ 727075 w 1228"/>
              <a:gd name="T35" fmla="*/ 322263 h 1418"/>
              <a:gd name="T36" fmla="*/ 685800 w 1228"/>
              <a:gd name="T37" fmla="*/ 241300 h 1418"/>
              <a:gd name="T38" fmla="*/ 604838 w 1228"/>
              <a:gd name="T39" fmla="*/ 201613 h 1418"/>
              <a:gd name="T40" fmla="*/ 336550 w 1228"/>
              <a:gd name="T41" fmla="*/ 0 h 1418"/>
              <a:gd name="T42" fmla="*/ 188913 w 1228"/>
              <a:gd name="T43" fmla="*/ 93663 h 1418"/>
              <a:gd name="T44" fmla="*/ 147638 w 1228"/>
              <a:gd name="T45" fmla="*/ 120650 h 1418"/>
              <a:gd name="T46" fmla="*/ 107950 w 1228"/>
              <a:gd name="T47" fmla="*/ 160338 h 1418"/>
              <a:gd name="T48" fmla="*/ 80963 w 1228"/>
              <a:gd name="T49" fmla="*/ 255588 h 1418"/>
              <a:gd name="T50" fmla="*/ 66675 w 1228"/>
              <a:gd name="T51" fmla="*/ 309563 h 141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228" h="1418">
                <a:moveTo>
                  <a:pt x="76" y="93"/>
                </a:moveTo>
                <a:cubicBezTo>
                  <a:pt x="38" y="170"/>
                  <a:pt x="52" y="250"/>
                  <a:pt x="26" y="330"/>
                </a:cubicBezTo>
                <a:cubicBezTo>
                  <a:pt x="17" y="402"/>
                  <a:pt x="6" y="470"/>
                  <a:pt x="0" y="542"/>
                </a:cubicBezTo>
                <a:cubicBezTo>
                  <a:pt x="3" y="717"/>
                  <a:pt x="4" y="892"/>
                  <a:pt x="9" y="1067"/>
                </a:cubicBezTo>
                <a:cubicBezTo>
                  <a:pt x="11" y="1127"/>
                  <a:pt x="62" y="1292"/>
                  <a:pt x="127" y="1321"/>
                </a:cubicBezTo>
                <a:cubicBezTo>
                  <a:pt x="208" y="1358"/>
                  <a:pt x="300" y="1365"/>
                  <a:pt x="381" y="1406"/>
                </a:cubicBezTo>
                <a:cubicBezTo>
                  <a:pt x="459" y="1404"/>
                  <a:pt x="821" y="1418"/>
                  <a:pt x="932" y="1380"/>
                </a:cubicBezTo>
                <a:cubicBezTo>
                  <a:pt x="949" y="1363"/>
                  <a:pt x="961" y="1338"/>
                  <a:pt x="983" y="1330"/>
                </a:cubicBezTo>
                <a:cubicBezTo>
                  <a:pt x="1021" y="1316"/>
                  <a:pt x="1064" y="1292"/>
                  <a:pt x="1093" y="1262"/>
                </a:cubicBezTo>
                <a:cubicBezTo>
                  <a:pt x="1131" y="1222"/>
                  <a:pt x="1153" y="1175"/>
                  <a:pt x="1178" y="1126"/>
                </a:cubicBezTo>
                <a:cubicBezTo>
                  <a:pt x="1192" y="1066"/>
                  <a:pt x="1214" y="1008"/>
                  <a:pt x="1228" y="948"/>
                </a:cubicBezTo>
                <a:cubicBezTo>
                  <a:pt x="1222" y="895"/>
                  <a:pt x="1218" y="841"/>
                  <a:pt x="1211" y="788"/>
                </a:cubicBezTo>
                <a:cubicBezTo>
                  <a:pt x="1210" y="779"/>
                  <a:pt x="1211" y="766"/>
                  <a:pt x="1203" y="762"/>
                </a:cubicBezTo>
                <a:cubicBezTo>
                  <a:pt x="1172" y="748"/>
                  <a:pt x="1086" y="743"/>
                  <a:pt x="1050" y="737"/>
                </a:cubicBezTo>
                <a:cubicBezTo>
                  <a:pt x="886" y="712"/>
                  <a:pt x="728" y="715"/>
                  <a:pt x="559" y="711"/>
                </a:cubicBezTo>
                <a:cubicBezTo>
                  <a:pt x="520" y="704"/>
                  <a:pt x="491" y="699"/>
                  <a:pt x="458" y="677"/>
                </a:cubicBezTo>
                <a:cubicBezTo>
                  <a:pt x="439" y="624"/>
                  <a:pt x="453" y="569"/>
                  <a:pt x="466" y="516"/>
                </a:cubicBezTo>
                <a:cubicBezTo>
                  <a:pt x="474" y="368"/>
                  <a:pt x="488" y="347"/>
                  <a:pt x="458" y="203"/>
                </a:cubicBezTo>
                <a:cubicBezTo>
                  <a:pt x="455" y="190"/>
                  <a:pt x="442" y="160"/>
                  <a:pt x="432" y="152"/>
                </a:cubicBezTo>
                <a:cubicBezTo>
                  <a:pt x="417" y="141"/>
                  <a:pt x="397" y="137"/>
                  <a:pt x="381" y="127"/>
                </a:cubicBezTo>
                <a:cubicBezTo>
                  <a:pt x="315" y="89"/>
                  <a:pt x="265" y="53"/>
                  <a:pt x="212" y="0"/>
                </a:cubicBezTo>
                <a:cubicBezTo>
                  <a:pt x="151" y="12"/>
                  <a:pt x="158" y="21"/>
                  <a:pt x="119" y="59"/>
                </a:cubicBezTo>
                <a:cubicBezTo>
                  <a:pt x="112" y="66"/>
                  <a:pt x="101" y="69"/>
                  <a:pt x="93" y="76"/>
                </a:cubicBezTo>
                <a:cubicBezTo>
                  <a:pt x="84" y="83"/>
                  <a:pt x="76" y="93"/>
                  <a:pt x="68" y="101"/>
                </a:cubicBezTo>
                <a:cubicBezTo>
                  <a:pt x="53" y="143"/>
                  <a:pt x="63" y="112"/>
                  <a:pt x="51" y="161"/>
                </a:cubicBezTo>
                <a:cubicBezTo>
                  <a:pt x="48" y="172"/>
                  <a:pt x="42" y="195"/>
                  <a:pt x="42" y="195"/>
                </a:cubicBezTo>
              </a:path>
            </a:pathLst>
          </a:custGeom>
          <a:noFill/>
          <a:ln w="38100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57"/>
          <p:cNvSpPr>
            <a:spLocks noChangeShapeType="1"/>
          </p:cNvSpPr>
          <p:nvPr/>
        </p:nvSpPr>
        <p:spPr bwMode="auto">
          <a:xfrm>
            <a:off x="1676400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58"/>
          <p:cNvSpPr>
            <a:spLocks noChangeShapeType="1"/>
          </p:cNvSpPr>
          <p:nvPr/>
        </p:nvSpPr>
        <p:spPr bwMode="auto">
          <a:xfrm>
            <a:off x="4648200" y="669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9196E52-6567-4727-87F4-49389127EB0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843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843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C587E24-4C2E-4C97-AC64-A87A04F91E71}" type="slidenum">
              <a:rPr lang="en-US" altLang="zh-CN" sz="1050"/>
            </a:fld>
            <a:endParaRPr lang="en-US" altLang="zh-CN" sz="105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 Good Solution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7" name="Line 4"/>
          <p:cNvSpPr>
            <a:spLocks noChangeShapeType="1"/>
          </p:cNvSpPr>
          <p:nvPr/>
        </p:nvSpPr>
        <p:spPr bwMode="auto">
          <a:xfrm>
            <a:off x="2243336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2852936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9" name="Line 6"/>
          <p:cNvSpPr>
            <a:spLocks noChangeShapeType="1"/>
          </p:cNvSpPr>
          <p:nvPr/>
        </p:nvSpPr>
        <p:spPr bwMode="auto">
          <a:xfrm>
            <a:off x="2852936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0" name="Line 8"/>
          <p:cNvSpPr>
            <a:spLocks noChangeShapeType="1"/>
          </p:cNvSpPr>
          <p:nvPr/>
        </p:nvSpPr>
        <p:spPr bwMode="auto">
          <a:xfrm>
            <a:off x="3462536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1" name="Line 10"/>
          <p:cNvSpPr>
            <a:spLocks noChangeShapeType="1"/>
          </p:cNvSpPr>
          <p:nvPr/>
        </p:nvSpPr>
        <p:spPr bwMode="auto">
          <a:xfrm>
            <a:off x="4072136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2" name="Line 12"/>
          <p:cNvSpPr>
            <a:spLocks noChangeShapeType="1"/>
          </p:cNvSpPr>
          <p:nvPr/>
        </p:nvSpPr>
        <p:spPr bwMode="auto">
          <a:xfrm>
            <a:off x="4681736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3" name="Line 13"/>
          <p:cNvSpPr>
            <a:spLocks noChangeShapeType="1"/>
          </p:cNvSpPr>
          <p:nvPr/>
        </p:nvSpPr>
        <p:spPr bwMode="auto">
          <a:xfrm>
            <a:off x="5291336" y="3491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4" name="Line 14"/>
          <p:cNvSpPr>
            <a:spLocks noChangeShapeType="1"/>
          </p:cNvSpPr>
          <p:nvPr/>
        </p:nvSpPr>
        <p:spPr bwMode="auto">
          <a:xfrm>
            <a:off x="1633736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5" name="Line 15"/>
          <p:cNvSpPr>
            <a:spLocks noChangeShapeType="1"/>
          </p:cNvSpPr>
          <p:nvPr/>
        </p:nvSpPr>
        <p:spPr bwMode="auto">
          <a:xfrm>
            <a:off x="2852936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6" name="Line 17"/>
          <p:cNvSpPr>
            <a:spLocks noChangeShapeType="1"/>
          </p:cNvSpPr>
          <p:nvPr/>
        </p:nvSpPr>
        <p:spPr bwMode="auto">
          <a:xfrm>
            <a:off x="3462536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>
            <a:off x="4072136" y="4025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8" name="Line 20"/>
          <p:cNvSpPr>
            <a:spLocks noChangeShapeType="1"/>
          </p:cNvSpPr>
          <p:nvPr/>
        </p:nvSpPr>
        <p:spPr bwMode="auto">
          <a:xfrm>
            <a:off x="4681736" y="4025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9" name="Line 22"/>
          <p:cNvSpPr>
            <a:spLocks noChangeShapeType="1"/>
          </p:cNvSpPr>
          <p:nvPr/>
        </p:nvSpPr>
        <p:spPr bwMode="auto">
          <a:xfrm>
            <a:off x="5291336" y="4025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0" name="Line 23"/>
          <p:cNvSpPr>
            <a:spLocks noChangeShapeType="1"/>
          </p:cNvSpPr>
          <p:nvPr/>
        </p:nvSpPr>
        <p:spPr bwMode="auto">
          <a:xfrm>
            <a:off x="2243336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1" name="Line 24"/>
          <p:cNvSpPr>
            <a:spLocks noChangeShapeType="1"/>
          </p:cNvSpPr>
          <p:nvPr/>
        </p:nvSpPr>
        <p:spPr bwMode="auto">
          <a:xfrm>
            <a:off x="2243336" y="4558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2" name="Line 26"/>
          <p:cNvSpPr>
            <a:spLocks noChangeShapeType="1"/>
          </p:cNvSpPr>
          <p:nvPr/>
        </p:nvSpPr>
        <p:spPr bwMode="auto">
          <a:xfrm>
            <a:off x="2852936" y="4558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>
            <a:off x="3462536" y="4558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4" name="Line 29"/>
          <p:cNvSpPr>
            <a:spLocks noChangeShapeType="1"/>
          </p:cNvSpPr>
          <p:nvPr/>
        </p:nvSpPr>
        <p:spPr bwMode="auto">
          <a:xfrm>
            <a:off x="4681736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31"/>
          <p:cNvSpPr>
            <a:spLocks noChangeShapeType="1"/>
          </p:cNvSpPr>
          <p:nvPr/>
        </p:nvSpPr>
        <p:spPr bwMode="auto">
          <a:xfrm>
            <a:off x="5291336" y="4558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32"/>
          <p:cNvSpPr>
            <a:spLocks noChangeShapeType="1"/>
          </p:cNvSpPr>
          <p:nvPr/>
        </p:nvSpPr>
        <p:spPr bwMode="auto">
          <a:xfrm>
            <a:off x="2243336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33"/>
          <p:cNvSpPr>
            <a:spLocks noChangeShapeType="1"/>
          </p:cNvSpPr>
          <p:nvPr/>
        </p:nvSpPr>
        <p:spPr bwMode="auto">
          <a:xfrm>
            <a:off x="2852936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34"/>
          <p:cNvSpPr>
            <a:spLocks noChangeShapeType="1"/>
          </p:cNvSpPr>
          <p:nvPr/>
        </p:nvSpPr>
        <p:spPr bwMode="auto">
          <a:xfrm>
            <a:off x="3462536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35"/>
          <p:cNvSpPr>
            <a:spLocks noChangeShapeType="1"/>
          </p:cNvSpPr>
          <p:nvPr/>
        </p:nvSpPr>
        <p:spPr bwMode="auto">
          <a:xfrm>
            <a:off x="3462536" y="5092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36"/>
          <p:cNvSpPr>
            <a:spLocks noChangeShapeType="1"/>
          </p:cNvSpPr>
          <p:nvPr/>
        </p:nvSpPr>
        <p:spPr bwMode="auto">
          <a:xfrm>
            <a:off x="4072136" y="5092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37"/>
          <p:cNvSpPr>
            <a:spLocks noChangeShapeType="1"/>
          </p:cNvSpPr>
          <p:nvPr/>
        </p:nvSpPr>
        <p:spPr bwMode="auto">
          <a:xfrm>
            <a:off x="4681736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39"/>
          <p:cNvSpPr>
            <a:spLocks noChangeShapeType="1"/>
          </p:cNvSpPr>
          <p:nvPr/>
        </p:nvSpPr>
        <p:spPr bwMode="auto">
          <a:xfrm>
            <a:off x="5291336" y="5092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40"/>
          <p:cNvSpPr>
            <a:spLocks noChangeShapeType="1"/>
          </p:cNvSpPr>
          <p:nvPr/>
        </p:nvSpPr>
        <p:spPr bwMode="auto">
          <a:xfrm>
            <a:off x="1633736" y="5625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2243336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5" name="Line 42"/>
          <p:cNvSpPr>
            <a:spLocks noChangeShapeType="1"/>
          </p:cNvSpPr>
          <p:nvPr/>
        </p:nvSpPr>
        <p:spPr bwMode="auto">
          <a:xfrm>
            <a:off x="2852936" y="5625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6" name="Line 44"/>
          <p:cNvSpPr>
            <a:spLocks noChangeShapeType="1"/>
          </p:cNvSpPr>
          <p:nvPr/>
        </p:nvSpPr>
        <p:spPr bwMode="auto">
          <a:xfrm>
            <a:off x="3462536" y="5625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7" name="Line 45"/>
          <p:cNvSpPr>
            <a:spLocks noChangeShapeType="1"/>
          </p:cNvSpPr>
          <p:nvPr/>
        </p:nvSpPr>
        <p:spPr bwMode="auto">
          <a:xfrm>
            <a:off x="4072136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8" name="Line 46"/>
          <p:cNvSpPr>
            <a:spLocks noChangeShapeType="1"/>
          </p:cNvSpPr>
          <p:nvPr/>
        </p:nvSpPr>
        <p:spPr bwMode="auto">
          <a:xfrm>
            <a:off x="5291336" y="5625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9" name="Line 49"/>
          <p:cNvSpPr>
            <a:spLocks noChangeShapeType="1"/>
          </p:cNvSpPr>
          <p:nvPr/>
        </p:nvSpPr>
        <p:spPr bwMode="auto">
          <a:xfrm>
            <a:off x="2243336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0" name="Line 51"/>
          <p:cNvSpPr>
            <a:spLocks noChangeShapeType="1"/>
          </p:cNvSpPr>
          <p:nvPr/>
        </p:nvSpPr>
        <p:spPr bwMode="auto">
          <a:xfrm>
            <a:off x="3462536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1" name="Line 52"/>
          <p:cNvSpPr>
            <a:spLocks noChangeShapeType="1"/>
          </p:cNvSpPr>
          <p:nvPr/>
        </p:nvSpPr>
        <p:spPr bwMode="auto">
          <a:xfrm>
            <a:off x="4681736" y="6158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2" name="Line 53"/>
          <p:cNvSpPr>
            <a:spLocks noChangeShapeType="1"/>
          </p:cNvSpPr>
          <p:nvPr/>
        </p:nvSpPr>
        <p:spPr bwMode="auto">
          <a:xfrm rot="10800000">
            <a:off x="1633736" y="669228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3" name="Line 54"/>
          <p:cNvSpPr>
            <a:spLocks noChangeShapeType="1"/>
          </p:cNvSpPr>
          <p:nvPr/>
        </p:nvSpPr>
        <p:spPr bwMode="auto">
          <a:xfrm rot="10800000">
            <a:off x="1633736" y="402528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4" name="Text Box 55"/>
          <p:cNvSpPr txBox="1">
            <a:spLocks noChangeArrowheads="1"/>
          </p:cNvSpPr>
          <p:nvPr/>
        </p:nvSpPr>
        <p:spPr bwMode="auto">
          <a:xfrm>
            <a:off x="871736" y="3491880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5" name="Text Box 56"/>
          <p:cNvSpPr txBox="1">
            <a:spLocks noChangeArrowheads="1"/>
          </p:cNvSpPr>
          <p:nvPr/>
        </p:nvSpPr>
        <p:spPr bwMode="auto">
          <a:xfrm>
            <a:off x="5215136" y="6235080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86" name="Line 57"/>
          <p:cNvSpPr>
            <a:spLocks noChangeShapeType="1"/>
          </p:cNvSpPr>
          <p:nvPr/>
        </p:nvSpPr>
        <p:spPr bwMode="auto">
          <a:xfrm>
            <a:off x="1709936" y="3491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7" name="Line 58"/>
          <p:cNvSpPr>
            <a:spLocks noChangeShapeType="1"/>
          </p:cNvSpPr>
          <p:nvPr/>
        </p:nvSpPr>
        <p:spPr bwMode="auto">
          <a:xfrm>
            <a:off x="4681736" y="669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08B4FDE-EF27-4312-9B6B-F211E351F61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945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C8FA7A0-C6E7-442E-9A34-36C82D881FC6}" type="slidenum">
              <a:rPr lang="en-US" altLang="zh-CN" sz="1050"/>
            </a:fld>
            <a:endParaRPr lang="en-US" altLang="zh-CN" sz="105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Good Solution : A Hidden 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02" name="Line 3"/>
          <p:cNvSpPr>
            <a:spLocks noChangeShapeType="1"/>
          </p:cNvSpPr>
          <p:nvPr/>
        </p:nvSpPr>
        <p:spPr bwMode="auto">
          <a:xfrm>
            <a:off x="2216150" y="3668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4"/>
          <p:cNvSpPr>
            <a:spLocks noChangeShapeType="1"/>
          </p:cNvSpPr>
          <p:nvPr/>
        </p:nvSpPr>
        <p:spPr bwMode="auto">
          <a:xfrm>
            <a:off x="2825750" y="36683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5"/>
          <p:cNvSpPr>
            <a:spLocks noChangeShapeType="1"/>
          </p:cNvSpPr>
          <p:nvPr/>
        </p:nvSpPr>
        <p:spPr bwMode="auto">
          <a:xfrm>
            <a:off x="2825750" y="3668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Line 6"/>
          <p:cNvSpPr>
            <a:spLocks noChangeShapeType="1"/>
          </p:cNvSpPr>
          <p:nvPr/>
        </p:nvSpPr>
        <p:spPr bwMode="auto">
          <a:xfrm>
            <a:off x="3435350" y="3668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6" name="Line 7"/>
          <p:cNvSpPr>
            <a:spLocks noChangeShapeType="1"/>
          </p:cNvSpPr>
          <p:nvPr/>
        </p:nvSpPr>
        <p:spPr bwMode="auto">
          <a:xfrm>
            <a:off x="4044950" y="3668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Line 8"/>
          <p:cNvSpPr>
            <a:spLocks noChangeShapeType="1"/>
          </p:cNvSpPr>
          <p:nvPr/>
        </p:nvSpPr>
        <p:spPr bwMode="auto">
          <a:xfrm>
            <a:off x="4654550" y="366834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9"/>
          <p:cNvSpPr>
            <a:spLocks noChangeShapeType="1"/>
          </p:cNvSpPr>
          <p:nvPr/>
        </p:nvSpPr>
        <p:spPr bwMode="auto">
          <a:xfrm>
            <a:off x="5264150" y="366834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10"/>
          <p:cNvSpPr>
            <a:spLocks noChangeShapeType="1"/>
          </p:cNvSpPr>
          <p:nvPr/>
        </p:nvSpPr>
        <p:spPr bwMode="auto">
          <a:xfrm>
            <a:off x="1606550" y="420174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0" name="Line 11"/>
          <p:cNvSpPr>
            <a:spLocks noChangeShapeType="1"/>
          </p:cNvSpPr>
          <p:nvPr/>
        </p:nvSpPr>
        <p:spPr bwMode="auto">
          <a:xfrm>
            <a:off x="2825750" y="42017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Line 12"/>
          <p:cNvSpPr>
            <a:spLocks noChangeShapeType="1"/>
          </p:cNvSpPr>
          <p:nvPr/>
        </p:nvSpPr>
        <p:spPr bwMode="auto">
          <a:xfrm>
            <a:off x="3435350" y="42017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2" name="Line 13"/>
          <p:cNvSpPr>
            <a:spLocks noChangeShapeType="1"/>
          </p:cNvSpPr>
          <p:nvPr/>
        </p:nvSpPr>
        <p:spPr bwMode="auto">
          <a:xfrm>
            <a:off x="4044950" y="42017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Line 14"/>
          <p:cNvSpPr>
            <a:spLocks noChangeShapeType="1"/>
          </p:cNvSpPr>
          <p:nvPr/>
        </p:nvSpPr>
        <p:spPr bwMode="auto">
          <a:xfrm>
            <a:off x="4654550" y="42017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4" name="Line 15"/>
          <p:cNvSpPr>
            <a:spLocks noChangeShapeType="1"/>
          </p:cNvSpPr>
          <p:nvPr/>
        </p:nvSpPr>
        <p:spPr bwMode="auto">
          <a:xfrm>
            <a:off x="5264150" y="420174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5" name="Line 16"/>
          <p:cNvSpPr>
            <a:spLocks noChangeShapeType="1"/>
          </p:cNvSpPr>
          <p:nvPr/>
        </p:nvSpPr>
        <p:spPr bwMode="auto">
          <a:xfrm>
            <a:off x="2216150" y="47351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>
            <a:off x="2216150" y="47351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7" name="Line 18"/>
          <p:cNvSpPr>
            <a:spLocks noChangeShapeType="1"/>
          </p:cNvSpPr>
          <p:nvPr/>
        </p:nvSpPr>
        <p:spPr bwMode="auto">
          <a:xfrm>
            <a:off x="2825750" y="47351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8" name="Line 19"/>
          <p:cNvSpPr>
            <a:spLocks noChangeShapeType="1"/>
          </p:cNvSpPr>
          <p:nvPr/>
        </p:nvSpPr>
        <p:spPr bwMode="auto">
          <a:xfrm>
            <a:off x="3435350" y="47351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9" name="Line 20"/>
          <p:cNvSpPr>
            <a:spLocks noChangeShapeType="1"/>
          </p:cNvSpPr>
          <p:nvPr/>
        </p:nvSpPr>
        <p:spPr bwMode="auto">
          <a:xfrm>
            <a:off x="4654550" y="47351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0" name="Line 21"/>
          <p:cNvSpPr>
            <a:spLocks noChangeShapeType="1"/>
          </p:cNvSpPr>
          <p:nvPr/>
        </p:nvSpPr>
        <p:spPr bwMode="auto">
          <a:xfrm>
            <a:off x="5264150" y="473514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Line 22"/>
          <p:cNvSpPr>
            <a:spLocks noChangeShapeType="1"/>
          </p:cNvSpPr>
          <p:nvPr/>
        </p:nvSpPr>
        <p:spPr bwMode="auto">
          <a:xfrm>
            <a:off x="2216150" y="52685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2" name="Line 23"/>
          <p:cNvSpPr>
            <a:spLocks noChangeShapeType="1"/>
          </p:cNvSpPr>
          <p:nvPr/>
        </p:nvSpPr>
        <p:spPr bwMode="auto">
          <a:xfrm>
            <a:off x="2825750" y="52685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Line 24"/>
          <p:cNvSpPr>
            <a:spLocks noChangeShapeType="1"/>
          </p:cNvSpPr>
          <p:nvPr/>
        </p:nvSpPr>
        <p:spPr bwMode="auto">
          <a:xfrm>
            <a:off x="3435350" y="52685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4" name="Line 25"/>
          <p:cNvSpPr>
            <a:spLocks noChangeShapeType="1"/>
          </p:cNvSpPr>
          <p:nvPr/>
        </p:nvSpPr>
        <p:spPr bwMode="auto">
          <a:xfrm>
            <a:off x="3435350" y="52685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5" name="Line 26"/>
          <p:cNvSpPr>
            <a:spLocks noChangeShapeType="1"/>
          </p:cNvSpPr>
          <p:nvPr/>
        </p:nvSpPr>
        <p:spPr bwMode="auto">
          <a:xfrm>
            <a:off x="4044950" y="52685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6" name="Line 27"/>
          <p:cNvSpPr>
            <a:spLocks noChangeShapeType="1"/>
          </p:cNvSpPr>
          <p:nvPr/>
        </p:nvSpPr>
        <p:spPr bwMode="auto">
          <a:xfrm>
            <a:off x="4654550" y="52685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7" name="Line 28"/>
          <p:cNvSpPr>
            <a:spLocks noChangeShapeType="1"/>
          </p:cNvSpPr>
          <p:nvPr/>
        </p:nvSpPr>
        <p:spPr bwMode="auto">
          <a:xfrm>
            <a:off x="5264150" y="526854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8" name="Line 29"/>
          <p:cNvSpPr>
            <a:spLocks noChangeShapeType="1"/>
          </p:cNvSpPr>
          <p:nvPr/>
        </p:nvSpPr>
        <p:spPr bwMode="auto">
          <a:xfrm>
            <a:off x="1606550" y="580194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9" name="Line 30"/>
          <p:cNvSpPr>
            <a:spLocks noChangeShapeType="1"/>
          </p:cNvSpPr>
          <p:nvPr/>
        </p:nvSpPr>
        <p:spPr bwMode="auto">
          <a:xfrm>
            <a:off x="2216150" y="58019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0" name="Line 31"/>
          <p:cNvSpPr>
            <a:spLocks noChangeShapeType="1"/>
          </p:cNvSpPr>
          <p:nvPr/>
        </p:nvSpPr>
        <p:spPr bwMode="auto">
          <a:xfrm>
            <a:off x="2825750" y="58019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1" name="Line 32"/>
          <p:cNvSpPr>
            <a:spLocks noChangeShapeType="1"/>
          </p:cNvSpPr>
          <p:nvPr/>
        </p:nvSpPr>
        <p:spPr bwMode="auto">
          <a:xfrm>
            <a:off x="3435350" y="58019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2" name="Line 33"/>
          <p:cNvSpPr>
            <a:spLocks noChangeShapeType="1"/>
          </p:cNvSpPr>
          <p:nvPr/>
        </p:nvSpPr>
        <p:spPr bwMode="auto">
          <a:xfrm>
            <a:off x="4044950" y="5801940"/>
            <a:ext cx="0" cy="53340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3" name="Line 34"/>
          <p:cNvSpPr>
            <a:spLocks noChangeShapeType="1"/>
          </p:cNvSpPr>
          <p:nvPr/>
        </p:nvSpPr>
        <p:spPr bwMode="auto">
          <a:xfrm>
            <a:off x="5264150" y="580194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4" name="Line 35"/>
          <p:cNvSpPr>
            <a:spLocks noChangeShapeType="1"/>
          </p:cNvSpPr>
          <p:nvPr/>
        </p:nvSpPr>
        <p:spPr bwMode="auto">
          <a:xfrm>
            <a:off x="2216150" y="6335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5" name="Line 36"/>
          <p:cNvSpPr>
            <a:spLocks noChangeShapeType="1"/>
          </p:cNvSpPr>
          <p:nvPr/>
        </p:nvSpPr>
        <p:spPr bwMode="auto">
          <a:xfrm>
            <a:off x="3435350" y="6335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6" name="Line 37"/>
          <p:cNvSpPr>
            <a:spLocks noChangeShapeType="1"/>
          </p:cNvSpPr>
          <p:nvPr/>
        </p:nvSpPr>
        <p:spPr bwMode="auto">
          <a:xfrm>
            <a:off x="4654550" y="633534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7" name="Line 38"/>
          <p:cNvSpPr>
            <a:spLocks noChangeShapeType="1"/>
          </p:cNvSpPr>
          <p:nvPr/>
        </p:nvSpPr>
        <p:spPr bwMode="auto">
          <a:xfrm rot="10800000">
            <a:off x="1606550" y="686874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8" name="Line 39"/>
          <p:cNvSpPr>
            <a:spLocks noChangeShapeType="1"/>
          </p:cNvSpPr>
          <p:nvPr/>
        </p:nvSpPr>
        <p:spPr bwMode="auto">
          <a:xfrm rot="10800000">
            <a:off x="1606550" y="420174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9" name="Text Box 40"/>
          <p:cNvSpPr txBox="1">
            <a:spLocks noChangeArrowheads="1"/>
          </p:cNvSpPr>
          <p:nvPr/>
        </p:nvSpPr>
        <p:spPr bwMode="auto">
          <a:xfrm>
            <a:off x="920750" y="3668340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0" name="Text Box 41"/>
          <p:cNvSpPr txBox="1">
            <a:spLocks noChangeArrowheads="1"/>
          </p:cNvSpPr>
          <p:nvPr/>
        </p:nvSpPr>
        <p:spPr bwMode="auto">
          <a:xfrm>
            <a:off x="5264150" y="6411540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1" name="Freeform 44"/>
          <p:cNvSpPr/>
          <p:nvPr/>
        </p:nvSpPr>
        <p:spPr bwMode="auto">
          <a:xfrm>
            <a:off x="2551113" y="5032003"/>
            <a:ext cx="2058987" cy="1622425"/>
          </a:xfrm>
          <a:custGeom>
            <a:avLst/>
            <a:gdLst>
              <a:gd name="T0" fmla="*/ 2058987 w 1297"/>
              <a:gd name="T1" fmla="*/ 1608138 h 1022"/>
              <a:gd name="T2" fmla="*/ 847725 w 1297"/>
              <a:gd name="T3" fmla="*/ 1595438 h 1022"/>
              <a:gd name="T4" fmla="*/ 795337 w 1297"/>
              <a:gd name="T5" fmla="*/ 1581150 h 1022"/>
              <a:gd name="T6" fmla="*/ 714375 w 1297"/>
              <a:gd name="T7" fmla="*/ 1366838 h 1022"/>
              <a:gd name="T8" fmla="*/ 687387 w 1297"/>
              <a:gd name="T9" fmla="*/ 1177925 h 1022"/>
              <a:gd name="T10" fmla="*/ 242887 w 1297"/>
              <a:gd name="T11" fmla="*/ 1057275 h 1022"/>
              <a:gd name="T12" fmla="*/ 109537 w 1297"/>
              <a:gd name="T13" fmla="*/ 909638 h 1022"/>
              <a:gd name="T14" fmla="*/ 95250 w 1297"/>
              <a:gd name="T15" fmla="*/ 855663 h 1022"/>
              <a:gd name="T16" fmla="*/ 230187 w 1297"/>
              <a:gd name="T17" fmla="*/ 74613 h 1022"/>
              <a:gd name="T18" fmla="*/ 269875 w 1297"/>
              <a:gd name="T19" fmla="*/ 20638 h 1022"/>
              <a:gd name="T20" fmla="*/ 768350 w 1297"/>
              <a:gd name="T21" fmla="*/ 74613 h 1022"/>
              <a:gd name="T22" fmla="*/ 1439862 w 1297"/>
              <a:gd name="T23" fmla="*/ 74613 h 102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7" h="1022">
                <a:moveTo>
                  <a:pt x="1297" y="1013"/>
                </a:moveTo>
                <a:cubicBezTo>
                  <a:pt x="1042" y="1022"/>
                  <a:pt x="789" y="1021"/>
                  <a:pt x="534" y="1005"/>
                </a:cubicBezTo>
                <a:cubicBezTo>
                  <a:pt x="523" y="1002"/>
                  <a:pt x="510" y="1002"/>
                  <a:pt x="501" y="996"/>
                </a:cubicBezTo>
                <a:cubicBezTo>
                  <a:pt x="480" y="982"/>
                  <a:pt x="459" y="890"/>
                  <a:pt x="450" y="861"/>
                </a:cubicBezTo>
                <a:cubicBezTo>
                  <a:pt x="446" y="821"/>
                  <a:pt x="458" y="773"/>
                  <a:pt x="433" y="742"/>
                </a:cubicBezTo>
                <a:cubicBezTo>
                  <a:pt x="382" y="679"/>
                  <a:pt x="212" y="669"/>
                  <a:pt x="153" y="666"/>
                </a:cubicBezTo>
                <a:cubicBezTo>
                  <a:pt x="117" y="642"/>
                  <a:pt x="100" y="604"/>
                  <a:pt x="69" y="573"/>
                </a:cubicBezTo>
                <a:cubicBezTo>
                  <a:pt x="66" y="562"/>
                  <a:pt x="60" y="551"/>
                  <a:pt x="60" y="539"/>
                </a:cubicBezTo>
                <a:cubicBezTo>
                  <a:pt x="60" y="499"/>
                  <a:pt x="0" y="119"/>
                  <a:pt x="145" y="47"/>
                </a:cubicBezTo>
                <a:cubicBezTo>
                  <a:pt x="153" y="36"/>
                  <a:pt x="156" y="15"/>
                  <a:pt x="170" y="13"/>
                </a:cubicBezTo>
                <a:cubicBezTo>
                  <a:pt x="275" y="0"/>
                  <a:pt x="381" y="33"/>
                  <a:pt x="484" y="47"/>
                </a:cubicBezTo>
                <a:cubicBezTo>
                  <a:pt x="617" y="95"/>
                  <a:pt x="907" y="47"/>
                  <a:pt x="907" y="47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2" name="Freeform 45"/>
          <p:cNvSpPr/>
          <p:nvPr/>
        </p:nvSpPr>
        <p:spPr bwMode="auto">
          <a:xfrm>
            <a:off x="2014538" y="3923928"/>
            <a:ext cx="2286000" cy="1208087"/>
          </a:xfrm>
          <a:custGeom>
            <a:avLst/>
            <a:gdLst>
              <a:gd name="T0" fmla="*/ 1963738 w 1440"/>
              <a:gd name="T1" fmla="*/ 1182687 h 761"/>
              <a:gd name="T2" fmla="*/ 2286000 w 1440"/>
              <a:gd name="T3" fmla="*/ 995362 h 761"/>
              <a:gd name="T4" fmla="*/ 2246313 w 1440"/>
              <a:gd name="T5" fmla="*/ 793750 h 761"/>
              <a:gd name="T6" fmla="*/ 1600200 w 1440"/>
              <a:gd name="T7" fmla="*/ 550862 h 761"/>
              <a:gd name="T8" fmla="*/ 914400 w 1440"/>
              <a:gd name="T9" fmla="*/ 511175 h 761"/>
              <a:gd name="T10" fmla="*/ 646113 w 1440"/>
              <a:gd name="T11" fmla="*/ 390525 h 761"/>
              <a:gd name="T12" fmla="*/ 592138 w 1440"/>
              <a:gd name="T13" fmla="*/ 363537 h 761"/>
              <a:gd name="T14" fmla="*/ 496888 w 1440"/>
              <a:gd name="T15" fmla="*/ 161925 h 761"/>
              <a:gd name="T16" fmla="*/ 417513 w 1440"/>
              <a:gd name="T17" fmla="*/ 93662 h 761"/>
              <a:gd name="T18" fmla="*/ 107950 w 1440"/>
              <a:gd name="T19" fmla="*/ 0 h 761"/>
              <a:gd name="T20" fmla="*/ 0 w 1440"/>
              <a:gd name="T21" fmla="*/ 12700 h 76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440" h="761">
                <a:moveTo>
                  <a:pt x="1237" y="745"/>
                </a:moveTo>
                <a:cubicBezTo>
                  <a:pt x="1392" y="736"/>
                  <a:pt x="1392" y="761"/>
                  <a:pt x="1440" y="627"/>
                </a:cubicBezTo>
                <a:cubicBezTo>
                  <a:pt x="1436" y="600"/>
                  <a:pt x="1435" y="525"/>
                  <a:pt x="1415" y="500"/>
                </a:cubicBezTo>
                <a:cubicBezTo>
                  <a:pt x="1313" y="376"/>
                  <a:pt x="1158" y="368"/>
                  <a:pt x="1008" y="347"/>
                </a:cubicBezTo>
                <a:cubicBezTo>
                  <a:pt x="870" y="303"/>
                  <a:pt x="719" y="344"/>
                  <a:pt x="576" y="322"/>
                </a:cubicBezTo>
                <a:cubicBezTo>
                  <a:pt x="531" y="291"/>
                  <a:pt x="462" y="259"/>
                  <a:pt x="407" y="246"/>
                </a:cubicBezTo>
                <a:cubicBezTo>
                  <a:pt x="396" y="240"/>
                  <a:pt x="382" y="238"/>
                  <a:pt x="373" y="229"/>
                </a:cubicBezTo>
                <a:cubicBezTo>
                  <a:pt x="335" y="191"/>
                  <a:pt x="356" y="137"/>
                  <a:pt x="313" y="102"/>
                </a:cubicBezTo>
                <a:cubicBezTo>
                  <a:pt x="296" y="88"/>
                  <a:pt x="283" y="69"/>
                  <a:pt x="263" y="59"/>
                </a:cubicBezTo>
                <a:cubicBezTo>
                  <a:pt x="208" y="31"/>
                  <a:pt x="129" y="19"/>
                  <a:pt x="68" y="0"/>
                </a:cubicBezTo>
                <a:cubicBezTo>
                  <a:pt x="45" y="3"/>
                  <a:pt x="0" y="8"/>
                  <a:pt x="0" y="8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3" name="Freeform 46"/>
          <p:cNvSpPr/>
          <p:nvPr/>
        </p:nvSpPr>
        <p:spPr bwMode="auto">
          <a:xfrm>
            <a:off x="1973263" y="6062290"/>
            <a:ext cx="1385887" cy="590550"/>
          </a:xfrm>
          <a:custGeom>
            <a:avLst/>
            <a:gdLst>
              <a:gd name="T0" fmla="*/ 1385887 w 873"/>
              <a:gd name="T1" fmla="*/ 538163 h 372"/>
              <a:gd name="T2" fmla="*/ 95250 w 873"/>
              <a:gd name="T3" fmla="*/ 442913 h 372"/>
              <a:gd name="T4" fmla="*/ 53975 w 873"/>
              <a:gd name="T5" fmla="*/ 80963 h 372"/>
              <a:gd name="T6" fmla="*/ 68262 w 873"/>
              <a:gd name="T7" fmla="*/ 0 h 3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73" h="372">
                <a:moveTo>
                  <a:pt x="873" y="339"/>
                </a:moveTo>
                <a:cubicBezTo>
                  <a:pt x="603" y="352"/>
                  <a:pt x="319" y="372"/>
                  <a:pt x="60" y="279"/>
                </a:cubicBezTo>
                <a:cubicBezTo>
                  <a:pt x="0" y="201"/>
                  <a:pt x="24" y="182"/>
                  <a:pt x="34" y="51"/>
                </a:cubicBezTo>
                <a:cubicBezTo>
                  <a:pt x="35" y="34"/>
                  <a:pt x="43" y="0"/>
                  <a:pt x="43" y="0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4" name="Freeform 48"/>
          <p:cNvSpPr/>
          <p:nvPr/>
        </p:nvSpPr>
        <p:spPr bwMode="auto">
          <a:xfrm>
            <a:off x="2995613" y="3890590"/>
            <a:ext cx="2062162" cy="2762250"/>
          </a:xfrm>
          <a:custGeom>
            <a:avLst/>
            <a:gdLst>
              <a:gd name="T0" fmla="*/ 1290637 w 1299"/>
              <a:gd name="T1" fmla="*/ 2762250 h 1740"/>
              <a:gd name="T2" fmla="*/ 1277937 w 1299"/>
              <a:gd name="T3" fmla="*/ 2574925 h 1740"/>
              <a:gd name="T4" fmla="*/ 1304925 w 1299"/>
              <a:gd name="T5" fmla="*/ 2279650 h 1740"/>
              <a:gd name="T6" fmla="*/ 1762125 w 1299"/>
              <a:gd name="T7" fmla="*/ 2171700 h 1740"/>
              <a:gd name="T8" fmla="*/ 1855787 w 1299"/>
              <a:gd name="T9" fmla="*/ 2103438 h 1740"/>
              <a:gd name="T10" fmla="*/ 1909762 w 1299"/>
              <a:gd name="T11" fmla="*/ 2024063 h 1740"/>
              <a:gd name="T12" fmla="*/ 2003425 w 1299"/>
              <a:gd name="T13" fmla="*/ 1633538 h 1740"/>
              <a:gd name="T14" fmla="*/ 2030412 w 1299"/>
              <a:gd name="T15" fmla="*/ 758825 h 1740"/>
              <a:gd name="T16" fmla="*/ 1976437 w 1299"/>
              <a:gd name="T17" fmla="*/ 315913 h 1740"/>
              <a:gd name="T18" fmla="*/ 1828800 w 1299"/>
              <a:gd name="T19" fmla="*/ 180975 h 1740"/>
              <a:gd name="T20" fmla="*/ 1398587 w 1299"/>
              <a:gd name="T21" fmla="*/ 87313 h 1740"/>
              <a:gd name="T22" fmla="*/ 712787 w 1299"/>
              <a:gd name="T23" fmla="*/ 60325 h 1740"/>
              <a:gd name="T24" fmla="*/ 0 w 1299"/>
              <a:gd name="T25" fmla="*/ 114300 h 174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99" h="1740">
                <a:moveTo>
                  <a:pt x="813" y="1740"/>
                </a:moveTo>
                <a:cubicBezTo>
                  <a:pt x="810" y="1701"/>
                  <a:pt x="805" y="1661"/>
                  <a:pt x="805" y="1622"/>
                </a:cubicBezTo>
                <a:cubicBezTo>
                  <a:pt x="805" y="1560"/>
                  <a:pt x="783" y="1484"/>
                  <a:pt x="822" y="1436"/>
                </a:cubicBezTo>
                <a:cubicBezTo>
                  <a:pt x="878" y="1367"/>
                  <a:pt x="1048" y="1371"/>
                  <a:pt x="1110" y="1368"/>
                </a:cubicBezTo>
                <a:cubicBezTo>
                  <a:pt x="1144" y="1351"/>
                  <a:pt x="1146" y="1355"/>
                  <a:pt x="1169" y="1325"/>
                </a:cubicBezTo>
                <a:cubicBezTo>
                  <a:pt x="1181" y="1309"/>
                  <a:pt x="1203" y="1275"/>
                  <a:pt x="1203" y="1275"/>
                </a:cubicBezTo>
                <a:cubicBezTo>
                  <a:pt x="1217" y="1194"/>
                  <a:pt x="1214" y="1099"/>
                  <a:pt x="1262" y="1029"/>
                </a:cubicBezTo>
                <a:cubicBezTo>
                  <a:pt x="1267" y="845"/>
                  <a:pt x="1279" y="662"/>
                  <a:pt x="1279" y="478"/>
                </a:cubicBezTo>
                <a:cubicBezTo>
                  <a:pt x="1279" y="387"/>
                  <a:pt x="1299" y="279"/>
                  <a:pt x="1245" y="199"/>
                </a:cubicBezTo>
                <a:cubicBezTo>
                  <a:pt x="1229" y="146"/>
                  <a:pt x="1199" y="140"/>
                  <a:pt x="1152" y="114"/>
                </a:cubicBezTo>
                <a:cubicBezTo>
                  <a:pt x="1057" y="61"/>
                  <a:pt x="988" y="61"/>
                  <a:pt x="881" y="55"/>
                </a:cubicBezTo>
                <a:cubicBezTo>
                  <a:pt x="717" y="0"/>
                  <a:pt x="719" y="31"/>
                  <a:pt x="449" y="38"/>
                </a:cubicBezTo>
                <a:cubicBezTo>
                  <a:pt x="301" y="66"/>
                  <a:pt x="135" y="0"/>
                  <a:pt x="0" y="72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5" name="Freeform 49"/>
          <p:cNvSpPr/>
          <p:nvPr/>
        </p:nvSpPr>
        <p:spPr bwMode="auto">
          <a:xfrm>
            <a:off x="1825625" y="4314453"/>
            <a:ext cx="781050" cy="1290637"/>
          </a:xfrm>
          <a:custGeom>
            <a:avLst/>
            <a:gdLst>
              <a:gd name="T0" fmla="*/ 781050 w 492"/>
              <a:gd name="T1" fmla="*/ 0 h 813"/>
              <a:gd name="T2" fmla="*/ 336550 w 492"/>
              <a:gd name="T3" fmla="*/ 52387 h 813"/>
              <a:gd name="T4" fmla="*/ 95250 w 492"/>
              <a:gd name="T5" fmla="*/ 214312 h 813"/>
              <a:gd name="T6" fmla="*/ 80963 w 492"/>
              <a:gd name="T7" fmla="*/ 255587 h 813"/>
              <a:gd name="T8" fmla="*/ 26988 w 492"/>
              <a:gd name="T9" fmla="*/ 334962 h 813"/>
              <a:gd name="T10" fmla="*/ 0 w 492"/>
              <a:gd name="T11" fmla="*/ 509587 h 813"/>
              <a:gd name="T12" fmla="*/ 14288 w 492"/>
              <a:gd name="T13" fmla="*/ 1290637 h 8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2" h="813">
                <a:moveTo>
                  <a:pt x="492" y="0"/>
                </a:moveTo>
                <a:cubicBezTo>
                  <a:pt x="399" y="11"/>
                  <a:pt x="306" y="22"/>
                  <a:pt x="212" y="33"/>
                </a:cubicBezTo>
                <a:cubicBezTo>
                  <a:pt x="151" y="49"/>
                  <a:pt x="90" y="76"/>
                  <a:pt x="60" y="135"/>
                </a:cubicBezTo>
                <a:cubicBezTo>
                  <a:pt x="56" y="143"/>
                  <a:pt x="56" y="153"/>
                  <a:pt x="51" y="161"/>
                </a:cubicBezTo>
                <a:cubicBezTo>
                  <a:pt x="41" y="179"/>
                  <a:pt x="17" y="211"/>
                  <a:pt x="17" y="211"/>
                </a:cubicBezTo>
                <a:cubicBezTo>
                  <a:pt x="8" y="250"/>
                  <a:pt x="0" y="278"/>
                  <a:pt x="0" y="321"/>
                </a:cubicBezTo>
                <a:cubicBezTo>
                  <a:pt x="0" y="485"/>
                  <a:pt x="9" y="813"/>
                  <a:pt x="9" y="813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6" name="Freeform 50"/>
          <p:cNvSpPr/>
          <p:nvPr/>
        </p:nvSpPr>
        <p:spPr bwMode="auto">
          <a:xfrm>
            <a:off x="3117850" y="5106615"/>
            <a:ext cx="66675" cy="565150"/>
          </a:xfrm>
          <a:custGeom>
            <a:avLst/>
            <a:gdLst>
              <a:gd name="T0" fmla="*/ 66675 w 42"/>
              <a:gd name="T1" fmla="*/ 0 h 356"/>
              <a:gd name="T2" fmla="*/ 0 w 42"/>
              <a:gd name="T3" fmla="*/ 323850 h 356"/>
              <a:gd name="T4" fmla="*/ 12700 w 42"/>
              <a:gd name="T5" fmla="*/ 565150 h 3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" h="356">
                <a:moveTo>
                  <a:pt x="42" y="0"/>
                </a:moveTo>
                <a:cubicBezTo>
                  <a:pt x="34" y="72"/>
                  <a:pt x="16" y="134"/>
                  <a:pt x="0" y="204"/>
                </a:cubicBezTo>
                <a:cubicBezTo>
                  <a:pt x="3" y="255"/>
                  <a:pt x="8" y="356"/>
                  <a:pt x="8" y="356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7" name="Freeform 51"/>
          <p:cNvSpPr/>
          <p:nvPr/>
        </p:nvSpPr>
        <p:spPr bwMode="auto">
          <a:xfrm>
            <a:off x="3708400" y="5563815"/>
            <a:ext cx="727075" cy="552450"/>
          </a:xfrm>
          <a:custGeom>
            <a:avLst/>
            <a:gdLst>
              <a:gd name="T0" fmla="*/ 727075 w 458"/>
              <a:gd name="T1" fmla="*/ 552450 h 348"/>
              <a:gd name="T2" fmla="*/ 685800 w 458"/>
              <a:gd name="T3" fmla="*/ 323850 h 348"/>
              <a:gd name="T4" fmla="*/ 658813 w 458"/>
              <a:gd name="T5" fmla="*/ 161925 h 348"/>
              <a:gd name="T6" fmla="*/ 646113 w 458"/>
              <a:gd name="T7" fmla="*/ 122238 h 348"/>
              <a:gd name="T8" fmla="*/ 444500 w 458"/>
              <a:gd name="T9" fmla="*/ 0 h 348"/>
              <a:gd name="T10" fmla="*/ 0 w 458"/>
              <a:gd name="T11" fmla="*/ 26988 h 3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58" h="348">
                <a:moveTo>
                  <a:pt x="458" y="348"/>
                </a:moveTo>
                <a:cubicBezTo>
                  <a:pt x="450" y="300"/>
                  <a:pt x="449" y="250"/>
                  <a:pt x="432" y="204"/>
                </a:cubicBezTo>
                <a:cubicBezTo>
                  <a:pt x="426" y="170"/>
                  <a:pt x="422" y="136"/>
                  <a:pt x="415" y="102"/>
                </a:cubicBezTo>
                <a:cubicBezTo>
                  <a:pt x="413" y="93"/>
                  <a:pt x="413" y="83"/>
                  <a:pt x="407" y="77"/>
                </a:cubicBezTo>
                <a:cubicBezTo>
                  <a:pt x="375" y="45"/>
                  <a:pt x="321" y="21"/>
                  <a:pt x="280" y="0"/>
                </a:cubicBezTo>
                <a:cubicBezTo>
                  <a:pt x="189" y="6"/>
                  <a:pt x="91" y="17"/>
                  <a:pt x="0" y="17"/>
                </a:cubicBezTo>
              </a:path>
            </a:pathLst>
          </a:custGeom>
          <a:noFill/>
          <a:ln w="28575" cap="flat" cmpd="sng">
            <a:solidFill>
              <a:srgbClr val="263AF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8" name="Line 52"/>
          <p:cNvSpPr>
            <a:spLocks noChangeShapeType="1"/>
          </p:cNvSpPr>
          <p:nvPr/>
        </p:nvSpPr>
        <p:spPr bwMode="auto">
          <a:xfrm>
            <a:off x="1682750" y="3668340"/>
            <a:ext cx="609600" cy="0"/>
          </a:xfrm>
          <a:prstGeom prst="line">
            <a:avLst/>
          </a:prstGeom>
          <a:noFill/>
          <a:ln w="9525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9" name="Line 53"/>
          <p:cNvSpPr>
            <a:spLocks noChangeShapeType="1"/>
          </p:cNvSpPr>
          <p:nvPr/>
        </p:nvSpPr>
        <p:spPr bwMode="auto">
          <a:xfrm>
            <a:off x="4654550" y="686874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4507BC3-AB74-46DE-BA6D-5FF15210C42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048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048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DB5B283-BF38-4732-8CFD-8EF802244556}" type="slidenum">
              <a:rPr lang="en-US" altLang="zh-CN" sz="1050"/>
            </a:fld>
            <a:endParaRPr lang="en-US" altLang="zh-CN" sz="105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Number the Cells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0596" name="Text Box 113"/>
          <p:cNvSpPr txBox="1">
            <a:spLocks noChangeArrowheads="1"/>
          </p:cNvSpPr>
          <p:nvPr/>
        </p:nvSpPr>
        <p:spPr bwMode="auto">
          <a:xfrm>
            <a:off x="396069" y="2570310"/>
            <a:ext cx="595156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We have disjoint sets S ={ {1}, {2}, {3}, {4},… {36} }  each cell is unto itself.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We have all possible edges E ={ (1,2), (1,7), (2,8), (2,3), … } 60 edges total.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19" name="Line 3"/>
          <p:cNvSpPr>
            <a:spLocks noChangeShapeType="1"/>
          </p:cNvSpPr>
          <p:nvPr/>
        </p:nvSpPr>
        <p:spPr bwMode="auto">
          <a:xfrm>
            <a:off x="2184300" y="4539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0" name="Line 4"/>
          <p:cNvSpPr>
            <a:spLocks noChangeShapeType="1"/>
          </p:cNvSpPr>
          <p:nvPr/>
        </p:nvSpPr>
        <p:spPr bwMode="auto">
          <a:xfrm>
            <a:off x="2184300" y="4539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Line 5"/>
          <p:cNvSpPr>
            <a:spLocks noChangeShapeType="1"/>
          </p:cNvSpPr>
          <p:nvPr/>
        </p:nvSpPr>
        <p:spPr bwMode="auto">
          <a:xfrm>
            <a:off x="2793900" y="4539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2" name="Line 6"/>
          <p:cNvSpPr>
            <a:spLocks noChangeShapeType="1"/>
          </p:cNvSpPr>
          <p:nvPr/>
        </p:nvSpPr>
        <p:spPr bwMode="auto">
          <a:xfrm>
            <a:off x="2793900" y="4539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Line 7"/>
          <p:cNvSpPr>
            <a:spLocks noChangeShapeType="1"/>
          </p:cNvSpPr>
          <p:nvPr/>
        </p:nvSpPr>
        <p:spPr bwMode="auto">
          <a:xfrm>
            <a:off x="3403500" y="4539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4" name="Line 8"/>
          <p:cNvSpPr>
            <a:spLocks noChangeShapeType="1"/>
          </p:cNvSpPr>
          <p:nvPr/>
        </p:nvSpPr>
        <p:spPr bwMode="auto">
          <a:xfrm>
            <a:off x="3403500" y="4539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5" name="Line 9"/>
          <p:cNvSpPr>
            <a:spLocks noChangeShapeType="1"/>
          </p:cNvSpPr>
          <p:nvPr/>
        </p:nvSpPr>
        <p:spPr bwMode="auto">
          <a:xfrm>
            <a:off x="4013100" y="4539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6" name="Line 10"/>
          <p:cNvSpPr>
            <a:spLocks noChangeShapeType="1"/>
          </p:cNvSpPr>
          <p:nvPr/>
        </p:nvSpPr>
        <p:spPr bwMode="auto">
          <a:xfrm>
            <a:off x="4013100" y="4539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7" name="Line 11"/>
          <p:cNvSpPr>
            <a:spLocks noChangeShapeType="1"/>
          </p:cNvSpPr>
          <p:nvPr/>
        </p:nvSpPr>
        <p:spPr bwMode="auto">
          <a:xfrm>
            <a:off x="4622700" y="4539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8" name="Line 12"/>
          <p:cNvSpPr>
            <a:spLocks noChangeShapeType="1"/>
          </p:cNvSpPr>
          <p:nvPr/>
        </p:nvSpPr>
        <p:spPr bwMode="auto">
          <a:xfrm>
            <a:off x="4622700" y="4539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9" name="Line 13"/>
          <p:cNvSpPr>
            <a:spLocks noChangeShapeType="1"/>
          </p:cNvSpPr>
          <p:nvPr/>
        </p:nvSpPr>
        <p:spPr bwMode="auto">
          <a:xfrm>
            <a:off x="5232300" y="4539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0" name="Line 14"/>
          <p:cNvSpPr>
            <a:spLocks noChangeShapeType="1"/>
          </p:cNvSpPr>
          <p:nvPr/>
        </p:nvSpPr>
        <p:spPr bwMode="auto">
          <a:xfrm>
            <a:off x="1574700" y="5073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1" name="Line 15"/>
          <p:cNvSpPr>
            <a:spLocks noChangeShapeType="1"/>
          </p:cNvSpPr>
          <p:nvPr/>
        </p:nvSpPr>
        <p:spPr bwMode="auto">
          <a:xfrm>
            <a:off x="2184300" y="50733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2" name="Line 16"/>
          <p:cNvSpPr>
            <a:spLocks noChangeShapeType="1"/>
          </p:cNvSpPr>
          <p:nvPr/>
        </p:nvSpPr>
        <p:spPr bwMode="auto">
          <a:xfrm>
            <a:off x="2184300" y="5073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3" name="Line 17"/>
          <p:cNvSpPr>
            <a:spLocks noChangeShapeType="1"/>
          </p:cNvSpPr>
          <p:nvPr/>
        </p:nvSpPr>
        <p:spPr bwMode="auto">
          <a:xfrm>
            <a:off x="2793900" y="50733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4" name="Line 18"/>
          <p:cNvSpPr>
            <a:spLocks noChangeShapeType="1"/>
          </p:cNvSpPr>
          <p:nvPr/>
        </p:nvSpPr>
        <p:spPr bwMode="auto">
          <a:xfrm>
            <a:off x="2793900" y="5073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5" name="Line 19"/>
          <p:cNvSpPr>
            <a:spLocks noChangeShapeType="1"/>
          </p:cNvSpPr>
          <p:nvPr/>
        </p:nvSpPr>
        <p:spPr bwMode="auto">
          <a:xfrm>
            <a:off x="3403500" y="50733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6" name="Line 20"/>
          <p:cNvSpPr>
            <a:spLocks noChangeShapeType="1"/>
          </p:cNvSpPr>
          <p:nvPr/>
        </p:nvSpPr>
        <p:spPr bwMode="auto">
          <a:xfrm>
            <a:off x="3403500" y="5073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7" name="Line 21"/>
          <p:cNvSpPr>
            <a:spLocks noChangeShapeType="1"/>
          </p:cNvSpPr>
          <p:nvPr/>
        </p:nvSpPr>
        <p:spPr bwMode="auto">
          <a:xfrm>
            <a:off x="4013100" y="50733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8" name="Line 22"/>
          <p:cNvSpPr>
            <a:spLocks noChangeShapeType="1"/>
          </p:cNvSpPr>
          <p:nvPr/>
        </p:nvSpPr>
        <p:spPr bwMode="auto">
          <a:xfrm>
            <a:off x="4013100" y="5073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9" name="Line 23"/>
          <p:cNvSpPr>
            <a:spLocks noChangeShapeType="1"/>
          </p:cNvSpPr>
          <p:nvPr/>
        </p:nvSpPr>
        <p:spPr bwMode="auto">
          <a:xfrm>
            <a:off x="4622700" y="50733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0" name="Line 24"/>
          <p:cNvSpPr>
            <a:spLocks noChangeShapeType="1"/>
          </p:cNvSpPr>
          <p:nvPr/>
        </p:nvSpPr>
        <p:spPr bwMode="auto">
          <a:xfrm>
            <a:off x="4622700" y="5073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1" name="Line 25"/>
          <p:cNvSpPr>
            <a:spLocks noChangeShapeType="1"/>
          </p:cNvSpPr>
          <p:nvPr/>
        </p:nvSpPr>
        <p:spPr bwMode="auto">
          <a:xfrm>
            <a:off x="5232300" y="50733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2" name="Line 26"/>
          <p:cNvSpPr>
            <a:spLocks noChangeShapeType="1"/>
          </p:cNvSpPr>
          <p:nvPr/>
        </p:nvSpPr>
        <p:spPr bwMode="auto">
          <a:xfrm>
            <a:off x="1574700" y="56067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3" name="Line 27"/>
          <p:cNvSpPr>
            <a:spLocks noChangeShapeType="1"/>
          </p:cNvSpPr>
          <p:nvPr/>
        </p:nvSpPr>
        <p:spPr bwMode="auto">
          <a:xfrm>
            <a:off x="2184300" y="56067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4" name="Line 28"/>
          <p:cNvSpPr>
            <a:spLocks noChangeShapeType="1"/>
          </p:cNvSpPr>
          <p:nvPr/>
        </p:nvSpPr>
        <p:spPr bwMode="auto">
          <a:xfrm>
            <a:off x="2184300" y="56067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5" name="Line 29"/>
          <p:cNvSpPr>
            <a:spLocks noChangeShapeType="1"/>
          </p:cNvSpPr>
          <p:nvPr/>
        </p:nvSpPr>
        <p:spPr bwMode="auto">
          <a:xfrm>
            <a:off x="2793900" y="56067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6" name="Line 30"/>
          <p:cNvSpPr>
            <a:spLocks noChangeShapeType="1"/>
          </p:cNvSpPr>
          <p:nvPr/>
        </p:nvSpPr>
        <p:spPr bwMode="auto">
          <a:xfrm>
            <a:off x="2793900" y="56067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7" name="Line 31"/>
          <p:cNvSpPr>
            <a:spLocks noChangeShapeType="1"/>
          </p:cNvSpPr>
          <p:nvPr/>
        </p:nvSpPr>
        <p:spPr bwMode="auto">
          <a:xfrm>
            <a:off x="3403500" y="56067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8" name="Line 32"/>
          <p:cNvSpPr>
            <a:spLocks noChangeShapeType="1"/>
          </p:cNvSpPr>
          <p:nvPr/>
        </p:nvSpPr>
        <p:spPr bwMode="auto">
          <a:xfrm>
            <a:off x="3403500" y="56067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9" name="Line 33"/>
          <p:cNvSpPr>
            <a:spLocks noChangeShapeType="1"/>
          </p:cNvSpPr>
          <p:nvPr/>
        </p:nvSpPr>
        <p:spPr bwMode="auto">
          <a:xfrm>
            <a:off x="4013100" y="56067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0" name="Line 34"/>
          <p:cNvSpPr>
            <a:spLocks noChangeShapeType="1"/>
          </p:cNvSpPr>
          <p:nvPr/>
        </p:nvSpPr>
        <p:spPr bwMode="auto">
          <a:xfrm>
            <a:off x="4013100" y="56067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1" name="Line 35"/>
          <p:cNvSpPr>
            <a:spLocks noChangeShapeType="1"/>
          </p:cNvSpPr>
          <p:nvPr/>
        </p:nvSpPr>
        <p:spPr bwMode="auto">
          <a:xfrm>
            <a:off x="4622700" y="56067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2" name="Line 36"/>
          <p:cNvSpPr>
            <a:spLocks noChangeShapeType="1"/>
          </p:cNvSpPr>
          <p:nvPr/>
        </p:nvSpPr>
        <p:spPr bwMode="auto">
          <a:xfrm>
            <a:off x="4622700" y="56067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3" name="Line 37"/>
          <p:cNvSpPr>
            <a:spLocks noChangeShapeType="1"/>
          </p:cNvSpPr>
          <p:nvPr/>
        </p:nvSpPr>
        <p:spPr bwMode="auto">
          <a:xfrm>
            <a:off x="5232300" y="56067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4" name="Line 38"/>
          <p:cNvSpPr>
            <a:spLocks noChangeShapeType="1"/>
          </p:cNvSpPr>
          <p:nvPr/>
        </p:nvSpPr>
        <p:spPr bwMode="auto">
          <a:xfrm>
            <a:off x="1574700" y="61401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5" name="Line 39"/>
          <p:cNvSpPr>
            <a:spLocks noChangeShapeType="1"/>
          </p:cNvSpPr>
          <p:nvPr/>
        </p:nvSpPr>
        <p:spPr bwMode="auto">
          <a:xfrm>
            <a:off x="2184300" y="61401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6" name="Line 40"/>
          <p:cNvSpPr>
            <a:spLocks noChangeShapeType="1"/>
          </p:cNvSpPr>
          <p:nvPr/>
        </p:nvSpPr>
        <p:spPr bwMode="auto">
          <a:xfrm>
            <a:off x="2184300" y="61401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7" name="Line 41"/>
          <p:cNvSpPr>
            <a:spLocks noChangeShapeType="1"/>
          </p:cNvSpPr>
          <p:nvPr/>
        </p:nvSpPr>
        <p:spPr bwMode="auto">
          <a:xfrm>
            <a:off x="2793900" y="61401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8" name="Line 42"/>
          <p:cNvSpPr>
            <a:spLocks noChangeShapeType="1"/>
          </p:cNvSpPr>
          <p:nvPr/>
        </p:nvSpPr>
        <p:spPr bwMode="auto">
          <a:xfrm>
            <a:off x="2793900" y="61401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9" name="Line 43"/>
          <p:cNvSpPr>
            <a:spLocks noChangeShapeType="1"/>
          </p:cNvSpPr>
          <p:nvPr/>
        </p:nvSpPr>
        <p:spPr bwMode="auto">
          <a:xfrm>
            <a:off x="3403500" y="61401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0" name="Line 44"/>
          <p:cNvSpPr>
            <a:spLocks noChangeShapeType="1"/>
          </p:cNvSpPr>
          <p:nvPr/>
        </p:nvSpPr>
        <p:spPr bwMode="auto">
          <a:xfrm>
            <a:off x="3403500" y="61401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1" name="Line 45"/>
          <p:cNvSpPr>
            <a:spLocks noChangeShapeType="1"/>
          </p:cNvSpPr>
          <p:nvPr/>
        </p:nvSpPr>
        <p:spPr bwMode="auto">
          <a:xfrm>
            <a:off x="4013100" y="61401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2" name="Line 46"/>
          <p:cNvSpPr>
            <a:spLocks noChangeShapeType="1"/>
          </p:cNvSpPr>
          <p:nvPr/>
        </p:nvSpPr>
        <p:spPr bwMode="auto">
          <a:xfrm>
            <a:off x="4013100" y="61401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3" name="Line 47"/>
          <p:cNvSpPr>
            <a:spLocks noChangeShapeType="1"/>
          </p:cNvSpPr>
          <p:nvPr/>
        </p:nvSpPr>
        <p:spPr bwMode="auto">
          <a:xfrm>
            <a:off x="4622700" y="61401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4" name="Line 48"/>
          <p:cNvSpPr>
            <a:spLocks noChangeShapeType="1"/>
          </p:cNvSpPr>
          <p:nvPr/>
        </p:nvSpPr>
        <p:spPr bwMode="auto">
          <a:xfrm>
            <a:off x="4622700" y="61401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5" name="Line 49"/>
          <p:cNvSpPr>
            <a:spLocks noChangeShapeType="1"/>
          </p:cNvSpPr>
          <p:nvPr/>
        </p:nvSpPr>
        <p:spPr bwMode="auto">
          <a:xfrm>
            <a:off x="5232300" y="61401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6" name="Line 50"/>
          <p:cNvSpPr>
            <a:spLocks noChangeShapeType="1"/>
          </p:cNvSpPr>
          <p:nvPr/>
        </p:nvSpPr>
        <p:spPr bwMode="auto">
          <a:xfrm>
            <a:off x="1574700" y="66735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7" name="Line 51"/>
          <p:cNvSpPr>
            <a:spLocks noChangeShapeType="1"/>
          </p:cNvSpPr>
          <p:nvPr/>
        </p:nvSpPr>
        <p:spPr bwMode="auto">
          <a:xfrm>
            <a:off x="2184300" y="66735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8" name="Line 52"/>
          <p:cNvSpPr>
            <a:spLocks noChangeShapeType="1"/>
          </p:cNvSpPr>
          <p:nvPr/>
        </p:nvSpPr>
        <p:spPr bwMode="auto">
          <a:xfrm>
            <a:off x="2184300" y="66735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9" name="Line 53"/>
          <p:cNvSpPr>
            <a:spLocks noChangeShapeType="1"/>
          </p:cNvSpPr>
          <p:nvPr/>
        </p:nvSpPr>
        <p:spPr bwMode="auto">
          <a:xfrm>
            <a:off x="2793900" y="66735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0" name="Line 54"/>
          <p:cNvSpPr>
            <a:spLocks noChangeShapeType="1"/>
          </p:cNvSpPr>
          <p:nvPr/>
        </p:nvSpPr>
        <p:spPr bwMode="auto">
          <a:xfrm>
            <a:off x="2793900" y="66735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1" name="Line 55"/>
          <p:cNvSpPr>
            <a:spLocks noChangeShapeType="1"/>
          </p:cNvSpPr>
          <p:nvPr/>
        </p:nvSpPr>
        <p:spPr bwMode="auto">
          <a:xfrm>
            <a:off x="3403500" y="66735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2" name="Line 56"/>
          <p:cNvSpPr>
            <a:spLocks noChangeShapeType="1"/>
          </p:cNvSpPr>
          <p:nvPr/>
        </p:nvSpPr>
        <p:spPr bwMode="auto">
          <a:xfrm>
            <a:off x="3403500" y="66735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3" name="Line 57"/>
          <p:cNvSpPr>
            <a:spLocks noChangeShapeType="1"/>
          </p:cNvSpPr>
          <p:nvPr/>
        </p:nvSpPr>
        <p:spPr bwMode="auto">
          <a:xfrm>
            <a:off x="4013100" y="66735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4" name="Line 58"/>
          <p:cNvSpPr>
            <a:spLocks noChangeShapeType="1"/>
          </p:cNvSpPr>
          <p:nvPr/>
        </p:nvSpPr>
        <p:spPr bwMode="auto">
          <a:xfrm>
            <a:off x="4013100" y="66735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5" name="Line 59"/>
          <p:cNvSpPr>
            <a:spLocks noChangeShapeType="1"/>
          </p:cNvSpPr>
          <p:nvPr/>
        </p:nvSpPr>
        <p:spPr bwMode="auto">
          <a:xfrm>
            <a:off x="4622700" y="66735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6" name="Line 60"/>
          <p:cNvSpPr>
            <a:spLocks noChangeShapeType="1"/>
          </p:cNvSpPr>
          <p:nvPr/>
        </p:nvSpPr>
        <p:spPr bwMode="auto">
          <a:xfrm>
            <a:off x="4622700" y="66735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7" name="Line 61"/>
          <p:cNvSpPr>
            <a:spLocks noChangeShapeType="1"/>
          </p:cNvSpPr>
          <p:nvPr/>
        </p:nvSpPr>
        <p:spPr bwMode="auto">
          <a:xfrm>
            <a:off x="5232300" y="66735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8" name="Line 62"/>
          <p:cNvSpPr>
            <a:spLocks noChangeShapeType="1"/>
          </p:cNvSpPr>
          <p:nvPr/>
        </p:nvSpPr>
        <p:spPr bwMode="auto">
          <a:xfrm>
            <a:off x="1574700" y="7206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79" name="Line 63"/>
          <p:cNvSpPr>
            <a:spLocks noChangeShapeType="1"/>
          </p:cNvSpPr>
          <p:nvPr/>
        </p:nvSpPr>
        <p:spPr bwMode="auto">
          <a:xfrm>
            <a:off x="2184300" y="7206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0" name="Line 64"/>
          <p:cNvSpPr>
            <a:spLocks noChangeShapeType="1"/>
          </p:cNvSpPr>
          <p:nvPr/>
        </p:nvSpPr>
        <p:spPr bwMode="auto">
          <a:xfrm>
            <a:off x="2184300" y="7206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1" name="Line 65"/>
          <p:cNvSpPr>
            <a:spLocks noChangeShapeType="1"/>
          </p:cNvSpPr>
          <p:nvPr/>
        </p:nvSpPr>
        <p:spPr bwMode="auto">
          <a:xfrm>
            <a:off x="2793900" y="7206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2" name="Line 66"/>
          <p:cNvSpPr>
            <a:spLocks noChangeShapeType="1"/>
          </p:cNvSpPr>
          <p:nvPr/>
        </p:nvSpPr>
        <p:spPr bwMode="auto">
          <a:xfrm>
            <a:off x="2793900" y="7206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3" name="Line 67"/>
          <p:cNvSpPr>
            <a:spLocks noChangeShapeType="1"/>
          </p:cNvSpPr>
          <p:nvPr/>
        </p:nvSpPr>
        <p:spPr bwMode="auto">
          <a:xfrm>
            <a:off x="3403500" y="7206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4" name="Line 68"/>
          <p:cNvSpPr>
            <a:spLocks noChangeShapeType="1"/>
          </p:cNvSpPr>
          <p:nvPr/>
        </p:nvSpPr>
        <p:spPr bwMode="auto">
          <a:xfrm>
            <a:off x="3403500" y="7206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5" name="Line 69"/>
          <p:cNvSpPr>
            <a:spLocks noChangeShapeType="1"/>
          </p:cNvSpPr>
          <p:nvPr/>
        </p:nvSpPr>
        <p:spPr bwMode="auto">
          <a:xfrm>
            <a:off x="4013100" y="7206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6" name="Line 70"/>
          <p:cNvSpPr>
            <a:spLocks noChangeShapeType="1"/>
          </p:cNvSpPr>
          <p:nvPr/>
        </p:nvSpPr>
        <p:spPr bwMode="auto">
          <a:xfrm>
            <a:off x="4013100" y="7206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7" name="Line 71"/>
          <p:cNvSpPr>
            <a:spLocks noChangeShapeType="1"/>
          </p:cNvSpPr>
          <p:nvPr/>
        </p:nvSpPr>
        <p:spPr bwMode="auto">
          <a:xfrm>
            <a:off x="4622700" y="72069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8" name="Line 72"/>
          <p:cNvSpPr>
            <a:spLocks noChangeShapeType="1"/>
          </p:cNvSpPr>
          <p:nvPr/>
        </p:nvSpPr>
        <p:spPr bwMode="auto">
          <a:xfrm>
            <a:off x="4622700" y="7206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9" name="Line 73"/>
          <p:cNvSpPr>
            <a:spLocks noChangeShapeType="1"/>
          </p:cNvSpPr>
          <p:nvPr/>
        </p:nvSpPr>
        <p:spPr bwMode="auto">
          <a:xfrm rot="10800000">
            <a:off x="1574700" y="7740351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90" name="Line 74"/>
          <p:cNvSpPr>
            <a:spLocks noChangeShapeType="1"/>
          </p:cNvSpPr>
          <p:nvPr/>
        </p:nvSpPr>
        <p:spPr bwMode="auto">
          <a:xfrm rot="10800000">
            <a:off x="1574700" y="5073351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91" name="Text Box 75"/>
          <p:cNvSpPr txBox="1">
            <a:spLocks noChangeArrowheads="1"/>
          </p:cNvSpPr>
          <p:nvPr/>
        </p:nvSpPr>
        <p:spPr bwMode="auto">
          <a:xfrm>
            <a:off x="736500" y="4539951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2" name="Text Box 76"/>
          <p:cNvSpPr txBox="1">
            <a:spLocks noChangeArrowheads="1"/>
          </p:cNvSpPr>
          <p:nvPr/>
        </p:nvSpPr>
        <p:spPr bwMode="auto">
          <a:xfrm>
            <a:off x="5384700" y="7283151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3" name="Rectangle 77"/>
          <p:cNvSpPr>
            <a:spLocks noChangeArrowheads="1"/>
          </p:cNvSpPr>
          <p:nvPr/>
        </p:nvSpPr>
        <p:spPr bwMode="auto">
          <a:xfrm>
            <a:off x="1650900" y="4616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4" name="Rectangle 78"/>
          <p:cNvSpPr>
            <a:spLocks noChangeArrowheads="1"/>
          </p:cNvSpPr>
          <p:nvPr/>
        </p:nvSpPr>
        <p:spPr bwMode="auto">
          <a:xfrm>
            <a:off x="2260500" y="4616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5" name="Rectangle 79"/>
          <p:cNvSpPr>
            <a:spLocks noChangeArrowheads="1"/>
          </p:cNvSpPr>
          <p:nvPr/>
        </p:nvSpPr>
        <p:spPr bwMode="auto">
          <a:xfrm>
            <a:off x="2870100" y="4616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6" name="Rectangle 80"/>
          <p:cNvSpPr>
            <a:spLocks noChangeArrowheads="1"/>
          </p:cNvSpPr>
          <p:nvPr/>
        </p:nvSpPr>
        <p:spPr bwMode="auto">
          <a:xfrm>
            <a:off x="3479700" y="4616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7" name="Rectangle 81"/>
          <p:cNvSpPr>
            <a:spLocks noChangeArrowheads="1"/>
          </p:cNvSpPr>
          <p:nvPr/>
        </p:nvSpPr>
        <p:spPr bwMode="auto">
          <a:xfrm>
            <a:off x="4089300" y="4616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8" name="Rectangle 82"/>
          <p:cNvSpPr>
            <a:spLocks noChangeArrowheads="1"/>
          </p:cNvSpPr>
          <p:nvPr/>
        </p:nvSpPr>
        <p:spPr bwMode="auto">
          <a:xfrm>
            <a:off x="4698900" y="4616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9" name="Rectangle 83"/>
          <p:cNvSpPr>
            <a:spLocks noChangeArrowheads="1"/>
          </p:cNvSpPr>
          <p:nvPr/>
        </p:nvSpPr>
        <p:spPr bwMode="auto">
          <a:xfrm>
            <a:off x="1650900" y="51495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0" name="Rectangle 84"/>
          <p:cNvSpPr>
            <a:spLocks noChangeArrowheads="1"/>
          </p:cNvSpPr>
          <p:nvPr/>
        </p:nvSpPr>
        <p:spPr bwMode="auto">
          <a:xfrm>
            <a:off x="2260500" y="51495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1" name="Rectangle 85"/>
          <p:cNvSpPr>
            <a:spLocks noChangeArrowheads="1"/>
          </p:cNvSpPr>
          <p:nvPr/>
        </p:nvSpPr>
        <p:spPr bwMode="auto">
          <a:xfrm>
            <a:off x="2870100" y="51495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2" name="Rectangle 86"/>
          <p:cNvSpPr>
            <a:spLocks noChangeArrowheads="1"/>
          </p:cNvSpPr>
          <p:nvPr/>
        </p:nvSpPr>
        <p:spPr bwMode="auto">
          <a:xfrm>
            <a:off x="3479700" y="51495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3" name="Rectangle 87"/>
          <p:cNvSpPr>
            <a:spLocks noChangeArrowheads="1"/>
          </p:cNvSpPr>
          <p:nvPr/>
        </p:nvSpPr>
        <p:spPr bwMode="auto">
          <a:xfrm>
            <a:off x="4089300" y="51495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4" name="Rectangle 88"/>
          <p:cNvSpPr>
            <a:spLocks noChangeArrowheads="1"/>
          </p:cNvSpPr>
          <p:nvPr/>
        </p:nvSpPr>
        <p:spPr bwMode="auto">
          <a:xfrm>
            <a:off x="4698900" y="51495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5" name="Rectangle 89"/>
          <p:cNvSpPr>
            <a:spLocks noChangeArrowheads="1"/>
          </p:cNvSpPr>
          <p:nvPr/>
        </p:nvSpPr>
        <p:spPr bwMode="auto">
          <a:xfrm>
            <a:off x="1650900" y="56829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6" name="Rectangle 90"/>
          <p:cNvSpPr>
            <a:spLocks noChangeArrowheads="1"/>
          </p:cNvSpPr>
          <p:nvPr/>
        </p:nvSpPr>
        <p:spPr bwMode="auto">
          <a:xfrm>
            <a:off x="2260500" y="56829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7" name="Rectangle 91"/>
          <p:cNvSpPr>
            <a:spLocks noChangeArrowheads="1"/>
          </p:cNvSpPr>
          <p:nvPr/>
        </p:nvSpPr>
        <p:spPr bwMode="auto">
          <a:xfrm>
            <a:off x="2870100" y="56829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8" name="Rectangle 92"/>
          <p:cNvSpPr>
            <a:spLocks noChangeArrowheads="1"/>
          </p:cNvSpPr>
          <p:nvPr/>
        </p:nvSpPr>
        <p:spPr bwMode="auto">
          <a:xfrm>
            <a:off x="3479700" y="56829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9" name="Rectangle 93"/>
          <p:cNvSpPr>
            <a:spLocks noChangeArrowheads="1"/>
          </p:cNvSpPr>
          <p:nvPr/>
        </p:nvSpPr>
        <p:spPr bwMode="auto">
          <a:xfrm>
            <a:off x="4089300" y="56829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0" name="Rectangle 94"/>
          <p:cNvSpPr>
            <a:spLocks noChangeArrowheads="1"/>
          </p:cNvSpPr>
          <p:nvPr/>
        </p:nvSpPr>
        <p:spPr bwMode="auto">
          <a:xfrm>
            <a:off x="4698900" y="56829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1" name="Rectangle 95"/>
          <p:cNvSpPr>
            <a:spLocks noChangeArrowheads="1"/>
          </p:cNvSpPr>
          <p:nvPr/>
        </p:nvSpPr>
        <p:spPr bwMode="auto">
          <a:xfrm>
            <a:off x="1650900" y="62163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2" name="Rectangle 96"/>
          <p:cNvSpPr>
            <a:spLocks noChangeArrowheads="1"/>
          </p:cNvSpPr>
          <p:nvPr/>
        </p:nvSpPr>
        <p:spPr bwMode="auto">
          <a:xfrm>
            <a:off x="2260500" y="62163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3" name="Rectangle 97"/>
          <p:cNvSpPr>
            <a:spLocks noChangeArrowheads="1"/>
          </p:cNvSpPr>
          <p:nvPr/>
        </p:nvSpPr>
        <p:spPr bwMode="auto">
          <a:xfrm>
            <a:off x="2870100" y="62163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4" name="Rectangle 98"/>
          <p:cNvSpPr>
            <a:spLocks noChangeArrowheads="1"/>
          </p:cNvSpPr>
          <p:nvPr/>
        </p:nvSpPr>
        <p:spPr bwMode="auto">
          <a:xfrm>
            <a:off x="3479700" y="62163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5" name="Rectangle 99"/>
          <p:cNvSpPr>
            <a:spLocks noChangeArrowheads="1"/>
          </p:cNvSpPr>
          <p:nvPr/>
        </p:nvSpPr>
        <p:spPr bwMode="auto">
          <a:xfrm>
            <a:off x="4089300" y="62163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6" name="Rectangle 100"/>
          <p:cNvSpPr>
            <a:spLocks noChangeArrowheads="1"/>
          </p:cNvSpPr>
          <p:nvPr/>
        </p:nvSpPr>
        <p:spPr bwMode="auto">
          <a:xfrm>
            <a:off x="4698900" y="62163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7" name="Rectangle 101"/>
          <p:cNvSpPr>
            <a:spLocks noChangeArrowheads="1"/>
          </p:cNvSpPr>
          <p:nvPr/>
        </p:nvSpPr>
        <p:spPr bwMode="auto">
          <a:xfrm>
            <a:off x="1650900" y="67497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8" name="Rectangle 102"/>
          <p:cNvSpPr>
            <a:spLocks noChangeArrowheads="1"/>
          </p:cNvSpPr>
          <p:nvPr/>
        </p:nvSpPr>
        <p:spPr bwMode="auto">
          <a:xfrm>
            <a:off x="2260500" y="67497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9" name="Rectangle 103"/>
          <p:cNvSpPr>
            <a:spLocks noChangeArrowheads="1"/>
          </p:cNvSpPr>
          <p:nvPr/>
        </p:nvSpPr>
        <p:spPr bwMode="auto">
          <a:xfrm>
            <a:off x="2870100" y="67497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0" name="Rectangle 104"/>
          <p:cNvSpPr>
            <a:spLocks noChangeArrowheads="1"/>
          </p:cNvSpPr>
          <p:nvPr/>
        </p:nvSpPr>
        <p:spPr bwMode="auto">
          <a:xfrm>
            <a:off x="3479700" y="67497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1" name="Rectangle 105"/>
          <p:cNvSpPr>
            <a:spLocks noChangeArrowheads="1"/>
          </p:cNvSpPr>
          <p:nvPr/>
        </p:nvSpPr>
        <p:spPr bwMode="auto">
          <a:xfrm>
            <a:off x="4089300" y="67497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2" name="Rectangle 106"/>
          <p:cNvSpPr>
            <a:spLocks noChangeArrowheads="1"/>
          </p:cNvSpPr>
          <p:nvPr/>
        </p:nvSpPr>
        <p:spPr bwMode="auto">
          <a:xfrm>
            <a:off x="4698900" y="67497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3" name="Rectangle 107"/>
          <p:cNvSpPr>
            <a:spLocks noChangeArrowheads="1"/>
          </p:cNvSpPr>
          <p:nvPr/>
        </p:nvSpPr>
        <p:spPr bwMode="auto">
          <a:xfrm>
            <a:off x="1650900" y="7283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2260500" y="7283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5" name="Rectangle 109"/>
          <p:cNvSpPr>
            <a:spLocks noChangeArrowheads="1"/>
          </p:cNvSpPr>
          <p:nvPr/>
        </p:nvSpPr>
        <p:spPr bwMode="auto">
          <a:xfrm>
            <a:off x="2870100" y="7283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6" name="Rectangle 110"/>
          <p:cNvSpPr>
            <a:spLocks noChangeArrowheads="1"/>
          </p:cNvSpPr>
          <p:nvPr/>
        </p:nvSpPr>
        <p:spPr bwMode="auto">
          <a:xfrm>
            <a:off x="3479700" y="7283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7" name="Rectangle 111"/>
          <p:cNvSpPr>
            <a:spLocks noChangeArrowheads="1"/>
          </p:cNvSpPr>
          <p:nvPr/>
        </p:nvSpPr>
        <p:spPr bwMode="auto">
          <a:xfrm>
            <a:off x="4089300" y="7283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8" name="Rectangle 112"/>
          <p:cNvSpPr>
            <a:spLocks noChangeArrowheads="1"/>
          </p:cNvSpPr>
          <p:nvPr/>
        </p:nvSpPr>
        <p:spPr bwMode="auto">
          <a:xfrm>
            <a:off x="4698900" y="7283151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9" name="Line 114"/>
          <p:cNvSpPr>
            <a:spLocks noChangeShapeType="1"/>
          </p:cNvSpPr>
          <p:nvPr/>
        </p:nvSpPr>
        <p:spPr bwMode="auto">
          <a:xfrm>
            <a:off x="1650900" y="45399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30" name="Line 115"/>
          <p:cNvSpPr>
            <a:spLocks noChangeShapeType="1"/>
          </p:cNvSpPr>
          <p:nvPr/>
        </p:nvSpPr>
        <p:spPr bwMode="auto">
          <a:xfrm>
            <a:off x="4622700" y="774035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635F3B0-D6E3-49EF-8004-557C0440A25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CB2B287-FB71-4634-A221-70AEC8D03BCD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Basic Algorithm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483768"/>
            <a:ext cx="5829300" cy="145958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S = set of sets of connected cells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E = set of edges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Maze = set of maze edges initially empty</a:t>
            </a: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332656" y="3946090"/>
            <a:ext cx="6192688" cy="3692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While there is more than one set in S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 pick a random edge (</a:t>
            </a:r>
            <a:r>
              <a:rPr lang="en-US" altLang="zh-CN" sz="1800" dirty="0" err="1">
                <a:latin typeface="Sitka Text" panose="02000505000000020004" pitchFamily="2" charset="0"/>
                <a:ea typeface="宋体" pitchFamily="2" charset="-122"/>
              </a:rPr>
              <a:t>x,y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) and remove from E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u := Find(x);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v := Find(y);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   if u 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 v then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Union(</a:t>
            </a:r>
            <a:r>
              <a:rPr lang="en-US" altLang="zh-CN" sz="1800" dirty="0" err="1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u,v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)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//knock down the wall between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the</a:t>
            </a:r>
            <a:endParaRPr lang="en-US" altLang="zh-CN" sz="1800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                     //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cells (cells in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the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same set are </a:t>
            </a:r>
            <a:endParaRPr lang="en-US" altLang="zh-CN" sz="1800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                     // connected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)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else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add (</a:t>
            </a:r>
            <a:r>
              <a:rPr lang="en-US" altLang="zh-CN" sz="1800" dirty="0" err="1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x,y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)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to Maze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//don’t remove because there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is</a:t>
            </a:r>
            <a:endParaRPr lang="en-US" altLang="zh-CN" sz="1800" dirty="0" smtClean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dirty="0" smtClean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                                   // already a </a:t>
            </a:r>
            <a:r>
              <a:rPr lang="en-US" altLang="zh-CN" sz="1800" dirty="0">
                <a:solidFill>
                  <a:srgbClr val="008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path between x and y</a:t>
            </a:r>
            <a:endParaRPr lang="en-US" altLang="zh-CN" sz="1800" dirty="0">
              <a:solidFill>
                <a:srgbClr val="008000"/>
              </a:solidFill>
              <a:latin typeface="Sitka Text" panose="02000505000000020004" pitchFamily="2" charset="0"/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All remaining members of E together with Maze form the maze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EA2FAE6-E6BB-460F-9ED4-852284EB506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253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253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5C3DD50-A0AF-4DA6-AD9E-BA5E0B41F8B4}" type="slidenum">
              <a:rPr lang="en-US" altLang="zh-CN" sz="1050"/>
            </a:fld>
            <a:endParaRPr lang="en-US" altLang="zh-CN" sz="105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Step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9" name="Line 3"/>
          <p:cNvSpPr>
            <a:spLocks noChangeShapeType="1"/>
          </p:cNvSpPr>
          <p:nvPr/>
        </p:nvSpPr>
        <p:spPr bwMode="auto">
          <a:xfrm>
            <a:off x="21336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0" name="Line 4"/>
          <p:cNvSpPr>
            <a:spLocks noChangeShapeType="1"/>
          </p:cNvSpPr>
          <p:nvPr/>
        </p:nvSpPr>
        <p:spPr bwMode="auto">
          <a:xfrm>
            <a:off x="27432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Line 5"/>
          <p:cNvSpPr>
            <a:spLocks noChangeShapeType="1"/>
          </p:cNvSpPr>
          <p:nvPr/>
        </p:nvSpPr>
        <p:spPr bwMode="auto">
          <a:xfrm>
            <a:off x="27432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2" name="Line 6"/>
          <p:cNvSpPr>
            <a:spLocks noChangeShapeType="1"/>
          </p:cNvSpPr>
          <p:nvPr/>
        </p:nvSpPr>
        <p:spPr bwMode="auto">
          <a:xfrm>
            <a:off x="33528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7"/>
          <p:cNvSpPr>
            <a:spLocks noChangeShapeType="1"/>
          </p:cNvSpPr>
          <p:nvPr/>
        </p:nvSpPr>
        <p:spPr bwMode="auto">
          <a:xfrm>
            <a:off x="33528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8"/>
          <p:cNvSpPr>
            <a:spLocks noChangeShapeType="1"/>
          </p:cNvSpPr>
          <p:nvPr/>
        </p:nvSpPr>
        <p:spPr bwMode="auto">
          <a:xfrm>
            <a:off x="39624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Line 9"/>
          <p:cNvSpPr>
            <a:spLocks noChangeShapeType="1"/>
          </p:cNvSpPr>
          <p:nvPr/>
        </p:nvSpPr>
        <p:spPr bwMode="auto">
          <a:xfrm>
            <a:off x="39624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6" name="Line 10"/>
          <p:cNvSpPr>
            <a:spLocks noChangeShapeType="1"/>
          </p:cNvSpPr>
          <p:nvPr/>
        </p:nvSpPr>
        <p:spPr bwMode="auto">
          <a:xfrm>
            <a:off x="45720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Line 11"/>
          <p:cNvSpPr>
            <a:spLocks noChangeShapeType="1"/>
          </p:cNvSpPr>
          <p:nvPr/>
        </p:nvSpPr>
        <p:spPr bwMode="auto">
          <a:xfrm>
            <a:off x="45720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12"/>
          <p:cNvSpPr>
            <a:spLocks noChangeShapeType="1"/>
          </p:cNvSpPr>
          <p:nvPr/>
        </p:nvSpPr>
        <p:spPr bwMode="auto">
          <a:xfrm>
            <a:off x="51816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13"/>
          <p:cNvSpPr>
            <a:spLocks noChangeShapeType="1"/>
          </p:cNvSpPr>
          <p:nvPr/>
        </p:nvSpPr>
        <p:spPr bwMode="auto">
          <a:xfrm>
            <a:off x="15240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0" name="Line 14"/>
          <p:cNvSpPr>
            <a:spLocks noChangeShapeType="1"/>
          </p:cNvSpPr>
          <p:nvPr/>
        </p:nvSpPr>
        <p:spPr bwMode="auto">
          <a:xfrm>
            <a:off x="27432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Line 15"/>
          <p:cNvSpPr>
            <a:spLocks noChangeShapeType="1"/>
          </p:cNvSpPr>
          <p:nvPr/>
        </p:nvSpPr>
        <p:spPr bwMode="auto">
          <a:xfrm>
            <a:off x="33528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2" name="Line 16"/>
          <p:cNvSpPr>
            <a:spLocks noChangeShapeType="1"/>
          </p:cNvSpPr>
          <p:nvPr/>
        </p:nvSpPr>
        <p:spPr bwMode="auto">
          <a:xfrm>
            <a:off x="33528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Line 17"/>
          <p:cNvSpPr>
            <a:spLocks noChangeShapeType="1"/>
          </p:cNvSpPr>
          <p:nvPr/>
        </p:nvSpPr>
        <p:spPr bwMode="auto">
          <a:xfrm>
            <a:off x="39624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4" name="Line 18"/>
          <p:cNvSpPr>
            <a:spLocks noChangeShapeType="1"/>
          </p:cNvSpPr>
          <p:nvPr/>
        </p:nvSpPr>
        <p:spPr bwMode="auto">
          <a:xfrm>
            <a:off x="3962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5" name="Line 19"/>
          <p:cNvSpPr>
            <a:spLocks noChangeShapeType="1"/>
          </p:cNvSpPr>
          <p:nvPr/>
        </p:nvSpPr>
        <p:spPr bwMode="auto">
          <a:xfrm>
            <a:off x="4572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6" name="Line 20"/>
          <p:cNvSpPr>
            <a:spLocks noChangeShapeType="1"/>
          </p:cNvSpPr>
          <p:nvPr/>
        </p:nvSpPr>
        <p:spPr bwMode="auto">
          <a:xfrm>
            <a:off x="45720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7" name="Line 21"/>
          <p:cNvSpPr>
            <a:spLocks noChangeShapeType="1"/>
          </p:cNvSpPr>
          <p:nvPr/>
        </p:nvSpPr>
        <p:spPr bwMode="auto">
          <a:xfrm>
            <a:off x="51816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8" name="Line 22"/>
          <p:cNvSpPr>
            <a:spLocks noChangeShapeType="1"/>
          </p:cNvSpPr>
          <p:nvPr/>
        </p:nvSpPr>
        <p:spPr bwMode="auto">
          <a:xfrm>
            <a:off x="21336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9" name="Line 23"/>
          <p:cNvSpPr>
            <a:spLocks noChangeShapeType="1"/>
          </p:cNvSpPr>
          <p:nvPr/>
        </p:nvSpPr>
        <p:spPr bwMode="auto">
          <a:xfrm>
            <a:off x="2133600" y="3810000"/>
            <a:ext cx="609600" cy="0"/>
          </a:xfrm>
          <a:prstGeom prst="line">
            <a:avLst/>
          </a:prstGeom>
          <a:noFill/>
          <a:ln w="57150">
            <a:solidFill>
              <a:srgbClr val="5038F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0" name="Line 24"/>
          <p:cNvSpPr>
            <a:spLocks noChangeShapeType="1"/>
          </p:cNvSpPr>
          <p:nvPr/>
        </p:nvSpPr>
        <p:spPr bwMode="auto">
          <a:xfrm>
            <a:off x="27432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Line 25"/>
          <p:cNvSpPr>
            <a:spLocks noChangeShapeType="1"/>
          </p:cNvSpPr>
          <p:nvPr/>
        </p:nvSpPr>
        <p:spPr bwMode="auto">
          <a:xfrm>
            <a:off x="27432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2" name="Line 26"/>
          <p:cNvSpPr>
            <a:spLocks noChangeShapeType="1"/>
          </p:cNvSpPr>
          <p:nvPr/>
        </p:nvSpPr>
        <p:spPr bwMode="auto">
          <a:xfrm>
            <a:off x="33528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Line 27"/>
          <p:cNvSpPr>
            <a:spLocks noChangeShapeType="1"/>
          </p:cNvSpPr>
          <p:nvPr/>
        </p:nvSpPr>
        <p:spPr bwMode="auto">
          <a:xfrm>
            <a:off x="3962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4" name="Line 28"/>
          <p:cNvSpPr>
            <a:spLocks noChangeShapeType="1"/>
          </p:cNvSpPr>
          <p:nvPr/>
        </p:nvSpPr>
        <p:spPr bwMode="auto">
          <a:xfrm>
            <a:off x="45720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5" name="Line 29"/>
          <p:cNvSpPr>
            <a:spLocks noChangeShapeType="1"/>
          </p:cNvSpPr>
          <p:nvPr/>
        </p:nvSpPr>
        <p:spPr bwMode="auto">
          <a:xfrm>
            <a:off x="45720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6" name="Line 30"/>
          <p:cNvSpPr>
            <a:spLocks noChangeShapeType="1"/>
          </p:cNvSpPr>
          <p:nvPr/>
        </p:nvSpPr>
        <p:spPr bwMode="auto">
          <a:xfrm>
            <a:off x="51816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7" name="Line 31"/>
          <p:cNvSpPr>
            <a:spLocks noChangeShapeType="1"/>
          </p:cNvSpPr>
          <p:nvPr/>
        </p:nvSpPr>
        <p:spPr bwMode="auto">
          <a:xfrm>
            <a:off x="21336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8" name="Line 32"/>
          <p:cNvSpPr>
            <a:spLocks noChangeShapeType="1"/>
          </p:cNvSpPr>
          <p:nvPr/>
        </p:nvSpPr>
        <p:spPr bwMode="auto">
          <a:xfrm>
            <a:off x="27432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9" name="Line 33"/>
          <p:cNvSpPr>
            <a:spLocks noChangeShapeType="1"/>
          </p:cNvSpPr>
          <p:nvPr/>
        </p:nvSpPr>
        <p:spPr bwMode="auto">
          <a:xfrm>
            <a:off x="3352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3352800" y="4343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1" name="Line 35"/>
          <p:cNvSpPr>
            <a:spLocks noChangeShapeType="1"/>
          </p:cNvSpPr>
          <p:nvPr/>
        </p:nvSpPr>
        <p:spPr bwMode="auto">
          <a:xfrm>
            <a:off x="3962400" y="4343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2" name="Line 36"/>
          <p:cNvSpPr>
            <a:spLocks noChangeShapeType="1"/>
          </p:cNvSpPr>
          <p:nvPr/>
        </p:nvSpPr>
        <p:spPr bwMode="auto">
          <a:xfrm>
            <a:off x="45720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3" name="Line 37"/>
          <p:cNvSpPr>
            <a:spLocks noChangeShapeType="1"/>
          </p:cNvSpPr>
          <p:nvPr/>
        </p:nvSpPr>
        <p:spPr bwMode="auto">
          <a:xfrm>
            <a:off x="4572000" y="4343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4" name="Line 38"/>
          <p:cNvSpPr>
            <a:spLocks noChangeShapeType="1"/>
          </p:cNvSpPr>
          <p:nvPr/>
        </p:nvSpPr>
        <p:spPr bwMode="auto">
          <a:xfrm>
            <a:off x="51816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5" name="Line 39"/>
          <p:cNvSpPr>
            <a:spLocks noChangeShapeType="1"/>
          </p:cNvSpPr>
          <p:nvPr/>
        </p:nvSpPr>
        <p:spPr bwMode="auto">
          <a:xfrm>
            <a:off x="1524000" y="4876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6" name="Line 40"/>
          <p:cNvSpPr>
            <a:spLocks noChangeShapeType="1"/>
          </p:cNvSpPr>
          <p:nvPr/>
        </p:nvSpPr>
        <p:spPr bwMode="auto">
          <a:xfrm>
            <a:off x="21336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7" name="Line 41"/>
          <p:cNvSpPr>
            <a:spLocks noChangeShapeType="1"/>
          </p:cNvSpPr>
          <p:nvPr/>
        </p:nvSpPr>
        <p:spPr bwMode="auto">
          <a:xfrm>
            <a:off x="2743200" y="4876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8" name="Line 42"/>
          <p:cNvSpPr>
            <a:spLocks noChangeShapeType="1"/>
          </p:cNvSpPr>
          <p:nvPr/>
        </p:nvSpPr>
        <p:spPr bwMode="auto">
          <a:xfrm>
            <a:off x="33528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9" name="Line 43"/>
          <p:cNvSpPr>
            <a:spLocks noChangeShapeType="1"/>
          </p:cNvSpPr>
          <p:nvPr/>
        </p:nvSpPr>
        <p:spPr bwMode="auto">
          <a:xfrm>
            <a:off x="3352800" y="4876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0" name="Line 44"/>
          <p:cNvSpPr>
            <a:spLocks noChangeShapeType="1"/>
          </p:cNvSpPr>
          <p:nvPr/>
        </p:nvSpPr>
        <p:spPr bwMode="auto">
          <a:xfrm>
            <a:off x="39624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1" name="Line 45"/>
          <p:cNvSpPr>
            <a:spLocks noChangeShapeType="1"/>
          </p:cNvSpPr>
          <p:nvPr/>
        </p:nvSpPr>
        <p:spPr bwMode="auto">
          <a:xfrm>
            <a:off x="51816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2" name="Line 46"/>
          <p:cNvSpPr>
            <a:spLocks noChangeShapeType="1"/>
          </p:cNvSpPr>
          <p:nvPr/>
        </p:nvSpPr>
        <p:spPr bwMode="auto">
          <a:xfrm>
            <a:off x="15240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3" name="Line 47"/>
          <p:cNvSpPr>
            <a:spLocks noChangeShapeType="1"/>
          </p:cNvSpPr>
          <p:nvPr/>
        </p:nvSpPr>
        <p:spPr bwMode="auto">
          <a:xfrm>
            <a:off x="2133600" y="541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4" name="Line 48"/>
          <p:cNvSpPr>
            <a:spLocks noChangeShapeType="1"/>
          </p:cNvSpPr>
          <p:nvPr/>
        </p:nvSpPr>
        <p:spPr bwMode="auto">
          <a:xfrm>
            <a:off x="21336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5" name="Line 49"/>
          <p:cNvSpPr>
            <a:spLocks noChangeShapeType="1"/>
          </p:cNvSpPr>
          <p:nvPr/>
        </p:nvSpPr>
        <p:spPr bwMode="auto">
          <a:xfrm>
            <a:off x="27432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6" name="Line 50"/>
          <p:cNvSpPr>
            <a:spLocks noChangeShapeType="1"/>
          </p:cNvSpPr>
          <p:nvPr/>
        </p:nvSpPr>
        <p:spPr bwMode="auto">
          <a:xfrm>
            <a:off x="33528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7" name="Line 51"/>
          <p:cNvSpPr>
            <a:spLocks noChangeShapeType="1"/>
          </p:cNvSpPr>
          <p:nvPr/>
        </p:nvSpPr>
        <p:spPr bwMode="auto">
          <a:xfrm>
            <a:off x="45720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8" name="Line 52"/>
          <p:cNvSpPr>
            <a:spLocks noChangeShapeType="1"/>
          </p:cNvSpPr>
          <p:nvPr/>
        </p:nvSpPr>
        <p:spPr bwMode="auto">
          <a:xfrm rot="10800000">
            <a:off x="1524000" y="59436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9" name="Line 53"/>
          <p:cNvSpPr>
            <a:spLocks noChangeShapeType="1"/>
          </p:cNvSpPr>
          <p:nvPr/>
        </p:nvSpPr>
        <p:spPr bwMode="auto">
          <a:xfrm rot="10800000">
            <a:off x="1524000" y="32766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50" name="Text Box 54"/>
          <p:cNvSpPr txBox="1">
            <a:spLocks noChangeArrowheads="1"/>
          </p:cNvSpPr>
          <p:nvPr/>
        </p:nvSpPr>
        <p:spPr bwMode="auto">
          <a:xfrm>
            <a:off x="838200" y="2743200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1" name="Text Box 55"/>
          <p:cNvSpPr txBox="1">
            <a:spLocks noChangeArrowheads="1"/>
          </p:cNvSpPr>
          <p:nvPr/>
        </p:nvSpPr>
        <p:spPr bwMode="auto">
          <a:xfrm>
            <a:off x="5181600" y="5410200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2" name="Rectangle 56"/>
          <p:cNvSpPr>
            <a:spLocks noChangeArrowheads="1"/>
          </p:cNvSpPr>
          <p:nvPr/>
        </p:nvSpPr>
        <p:spPr bwMode="auto">
          <a:xfrm>
            <a:off x="16002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3" name="Rectangle 57"/>
          <p:cNvSpPr>
            <a:spLocks noChangeArrowheads="1"/>
          </p:cNvSpPr>
          <p:nvPr/>
        </p:nvSpPr>
        <p:spPr bwMode="auto">
          <a:xfrm>
            <a:off x="22098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4" name="Rectangle 58"/>
          <p:cNvSpPr>
            <a:spLocks noChangeArrowheads="1"/>
          </p:cNvSpPr>
          <p:nvPr/>
        </p:nvSpPr>
        <p:spPr bwMode="auto">
          <a:xfrm>
            <a:off x="28194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5" name="Rectangle 59"/>
          <p:cNvSpPr>
            <a:spLocks noChangeArrowheads="1"/>
          </p:cNvSpPr>
          <p:nvPr/>
        </p:nvSpPr>
        <p:spPr bwMode="auto">
          <a:xfrm>
            <a:off x="34290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6" name="Rectangle 60"/>
          <p:cNvSpPr>
            <a:spLocks noChangeArrowheads="1"/>
          </p:cNvSpPr>
          <p:nvPr/>
        </p:nvSpPr>
        <p:spPr bwMode="auto">
          <a:xfrm>
            <a:off x="40386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7" name="Rectangle 61"/>
          <p:cNvSpPr>
            <a:spLocks noChangeArrowheads="1"/>
          </p:cNvSpPr>
          <p:nvPr/>
        </p:nvSpPr>
        <p:spPr bwMode="auto">
          <a:xfrm>
            <a:off x="46482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8" name="Rectangle 62"/>
          <p:cNvSpPr>
            <a:spLocks noChangeArrowheads="1"/>
          </p:cNvSpPr>
          <p:nvPr/>
        </p:nvSpPr>
        <p:spPr bwMode="auto">
          <a:xfrm>
            <a:off x="16002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9" name="Rectangle 63"/>
          <p:cNvSpPr>
            <a:spLocks noChangeArrowheads="1"/>
          </p:cNvSpPr>
          <p:nvPr/>
        </p:nvSpPr>
        <p:spPr bwMode="auto">
          <a:xfrm>
            <a:off x="22098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8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0" name="Rectangle 64"/>
          <p:cNvSpPr>
            <a:spLocks noChangeArrowheads="1"/>
          </p:cNvSpPr>
          <p:nvPr/>
        </p:nvSpPr>
        <p:spPr bwMode="auto">
          <a:xfrm>
            <a:off x="28194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9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1" name="Rectangle 65"/>
          <p:cNvSpPr>
            <a:spLocks noChangeArrowheads="1"/>
          </p:cNvSpPr>
          <p:nvPr/>
        </p:nvSpPr>
        <p:spPr bwMode="auto">
          <a:xfrm>
            <a:off x="34290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2" name="Rectangle 66"/>
          <p:cNvSpPr>
            <a:spLocks noChangeArrowheads="1"/>
          </p:cNvSpPr>
          <p:nvPr/>
        </p:nvSpPr>
        <p:spPr bwMode="auto">
          <a:xfrm>
            <a:off x="40386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3" name="Rectangle 67"/>
          <p:cNvSpPr>
            <a:spLocks noChangeArrowheads="1"/>
          </p:cNvSpPr>
          <p:nvPr/>
        </p:nvSpPr>
        <p:spPr bwMode="auto">
          <a:xfrm>
            <a:off x="46482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4" name="Rectangle 68"/>
          <p:cNvSpPr>
            <a:spLocks noChangeArrowheads="1"/>
          </p:cNvSpPr>
          <p:nvPr/>
        </p:nvSpPr>
        <p:spPr bwMode="auto">
          <a:xfrm>
            <a:off x="16002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13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5" name="Rectangle 69"/>
          <p:cNvSpPr>
            <a:spLocks noChangeArrowheads="1"/>
          </p:cNvSpPr>
          <p:nvPr/>
        </p:nvSpPr>
        <p:spPr bwMode="auto">
          <a:xfrm>
            <a:off x="22098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6" name="Rectangle 70"/>
          <p:cNvSpPr>
            <a:spLocks noChangeArrowheads="1"/>
          </p:cNvSpPr>
          <p:nvPr/>
        </p:nvSpPr>
        <p:spPr bwMode="auto">
          <a:xfrm>
            <a:off x="28194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7" name="Rectangle 71"/>
          <p:cNvSpPr>
            <a:spLocks noChangeArrowheads="1"/>
          </p:cNvSpPr>
          <p:nvPr/>
        </p:nvSpPr>
        <p:spPr bwMode="auto">
          <a:xfrm>
            <a:off x="34290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8" name="Rectangle 72"/>
          <p:cNvSpPr>
            <a:spLocks noChangeArrowheads="1"/>
          </p:cNvSpPr>
          <p:nvPr/>
        </p:nvSpPr>
        <p:spPr bwMode="auto">
          <a:xfrm>
            <a:off x="40386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9" name="Rectangle 73"/>
          <p:cNvSpPr>
            <a:spLocks noChangeArrowheads="1"/>
          </p:cNvSpPr>
          <p:nvPr/>
        </p:nvSpPr>
        <p:spPr bwMode="auto">
          <a:xfrm>
            <a:off x="46482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0" name="Rectangle 74"/>
          <p:cNvSpPr>
            <a:spLocks noChangeArrowheads="1"/>
          </p:cNvSpPr>
          <p:nvPr/>
        </p:nvSpPr>
        <p:spPr bwMode="auto">
          <a:xfrm>
            <a:off x="16002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19</a:t>
            </a:r>
            <a:endParaRPr lang="en-US" altLang="zh-CN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1" name="Rectangle 75"/>
          <p:cNvSpPr>
            <a:spLocks noChangeArrowheads="1"/>
          </p:cNvSpPr>
          <p:nvPr/>
        </p:nvSpPr>
        <p:spPr bwMode="auto">
          <a:xfrm>
            <a:off x="22098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2" name="Rectangle 76"/>
          <p:cNvSpPr>
            <a:spLocks noChangeArrowheads="1"/>
          </p:cNvSpPr>
          <p:nvPr/>
        </p:nvSpPr>
        <p:spPr bwMode="auto">
          <a:xfrm>
            <a:off x="28194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3" name="Rectangle 77"/>
          <p:cNvSpPr>
            <a:spLocks noChangeArrowheads="1"/>
          </p:cNvSpPr>
          <p:nvPr/>
        </p:nvSpPr>
        <p:spPr bwMode="auto">
          <a:xfrm>
            <a:off x="34290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4" name="Rectangle 78"/>
          <p:cNvSpPr>
            <a:spLocks noChangeArrowheads="1"/>
          </p:cNvSpPr>
          <p:nvPr/>
        </p:nvSpPr>
        <p:spPr bwMode="auto">
          <a:xfrm>
            <a:off x="40386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5" name="Rectangle 79"/>
          <p:cNvSpPr>
            <a:spLocks noChangeArrowheads="1"/>
          </p:cNvSpPr>
          <p:nvPr/>
        </p:nvSpPr>
        <p:spPr bwMode="auto">
          <a:xfrm>
            <a:off x="46482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6" name="Rectangle 80"/>
          <p:cNvSpPr>
            <a:spLocks noChangeArrowheads="1"/>
          </p:cNvSpPr>
          <p:nvPr/>
        </p:nvSpPr>
        <p:spPr bwMode="auto">
          <a:xfrm>
            <a:off x="16002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7" name="Rectangle 81"/>
          <p:cNvSpPr>
            <a:spLocks noChangeArrowheads="1"/>
          </p:cNvSpPr>
          <p:nvPr/>
        </p:nvSpPr>
        <p:spPr bwMode="auto">
          <a:xfrm>
            <a:off x="22098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8" name="Rectangle 82"/>
          <p:cNvSpPr>
            <a:spLocks noChangeArrowheads="1"/>
          </p:cNvSpPr>
          <p:nvPr/>
        </p:nvSpPr>
        <p:spPr bwMode="auto">
          <a:xfrm>
            <a:off x="28194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9" name="Rectangle 83"/>
          <p:cNvSpPr>
            <a:spLocks noChangeArrowheads="1"/>
          </p:cNvSpPr>
          <p:nvPr/>
        </p:nvSpPr>
        <p:spPr bwMode="auto">
          <a:xfrm>
            <a:off x="34290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0" name="Rectangle 84"/>
          <p:cNvSpPr>
            <a:spLocks noChangeArrowheads="1"/>
          </p:cNvSpPr>
          <p:nvPr/>
        </p:nvSpPr>
        <p:spPr bwMode="auto">
          <a:xfrm>
            <a:off x="40386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1" name="Rectangle 85"/>
          <p:cNvSpPr>
            <a:spLocks noChangeArrowheads="1"/>
          </p:cNvSpPr>
          <p:nvPr/>
        </p:nvSpPr>
        <p:spPr bwMode="auto">
          <a:xfrm>
            <a:off x="46482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2" name="Rectangle 86"/>
          <p:cNvSpPr>
            <a:spLocks noChangeArrowheads="1"/>
          </p:cNvSpPr>
          <p:nvPr/>
        </p:nvSpPr>
        <p:spPr bwMode="auto">
          <a:xfrm>
            <a:off x="16002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3" name="Rectangle 87"/>
          <p:cNvSpPr>
            <a:spLocks noChangeArrowheads="1"/>
          </p:cNvSpPr>
          <p:nvPr/>
        </p:nvSpPr>
        <p:spPr bwMode="auto">
          <a:xfrm>
            <a:off x="22098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4" name="Rectangle 88"/>
          <p:cNvSpPr>
            <a:spLocks noChangeArrowheads="1"/>
          </p:cNvSpPr>
          <p:nvPr/>
        </p:nvSpPr>
        <p:spPr bwMode="auto">
          <a:xfrm>
            <a:off x="28194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5" name="Rectangle 89"/>
          <p:cNvSpPr>
            <a:spLocks noChangeArrowheads="1"/>
          </p:cNvSpPr>
          <p:nvPr/>
        </p:nvSpPr>
        <p:spPr bwMode="auto">
          <a:xfrm>
            <a:off x="34290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6" name="Rectangle 90"/>
          <p:cNvSpPr>
            <a:spLocks noChangeArrowheads="1"/>
          </p:cNvSpPr>
          <p:nvPr/>
        </p:nvSpPr>
        <p:spPr bwMode="auto">
          <a:xfrm>
            <a:off x="40386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7" name="Rectangle 91"/>
          <p:cNvSpPr>
            <a:spLocks noChangeArrowheads="1"/>
          </p:cNvSpPr>
          <p:nvPr/>
        </p:nvSpPr>
        <p:spPr bwMode="auto">
          <a:xfrm>
            <a:off x="46482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8" name="Text Box 92"/>
          <p:cNvSpPr txBox="1">
            <a:spLocks noChangeArrowheads="1"/>
          </p:cNvSpPr>
          <p:nvPr/>
        </p:nvSpPr>
        <p:spPr bwMode="auto">
          <a:xfrm>
            <a:off x="843804" y="6152167"/>
            <a:ext cx="56943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{1,2,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7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,8,9,13,19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}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3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4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5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6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10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11,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17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12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14,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20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,26,27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},{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15,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16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,21}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{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22,23,24,29,30,32,33,</a:t>
            </a:r>
            <a:r>
              <a:rPr lang="en-US" altLang="zh-CN" u="sng" dirty="0" smtClean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34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,35,36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9" name="Text Box 93"/>
          <p:cNvSpPr txBox="1">
            <a:spLocks noChangeArrowheads="1"/>
          </p:cNvSpPr>
          <p:nvPr/>
        </p:nvSpPr>
        <p:spPr bwMode="auto">
          <a:xfrm>
            <a:off x="1260102" y="2177406"/>
            <a:ext cx="14830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Pick (8,14)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90" name="Line 94"/>
          <p:cNvSpPr>
            <a:spLocks noChangeShapeType="1"/>
          </p:cNvSpPr>
          <p:nvPr/>
        </p:nvSpPr>
        <p:spPr bwMode="auto">
          <a:xfrm>
            <a:off x="16002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91" name="Line 95"/>
          <p:cNvSpPr>
            <a:spLocks noChangeShapeType="1"/>
          </p:cNvSpPr>
          <p:nvPr/>
        </p:nvSpPr>
        <p:spPr bwMode="auto">
          <a:xfrm>
            <a:off x="45720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A605668-73F3-423B-BD59-799A620F167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C789C5D-5330-406C-885C-38EC5BE23968}" type="slidenum">
              <a:rPr lang="en-US" altLang="zh-CN" sz="1050"/>
            </a:fld>
            <a:endParaRPr lang="en-US" altLang="zh-CN" sz="105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60648" y="2411760"/>
            <a:ext cx="2088232" cy="50167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{1,2,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7</a:t>
            </a:r>
            <a:r>
              <a:rPr lang="en-US" altLang="zh-CN" dirty="0">
                <a:solidFill>
                  <a:schemeClr val="accent2"/>
                </a:solidFill>
                <a:latin typeface="Sitka Text" panose="02000505000000020004" pitchFamily="2" charset="0"/>
                <a:ea typeface="宋体" pitchFamily="2" charset="-122"/>
              </a:rPr>
              <a:t>,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8,9,13,19}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3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4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5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6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10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dirty="0">
                <a:latin typeface="Sitka Text" panose="02000505000000020004" pitchFamily="2" charset="0"/>
              </a:rPr>
              <a:t>11,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17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12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dirty="0">
                <a:latin typeface="Sitka Text" panose="02000505000000020004" pitchFamily="2" charset="0"/>
              </a:rPr>
              <a:t>14,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20</a:t>
            </a:r>
            <a:r>
              <a:rPr lang="en-US" altLang="zh-CN" dirty="0">
                <a:latin typeface="Sitka Text" panose="02000505000000020004" pitchFamily="2" charset="0"/>
              </a:rPr>
              <a:t>,26,27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dirty="0">
                <a:latin typeface="Sitka Text" panose="02000505000000020004" pitchFamily="2" charset="0"/>
              </a:rPr>
              <a:t>15,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16</a:t>
            </a:r>
            <a:r>
              <a:rPr lang="en-US" altLang="zh-CN" dirty="0">
                <a:latin typeface="Sitka Text" panose="02000505000000020004" pitchFamily="2" charset="0"/>
              </a:rPr>
              <a:t>,21</a:t>
            </a:r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{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22,23,24,29,39,32, 33,</a:t>
            </a:r>
            <a:r>
              <a:rPr lang="en-US" altLang="zh-CN" u="sng" dirty="0" smtClean="0">
                <a:solidFill>
                  <a:srgbClr val="374FFF"/>
                </a:solidFill>
                <a:latin typeface="Sitka Text" panose="02000505000000020004" pitchFamily="2" charset="0"/>
                <a:ea typeface="宋体" pitchFamily="2" charset="-122"/>
              </a:rPr>
              <a:t>34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,35,36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650384" y="3007077"/>
            <a:ext cx="18389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Find(8) = 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Find(14) = 20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4550224" y="2483768"/>
            <a:ext cx="2137320" cy="50167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{1,2,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7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,8,9,13,19,14,20 26,27}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3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4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5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6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10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{11,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17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12</a:t>
            </a: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{</a:t>
            </a:r>
            <a:r>
              <a:rPr lang="en-US" altLang="zh-CN" dirty="0">
                <a:latin typeface="Sitka Text" panose="02000505000000020004" pitchFamily="2" charset="0"/>
              </a:rPr>
              <a:t>15,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</a:rPr>
              <a:t>16</a:t>
            </a:r>
            <a:r>
              <a:rPr lang="en-US" altLang="zh-CN" dirty="0">
                <a:latin typeface="Sitka Text" panose="02000505000000020004" pitchFamily="2" charset="0"/>
              </a:rPr>
              <a:t>,21}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{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22,23,24,29,39,32,33,</a:t>
            </a:r>
            <a:r>
              <a:rPr lang="en-US" altLang="zh-CN" u="sng" dirty="0" smtClean="0">
                <a:solidFill>
                  <a:srgbClr val="374FFF"/>
                </a:solidFill>
                <a:latin typeface="Sitka Text" panose="02000505000000020004" pitchFamily="2" charset="0"/>
                <a:ea typeface="宋体" pitchFamily="2" charset="-122"/>
              </a:rPr>
              <a:t>34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,35,36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2636912" y="3911734"/>
            <a:ext cx="16546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Union(7,20)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46448" y="3097559"/>
            <a:ext cx="1676400" cy="184019"/>
            <a:chOff x="946448" y="3097560"/>
            <a:chExt cx="1752600" cy="152400"/>
          </a:xfrm>
        </p:grpSpPr>
        <p:sp>
          <p:nvSpPr>
            <p:cNvPr id="21" name="Line 8"/>
            <p:cNvSpPr>
              <a:spLocks noChangeShapeType="1"/>
            </p:cNvSpPr>
            <p:nvPr/>
          </p:nvSpPr>
          <p:spPr bwMode="auto">
            <a:xfrm flipH="1">
              <a:off x="946448" y="3249960"/>
              <a:ext cx="1752600" cy="0"/>
            </a:xfrm>
            <a:prstGeom prst="line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22" name="Line 9"/>
            <p:cNvSpPr>
              <a:spLocks noChangeShapeType="1"/>
            </p:cNvSpPr>
            <p:nvPr/>
          </p:nvSpPr>
          <p:spPr bwMode="auto">
            <a:xfrm flipV="1">
              <a:off x="946448" y="3097560"/>
              <a:ext cx="0" cy="152400"/>
            </a:xfrm>
            <a:prstGeom prst="line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22648" y="3554760"/>
            <a:ext cx="1578420" cy="1676400"/>
            <a:chOff x="1022648" y="3554760"/>
            <a:chExt cx="1752600" cy="1676400"/>
          </a:xfrm>
        </p:grpSpPr>
        <p:sp>
          <p:nvSpPr>
            <p:cNvPr id="23" name="Line 10"/>
            <p:cNvSpPr>
              <a:spLocks noChangeShapeType="1"/>
            </p:cNvSpPr>
            <p:nvPr/>
          </p:nvSpPr>
          <p:spPr bwMode="auto">
            <a:xfrm flipH="1">
              <a:off x="1784648" y="3554760"/>
              <a:ext cx="9906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H="1">
              <a:off x="1022648" y="3554760"/>
              <a:ext cx="762000" cy="16764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</p:grpSp>
      <p:sp>
        <p:nvSpPr>
          <p:cNvPr id="25" name="Line 12"/>
          <p:cNvSpPr>
            <a:spLocks noChangeShapeType="1"/>
          </p:cNvSpPr>
          <p:nvPr/>
        </p:nvSpPr>
        <p:spPr bwMode="auto">
          <a:xfrm flipV="1">
            <a:off x="4184233" y="3419872"/>
            <a:ext cx="1116975" cy="666314"/>
          </a:xfrm>
          <a:prstGeom prst="line">
            <a:avLst/>
          </a:prstGeom>
          <a:noFill/>
          <a:ln w="28575">
            <a:solidFill>
              <a:srgbClr val="374F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6" name="Text Box 93"/>
          <p:cNvSpPr txBox="1">
            <a:spLocks noChangeArrowheads="1"/>
          </p:cNvSpPr>
          <p:nvPr/>
        </p:nvSpPr>
        <p:spPr bwMode="auto">
          <a:xfrm>
            <a:off x="260648" y="1906906"/>
            <a:ext cx="14830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Pick (8,14)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2638173" y="4272653"/>
            <a:ext cx="1654620" cy="288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2205EDB-1E45-43DE-833B-9BC1EC51D62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4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76D1635-E031-45BE-AF5D-5668E0DFC2B3}" type="slidenum">
              <a:rPr lang="en-US" altLang="zh-CN" sz="1050"/>
            </a:fld>
            <a:endParaRPr lang="en-US" altLang="zh-CN" sz="105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8" name="Line 3"/>
          <p:cNvSpPr>
            <a:spLocks noChangeShapeType="1"/>
          </p:cNvSpPr>
          <p:nvPr/>
        </p:nvSpPr>
        <p:spPr bwMode="auto">
          <a:xfrm>
            <a:off x="2167136" y="288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9" name="Line 4"/>
          <p:cNvSpPr>
            <a:spLocks noChangeShapeType="1"/>
          </p:cNvSpPr>
          <p:nvPr/>
        </p:nvSpPr>
        <p:spPr bwMode="auto">
          <a:xfrm>
            <a:off x="2776736" y="2882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0" name="Line 5"/>
          <p:cNvSpPr>
            <a:spLocks noChangeShapeType="1"/>
          </p:cNvSpPr>
          <p:nvPr/>
        </p:nvSpPr>
        <p:spPr bwMode="auto">
          <a:xfrm>
            <a:off x="2776736" y="288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Line 6"/>
          <p:cNvSpPr>
            <a:spLocks noChangeShapeType="1"/>
          </p:cNvSpPr>
          <p:nvPr/>
        </p:nvSpPr>
        <p:spPr bwMode="auto">
          <a:xfrm>
            <a:off x="3386336" y="2882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2" name="Line 7"/>
          <p:cNvSpPr>
            <a:spLocks noChangeShapeType="1"/>
          </p:cNvSpPr>
          <p:nvPr/>
        </p:nvSpPr>
        <p:spPr bwMode="auto">
          <a:xfrm>
            <a:off x="3386336" y="288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8"/>
          <p:cNvSpPr>
            <a:spLocks noChangeShapeType="1"/>
          </p:cNvSpPr>
          <p:nvPr/>
        </p:nvSpPr>
        <p:spPr bwMode="auto">
          <a:xfrm>
            <a:off x="3995936" y="2882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9"/>
          <p:cNvSpPr>
            <a:spLocks noChangeShapeType="1"/>
          </p:cNvSpPr>
          <p:nvPr/>
        </p:nvSpPr>
        <p:spPr bwMode="auto">
          <a:xfrm>
            <a:off x="3995936" y="288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Line 10"/>
          <p:cNvSpPr>
            <a:spLocks noChangeShapeType="1"/>
          </p:cNvSpPr>
          <p:nvPr/>
        </p:nvSpPr>
        <p:spPr bwMode="auto">
          <a:xfrm>
            <a:off x="4605536" y="2882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6" name="Line 11"/>
          <p:cNvSpPr>
            <a:spLocks noChangeShapeType="1"/>
          </p:cNvSpPr>
          <p:nvPr/>
        </p:nvSpPr>
        <p:spPr bwMode="auto">
          <a:xfrm>
            <a:off x="4605536" y="288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Line 12"/>
          <p:cNvSpPr>
            <a:spLocks noChangeShapeType="1"/>
          </p:cNvSpPr>
          <p:nvPr/>
        </p:nvSpPr>
        <p:spPr bwMode="auto">
          <a:xfrm>
            <a:off x="5215136" y="2882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13"/>
          <p:cNvSpPr>
            <a:spLocks noChangeShapeType="1"/>
          </p:cNvSpPr>
          <p:nvPr/>
        </p:nvSpPr>
        <p:spPr bwMode="auto">
          <a:xfrm>
            <a:off x="1557536" y="3415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14"/>
          <p:cNvSpPr>
            <a:spLocks noChangeShapeType="1"/>
          </p:cNvSpPr>
          <p:nvPr/>
        </p:nvSpPr>
        <p:spPr bwMode="auto">
          <a:xfrm>
            <a:off x="2776736" y="3415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0" name="Line 15"/>
          <p:cNvSpPr>
            <a:spLocks noChangeShapeType="1"/>
          </p:cNvSpPr>
          <p:nvPr/>
        </p:nvSpPr>
        <p:spPr bwMode="auto">
          <a:xfrm>
            <a:off x="3386336" y="3415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Line 16"/>
          <p:cNvSpPr>
            <a:spLocks noChangeShapeType="1"/>
          </p:cNvSpPr>
          <p:nvPr/>
        </p:nvSpPr>
        <p:spPr bwMode="auto">
          <a:xfrm>
            <a:off x="3386336" y="3415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>
            <a:off x="3995936" y="3415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Line 18"/>
          <p:cNvSpPr>
            <a:spLocks noChangeShapeType="1"/>
          </p:cNvSpPr>
          <p:nvPr/>
        </p:nvSpPr>
        <p:spPr bwMode="auto">
          <a:xfrm>
            <a:off x="3995936" y="3415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4" name="Line 19"/>
          <p:cNvSpPr>
            <a:spLocks noChangeShapeType="1"/>
          </p:cNvSpPr>
          <p:nvPr/>
        </p:nvSpPr>
        <p:spPr bwMode="auto">
          <a:xfrm>
            <a:off x="4605536" y="3415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5" name="Line 20"/>
          <p:cNvSpPr>
            <a:spLocks noChangeShapeType="1"/>
          </p:cNvSpPr>
          <p:nvPr/>
        </p:nvSpPr>
        <p:spPr bwMode="auto">
          <a:xfrm>
            <a:off x="4605536" y="3415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6" name="Line 21"/>
          <p:cNvSpPr>
            <a:spLocks noChangeShapeType="1"/>
          </p:cNvSpPr>
          <p:nvPr/>
        </p:nvSpPr>
        <p:spPr bwMode="auto">
          <a:xfrm>
            <a:off x="5215136" y="34156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7" name="Line 22"/>
          <p:cNvSpPr>
            <a:spLocks noChangeShapeType="1"/>
          </p:cNvSpPr>
          <p:nvPr/>
        </p:nvSpPr>
        <p:spPr bwMode="auto">
          <a:xfrm>
            <a:off x="2167136" y="3949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8" name="Line 24"/>
          <p:cNvSpPr>
            <a:spLocks noChangeShapeType="1"/>
          </p:cNvSpPr>
          <p:nvPr/>
        </p:nvSpPr>
        <p:spPr bwMode="auto">
          <a:xfrm>
            <a:off x="2776736" y="3949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9" name="Line 25"/>
          <p:cNvSpPr>
            <a:spLocks noChangeShapeType="1"/>
          </p:cNvSpPr>
          <p:nvPr/>
        </p:nvSpPr>
        <p:spPr bwMode="auto">
          <a:xfrm>
            <a:off x="2776736" y="3949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0" name="Line 26"/>
          <p:cNvSpPr>
            <a:spLocks noChangeShapeType="1"/>
          </p:cNvSpPr>
          <p:nvPr/>
        </p:nvSpPr>
        <p:spPr bwMode="auto">
          <a:xfrm>
            <a:off x="3386336" y="3949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Line 27"/>
          <p:cNvSpPr>
            <a:spLocks noChangeShapeType="1"/>
          </p:cNvSpPr>
          <p:nvPr/>
        </p:nvSpPr>
        <p:spPr bwMode="auto">
          <a:xfrm>
            <a:off x="3995936" y="3949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2" name="Line 28"/>
          <p:cNvSpPr>
            <a:spLocks noChangeShapeType="1"/>
          </p:cNvSpPr>
          <p:nvPr/>
        </p:nvSpPr>
        <p:spPr bwMode="auto">
          <a:xfrm>
            <a:off x="4605536" y="3949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Line 29"/>
          <p:cNvSpPr>
            <a:spLocks noChangeShapeType="1"/>
          </p:cNvSpPr>
          <p:nvPr/>
        </p:nvSpPr>
        <p:spPr bwMode="auto">
          <a:xfrm>
            <a:off x="4605536" y="39490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4" name="Line 30"/>
          <p:cNvSpPr>
            <a:spLocks noChangeShapeType="1"/>
          </p:cNvSpPr>
          <p:nvPr/>
        </p:nvSpPr>
        <p:spPr bwMode="auto">
          <a:xfrm>
            <a:off x="5215136" y="39490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5" name="Line 31"/>
          <p:cNvSpPr>
            <a:spLocks noChangeShapeType="1"/>
          </p:cNvSpPr>
          <p:nvPr/>
        </p:nvSpPr>
        <p:spPr bwMode="auto">
          <a:xfrm>
            <a:off x="2167136" y="4482480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6" name="Line 32"/>
          <p:cNvSpPr>
            <a:spLocks noChangeShapeType="1"/>
          </p:cNvSpPr>
          <p:nvPr/>
        </p:nvSpPr>
        <p:spPr bwMode="auto">
          <a:xfrm>
            <a:off x="2776736" y="4482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7" name="Line 33"/>
          <p:cNvSpPr>
            <a:spLocks noChangeShapeType="1"/>
          </p:cNvSpPr>
          <p:nvPr/>
        </p:nvSpPr>
        <p:spPr bwMode="auto">
          <a:xfrm>
            <a:off x="3386336" y="4482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8" name="Line 34"/>
          <p:cNvSpPr>
            <a:spLocks noChangeShapeType="1"/>
          </p:cNvSpPr>
          <p:nvPr/>
        </p:nvSpPr>
        <p:spPr bwMode="auto">
          <a:xfrm>
            <a:off x="3386336" y="4482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9" name="Line 35"/>
          <p:cNvSpPr>
            <a:spLocks noChangeShapeType="1"/>
          </p:cNvSpPr>
          <p:nvPr/>
        </p:nvSpPr>
        <p:spPr bwMode="auto">
          <a:xfrm>
            <a:off x="3995936" y="4482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0" name="Line 36"/>
          <p:cNvSpPr>
            <a:spLocks noChangeShapeType="1"/>
          </p:cNvSpPr>
          <p:nvPr/>
        </p:nvSpPr>
        <p:spPr bwMode="auto">
          <a:xfrm>
            <a:off x="4605536" y="4482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1" name="Line 37"/>
          <p:cNvSpPr>
            <a:spLocks noChangeShapeType="1"/>
          </p:cNvSpPr>
          <p:nvPr/>
        </p:nvSpPr>
        <p:spPr bwMode="auto">
          <a:xfrm>
            <a:off x="4605536" y="44824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2" name="Line 38"/>
          <p:cNvSpPr>
            <a:spLocks noChangeShapeType="1"/>
          </p:cNvSpPr>
          <p:nvPr/>
        </p:nvSpPr>
        <p:spPr bwMode="auto">
          <a:xfrm>
            <a:off x="5215136" y="44824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3" name="Line 39"/>
          <p:cNvSpPr>
            <a:spLocks noChangeShapeType="1"/>
          </p:cNvSpPr>
          <p:nvPr/>
        </p:nvSpPr>
        <p:spPr bwMode="auto">
          <a:xfrm>
            <a:off x="1557536" y="5015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4" name="Line 40"/>
          <p:cNvSpPr>
            <a:spLocks noChangeShapeType="1"/>
          </p:cNvSpPr>
          <p:nvPr/>
        </p:nvSpPr>
        <p:spPr bwMode="auto">
          <a:xfrm>
            <a:off x="2167136" y="5015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5" name="Line 41"/>
          <p:cNvSpPr>
            <a:spLocks noChangeShapeType="1"/>
          </p:cNvSpPr>
          <p:nvPr/>
        </p:nvSpPr>
        <p:spPr bwMode="auto">
          <a:xfrm>
            <a:off x="2776736" y="5015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6" name="Line 42"/>
          <p:cNvSpPr>
            <a:spLocks noChangeShapeType="1"/>
          </p:cNvSpPr>
          <p:nvPr/>
        </p:nvSpPr>
        <p:spPr bwMode="auto">
          <a:xfrm>
            <a:off x="3386336" y="5015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7" name="Line 43"/>
          <p:cNvSpPr>
            <a:spLocks noChangeShapeType="1"/>
          </p:cNvSpPr>
          <p:nvPr/>
        </p:nvSpPr>
        <p:spPr bwMode="auto">
          <a:xfrm>
            <a:off x="3386336" y="50158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8" name="Line 44"/>
          <p:cNvSpPr>
            <a:spLocks noChangeShapeType="1"/>
          </p:cNvSpPr>
          <p:nvPr/>
        </p:nvSpPr>
        <p:spPr bwMode="auto">
          <a:xfrm>
            <a:off x="3995936" y="5015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9" name="Line 45"/>
          <p:cNvSpPr>
            <a:spLocks noChangeShapeType="1"/>
          </p:cNvSpPr>
          <p:nvPr/>
        </p:nvSpPr>
        <p:spPr bwMode="auto">
          <a:xfrm>
            <a:off x="5215136" y="50158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0" name="Line 46"/>
          <p:cNvSpPr>
            <a:spLocks noChangeShapeType="1"/>
          </p:cNvSpPr>
          <p:nvPr/>
        </p:nvSpPr>
        <p:spPr bwMode="auto">
          <a:xfrm>
            <a:off x="1557536" y="5549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1" name="Line 47"/>
          <p:cNvSpPr>
            <a:spLocks noChangeShapeType="1"/>
          </p:cNvSpPr>
          <p:nvPr/>
        </p:nvSpPr>
        <p:spPr bwMode="auto">
          <a:xfrm>
            <a:off x="2167136" y="554928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2" name="Line 48"/>
          <p:cNvSpPr>
            <a:spLocks noChangeShapeType="1"/>
          </p:cNvSpPr>
          <p:nvPr/>
        </p:nvSpPr>
        <p:spPr bwMode="auto">
          <a:xfrm>
            <a:off x="2167136" y="5549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3" name="Line 49"/>
          <p:cNvSpPr>
            <a:spLocks noChangeShapeType="1"/>
          </p:cNvSpPr>
          <p:nvPr/>
        </p:nvSpPr>
        <p:spPr bwMode="auto">
          <a:xfrm>
            <a:off x="2776736" y="5549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4" name="Line 50"/>
          <p:cNvSpPr>
            <a:spLocks noChangeShapeType="1"/>
          </p:cNvSpPr>
          <p:nvPr/>
        </p:nvSpPr>
        <p:spPr bwMode="auto">
          <a:xfrm>
            <a:off x="3386336" y="5549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5" name="Line 51"/>
          <p:cNvSpPr>
            <a:spLocks noChangeShapeType="1"/>
          </p:cNvSpPr>
          <p:nvPr/>
        </p:nvSpPr>
        <p:spPr bwMode="auto">
          <a:xfrm>
            <a:off x="4605536" y="5549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6" name="Line 52"/>
          <p:cNvSpPr>
            <a:spLocks noChangeShapeType="1"/>
          </p:cNvSpPr>
          <p:nvPr/>
        </p:nvSpPr>
        <p:spPr bwMode="auto">
          <a:xfrm rot="10800000">
            <a:off x="1557536" y="608268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7" name="Line 53"/>
          <p:cNvSpPr>
            <a:spLocks noChangeShapeType="1"/>
          </p:cNvSpPr>
          <p:nvPr/>
        </p:nvSpPr>
        <p:spPr bwMode="auto">
          <a:xfrm rot="10800000">
            <a:off x="1557536" y="341568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48" name="Text Box 54"/>
          <p:cNvSpPr txBox="1">
            <a:spLocks noChangeArrowheads="1"/>
          </p:cNvSpPr>
          <p:nvPr/>
        </p:nvSpPr>
        <p:spPr bwMode="auto">
          <a:xfrm>
            <a:off x="871736" y="2882280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9" name="Text Box 55"/>
          <p:cNvSpPr txBox="1">
            <a:spLocks noChangeArrowheads="1"/>
          </p:cNvSpPr>
          <p:nvPr/>
        </p:nvSpPr>
        <p:spPr bwMode="auto">
          <a:xfrm>
            <a:off x="5215136" y="5625480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0" name="Rectangle 56"/>
          <p:cNvSpPr>
            <a:spLocks noChangeArrowheads="1"/>
          </p:cNvSpPr>
          <p:nvPr/>
        </p:nvSpPr>
        <p:spPr bwMode="auto">
          <a:xfrm>
            <a:off x="1633736" y="2958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1" name="Rectangle 57"/>
          <p:cNvSpPr>
            <a:spLocks noChangeArrowheads="1"/>
          </p:cNvSpPr>
          <p:nvPr/>
        </p:nvSpPr>
        <p:spPr bwMode="auto">
          <a:xfrm>
            <a:off x="2243336" y="2958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2" name="Rectangle 58"/>
          <p:cNvSpPr>
            <a:spLocks noChangeArrowheads="1"/>
          </p:cNvSpPr>
          <p:nvPr/>
        </p:nvSpPr>
        <p:spPr bwMode="auto">
          <a:xfrm>
            <a:off x="2852936" y="2958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3" name="Rectangle 59"/>
          <p:cNvSpPr>
            <a:spLocks noChangeArrowheads="1"/>
          </p:cNvSpPr>
          <p:nvPr/>
        </p:nvSpPr>
        <p:spPr bwMode="auto">
          <a:xfrm>
            <a:off x="3462536" y="2958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4" name="Rectangle 60"/>
          <p:cNvSpPr>
            <a:spLocks noChangeArrowheads="1"/>
          </p:cNvSpPr>
          <p:nvPr/>
        </p:nvSpPr>
        <p:spPr bwMode="auto">
          <a:xfrm>
            <a:off x="4072136" y="2958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5" name="Rectangle 61"/>
          <p:cNvSpPr>
            <a:spLocks noChangeArrowheads="1"/>
          </p:cNvSpPr>
          <p:nvPr/>
        </p:nvSpPr>
        <p:spPr bwMode="auto">
          <a:xfrm>
            <a:off x="4681736" y="2958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6" name="Rectangle 62"/>
          <p:cNvSpPr>
            <a:spLocks noChangeArrowheads="1"/>
          </p:cNvSpPr>
          <p:nvPr/>
        </p:nvSpPr>
        <p:spPr bwMode="auto">
          <a:xfrm>
            <a:off x="1633736" y="34918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7" name="Rectangle 63"/>
          <p:cNvSpPr>
            <a:spLocks noChangeArrowheads="1"/>
          </p:cNvSpPr>
          <p:nvPr/>
        </p:nvSpPr>
        <p:spPr bwMode="auto">
          <a:xfrm>
            <a:off x="2243336" y="34918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8" name="Rectangle 64"/>
          <p:cNvSpPr>
            <a:spLocks noChangeArrowheads="1"/>
          </p:cNvSpPr>
          <p:nvPr/>
        </p:nvSpPr>
        <p:spPr bwMode="auto">
          <a:xfrm>
            <a:off x="2852936" y="34918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9" name="Rectangle 65"/>
          <p:cNvSpPr>
            <a:spLocks noChangeArrowheads="1"/>
          </p:cNvSpPr>
          <p:nvPr/>
        </p:nvSpPr>
        <p:spPr bwMode="auto">
          <a:xfrm>
            <a:off x="3462536" y="34918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0" name="Rectangle 66"/>
          <p:cNvSpPr>
            <a:spLocks noChangeArrowheads="1"/>
          </p:cNvSpPr>
          <p:nvPr/>
        </p:nvSpPr>
        <p:spPr bwMode="auto">
          <a:xfrm>
            <a:off x="4072136" y="34918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1" name="Rectangle 67"/>
          <p:cNvSpPr>
            <a:spLocks noChangeArrowheads="1"/>
          </p:cNvSpPr>
          <p:nvPr/>
        </p:nvSpPr>
        <p:spPr bwMode="auto">
          <a:xfrm>
            <a:off x="4681736" y="34918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2" name="Rectangle 68"/>
          <p:cNvSpPr>
            <a:spLocks noChangeArrowheads="1"/>
          </p:cNvSpPr>
          <p:nvPr/>
        </p:nvSpPr>
        <p:spPr bwMode="auto">
          <a:xfrm>
            <a:off x="1633736" y="40252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3" name="Rectangle 69"/>
          <p:cNvSpPr>
            <a:spLocks noChangeArrowheads="1"/>
          </p:cNvSpPr>
          <p:nvPr/>
        </p:nvSpPr>
        <p:spPr bwMode="auto">
          <a:xfrm>
            <a:off x="2243336" y="40252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4" name="Rectangle 70"/>
          <p:cNvSpPr>
            <a:spLocks noChangeArrowheads="1"/>
          </p:cNvSpPr>
          <p:nvPr/>
        </p:nvSpPr>
        <p:spPr bwMode="auto">
          <a:xfrm>
            <a:off x="2852936" y="40252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5" name="Rectangle 71"/>
          <p:cNvSpPr>
            <a:spLocks noChangeArrowheads="1"/>
          </p:cNvSpPr>
          <p:nvPr/>
        </p:nvSpPr>
        <p:spPr bwMode="auto">
          <a:xfrm>
            <a:off x="3462536" y="40252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6" name="Rectangle 72"/>
          <p:cNvSpPr>
            <a:spLocks noChangeArrowheads="1"/>
          </p:cNvSpPr>
          <p:nvPr/>
        </p:nvSpPr>
        <p:spPr bwMode="auto">
          <a:xfrm>
            <a:off x="4072136" y="40252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7" name="Rectangle 73"/>
          <p:cNvSpPr>
            <a:spLocks noChangeArrowheads="1"/>
          </p:cNvSpPr>
          <p:nvPr/>
        </p:nvSpPr>
        <p:spPr bwMode="auto">
          <a:xfrm>
            <a:off x="4681736" y="40252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8" name="Rectangle 74"/>
          <p:cNvSpPr>
            <a:spLocks noChangeArrowheads="1"/>
          </p:cNvSpPr>
          <p:nvPr/>
        </p:nvSpPr>
        <p:spPr bwMode="auto">
          <a:xfrm>
            <a:off x="1633736" y="45586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9" name="Rectangle 75"/>
          <p:cNvSpPr>
            <a:spLocks noChangeArrowheads="1"/>
          </p:cNvSpPr>
          <p:nvPr/>
        </p:nvSpPr>
        <p:spPr bwMode="auto">
          <a:xfrm>
            <a:off x="2243336" y="45586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0" name="Rectangle 76"/>
          <p:cNvSpPr>
            <a:spLocks noChangeArrowheads="1"/>
          </p:cNvSpPr>
          <p:nvPr/>
        </p:nvSpPr>
        <p:spPr bwMode="auto">
          <a:xfrm>
            <a:off x="2852936" y="45586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1" name="Rectangle 77"/>
          <p:cNvSpPr>
            <a:spLocks noChangeArrowheads="1"/>
          </p:cNvSpPr>
          <p:nvPr/>
        </p:nvSpPr>
        <p:spPr bwMode="auto">
          <a:xfrm>
            <a:off x="3462536" y="45586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2" name="Rectangle 78"/>
          <p:cNvSpPr>
            <a:spLocks noChangeArrowheads="1"/>
          </p:cNvSpPr>
          <p:nvPr/>
        </p:nvSpPr>
        <p:spPr bwMode="auto">
          <a:xfrm>
            <a:off x="4072136" y="45586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3" name="Rectangle 79"/>
          <p:cNvSpPr>
            <a:spLocks noChangeArrowheads="1"/>
          </p:cNvSpPr>
          <p:nvPr/>
        </p:nvSpPr>
        <p:spPr bwMode="auto">
          <a:xfrm>
            <a:off x="4681736" y="45586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4" name="Rectangle 80"/>
          <p:cNvSpPr>
            <a:spLocks noChangeArrowheads="1"/>
          </p:cNvSpPr>
          <p:nvPr/>
        </p:nvSpPr>
        <p:spPr bwMode="auto">
          <a:xfrm>
            <a:off x="1633736" y="50920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5" name="Rectangle 81"/>
          <p:cNvSpPr>
            <a:spLocks noChangeArrowheads="1"/>
          </p:cNvSpPr>
          <p:nvPr/>
        </p:nvSpPr>
        <p:spPr bwMode="auto">
          <a:xfrm>
            <a:off x="2243336" y="50920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6" name="Rectangle 82"/>
          <p:cNvSpPr>
            <a:spLocks noChangeArrowheads="1"/>
          </p:cNvSpPr>
          <p:nvPr/>
        </p:nvSpPr>
        <p:spPr bwMode="auto">
          <a:xfrm>
            <a:off x="2852936" y="50920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7" name="Rectangle 83"/>
          <p:cNvSpPr>
            <a:spLocks noChangeArrowheads="1"/>
          </p:cNvSpPr>
          <p:nvPr/>
        </p:nvSpPr>
        <p:spPr bwMode="auto">
          <a:xfrm>
            <a:off x="3462536" y="50920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8" name="Rectangle 84"/>
          <p:cNvSpPr>
            <a:spLocks noChangeArrowheads="1"/>
          </p:cNvSpPr>
          <p:nvPr/>
        </p:nvSpPr>
        <p:spPr bwMode="auto">
          <a:xfrm>
            <a:off x="4072136" y="50920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79" name="Rectangle 85"/>
          <p:cNvSpPr>
            <a:spLocks noChangeArrowheads="1"/>
          </p:cNvSpPr>
          <p:nvPr/>
        </p:nvSpPr>
        <p:spPr bwMode="auto">
          <a:xfrm>
            <a:off x="4681736" y="50920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0" name="Rectangle 86"/>
          <p:cNvSpPr>
            <a:spLocks noChangeArrowheads="1"/>
          </p:cNvSpPr>
          <p:nvPr/>
        </p:nvSpPr>
        <p:spPr bwMode="auto">
          <a:xfrm>
            <a:off x="1633736" y="5625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1" name="Rectangle 87"/>
          <p:cNvSpPr>
            <a:spLocks noChangeArrowheads="1"/>
          </p:cNvSpPr>
          <p:nvPr/>
        </p:nvSpPr>
        <p:spPr bwMode="auto">
          <a:xfrm>
            <a:off x="2243336" y="5625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2" name="Rectangle 88"/>
          <p:cNvSpPr>
            <a:spLocks noChangeArrowheads="1"/>
          </p:cNvSpPr>
          <p:nvPr/>
        </p:nvSpPr>
        <p:spPr bwMode="auto">
          <a:xfrm>
            <a:off x="2852936" y="5625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3" name="Rectangle 89"/>
          <p:cNvSpPr>
            <a:spLocks noChangeArrowheads="1"/>
          </p:cNvSpPr>
          <p:nvPr/>
        </p:nvSpPr>
        <p:spPr bwMode="auto">
          <a:xfrm>
            <a:off x="3462536" y="5625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4" name="Rectangle 90"/>
          <p:cNvSpPr>
            <a:spLocks noChangeArrowheads="1"/>
          </p:cNvSpPr>
          <p:nvPr/>
        </p:nvSpPr>
        <p:spPr bwMode="auto">
          <a:xfrm>
            <a:off x="4072136" y="5625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5" name="Rectangle 91"/>
          <p:cNvSpPr>
            <a:spLocks noChangeArrowheads="1"/>
          </p:cNvSpPr>
          <p:nvPr/>
        </p:nvSpPr>
        <p:spPr bwMode="auto">
          <a:xfrm>
            <a:off x="4681736" y="562548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7" name="Text Box 93"/>
          <p:cNvSpPr txBox="1">
            <a:spLocks noChangeArrowheads="1"/>
          </p:cNvSpPr>
          <p:nvPr/>
        </p:nvSpPr>
        <p:spPr bwMode="auto">
          <a:xfrm>
            <a:off x="1617861" y="2055193"/>
            <a:ext cx="16321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Pick (19,20)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88" name="Line 94"/>
          <p:cNvSpPr>
            <a:spLocks noChangeShapeType="1"/>
          </p:cNvSpPr>
          <p:nvPr/>
        </p:nvSpPr>
        <p:spPr bwMode="auto">
          <a:xfrm>
            <a:off x="1633736" y="28822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89" name="Line 95"/>
          <p:cNvSpPr>
            <a:spLocks noChangeShapeType="1"/>
          </p:cNvSpPr>
          <p:nvPr/>
        </p:nvSpPr>
        <p:spPr bwMode="auto">
          <a:xfrm>
            <a:off x="4605536" y="6082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90" name="Text Box 92"/>
          <p:cNvSpPr txBox="1">
            <a:spLocks noChangeArrowheads="1"/>
          </p:cNvSpPr>
          <p:nvPr/>
        </p:nvSpPr>
        <p:spPr bwMode="auto">
          <a:xfrm>
            <a:off x="843804" y="6152167"/>
            <a:ext cx="56943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{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1,2,</a:t>
            </a:r>
            <a:r>
              <a:rPr lang="en-US" altLang="zh-CN" u="sng" dirty="0" smtClean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7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,8,9,13,19,</a:t>
            </a:r>
            <a:r>
              <a:rPr lang="en-US" altLang="zh-CN" dirty="0" smtClean="0">
                <a:latin typeface="Sitka Text" panose="02000505000000020004" pitchFamily="2" charset="0"/>
              </a:rPr>
              <a:t>14,20,26,27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3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4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5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6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10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11,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17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12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}, {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15,</a:t>
            </a:r>
            <a:r>
              <a:rPr lang="en-US" altLang="zh-CN" u="sng" dirty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16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,21}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{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22,23,24,29,30,32,33,</a:t>
            </a:r>
            <a:r>
              <a:rPr lang="en-US" altLang="zh-CN" u="sng" dirty="0" smtClean="0">
                <a:solidFill>
                  <a:srgbClr val="5038FE"/>
                </a:solidFill>
                <a:latin typeface="Sitka Text" panose="02000505000000020004" pitchFamily="2" charset="0"/>
                <a:ea typeface="宋体" pitchFamily="2" charset="-122"/>
              </a:rPr>
              <a:t>34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,35,36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2A227B4-9C88-4459-8F5D-6DADD72A029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560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56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27EA5A4-537C-4F77-8F94-42E5A24A6A1E}" type="slidenum">
              <a:rPr lang="en-US" altLang="zh-CN" sz="1050"/>
            </a:fld>
            <a:endParaRPr lang="en-US" altLang="zh-CN" sz="105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at the End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7" name="Line 3"/>
          <p:cNvSpPr>
            <a:spLocks noChangeShapeType="1"/>
          </p:cNvSpPr>
          <p:nvPr/>
        </p:nvSpPr>
        <p:spPr bwMode="auto">
          <a:xfrm>
            <a:off x="21336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8" name="Line 4"/>
          <p:cNvSpPr>
            <a:spLocks noChangeShapeType="1"/>
          </p:cNvSpPr>
          <p:nvPr/>
        </p:nvSpPr>
        <p:spPr bwMode="auto">
          <a:xfrm>
            <a:off x="2743200" y="2743200"/>
            <a:ext cx="0" cy="5334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9" name="Line 5"/>
          <p:cNvSpPr>
            <a:spLocks noChangeShapeType="1"/>
          </p:cNvSpPr>
          <p:nvPr/>
        </p:nvSpPr>
        <p:spPr bwMode="auto">
          <a:xfrm>
            <a:off x="27432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0" name="Line 6"/>
          <p:cNvSpPr>
            <a:spLocks noChangeShapeType="1"/>
          </p:cNvSpPr>
          <p:nvPr/>
        </p:nvSpPr>
        <p:spPr bwMode="auto">
          <a:xfrm>
            <a:off x="3352800" y="27432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1" name="Line 7"/>
          <p:cNvSpPr>
            <a:spLocks noChangeShapeType="1"/>
          </p:cNvSpPr>
          <p:nvPr/>
        </p:nvSpPr>
        <p:spPr bwMode="auto">
          <a:xfrm>
            <a:off x="33528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2" name="Line 9"/>
          <p:cNvSpPr>
            <a:spLocks noChangeShapeType="1"/>
          </p:cNvSpPr>
          <p:nvPr/>
        </p:nvSpPr>
        <p:spPr bwMode="auto">
          <a:xfrm>
            <a:off x="39624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3" name="Line 11"/>
          <p:cNvSpPr>
            <a:spLocks noChangeShapeType="1"/>
          </p:cNvSpPr>
          <p:nvPr/>
        </p:nvSpPr>
        <p:spPr bwMode="auto">
          <a:xfrm>
            <a:off x="45720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4" name="Line 12"/>
          <p:cNvSpPr>
            <a:spLocks noChangeShapeType="1"/>
          </p:cNvSpPr>
          <p:nvPr/>
        </p:nvSpPr>
        <p:spPr bwMode="auto">
          <a:xfrm>
            <a:off x="51816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5" name="Line 13"/>
          <p:cNvSpPr>
            <a:spLocks noChangeShapeType="1"/>
          </p:cNvSpPr>
          <p:nvPr/>
        </p:nvSpPr>
        <p:spPr bwMode="auto">
          <a:xfrm>
            <a:off x="1524000" y="32766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6" name="Line 16"/>
          <p:cNvSpPr>
            <a:spLocks noChangeShapeType="1"/>
          </p:cNvSpPr>
          <p:nvPr/>
        </p:nvSpPr>
        <p:spPr bwMode="auto">
          <a:xfrm>
            <a:off x="3352800" y="32766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7" name="Line 18"/>
          <p:cNvSpPr>
            <a:spLocks noChangeShapeType="1"/>
          </p:cNvSpPr>
          <p:nvPr/>
        </p:nvSpPr>
        <p:spPr bwMode="auto">
          <a:xfrm>
            <a:off x="3962400" y="32766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8" name="Line 19"/>
          <p:cNvSpPr>
            <a:spLocks noChangeShapeType="1"/>
          </p:cNvSpPr>
          <p:nvPr/>
        </p:nvSpPr>
        <p:spPr bwMode="auto">
          <a:xfrm>
            <a:off x="4572000" y="3276600"/>
            <a:ext cx="0" cy="5334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9" name="Line 21"/>
          <p:cNvSpPr>
            <a:spLocks noChangeShapeType="1"/>
          </p:cNvSpPr>
          <p:nvPr/>
        </p:nvSpPr>
        <p:spPr bwMode="auto">
          <a:xfrm>
            <a:off x="51816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0" name="Line 22"/>
          <p:cNvSpPr>
            <a:spLocks noChangeShapeType="1"/>
          </p:cNvSpPr>
          <p:nvPr/>
        </p:nvSpPr>
        <p:spPr bwMode="auto">
          <a:xfrm>
            <a:off x="2133600" y="38100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Line 23"/>
          <p:cNvSpPr>
            <a:spLocks noChangeShapeType="1"/>
          </p:cNvSpPr>
          <p:nvPr/>
        </p:nvSpPr>
        <p:spPr bwMode="auto">
          <a:xfrm>
            <a:off x="2743200" y="38100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2" name="Line 24"/>
          <p:cNvSpPr>
            <a:spLocks noChangeShapeType="1"/>
          </p:cNvSpPr>
          <p:nvPr/>
        </p:nvSpPr>
        <p:spPr bwMode="auto">
          <a:xfrm>
            <a:off x="2743200" y="38100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Line 25"/>
          <p:cNvSpPr>
            <a:spLocks noChangeShapeType="1"/>
          </p:cNvSpPr>
          <p:nvPr/>
        </p:nvSpPr>
        <p:spPr bwMode="auto">
          <a:xfrm>
            <a:off x="3352800" y="38100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4" name="Line 27"/>
          <p:cNvSpPr>
            <a:spLocks noChangeShapeType="1"/>
          </p:cNvSpPr>
          <p:nvPr/>
        </p:nvSpPr>
        <p:spPr bwMode="auto">
          <a:xfrm>
            <a:off x="4572000" y="38100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Line 29"/>
          <p:cNvSpPr>
            <a:spLocks noChangeShapeType="1"/>
          </p:cNvSpPr>
          <p:nvPr/>
        </p:nvSpPr>
        <p:spPr bwMode="auto">
          <a:xfrm>
            <a:off x="51816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6" name="Line 30"/>
          <p:cNvSpPr>
            <a:spLocks noChangeShapeType="1"/>
          </p:cNvSpPr>
          <p:nvPr/>
        </p:nvSpPr>
        <p:spPr bwMode="auto">
          <a:xfrm>
            <a:off x="2133600" y="4343400"/>
            <a:ext cx="0" cy="5334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Line 31"/>
          <p:cNvSpPr>
            <a:spLocks noChangeShapeType="1"/>
          </p:cNvSpPr>
          <p:nvPr/>
        </p:nvSpPr>
        <p:spPr bwMode="auto">
          <a:xfrm>
            <a:off x="2743200" y="43434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8" name="Line 33"/>
          <p:cNvSpPr>
            <a:spLocks noChangeShapeType="1"/>
          </p:cNvSpPr>
          <p:nvPr/>
        </p:nvSpPr>
        <p:spPr bwMode="auto">
          <a:xfrm>
            <a:off x="3352800" y="43434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Line 34"/>
          <p:cNvSpPr>
            <a:spLocks noChangeShapeType="1"/>
          </p:cNvSpPr>
          <p:nvPr/>
        </p:nvSpPr>
        <p:spPr bwMode="auto">
          <a:xfrm>
            <a:off x="3962400" y="43434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0" name="Line 35"/>
          <p:cNvSpPr>
            <a:spLocks noChangeShapeType="1"/>
          </p:cNvSpPr>
          <p:nvPr/>
        </p:nvSpPr>
        <p:spPr bwMode="auto">
          <a:xfrm>
            <a:off x="4572000" y="43434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Line 37"/>
          <p:cNvSpPr>
            <a:spLocks noChangeShapeType="1"/>
          </p:cNvSpPr>
          <p:nvPr/>
        </p:nvSpPr>
        <p:spPr bwMode="auto">
          <a:xfrm>
            <a:off x="51816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2" name="Line 38"/>
          <p:cNvSpPr>
            <a:spLocks noChangeShapeType="1"/>
          </p:cNvSpPr>
          <p:nvPr/>
        </p:nvSpPr>
        <p:spPr bwMode="auto">
          <a:xfrm>
            <a:off x="1524000" y="48768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2743200" y="48768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4" name="Line 42"/>
          <p:cNvSpPr>
            <a:spLocks noChangeShapeType="1"/>
          </p:cNvSpPr>
          <p:nvPr/>
        </p:nvSpPr>
        <p:spPr bwMode="auto">
          <a:xfrm>
            <a:off x="3352800" y="4876800"/>
            <a:ext cx="6096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5" name="Line 43"/>
          <p:cNvSpPr>
            <a:spLocks noChangeShapeType="1"/>
          </p:cNvSpPr>
          <p:nvPr/>
        </p:nvSpPr>
        <p:spPr bwMode="auto">
          <a:xfrm>
            <a:off x="3962400" y="48768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6" name="Line 44"/>
          <p:cNvSpPr>
            <a:spLocks noChangeShapeType="1"/>
          </p:cNvSpPr>
          <p:nvPr/>
        </p:nvSpPr>
        <p:spPr bwMode="auto">
          <a:xfrm>
            <a:off x="51816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7" name="Line 46"/>
          <p:cNvSpPr>
            <a:spLocks noChangeShapeType="1"/>
          </p:cNvSpPr>
          <p:nvPr/>
        </p:nvSpPr>
        <p:spPr bwMode="auto">
          <a:xfrm>
            <a:off x="2133600" y="54102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8" name="Line 47"/>
          <p:cNvSpPr>
            <a:spLocks noChangeShapeType="1"/>
          </p:cNvSpPr>
          <p:nvPr/>
        </p:nvSpPr>
        <p:spPr bwMode="auto">
          <a:xfrm>
            <a:off x="2133600" y="5410200"/>
            <a:ext cx="6096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9" name="Line 48"/>
          <p:cNvSpPr>
            <a:spLocks noChangeShapeType="1"/>
          </p:cNvSpPr>
          <p:nvPr/>
        </p:nvSpPr>
        <p:spPr bwMode="auto">
          <a:xfrm>
            <a:off x="2743200" y="54102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0" name="Line 49"/>
          <p:cNvSpPr>
            <a:spLocks noChangeShapeType="1"/>
          </p:cNvSpPr>
          <p:nvPr/>
        </p:nvSpPr>
        <p:spPr bwMode="auto">
          <a:xfrm>
            <a:off x="3352800" y="54102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Line 50"/>
          <p:cNvSpPr>
            <a:spLocks noChangeShapeType="1"/>
          </p:cNvSpPr>
          <p:nvPr/>
        </p:nvSpPr>
        <p:spPr bwMode="auto">
          <a:xfrm>
            <a:off x="4572000" y="54102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2" name="Line 51"/>
          <p:cNvSpPr>
            <a:spLocks noChangeShapeType="1"/>
          </p:cNvSpPr>
          <p:nvPr/>
        </p:nvSpPr>
        <p:spPr bwMode="auto">
          <a:xfrm rot="10800000">
            <a:off x="1524000" y="59436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Line 52"/>
          <p:cNvSpPr>
            <a:spLocks noChangeShapeType="1"/>
          </p:cNvSpPr>
          <p:nvPr/>
        </p:nvSpPr>
        <p:spPr bwMode="auto">
          <a:xfrm rot="10800000">
            <a:off x="1524000" y="32766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4" name="Text Box 53"/>
          <p:cNvSpPr txBox="1">
            <a:spLocks noChangeArrowheads="1"/>
          </p:cNvSpPr>
          <p:nvPr/>
        </p:nvSpPr>
        <p:spPr bwMode="auto">
          <a:xfrm>
            <a:off x="838200" y="2743200"/>
            <a:ext cx="77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Start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5" name="Text Box 54"/>
          <p:cNvSpPr txBox="1">
            <a:spLocks noChangeArrowheads="1"/>
          </p:cNvSpPr>
          <p:nvPr/>
        </p:nvSpPr>
        <p:spPr bwMode="auto">
          <a:xfrm>
            <a:off x="5181600" y="5486400"/>
            <a:ext cx="6511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End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6" name="Rectangle 55"/>
          <p:cNvSpPr>
            <a:spLocks noChangeArrowheads="1"/>
          </p:cNvSpPr>
          <p:nvPr/>
        </p:nvSpPr>
        <p:spPr bwMode="auto">
          <a:xfrm>
            <a:off x="16002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7" name="Rectangle 56"/>
          <p:cNvSpPr>
            <a:spLocks noChangeArrowheads="1"/>
          </p:cNvSpPr>
          <p:nvPr/>
        </p:nvSpPr>
        <p:spPr bwMode="auto">
          <a:xfrm>
            <a:off x="22098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8" name="Rectangle 57"/>
          <p:cNvSpPr>
            <a:spLocks noChangeArrowheads="1"/>
          </p:cNvSpPr>
          <p:nvPr/>
        </p:nvSpPr>
        <p:spPr bwMode="auto">
          <a:xfrm>
            <a:off x="28194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9" name="Rectangle 58"/>
          <p:cNvSpPr>
            <a:spLocks noChangeArrowheads="1"/>
          </p:cNvSpPr>
          <p:nvPr/>
        </p:nvSpPr>
        <p:spPr bwMode="auto">
          <a:xfrm>
            <a:off x="34290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0" name="Rectangle 59"/>
          <p:cNvSpPr>
            <a:spLocks noChangeArrowheads="1"/>
          </p:cNvSpPr>
          <p:nvPr/>
        </p:nvSpPr>
        <p:spPr bwMode="auto">
          <a:xfrm>
            <a:off x="40386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1" name="Rectangle 60"/>
          <p:cNvSpPr>
            <a:spLocks noChangeArrowheads="1"/>
          </p:cNvSpPr>
          <p:nvPr/>
        </p:nvSpPr>
        <p:spPr bwMode="auto">
          <a:xfrm>
            <a:off x="4648200" y="2819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2" name="Rectangle 61"/>
          <p:cNvSpPr>
            <a:spLocks noChangeArrowheads="1"/>
          </p:cNvSpPr>
          <p:nvPr/>
        </p:nvSpPr>
        <p:spPr bwMode="auto">
          <a:xfrm>
            <a:off x="16002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3" name="Rectangle 62"/>
          <p:cNvSpPr>
            <a:spLocks noChangeArrowheads="1"/>
          </p:cNvSpPr>
          <p:nvPr/>
        </p:nvSpPr>
        <p:spPr bwMode="auto">
          <a:xfrm>
            <a:off x="22098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4" name="Rectangle 63"/>
          <p:cNvSpPr>
            <a:spLocks noChangeArrowheads="1"/>
          </p:cNvSpPr>
          <p:nvPr/>
        </p:nvSpPr>
        <p:spPr bwMode="auto">
          <a:xfrm>
            <a:off x="28194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5" name="Rectangle 64"/>
          <p:cNvSpPr>
            <a:spLocks noChangeArrowheads="1"/>
          </p:cNvSpPr>
          <p:nvPr/>
        </p:nvSpPr>
        <p:spPr bwMode="auto">
          <a:xfrm>
            <a:off x="34290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6" name="Rectangle 65"/>
          <p:cNvSpPr>
            <a:spLocks noChangeArrowheads="1"/>
          </p:cNvSpPr>
          <p:nvPr/>
        </p:nvSpPr>
        <p:spPr bwMode="auto">
          <a:xfrm>
            <a:off x="40386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7" name="Rectangle 66"/>
          <p:cNvSpPr>
            <a:spLocks noChangeArrowheads="1"/>
          </p:cNvSpPr>
          <p:nvPr/>
        </p:nvSpPr>
        <p:spPr bwMode="auto">
          <a:xfrm>
            <a:off x="4648200" y="33528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8" name="Rectangle 67"/>
          <p:cNvSpPr>
            <a:spLocks noChangeArrowheads="1"/>
          </p:cNvSpPr>
          <p:nvPr/>
        </p:nvSpPr>
        <p:spPr bwMode="auto">
          <a:xfrm>
            <a:off x="16002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39" name="Rectangle 68"/>
          <p:cNvSpPr>
            <a:spLocks noChangeArrowheads="1"/>
          </p:cNvSpPr>
          <p:nvPr/>
        </p:nvSpPr>
        <p:spPr bwMode="auto">
          <a:xfrm>
            <a:off x="22098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0" name="Rectangle 69"/>
          <p:cNvSpPr>
            <a:spLocks noChangeArrowheads="1"/>
          </p:cNvSpPr>
          <p:nvPr/>
        </p:nvSpPr>
        <p:spPr bwMode="auto">
          <a:xfrm>
            <a:off x="28194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1" name="Rectangle 70"/>
          <p:cNvSpPr>
            <a:spLocks noChangeArrowheads="1"/>
          </p:cNvSpPr>
          <p:nvPr/>
        </p:nvSpPr>
        <p:spPr bwMode="auto">
          <a:xfrm>
            <a:off x="34290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2" name="Rectangle 71"/>
          <p:cNvSpPr>
            <a:spLocks noChangeArrowheads="1"/>
          </p:cNvSpPr>
          <p:nvPr/>
        </p:nvSpPr>
        <p:spPr bwMode="auto">
          <a:xfrm>
            <a:off x="40386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3" name="Rectangle 72"/>
          <p:cNvSpPr>
            <a:spLocks noChangeArrowheads="1"/>
          </p:cNvSpPr>
          <p:nvPr/>
        </p:nvSpPr>
        <p:spPr bwMode="auto">
          <a:xfrm>
            <a:off x="4648200" y="3886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4" name="Rectangle 73"/>
          <p:cNvSpPr>
            <a:spLocks noChangeArrowheads="1"/>
          </p:cNvSpPr>
          <p:nvPr/>
        </p:nvSpPr>
        <p:spPr bwMode="auto">
          <a:xfrm>
            <a:off x="16002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5" name="Rectangle 74"/>
          <p:cNvSpPr>
            <a:spLocks noChangeArrowheads="1"/>
          </p:cNvSpPr>
          <p:nvPr/>
        </p:nvSpPr>
        <p:spPr bwMode="auto">
          <a:xfrm>
            <a:off x="22098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6" name="Rectangle 75"/>
          <p:cNvSpPr>
            <a:spLocks noChangeArrowheads="1"/>
          </p:cNvSpPr>
          <p:nvPr/>
        </p:nvSpPr>
        <p:spPr bwMode="auto">
          <a:xfrm>
            <a:off x="28194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7" name="Rectangle 76"/>
          <p:cNvSpPr>
            <a:spLocks noChangeArrowheads="1"/>
          </p:cNvSpPr>
          <p:nvPr/>
        </p:nvSpPr>
        <p:spPr bwMode="auto">
          <a:xfrm>
            <a:off x="34290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8" name="Rectangle 77"/>
          <p:cNvSpPr>
            <a:spLocks noChangeArrowheads="1"/>
          </p:cNvSpPr>
          <p:nvPr/>
        </p:nvSpPr>
        <p:spPr bwMode="auto">
          <a:xfrm>
            <a:off x="40386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49" name="Rectangle 78"/>
          <p:cNvSpPr>
            <a:spLocks noChangeArrowheads="1"/>
          </p:cNvSpPr>
          <p:nvPr/>
        </p:nvSpPr>
        <p:spPr bwMode="auto">
          <a:xfrm>
            <a:off x="4648200" y="44196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0" name="Rectangle 79"/>
          <p:cNvSpPr>
            <a:spLocks noChangeArrowheads="1"/>
          </p:cNvSpPr>
          <p:nvPr/>
        </p:nvSpPr>
        <p:spPr bwMode="auto">
          <a:xfrm>
            <a:off x="16002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1" name="Rectangle 80"/>
          <p:cNvSpPr>
            <a:spLocks noChangeArrowheads="1"/>
          </p:cNvSpPr>
          <p:nvPr/>
        </p:nvSpPr>
        <p:spPr bwMode="auto">
          <a:xfrm>
            <a:off x="22098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2" name="Rectangle 81"/>
          <p:cNvSpPr>
            <a:spLocks noChangeArrowheads="1"/>
          </p:cNvSpPr>
          <p:nvPr/>
        </p:nvSpPr>
        <p:spPr bwMode="auto">
          <a:xfrm>
            <a:off x="28194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3" name="Rectangle 82"/>
          <p:cNvSpPr>
            <a:spLocks noChangeArrowheads="1"/>
          </p:cNvSpPr>
          <p:nvPr/>
        </p:nvSpPr>
        <p:spPr bwMode="auto">
          <a:xfrm>
            <a:off x="34290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4" name="Rectangle 83"/>
          <p:cNvSpPr>
            <a:spLocks noChangeArrowheads="1"/>
          </p:cNvSpPr>
          <p:nvPr/>
        </p:nvSpPr>
        <p:spPr bwMode="auto">
          <a:xfrm>
            <a:off x="40386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5" name="Rectangle 84"/>
          <p:cNvSpPr>
            <a:spLocks noChangeArrowheads="1"/>
          </p:cNvSpPr>
          <p:nvPr/>
        </p:nvSpPr>
        <p:spPr bwMode="auto">
          <a:xfrm>
            <a:off x="4648200" y="49530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6" name="Rectangle 85"/>
          <p:cNvSpPr>
            <a:spLocks noChangeArrowheads="1"/>
          </p:cNvSpPr>
          <p:nvPr/>
        </p:nvSpPr>
        <p:spPr bwMode="auto">
          <a:xfrm>
            <a:off x="16002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7" name="Rectangle 86"/>
          <p:cNvSpPr>
            <a:spLocks noChangeArrowheads="1"/>
          </p:cNvSpPr>
          <p:nvPr/>
        </p:nvSpPr>
        <p:spPr bwMode="auto">
          <a:xfrm>
            <a:off x="22098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8" name="Rectangle 87"/>
          <p:cNvSpPr>
            <a:spLocks noChangeArrowheads="1"/>
          </p:cNvSpPr>
          <p:nvPr/>
        </p:nvSpPr>
        <p:spPr bwMode="auto">
          <a:xfrm>
            <a:off x="28194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59" name="Rectangle 88"/>
          <p:cNvSpPr>
            <a:spLocks noChangeArrowheads="1"/>
          </p:cNvSpPr>
          <p:nvPr/>
        </p:nvSpPr>
        <p:spPr bwMode="auto">
          <a:xfrm>
            <a:off x="34290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0" name="Rectangle 89"/>
          <p:cNvSpPr>
            <a:spLocks noChangeArrowheads="1"/>
          </p:cNvSpPr>
          <p:nvPr/>
        </p:nvSpPr>
        <p:spPr bwMode="auto">
          <a:xfrm>
            <a:off x="40386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1" name="Rectangle 90"/>
          <p:cNvSpPr>
            <a:spLocks noChangeArrowheads="1"/>
          </p:cNvSpPr>
          <p:nvPr/>
        </p:nvSpPr>
        <p:spPr bwMode="auto">
          <a:xfrm>
            <a:off x="4648200" y="54864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2" name="Text Box 91"/>
          <p:cNvSpPr txBox="1">
            <a:spLocks noChangeArrowheads="1"/>
          </p:cNvSpPr>
          <p:nvPr/>
        </p:nvSpPr>
        <p:spPr bwMode="auto">
          <a:xfrm>
            <a:off x="863424" y="6759713"/>
            <a:ext cx="25555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{1,2,3,4,5,6,</a:t>
            </a:r>
            <a:r>
              <a:rPr lang="en-US" altLang="zh-CN" u="sng" dirty="0">
                <a:solidFill>
                  <a:srgbClr val="374FFF"/>
                </a:solidFill>
                <a:latin typeface="Sitka Text" panose="02000505000000020004" pitchFamily="2" charset="0"/>
                <a:ea typeface="宋体" pitchFamily="2" charset="-122"/>
              </a:rPr>
              <a:t>7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,… 36}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3" name="Line 93"/>
          <p:cNvSpPr>
            <a:spLocks noChangeShapeType="1"/>
          </p:cNvSpPr>
          <p:nvPr/>
        </p:nvSpPr>
        <p:spPr bwMode="auto">
          <a:xfrm>
            <a:off x="4332696" y="7020120"/>
            <a:ext cx="6858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4" name="Line 94"/>
          <p:cNvSpPr>
            <a:spLocks noChangeShapeType="1"/>
          </p:cNvSpPr>
          <p:nvPr/>
        </p:nvSpPr>
        <p:spPr bwMode="auto">
          <a:xfrm>
            <a:off x="4332696" y="7324920"/>
            <a:ext cx="6858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5" name="Text Box 95"/>
          <p:cNvSpPr txBox="1">
            <a:spLocks noChangeArrowheads="1"/>
          </p:cNvSpPr>
          <p:nvPr/>
        </p:nvSpPr>
        <p:spPr bwMode="auto">
          <a:xfrm>
            <a:off x="5155021" y="6802633"/>
            <a:ext cx="81304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E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Maze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66" name="Line 96"/>
          <p:cNvSpPr>
            <a:spLocks noChangeShapeType="1"/>
          </p:cNvSpPr>
          <p:nvPr/>
        </p:nvSpPr>
        <p:spPr bwMode="auto">
          <a:xfrm>
            <a:off x="16002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67" name="Line 97"/>
          <p:cNvSpPr>
            <a:spLocks noChangeShapeType="1"/>
          </p:cNvSpPr>
          <p:nvPr/>
        </p:nvSpPr>
        <p:spPr bwMode="auto">
          <a:xfrm>
            <a:off x="45720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Up-Tree for D-U/F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</a:t>
            </a:r>
            <a:r>
              <a:rPr lang="en-US" altLang="zh-CN" dirty="0"/>
              <a:t>union can be executed in constant worst-case time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FB9FF9-2C21-4BB1-A990-8B82B2961E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lec8 Disjoint Set Class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28158" y="4521496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928159" y="4089448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478920" y="4087513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Sitka Text" panose="02000505000000020004" pitchFamily="2" charset="0"/>
              </a:rPr>
              <a:t>element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6274" y="4521496"/>
            <a:ext cx="606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s[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12" name="矩形标注 11"/>
          <p:cNvSpPr/>
          <p:nvPr/>
        </p:nvSpPr>
        <p:spPr>
          <a:xfrm>
            <a:off x="643806" y="5286513"/>
            <a:ext cx="2741464" cy="890790"/>
          </a:xfrm>
          <a:prstGeom prst="wedgeRectCallout">
            <a:avLst>
              <a:gd name="adj1" fmla="val 9788"/>
              <a:gd name="adj2" fmla="val -8517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Sitka Text" panose="02000505000000020004" pitchFamily="2" charset="0"/>
              </a:rPr>
              <a:t>s[</a:t>
            </a:r>
            <a:r>
              <a:rPr lang="en-US" altLang="zh-CN" sz="2000" dirty="0" err="1">
                <a:solidFill>
                  <a:schemeClr val="tx1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solidFill>
                  <a:schemeClr val="tx1"/>
                </a:solidFill>
                <a:latin typeface="Sitka Text" panose="02000505000000020004" pitchFamily="2" charset="0"/>
              </a:rPr>
              <a:t>] represents the </a:t>
            </a:r>
            <a:r>
              <a:rPr lang="en-US" altLang="zh-CN" sz="2000" dirty="0" smtClean="0">
                <a:solidFill>
                  <a:schemeClr val="tx1"/>
                </a:solidFill>
                <a:latin typeface="Sitka Text" panose="02000505000000020004" pitchFamily="2" charset="0"/>
              </a:rPr>
              <a:t>parent of </a:t>
            </a:r>
            <a:r>
              <a:rPr lang="en-US" altLang="zh-CN" sz="2000" dirty="0">
                <a:solidFill>
                  <a:schemeClr val="tx1"/>
                </a:solidFill>
                <a:latin typeface="Sitka Text" panose="02000505000000020004" pitchFamily="2" charset="0"/>
              </a:rPr>
              <a:t>element </a:t>
            </a:r>
            <a:r>
              <a:rPr lang="en-US" altLang="zh-CN" sz="2000" dirty="0" err="1" smtClean="0">
                <a:solidFill>
                  <a:schemeClr val="tx1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 smtClean="0">
                <a:solidFill>
                  <a:schemeClr val="tx1"/>
                </a:solidFill>
                <a:latin typeface="Sitka Text" panose="02000505000000020004" pitchFamily="2" charset="0"/>
              </a:rPr>
              <a:t>;</a:t>
            </a:r>
            <a:endParaRPr lang="en-US" altLang="zh-CN" sz="2000" dirty="0" smtClean="0">
              <a:solidFill>
                <a:schemeClr val="tx1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Sitka Text" panose="02000505000000020004" pitchFamily="2" charset="0"/>
              </a:rPr>
              <a:t>If </a:t>
            </a:r>
            <a:r>
              <a:rPr lang="en-US" altLang="zh-CN" sz="2000" dirty="0" err="1">
                <a:solidFill>
                  <a:schemeClr val="tx1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solidFill>
                  <a:schemeClr val="tx1"/>
                </a:solidFill>
                <a:latin typeface="Sitka Text" panose="02000505000000020004" pitchFamily="2" charset="0"/>
              </a:rPr>
              <a:t> is a </a:t>
            </a:r>
            <a:r>
              <a:rPr lang="en-US" altLang="zh-CN" sz="2000" dirty="0" smtClean="0">
                <a:solidFill>
                  <a:schemeClr val="tx1"/>
                </a:solidFill>
                <a:latin typeface="Sitka Text" panose="02000505000000020004" pitchFamily="2" charset="0"/>
              </a:rPr>
              <a:t>root, s[</a:t>
            </a:r>
            <a:r>
              <a:rPr lang="en-US" altLang="zh-CN" sz="2000" dirty="0" err="1" smtClean="0">
                <a:solidFill>
                  <a:schemeClr val="tx1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 smtClean="0">
                <a:solidFill>
                  <a:schemeClr val="tx1"/>
                </a:solidFill>
                <a:latin typeface="Sitka Text" panose="02000505000000020004" pitchFamily="2" charset="0"/>
              </a:rPr>
              <a:t>] = -1. </a:t>
            </a:r>
            <a:endParaRPr lang="zh-CN" altLang="en-US" sz="2000" dirty="0"/>
          </a:p>
        </p:txBody>
      </p:sp>
      <p:sp>
        <p:nvSpPr>
          <p:cNvPr id="13" name="椭圆 12"/>
          <p:cNvSpPr/>
          <p:nvPr/>
        </p:nvSpPr>
        <p:spPr>
          <a:xfrm>
            <a:off x="3501008" y="6311128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162352" y="5940152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996952" y="6887192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36712" y="3170867"/>
            <a:ext cx="57288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Up-Tree: use a </a:t>
            </a:r>
            <a:r>
              <a:rPr lang="en-US" altLang="zh-CN" sz="2000" dirty="0">
                <a:solidFill>
                  <a:srgbClr val="263AF8"/>
                </a:solidFill>
                <a:latin typeface="Sitka Text" panose="02000505000000020004" pitchFamily="2" charset="0"/>
              </a:rPr>
              <a:t>tree</a:t>
            </a:r>
            <a:r>
              <a:rPr lang="en-US" altLang="zh-CN" sz="2000" dirty="0">
                <a:latin typeface="Sitka Text" panose="02000505000000020004" pitchFamily="2" charset="0"/>
              </a:rPr>
              <a:t> to represent each set; each </a:t>
            </a:r>
            <a:r>
              <a:rPr lang="en-US" altLang="zh-CN" sz="2000" dirty="0" smtClean="0">
                <a:latin typeface="Sitka Text" panose="02000505000000020004" pitchFamily="2" charset="0"/>
              </a:rPr>
              <a:t>element has a </a:t>
            </a:r>
            <a:r>
              <a:rPr lang="en-US" altLang="zh-CN" sz="20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parent link </a:t>
            </a:r>
            <a:endParaRPr lang="zh-CN" altLang="en-US" sz="2000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cxnSp>
        <p:nvCxnSpPr>
          <p:cNvPr id="18" name="直接箭头连接符 17"/>
          <p:cNvCxnSpPr>
            <a:stCxn id="15" idx="7"/>
            <a:endCxn id="13" idx="3"/>
          </p:cNvCxnSpPr>
          <p:nvPr/>
        </p:nvCxnSpPr>
        <p:spPr>
          <a:xfrm flipV="1">
            <a:off x="3365728" y="6679904"/>
            <a:ext cx="198552" cy="270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4685227" y="6518416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3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229200" y="7132334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6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177358" y="7125700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5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492896" y="7463256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4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3" idx="7"/>
            <a:endCxn id="15" idx="3"/>
          </p:cNvCxnSpPr>
          <p:nvPr/>
        </p:nvCxnSpPr>
        <p:spPr>
          <a:xfrm flipV="1">
            <a:off x="2861672" y="7255968"/>
            <a:ext cx="198552" cy="270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0" idx="7"/>
            <a:endCxn id="14" idx="3"/>
          </p:cNvCxnSpPr>
          <p:nvPr/>
        </p:nvCxnSpPr>
        <p:spPr>
          <a:xfrm flipV="1">
            <a:off x="5054003" y="6308928"/>
            <a:ext cx="171621" cy="272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7"/>
            <a:endCxn id="20" idx="3"/>
          </p:cNvCxnSpPr>
          <p:nvPr/>
        </p:nvCxnSpPr>
        <p:spPr>
          <a:xfrm flipV="1">
            <a:off x="4546134" y="6887192"/>
            <a:ext cx="202365" cy="3017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1" idx="1"/>
            <a:endCxn id="20" idx="5"/>
          </p:cNvCxnSpPr>
          <p:nvPr/>
        </p:nvCxnSpPr>
        <p:spPr>
          <a:xfrm flipH="1" flipV="1">
            <a:off x="5054003" y="6887192"/>
            <a:ext cx="238469" cy="3084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B8A7554-54FD-43BC-9CE0-02F53CF5A9A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662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F7C96AE-0AD3-47EA-8E7C-ED890820A13F}" type="slidenum">
              <a:rPr lang="en-US" altLang="zh-CN" sz="1050"/>
            </a:fld>
            <a:endParaRPr lang="en-US" altLang="zh-CN" sz="105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D-U/F with Up-Tree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6630" name="Oval 3"/>
          <p:cNvSpPr>
            <a:spLocks noChangeArrowheads="1"/>
          </p:cNvSpPr>
          <p:nvPr/>
        </p:nvSpPr>
        <p:spPr bwMode="auto">
          <a:xfrm>
            <a:off x="177165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1" name="Oval 4"/>
          <p:cNvSpPr>
            <a:spLocks noChangeArrowheads="1"/>
          </p:cNvSpPr>
          <p:nvPr/>
        </p:nvSpPr>
        <p:spPr bwMode="auto">
          <a:xfrm>
            <a:off x="240030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2" name="Oval 5"/>
          <p:cNvSpPr>
            <a:spLocks noChangeArrowheads="1"/>
          </p:cNvSpPr>
          <p:nvPr/>
        </p:nvSpPr>
        <p:spPr bwMode="auto">
          <a:xfrm>
            <a:off x="302895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3" name="Oval 6"/>
          <p:cNvSpPr>
            <a:spLocks noChangeArrowheads="1"/>
          </p:cNvSpPr>
          <p:nvPr/>
        </p:nvSpPr>
        <p:spPr bwMode="auto">
          <a:xfrm>
            <a:off x="365760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4" name="Oval 7"/>
          <p:cNvSpPr>
            <a:spLocks noChangeArrowheads="1"/>
          </p:cNvSpPr>
          <p:nvPr/>
        </p:nvSpPr>
        <p:spPr bwMode="auto">
          <a:xfrm>
            <a:off x="428625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5" name="Oval 8"/>
          <p:cNvSpPr>
            <a:spLocks noChangeArrowheads="1"/>
          </p:cNvSpPr>
          <p:nvPr/>
        </p:nvSpPr>
        <p:spPr bwMode="auto">
          <a:xfrm>
            <a:off x="497205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6" name="Oval 9"/>
          <p:cNvSpPr>
            <a:spLocks noChangeArrowheads="1"/>
          </p:cNvSpPr>
          <p:nvPr/>
        </p:nvSpPr>
        <p:spPr bwMode="auto">
          <a:xfrm>
            <a:off x="5657850" y="3491880"/>
            <a:ext cx="342900" cy="33717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7" name="Text Box 10"/>
          <p:cNvSpPr txBox="1">
            <a:spLocks noChangeArrowheads="1"/>
          </p:cNvSpPr>
          <p:nvPr/>
        </p:nvSpPr>
        <p:spPr bwMode="auto">
          <a:xfrm>
            <a:off x="260648" y="3507429"/>
            <a:ext cx="14398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Initial </a:t>
            </a:r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state</a:t>
            </a:r>
            <a:endParaRPr lang="en-US" altLang="zh-CN" sz="1800" dirty="0" smtClean="0">
              <a:latin typeface="Sitka Text" panose="02000505000000020004" pitchFamily="2" charset="0"/>
              <a:ea typeface="宋体" pitchFamily="2" charset="-122"/>
            </a:endParaRPr>
          </a:p>
          <a:p>
            <a:pPr algn="ctr"/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(</a:t>
            </a:r>
            <a:r>
              <a:rPr lang="en-US" altLang="zh-CN" sz="1800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forest</a:t>
            </a:r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8" name="Oval 11"/>
          <p:cNvSpPr>
            <a:spLocks noChangeArrowheads="1"/>
          </p:cNvSpPr>
          <p:nvPr/>
        </p:nvSpPr>
        <p:spPr bwMode="auto">
          <a:xfrm>
            <a:off x="2057400" y="44634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39" name="Oval 12"/>
          <p:cNvSpPr>
            <a:spLocks noChangeArrowheads="1"/>
          </p:cNvSpPr>
          <p:nvPr/>
        </p:nvSpPr>
        <p:spPr bwMode="auto">
          <a:xfrm>
            <a:off x="2286000" y="51492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40" name="Oval 13"/>
          <p:cNvSpPr>
            <a:spLocks noChangeArrowheads="1"/>
          </p:cNvSpPr>
          <p:nvPr/>
        </p:nvSpPr>
        <p:spPr bwMode="auto">
          <a:xfrm>
            <a:off x="3486150" y="44634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41" name="Oval 14"/>
          <p:cNvSpPr>
            <a:spLocks noChangeArrowheads="1"/>
          </p:cNvSpPr>
          <p:nvPr/>
        </p:nvSpPr>
        <p:spPr bwMode="auto">
          <a:xfrm>
            <a:off x="5429250" y="51492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42" name="Oval 15"/>
          <p:cNvSpPr>
            <a:spLocks noChangeArrowheads="1"/>
          </p:cNvSpPr>
          <p:nvPr/>
        </p:nvSpPr>
        <p:spPr bwMode="auto">
          <a:xfrm>
            <a:off x="4686300" y="51492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43" name="Oval 16"/>
          <p:cNvSpPr>
            <a:spLocks noChangeArrowheads="1"/>
          </p:cNvSpPr>
          <p:nvPr/>
        </p:nvSpPr>
        <p:spPr bwMode="auto">
          <a:xfrm>
            <a:off x="4400550" y="58350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44" name="Oval 17"/>
          <p:cNvSpPr>
            <a:spLocks noChangeArrowheads="1"/>
          </p:cNvSpPr>
          <p:nvPr/>
        </p:nvSpPr>
        <p:spPr bwMode="auto">
          <a:xfrm>
            <a:off x="5029200" y="446343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45" name="Line 18"/>
          <p:cNvSpPr>
            <a:spLocks noChangeShapeType="1"/>
          </p:cNvSpPr>
          <p:nvPr/>
        </p:nvSpPr>
        <p:spPr bwMode="auto">
          <a:xfrm flipH="1" flipV="1">
            <a:off x="2271712" y="4800600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6646" name="Line 19"/>
          <p:cNvSpPr>
            <a:spLocks noChangeShapeType="1"/>
          </p:cNvSpPr>
          <p:nvPr/>
        </p:nvSpPr>
        <p:spPr bwMode="auto">
          <a:xfrm flipV="1">
            <a:off x="4914900" y="4800600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6647" name="Line 20"/>
          <p:cNvSpPr>
            <a:spLocks noChangeShapeType="1"/>
          </p:cNvSpPr>
          <p:nvPr/>
        </p:nvSpPr>
        <p:spPr bwMode="auto">
          <a:xfrm flipH="1" flipV="1">
            <a:off x="5257800" y="4788022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6648" name="Line 21"/>
          <p:cNvSpPr>
            <a:spLocks noChangeShapeType="1"/>
          </p:cNvSpPr>
          <p:nvPr/>
        </p:nvSpPr>
        <p:spPr bwMode="auto">
          <a:xfrm flipV="1">
            <a:off x="4629150" y="5486400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6649" name="Text Box 22"/>
          <p:cNvSpPr txBox="1">
            <a:spLocks noChangeArrowheads="1"/>
          </p:cNvSpPr>
          <p:nvPr/>
        </p:nvSpPr>
        <p:spPr bwMode="auto">
          <a:xfrm>
            <a:off x="260939" y="4467625"/>
            <a:ext cx="15937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Intermediate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state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650" name="Text Box 23"/>
          <p:cNvSpPr txBox="1">
            <a:spLocks noChangeArrowheads="1"/>
          </p:cNvSpPr>
          <p:nvPr/>
        </p:nvSpPr>
        <p:spPr bwMode="auto">
          <a:xfrm>
            <a:off x="588016" y="6523145"/>
            <a:ext cx="3669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374FFF"/>
                </a:solidFill>
                <a:latin typeface="Sitka Text" panose="02000505000000020004" pitchFamily="2" charset="0"/>
                <a:ea typeface="宋体" pitchFamily="2" charset="-122"/>
              </a:rPr>
              <a:t>Roots are the names of each set.</a:t>
            </a:r>
            <a:endParaRPr lang="en-US" altLang="zh-CN" sz="1800" dirty="0">
              <a:solidFill>
                <a:srgbClr val="374FFF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1616096" y="5635440"/>
            <a:ext cx="13789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Union(0,1)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5053183" y="5951336"/>
            <a:ext cx="13676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Union(4,5)</a:t>
            </a:r>
            <a:endParaRPr lang="en-US" altLang="zh-CN" sz="1800" dirty="0" smtClean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 smtClean="0">
                <a:latin typeface="Sitka Text" panose="02000505000000020004" pitchFamily="2" charset="0"/>
              </a:rPr>
              <a:t>Union(6,3)</a:t>
            </a:r>
            <a:endParaRPr lang="en-US" altLang="zh-CN" sz="1800" dirty="0">
              <a:latin typeface="Sitka Text" panose="02000505000000020004" pitchFamily="2" charset="0"/>
            </a:endParaRPr>
          </a:p>
          <a:p>
            <a:r>
              <a:rPr lang="en-US" altLang="zh-CN" sz="1800" dirty="0" smtClean="0">
                <a:latin typeface="Sitka Text" panose="02000505000000020004" pitchFamily="2" charset="0"/>
              </a:rPr>
              <a:t>Union(6,4)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67D80BC-91F4-4A9F-B6D6-35CC284790E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3EEB793-0E88-42D6-9788-EEEBA3A8C9C8}" type="slidenum">
              <a:rPr lang="en-US" altLang="zh-CN" sz="1050"/>
            </a:fld>
            <a:endParaRPr lang="en-US" altLang="zh-CN" sz="105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Find Operation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8" y="2999263"/>
            <a:ext cx="5829300" cy="742950"/>
          </a:xfrm>
        </p:spPr>
        <p:txBody>
          <a:bodyPr/>
          <a:lstStyle/>
          <a:p>
            <a:r>
              <a:rPr lang="en-US" altLang="zh-CN" sz="2100" dirty="0">
                <a:ea typeface="宋体" pitchFamily="2" charset="-122"/>
              </a:rPr>
              <a:t>Find(x) follow x to the root and return the root (which is the </a:t>
            </a:r>
            <a:r>
              <a:rPr lang="en-US" altLang="zh-CN" sz="2100" dirty="0">
                <a:solidFill>
                  <a:srgbClr val="FF0000"/>
                </a:solidFill>
                <a:ea typeface="宋体" pitchFamily="2" charset="-122"/>
              </a:rPr>
              <a:t>name</a:t>
            </a:r>
            <a:r>
              <a:rPr lang="en-US" altLang="zh-CN" sz="2100" dirty="0">
                <a:ea typeface="宋体" pitchFamily="2" charset="-122"/>
              </a:rPr>
              <a:t> of the class).</a:t>
            </a:r>
            <a:endParaRPr lang="en-US" altLang="zh-CN" sz="2100" dirty="0">
              <a:ea typeface="宋体" pitchFamily="2" charset="-122"/>
            </a:endParaRPr>
          </a:p>
        </p:txBody>
      </p:sp>
      <p:sp>
        <p:nvSpPr>
          <p:cNvPr id="27666" name="Text Box 15"/>
          <p:cNvSpPr txBox="1">
            <a:spLocks noChangeArrowheads="1"/>
          </p:cNvSpPr>
          <p:nvPr/>
        </p:nvSpPr>
        <p:spPr bwMode="auto">
          <a:xfrm>
            <a:off x="1770038" y="5937871"/>
            <a:ext cx="14157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Find(5) </a:t>
            </a:r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= </a:t>
            </a:r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667" name="Freeform 16"/>
          <p:cNvSpPr/>
          <p:nvPr/>
        </p:nvSpPr>
        <p:spPr bwMode="auto">
          <a:xfrm>
            <a:off x="3677419" y="5391775"/>
            <a:ext cx="333375" cy="571500"/>
          </a:xfrm>
          <a:custGeom>
            <a:avLst/>
            <a:gdLst>
              <a:gd name="T0" fmla="*/ 63500 w 280"/>
              <a:gd name="T1" fmla="*/ 762000 h 480"/>
              <a:gd name="T2" fmla="*/ 63500 w 280"/>
              <a:gd name="T3" fmla="*/ 228600 h 480"/>
              <a:gd name="T4" fmla="*/ 444500 w 280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0" h="480">
                <a:moveTo>
                  <a:pt x="40" y="480"/>
                </a:moveTo>
                <a:cubicBezTo>
                  <a:pt x="20" y="352"/>
                  <a:pt x="0" y="224"/>
                  <a:pt x="40" y="144"/>
                </a:cubicBezTo>
                <a:cubicBezTo>
                  <a:pt x="80" y="64"/>
                  <a:pt x="248" y="64"/>
                  <a:pt x="280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7668" name="Freeform 17"/>
          <p:cNvSpPr/>
          <p:nvPr/>
        </p:nvSpPr>
        <p:spPr bwMode="auto">
          <a:xfrm>
            <a:off x="3952987" y="4612221"/>
            <a:ext cx="457200" cy="742950"/>
          </a:xfrm>
          <a:custGeom>
            <a:avLst/>
            <a:gdLst>
              <a:gd name="T0" fmla="*/ 152400 w 384"/>
              <a:gd name="T1" fmla="*/ 990600 h 624"/>
              <a:gd name="T2" fmla="*/ 76200 w 384"/>
              <a:gd name="T3" fmla="*/ 304800 h 624"/>
              <a:gd name="T4" fmla="*/ 609600 w 38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624">
                <a:moveTo>
                  <a:pt x="96" y="624"/>
                </a:moveTo>
                <a:cubicBezTo>
                  <a:pt x="48" y="460"/>
                  <a:pt x="0" y="296"/>
                  <a:pt x="48" y="192"/>
                </a:cubicBezTo>
                <a:cubicBezTo>
                  <a:pt x="96" y="88"/>
                  <a:pt x="240" y="44"/>
                  <a:pt x="384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>
            <a:off x="1496194" y="45065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1724794" y="51923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3" name="Oval 13"/>
          <p:cNvSpPr>
            <a:spLocks noChangeArrowheads="1"/>
          </p:cNvSpPr>
          <p:nvPr/>
        </p:nvSpPr>
        <p:spPr bwMode="auto">
          <a:xfrm>
            <a:off x="2924944" y="45065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4" name="Oval 14"/>
          <p:cNvSpPr>
            <a:spLocks noChangeArrowheads="1"/>
          </p:cNvSpPr>
          <p:nvPr/>
        </p:nvSpPr>
        <p:spPr bwMode="auto">
          <a:xfrm>
            <a:off x="4868044" y="51923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5" name="Oval 15"/>
          <p:cNvSpPr>
            <a:spLocks noChangeArrowheads="1"/>
          </p:cNvSpPr>
          <p:nvPr/>
        </p:nvSpPr>
        <p:spPr bwMode="auto">
          <a:xfrm>
            <a:off x="4125094" y="51923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" name="Oval 16"/>
          <p:cNvSpPr>
            <a:spLocks noChangeArrowheads="1"/>
          </p:cNvSpPr>
          <p:nvPr/>
        </p:nvSpPr>
        <p:spPr bwMode="auto">
          <a:xfrm>
            <a:off x="3839344" y="58781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" name="Oval 17"/>
          <p:cNvSpPr>
            <a:spLocks noChangeArrowheads="1"/>
          </p:cNvSpPr>
          <p:nvPr/>
        </p:nvSpPr>
        <p:spPr bwMode="auto">
          <a:xfrm>
            <a:off x="4467994" y="4506516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 flipV="1">
            <a:off x="1710506" y="4843686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 flipV="1">
            <a:off x="4353694" y="4843686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flipH="1" flipV="1">
            <a:off x="4696594" y="4831108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V="1">
            <a:off x="4067944" y="5529486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16F6DB4-273B-427D-A00C-D8A4A7113C1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3FADC43-86AA-482C-A341-A1AF5B7985D0}" type="slidenum">
              <a:rPr lang="en-US" altLang="zh-CN" sz="1050"/>
            </a:fld>
            <a:endParaRPr lang="en-US" altLang="zh-CN" sz="105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Union Operation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7901" y="2772966"/>
            <a:ext cx="5829300" cy="1028700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Union(</a:t>
            </a:r>
            <a:r>
              <a:rPr lang="en-US" altLang="zh-CN" dirty="0" err="1" smtClean="0">
                <a:ea typeface="宋体" pitchFamily="2" charset="-122"/>
              </a:rPr>
              <a:t>i,j</a:t>
            </a:r>
            <a:r>
              <a:rPr lang="en-US" altLang="zh-CN" dirty="0" smtClean="0">
                <a:ea typeface="宋体" pitchFamily="2" charset="-122"/>
              </a:rPr>
              <a:t>) - assuming </a:t>
            </a:r>
            <a:r>
              <a:rPr lang="en-US" altLang="zh-CN" dirty="0" err="1" smtClean="0">
                <a:ea typeface="宋体" pitchFamily="2" charset="-122"/>
              </a:rPr>
              <a:t>i</a:t>
            </a:r>
            <a:r>
              <a:rPr lang="en-US" altLang="zh-CN" dirty="0" smtClean="0">
                <a:ea typeface="宋体" pitchFamily="2" charset="-122"/>
              </a:rPr>
              <a:t> and j roots, point j to </a:t>
            </a:r>
            <a:r>
              <a:rPr lang="en-US" altLang="zh-CN" dirty="0" err="1" smtClean="0">
                <a:ea typeface="宋体" pitchFamily="2" charset="-122"/>
              </a:rPr>
              <a:t>i</a:t>
            </a:r>
            <a:r>
              <a:rPr lang="en-US" altLang="zh-CN" dirty="0" smtClean="0">
                <a:ea typeface="宋体" pitchFamily="2" charset="-122"/>
              </a:rPr>
              <a:t>.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8690" name="Freeform 15"/>
          <p:cNvSpPr/>
          <p:nvPr/>
        </p:nvSpPr>
        <p:spPr bwMode="auto">
          <a:xfrm>
            <a:off x="1976438" y="4552950"/>
            <a:ext cx="2847975" cy="379810"/>
          </a:xfrm>
          <a:custGeom>
            <a:avLst/>
            <a:gdLst>
              <a:gd name="T0" fmla="*/ 0 w 2392"/>
              <a:gd name="T1" fmla="*/ 493713 h 319"/>
              <a:gd name="T2" fmla="*/ 98425 w 2392"/>
              <a:gd name="T3" fmla="*/ 393700 h 319"/>
              <a:gd name="T4" fmla="*/ 147638 w 2392"/>
              <a:gd name="T5" fmla="*/ 357188 h 319"/>
              <a:gd name="T6" fmla="*/ 185738 w 2392"/>
              <a:gd name="T7" fmla="*/ 333375 h 319"/>
              <a:gd name="T8" fmla="*/ 296863 w 2392"/>
              <a:gd name="T9" fmla="*/ 246063 h 319"/>
              <a:gd name="T10" fmla="*/ 692150 w 2392"/>
              <a:gd name="T11" fmla="*/ 158750 h 319"/>
              <a:gd name="T12" fmla="*/ 1311275 w 2392"/>
              <a:gd name="T13" fmla="*/ 60325 h 319"/>
              <a:gd name="T14" fmla="*/ 1768475 w 2392"/>
              <a:gd name="T15" fmla="*/ 11113 h 319"/>
              <a:gd name="T16" fmla="*/ 2733675 w 2392"/>
              <a:gd name="T17" fmla="*/ 47625 h 319"/>
              <a:gd name="T18" fmla="*/ 2770188 w 2392"/>
              <a:gd name="T19" fmla="*/ 60325 h 319"/>
              <a:gd name="T20" fmla="*/ 2857500 w 2392"/>
              <a:gd name="T21" fmla="*/ 73025 h 319"/>
              <a:gd name="T22" fmla="*/ 2906713 w 2392"/>
              <a:gd name="T23" fmla="*/ 96838 h 319"/>
              <a:gd name="T24" fmla="*/ 2994025 w 2392"/>
              <a:gd name="T25" fmla="*/ 109538 h 319"/>
              <a:gd name="T26" fmla="*/ 3389313 w 2392"/>
              <a:gd name="T27" fmla="*/ 271463 h 319"/>
              <a:gd name="T28" fmla="*/ 3711575 w 2392"/>
              <a:gd name="T29" fmla="*/ 406400 h 319"/>
              <a:gd name="T30" fmla="*/ 3797300 w 2392"/>
              <a:gd name="T31" fmla="*/ 506413 h 3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392" h="319">
                <a:moveTo>
                  <a:pt x="0" y="311"/>
                </a:moveTo>
                <a:cubicBezTo>
                  <a:pt x="27" y="293"/>
                  <a:pt x="38" y="269"/>
                  <a:pt x="62" y="248"/>
                </a:cubicBezTo>
                <a:cubicBezTo>
                  <a:pt x="72" y="240"/>
                  <a:pt x="82" y="232"/>
                  <a:pt x="93" y="225"/>
                </a:cubicBezTo>
                <a:cubicBezTo>
                  <a:pt x="101" y="220"/>
                  <a:pt x="110" y="216"/>
                  <a:pt x="117" y="210"/>
                </a:cubicBezTo>
                <a:cubicBezTo>
                  <a:pt x="147" y="185"/>
                  <a:pt x="140" y="171"/>
                  <a:pt x="187" y="155"/>
                </a:cubicBezTo>
                <a:cubicBezTo>
                  <a:pt x="268" y="127"/>
                  <a:pt x="352" y="114"/>
                  <a:pt x="436" y="100"/>
                </a:cubicBezTo>
                <a:cubicBezTo>
                  <a:pt x="567" y="78"/>
                  <a:pt x="694" y="53"/>
                  <a:pt x="826" y="38"/>
                </a:cubicBezTo>
                <a:cubicBezTo>
                  <a:pt x="920" y="14"/>
                  <a:pt x="1018" y="12"/>
                  <a:pt x="1114" y="7"/>
                </a:cubicBezTo>
                <a:cubicBezTo>
                  <a:pt x="1334" y="11"/>
                  <a:pt x="1517" y="0"/>
                  <a:pt x="1722" y="30"/>
                </a:cubicBezTo>
                <a:cubicBezTo>
                  <a:pt x="1730" y="33"/>
                  <a:pt x="1737" y="36"/>
                  <a:pt x="1745" y="38"/>
                </a:cubicBezTo>
                <a:cubicBezTo>
                  <a:pt x="1763" y="42"/>
                  <a:pt x="1782" y="41"/>
                  <a:pt x="1800" y="46"/>
                </a:cubicBezTo>
                <a:cubicBezTo>
                  <a:pt x="1811" y="49"/>
                  <a:pt x="1820" y="58"/>
                  <a:pt x="1831" y="61"/>
                </a:cubicBezTo>
                <a:cubicBezTo>
                  <a:pt x="1849" y="66"/>
                  <a:pt x="1868" y="66"/>
                  <a:pt x="1886" y="69"/>
                </a:cubicBezTo>
                <a:cubicBezTo>
                  <a:pt x="1971" y="98"/>
                  <a:pt x="2052" y="138"/>
                  <a:pt x="2135" y="171"/>
                </a:cubicBezTo>
                <a:cubicBezTo>
                  <a:pt x="2203" y="198"/>
                  <a:pt x="2275" y="217"/>
                  <a:pt x="2338" y="256"/>
                </a:cubicBezTo>
                <a:cubicBezTo>
                  <a:pt x="2353" y="281"/>
                  <a:pt x="2372" y="298"/>
                  <a:pt x="2392" y="319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8691" name="Text Box 16"/>
          <p:cNvSpPr txBox="1">
            <a:spLocks noChangeArrowheads="1"/>
          </p:cNvSpPr>
          <p:nvPr/>
        </p:nvSpPr>
        <p:spPr bwMode="auto">
          <a:xfrm>
            <a:off x="4467036" y="4275263"/>
            <a:ext cx="1385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Union(0,6)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0" name="Oval 11"/>
          <p:cNvSpPr>
            <a:spLocks noChangeArrowheads="1"/>
          </p:cNvSpPr>
          <p:nvPr/>
        </p:nvSpPr>
        <p:spPr bwMode="auto">
          <a:xfrm>
            <a:off x="1712218" y="49684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1" name="Oval 12"/>
          <p:cNvSpPr>
            <a:spLocks noChangeArrowheads="1"/>
          </p:cNvSpPr>
          <p:nvPr/>
        </p:nvSpPr>
        <p:spPr bwMode="auto">
          <a:xfrm>
            <a:off x="1940818" y="56542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2" name="Oval 13"/>
          <p:cNvSpPr>
            <a:spLocks noChangeArrowheads="1"/>
          </p:cNvSpPr>
          <p:nvPr/>
        </p:nvSpPr>
        <p:spPr bwMode="auto">
          <a:xfrm>
            <a:off x="3140968" y="49684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5084068" y="56542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4" name="Oval 15"/>
          <p:cNvSpPr>
            <a:spLocks noChangeArrowheads="1"/>
          </p:cNvSpPr>
          <p:nvPr/>
        </p:nvSpPr>
        <p:spPr bwMode="auto">
          <a:xfrm>
            <a:off x="4341118" y="56542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5" name="Oval 16"/>
          <p:cNvSpPr>
            <a:spLocks noChangeArrowheads="1"/>
          </p:cNvSpPr>
          <p:nvPr/>
        </p:nvSpPr>
        <p:spPr bwMode="auto">
          <a:xfrm>
            <a:off x="4055368" y="63400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" name="Oval 17"/>
          <p:cNvSpPr>
            <a:spLocks noChangeArrowheads="1"/>
          </p:cNvSpPr>
          <p:nvPr/>
        </p:nvSpPr>
        <p:spPr bwMode="auto">
          <a:xfrm>
            <a:off x="4684018" y="4968438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 flipH="1" flipV="1">
            <a:off x="1926530" y="5305608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 flipV="1">
            <a:off x="4569718" y="5305608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9" name="Line 20"/>
          <p:cNvSpPr>
            <a:spLocks noChangeShapeType="1"/>
          </p:cNvSpPr>
          <p:nvPr/>
        </p:nvSpPr>
        <p:spPr bwMode="auto">
          <a:xfrm flipH="1" flipV="1">
            <a:off x="4912618" y="5293030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30" name="Line 21"/>
          <p:cNvSpPr>
            <a:spLocks noChangeShapeType="1"/>
          </p:cNvSpPr>
          <p:nvPr/>
        </p:nvSpPr>
        <p:spPr bwMode="auto">
          <a:xfrm flipV="1">
            <a:off x="4283968" y="5991408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1EA7325-CC21-41B0-BD70-F18901D7AEE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1731315-5A0E-456B-B5E8-CBA5F53A5A00}" type="slidenum">
              <a:rPr lang="en-US" altLang="zh-CN" sz="1050"/>
            </a:fld>
            <a:endParaRPr lang="en-US" altLang="zh-CN" sz="105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Simple Implementation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2697" y="2417564"/>
            <a:ext cx="569771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class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DisjSets</a:t>
            </a:r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public</a:t>
            </a:r>
            <a:r>
              <a:rPr lang="en-US" altLang="zh-CN" sz="2000" dirty="0">
                <a:latin typeface="Sitka Text" panose="02000505000000020004" pitchFamily="2" charset="0"/>
              </a:rPr>
              <a:t>: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fr-FR" altLang="zh-CN" sz="2000" i="1" dirty="0" smtClean="0">
                <a:latin typeface="Sitka Text" panose="02000505000000020004" pitchFamily="2" charset="0"/>
              </a:rPr>
              <a:t>    </a:t>
            </a:r>
            <a:r>
              <a:rPr lang="fr-FR" altLang="zh-CN" sz="2000" dirty="0" smtClean="0">
                <a:latin typeface="Sitka Text" panose="02000505000000020004" pitchFamily="2" charset="0"/>
              </a:rPr>
              <a:t>explicit </a:t>
            </a:r>
            <a:r>
              <a:rPr lang="fr-FR" altLang="zh-CN" sz="2000" dirty="0">
                <a:latin typeface="Sitka Text" panose="02000505000000020004" pitchFamily="2" charset="0"/>
              </a:rPr>
              <a:t>DisjSets( int numElements );</a:t>
            </a:r>
            <a:endParaRPr lang="fr-FR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>
                <a:latin typeface="Sitka Text" panose="02000505000000020004" pitchFamily="2" charset="0"/>
              </a:rPr>
              <a:t>find(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x ) </a:t>
            </a:r>
            <a:r>
              <a:rPr lang="en-US" altLang="zh-CN" sz="2000" dirty="0" err="1">
                <a:latin typeface="Sitka Text" panose="02000505000000020004" pitchFamily="2" charset="0"/>
              </a:rPr>
              <a:t>const</a:t>
            </a:r>
            <a:r>
              <a:rPr lang="en-US" altLang="zh-CN" sz="2000" dirty="0">
                <a:latin typeface="Sitka Text" panose="02000505000000020004" pitchFamily="2" charset="0"/>
              </a:rPr>
              <a:t>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i="1" dirty="0" smtClean="0">
                <a:latin typeface="Sitka Text" panose="02000505000000020004" pitchFamily="2" charset="0"/>
              </a:rPr>
              <a:t>   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>
                <a:latin typeface="Sitka Text" panose="02000505000000020004" pitchFamily="2" charset="0"/>
              </a:rPr>
              <a:t>find(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x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i="1" dirty="0">
                <a:latin typeface="Sitka Text" panose="02000505000000020004" pitchFamily="2" charset="0"/>
              </a:rPr>
              <a:t> </a:t>
            </a:r>
            <a:r>
              <a:rPr lang="en-US" altLang="zh-CN" sz="2000" i="1" dirty="0" smtClean="0">
                <a:latin typeface="Sitka Text" panose="02000505000000020004" pitchFamily="2" charset="0"/>
              </a:rPr>
              <a:t>   </a:t>
            </a:r>
            <a:r>
              <a:rPr lang="en-US" altLang="zh-CN" sz="2000" dirty="0" smtClean="0">
                <a:latin typeface="Sitka Text" panose="02000505000000020004" pitchFamily="2" charset="0"/>
              </a:rPr>
              <a:t>void </a:t>
            </a:r>
            <a:r>
              <a:rPr lang="en-US" altLang="zh-CN" sz="2000" dirty="0" err="1">
                <a:latin typeface="Sitka Text" panose="02000505000000020004" pitchFamily="2" charset="0"/>
              </a:rPr>
              <a:t>unionSets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root1,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root2 );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private</a:t>
            </a:r>
            <a:r>
              <a:rPr lang="en-US" altLang="zh-CN" sz="2000" dirty="0">
                <a:latin typeface="Sitka Text" panose="02000505000000020004" pitchFamily="2" charset="0"/>
              </a:rPr>
              <a:t>: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vector&lt;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&gt; s;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};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2697" y="5336174"/>
            <a:ext cx="540059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Construct the disjoint sets object.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</a:rPr>
              <a:t>numElements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is the initial number of 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disjoint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sets.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zh-CN" altLang="en-US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err="1" smtClean="0">
                <a:latin typeface="Sitka Text" panose="02000505000000020004" pitchFamily="2" charset="0"/>
              </a:rPr>
              <a:t>DisjSets</a:t>
            </a:r>
            <a:r>
              <a:rPr lang="en-US" altLang="zh-CN" sz="2000" dirty="0">
                <a:latin typeface="Sitka Text" panose="02000505000000020004" pitchFamily="2" charset="0"/>
              </a:rPr>
              <a:t>::</a:t>
            </a:r>
            <a:r>
              <a:rPr lang="en-US" altLang="zh-CN" sz="2000" dirty="0" err="1">
                <a:latin typeface="Sitka Text" panose="02000505000000020004" pitchFamily="2" charset="0"/>
              </a:rPr>
              <a:t>DisjSets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latin typeface="Sitka Text" panose="02000505000000020004" pitchFamily="2" charset="0"/>
              </a:rPr>
              <a:t>numElements</a:t>
            </a:r>
            <a:r>
              <a:rPr lang="en-US" altLang="zh-CN" sz="2000" dirty="0">
                <a:latin typeface="Sitka Text" panose="02000505000000020004" pitchFamily="2" charset="0"/>
              </a:rPr>
              <a:t> ) : s{ </a:t>
            </a:r>
            <a:r>
              <a:rPr lang="en-US" altLang="zh-CN" sz="2000" dirty="0" err="1">
                <a:latin typeface="Sitka Text" panose="02000505000000020004" pitchFamily="2" charset="0"/>
              </a:rPr>
              <a:t>numElements</a:t>
            </a:r>
            <a:r>
              <a:rPr lang="en-US" altLang="zh-CN" sz="2000" dirty="0">
                <a:latin typeface="Sitka Text" panose="02000505000000020004" pitchFamily="2" charset="0"/>
              </a:rPr>
              <a:t>, - 1 }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0EF8898-78A5-4FBA-A337-235023CC099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072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5E82C6D-544F-46F1-9CFE-8269F521A1DD}" type="slidenum">
              <a:rPr lang="en-US" altLang="zh-CN" sz="1050"/>
            </a:fld>
            <a:endParaRPr lang="en-US" altLang="zh-CN" sz="1050"/>
          </a:p>
        </p:txBody>
      </p:sp>
      <p:sp>
        <p:nvSpPr>
          <p:cNvPr id="3072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0727" name="Text Box 1028"/>
          <p:cNvSpPr txBox="1">
            <a:spLocks noChangeArrowheads="1"/>
          </p:cNvSpPr>
          <p:nvPr/>
        </p:nvSpPr>
        <p:spPr bwMode="auto">
          <a:xfrm>
            <a:off x="2824048" y="6941787"/>
            <a:ext cx="23903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Constant Time!</a:t>
            </a:r>
            <a:endParaRPr lang="en-US" altLang="zh-CN" sz="24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2697" y="2695547"/>
            <a:ext cx="56977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Union two disjoint sets.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For simplicity, we assume root1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and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root2 are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distinct and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represent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set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names.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root1 is the root of set 1.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root2 is the root of set 2.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</a:t>
            </a:r>
            <a:r>
              <a:rPr lang="zh-CN" altLang="en-US" sz="2000" dirty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void </a:t>
            </a:r>
            <a:r>
              <a:rPr lang="en-US" altLang="zh-CN" sz="2000" dirty="0" err="1">
                <a:latin typeface="Sitka Text" panose="02000505000000020004" pitchFamily="2" charset="0"/>
              </a:rPr>
              <a:t>DisjSets</a:t>
            </a:r>
            <a:r>
              <a:rPr lang="en-US" altLang="zh-CN" sz="2000" dirty="0">
                <a:latin typeface="Sitka Text" panose="02000505000000020004" pitchFamily="2" charset="0"/>
              </a:rPr>
              <a:t>::</a:t>
            </a:r>
            <a:r>
              <a:rPr lang="en-US" altLang="zh-CN" sz="2000" dirty="0" err="1">
                <a:latin typeface="Sitka Text" panose="02000505000000020004" pitchFamily="2" charset="0"/>
              </a:rPr>
              <a:t>unionSets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root1,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root2 )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s</a:t>
            </a:r>
            <a:r>
              <a:rPr lang="en-US" altLang="zh-CN" sz="2000" dirty="0">
                <a:latin typeface="Sitka Text" panose="02000505000000020004" pitchFamily="2" charset="0"/>
              </a:rPr>
              <a:t>[ root2 ] = root1;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3CA1445-254A-40AC-955B-938B4AC0DF7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4C93B88-AC13-4327-A31D-9DB830100CB8}" type="slidenum">
              <a:rPr lang="en-US" altLang="zh-CN" sz="1050"/>
            </a:fld>
            <a:endParaRPr lang="en-US" altLang="zh-CN" sz="105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Find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0688" y="2699792"/>
            <a:ext cx="576972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Perform a find.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Error checks omitted again for simplicity.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Return the set containing x.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zh-CN" altLang="en-US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latin typeface="Sitka Text" panose="02000505000000020004" pitchFamily="2" charset="0"/>
              </a:rPr>
              <a:t>DisjSets</a:t>
            </a:r>
            <a:r>
              <a:rPr lang="en-US" altLang="zh-CN" sz="2000" dirty="0">
                <a:latin typeface="Sitka Text" panose="02000505000000020004" pitchFamily="2" charset="0"/>
              </a:rPr>
              <a:t>::find(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x ) </a:t>
            </a:r>
            <a:r>
              <a:rPr lang="en-US" altLang="zh-CN" sz="2000" dirty="0" err="1">
                <a:latin typeface="Sitka Text" panose="02000505000000020004" pitchFamily="2" charset="0"/>
              </a:rPr>
              <a:t>const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if</a:t>
            </a:r>
            <a:r>
              <a:rPr lang="en-US" altLang="zh-CN" sz="2000" dirty="0">
                <a:latin typeface="Sitka Text" panose="02000505000000020004" pitchFamily="2" charset="0"/>
              </a:rPr>
              <a:t>( s[ x ] &lt; 0 )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return </a:t>
            </a:r>
            <a:r>
              <a:rPr lang="en-US" altLang="zh-CN" sz="2000" dirty="0">
                <a:latin typeface="Sitka Text" panose="02000505000000020004" pitchFamily="2" charset="0"/>
              </a:rPr>
              <a:t>x;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</a:t>
            </a:r>
            <a:r>
              <a:rPr lang="en-US" altLang="zh-CN" sz="2000" dirty="0">
                <a:latin typeface="Sitka Text" panose="02000505000000020004" pitchFamily="2" charset="0"/>
              </a:rPr>
              <a:t>else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return </a:t>
            </a:r>
            <a:r>
              <a:rPr lang="en-US" altLang="zh-CN" sz="2000" dirty="0">
                <a:latin typeface="Sitka Text" panose="02000505000000020004" pitchFamily="2" charset="0"/>
              </a:rPr>
              <a:t>find( s[ x ]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A7FCD92-28B2-48D6-92B1-1B72D66D21D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277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277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8E6D4C1-737B-458D-9221-F713C37AA1C2}" type="slidenum">
              <a:rPr lang="en-US" altLang="zh-CN" sz="1050"/>
            </a:fld>
            <a:endParaRPr lang="en-US" altLang="zh-CN" sz="105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 A Bad Case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" name="Oval 3"/>
          <p:cNvSpPr>
            <a:spLocks noChangeArrowheads="1"/>
          </p:cNvSpPr>
          <p:nvPr/>
        </p:nvSpPr>
        <p:spPr bwMode="auto">
          <a:xfrm>
            <a:off x="899759" y="2699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7" name="Oval 4"/>
          <p:cNvSpPr>
            <a:spLocks noChangeArrowheads="1"/>
          </p:cNvSpPr>
          <p:nvPr/>
        </p:nvSpPr>
        <p:spPr bwMode="auto">
          <a:xfrm>
            <a:off x="1585559" y="2699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2271359" y="2699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9" name="Oval 7"/>
          <p:cNvSpPr>
            <a:spLocks noChangeArrowheads="1"/>
          </p:cNvSpPr>
          <p:nvPr/>
        </p:nvSpPr>
        <p:spPr bwMode="auto">
          <a:xfrm>
            <a:off x="3642959" y="2699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0" name="Oval 9"/>
          <p:cNvSpPr>
            <a:spLocks noChangeArrowheads="1"/>
          </p:cNvSpPr>
          <p:nvPr/>
        </p:nvSpPr>
        <p:spPr bwMode="auto">
          <a:xfrm>
            <a:off x="1128359" y="39951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" name="Oval 10"/>
          <p:cNvSpPr>
            <a:spLocks noChangeArrowheads="1"/>
          </p:cNvSpPr>
          <p:nvPr/>
        </p:nvSpPr>
        <p:spPr bwMode="auto">
          <a:xfrm>
            <a:off x="1585559" y="3461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" name="Oval 11"/>
          <p:cNvSpPr>
            <a:spLocks noChangeArrowheads="1"/>
          </p:cNvSpPr>
          <p:nvPr/>
        </p:nvSpPr>
        <p:spPr bwMode="auto">
          <a:xfrm>
            <a:off x="2271359" y="3461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3" name="Oval 13"/>
          <p:cNvSpPr>
            <a:spLocks noChangeArrowheads="1"/>
          </p:cNvSpPr>
          <p:nvPr/>
        </p:nvSpPr>
        <p:spPr bwMode="auto">
          <a:xfrm>
            <a:off x="3642959" y="34617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4" name="Line 14"/>
          <p:cNvSpPr>
            <a:spLocks noChangeShapeType="1"/>
          </p:cNvSpPr>
          <p:nvPr/>
        </p:nvSpPr>
        <p:spPr bwMode="auto">
          <a:xfrm flipV="1">
            <a:off x="1388709" y="3730232"/>
            <a:ext cx="252536" cy="2649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4328759" y="3004592"/>
            <a:ext cx="13628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Union(2,1)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8" name="Oval 18"/>
          <p:cNvSpPr>
            <a:spLocks noChangeArrowheads="1"/>
          </p:cNvSpPr>
          <p:nvPr/>
        </p:nvSpPr>
        <p:spPr bwMode="auto">
          <a:xfrm>
            <a:off x="2271359" y="42999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9" name="Oval 20"/>
          <p:cNvSpPr>
            <a:spLocks noChangeArrowheads="1"/>
          </p:cNvSpPr>
          <p:nvPr/>
        </p:nvSpPr>
        <p:spPr bwMode="auto">
          <a:xfrm>
            <a:off x="3642959" y="42999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1" name="Line 22"/>
          <p:cNvSpPr>
            <a:spLocks noChangeShapeType="1"/>
          </p:cNvSpPr>
          <p:nvPr/>
        </p:nvSpPr>
        <p:spPr bwMode="auto">
          <a:xfrm flipV="1">
            <a:off x="2042759" y="4560342"/>
            <a:ext cx="273050" cy="273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4328759" y="3918992"/>
            <a:ext cx="128079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Union(3,2)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4328759" y="5061992"/>
            <a:ext cx="1572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Union(n,n-1)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4" name="Text Box 28"/>
          <p:cNvSpPr txBox="1">
            <a:spLocks noChangeArrowheads="1"/>
          </p:cNvSpPr>
          <p:nvPr/>
        </p:nvSpPr>
        <p:spPr bwMode="auto">
          <a:xfrm>
            <a:off x="2804759" y="3080792"/>
            <a:ext cx="6413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3600">
                <a:ea typeface="宋体" pitchFamily="2" charset="-122"/>
              </a:rPr>
              <a:t>…</a:t>
            </a:r>
            <a:endParaRPr lang="en-US" altLang="zh-CN" sz="3600">
              <a:ea typeface="宋体" pitchFamily="2" charset="-122"/>
            </a:endParaRPr>
          </a:p>
        </p:txBody>
      </p:sp>
      <p:sp>
        <p:nvSpPr>
          <p:cNvPr id="55" name="Text Box 29"/>
          <p:cNvSpPr txBox="1">
            <a:spLocks noChangeArrowheads="1"/>
          </p:cNvSpPr>
          <p:nvPr/>
        </p:nvSpPr>
        <p:spPr bwMode="auto">
          <a:xfrm>
            <a:off x="2804759" y="3918992"/>
            <a:ext cx="6413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3600">
                <a:ea typeface="宋体" pitchFamily="2" charset="-122"/>
              </a:rPr>
              <a:t>…</a:t>
            </a:r>
            <a:endParaRPr lang="en-US" altLang="zh-CN" sz="3600">
              <a:ea typeface="宋体" pitchFamily="2" charset="-122"/>
            </a:endParaRPr>
          </a:p>
        </p:txBody>
      </p:sp>
      <p:sp>
        <p:nvSpPr>
          <p:cNvPr id="59" name="Oval 33"/>
          <p:cNvSpPr>
            <a:spLocks noChangeArrowheads="1"/>
          </p:cNvSpPr>
          <p:nvPr/>
        </p:nvSpPr>
        <p:spPr bwMode="auto">
          <a:xfrm>
            <a:off x="3642959" y="5138192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62" name="Line 36"/>
          <p:cNvSpPr>
            <a:spLocks noChangeShapeType="1"/>
          </p:cNvSpPr>
          <p:nvPr/>
        </p:nvSpPr>
        <p:spPr bwMode="auto">
          <a:xfrm flipV="1">
            <a:off x="3185759" y="5290592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Text Box 38"/>
          <p:cNvSpPr txBox="1">
            <a:spLocks noChangeArrowheads="1"/>
          </p:cNvSpPr>
          <p:nvPr/>
        </p:nvSpPr>
        <p:spPr bwMode="auto">
          <a:xfrm>
            <a:off x="4693884" y="4234905"/>
            <a:ext cx="2760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: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: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4" name="Text Box 39"/>
          <p:cNvSpPr txBox="1">
            <a:spLocks noChangeArrowheads="1"/>
          </p:cNvSpPr>
          <p:nvPr/>
        </p:nvSpPr>
        <p:spPr bwMode="auto">
          <a:xfrm>
            <a:off x="4236684" y="6139905"/>
            <a:ext cx="249618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Find(1)   n-1 steps!!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5" name="Oval 9"/>
          <p:cNvSpPr>
            <a:spLocks noChangeArrowheads="1"/>
          </p:cNvSpPr>
          <p:nvPr/>
        </p:nvSpPr>
        <p:spPr bwMode="auto">
          <a:xfrm>
            <a:off x="1343819" y="5321424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66" name="Oval 10"/>
          <p:cNvSpPr>
            <a:spLocks noChangeArrowheads="1"/>
          </p:cNvSpPr>
          <p:nvPr/>
        </p:nvSpPr>
        <p:spPr bwMode="auto">
          <a:xfrm>
            <a:off x="1801019" y="4788024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67" name="Line 14"/>
          <p:cNvSpPr>
            <a:spLocks noChangeShapeType="1"/>
          </p:cNvSpPr>
          <p:nvPr/>
        </p:nvSpPr>
        <p:spPr bwMode="auto">
          <a:xfrm flipV="1">
            <a:off x="1604169" y="5056464"/>
            <a:ext cx="252536" cy="2649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Oval 18"/>
          <p:cNvSpPr>
            <a:spLocks noChangeArrowheads="1"/>
          </p:cNvSpPr>
          <p:nvPr/>
        </p:nvSpPr>
        <p:spPr bwMode="auto">
          <a:xfrm>
            <a:off x="2270614" y="5910064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69" name="Line 22"/>
          <p:cNvSpPr>
            <a:spLocks noChangeShapeType="1"/>
          </p:cNvSpPr>
          <p:nvPr/>
        </p:nvSpPr>
        <p:spPr bwMode="auto">
          <a:xfrm flipV="1">
            <a:off x="2042014" y="6170414"/>
            <a:ext cx="273050" cy="273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Oval 9"/>
          <p:cNvSpPr>
            <a:spLocks noChangeArrowheads="1"/>
          </p:cNvSpPr>
          <p:nvPr/>
        </p:nvSpPr>
        <p:spPr bwMode="auto">
          <a:xfrm>
            <a:off x="1343074" y="6931496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71" name="Oval 10"/>
          <p:cNvSpPr>
            <a:spLocks noChangeArrowheads="1"/>
          </p:cNvSpPr>
          <p:nvPr/>
        </p:nvSpPr>
        <p:spPr bwMode="auto">
          <a:xfrm>
            <a:off x="1800274" y="6398096"/>
            <a:ext cx="304800" cy="304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72" name="Line 14"/>
          <p:cNvSpPr>
            <a:spLocks noChangeShapeType="1"/>
          </p:cNvSpPr>
          <p:nvPr/>
        </p:nvSpPr>
        <p:spPr bwMode="auto">
          <a:xfrm flipV="1">
            <a:off x="1603424" y="6666536"/>
            <a:ext cx="252536" cy="2649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3097521-753E-46D8-A292-3431C9FFEC8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37CBA45-EE91-4B40-94EB-53F20E51C007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Weighted 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6255" y="2784475"/>
            <a:ext cx="5829300" cy="1331595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Weighted Union (weight = number of nodes)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Always point the smaller tree to the root of the larger </a:t>
            </a:r>
            <a:r>
              <a:rPr lang="en-US" altLang="zh-CN" dirty="0" smtClean="0">
                <a:ea typeface="宋体" pitchFamily="2" charset="-122"/>
              </a:rPr>
              <a:t>tree (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Union-by-Size</a:t>
            </a:r>
            <a:r>
              <a:rPr lang="en-US" altLang="zh-CN" dirty="0" smtClean="0">
                <a:ea typeface="宋体" pitchFamily="2" charset="-12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3810" name="Freeform 15"/>
          <p:cNvSpPr/>
          <p:nvPr/>
        </p:nvSpPr>
        <p:spPr bwMode="auto">
          <a:xfrm>
            <a:off x="1844824" y="5280686"/>
            <a:ext cx="2847975" cy="379810"/>
          </a:xfrm>
          <a:custGeom>
            <a:avLst/>
            <a:gdLst>
              <a:gd name="T0" fmla="*/ 0 w 2392"/>
              <a:gd name="T1" fmla="*/ 493713 h 319"/>
              <a:gd name="T2" fmla="*/ 98425 w 2392"/>
              <a:gd name="T3" fmla="*/ 393700 h 319"/>
              <a:gd name="T4" fmla="*/ 147638 w 2392"/>
              <a:gd name="T5" fmla="*/ 357188 h 319"/>
              <a:gd name="T6" fmla="*/ 185738 w 2392"/>
              <a:gd name="T7" fmla="*/ 333375 h 319"/>
              <a:gd name="T8" fmla="*/ 296863 w 2392"/>
              <a:gd name="T9" fmla="*/ 246063 h 319"/>
              <a:gd name="T10" fmla="*/ 692150 w 2392"/>
              <a:gd name="T11" fmla="*/ 158750 h 319"/>
              <a:gd name="T12" fmla="*/ 1311275 w 2392"/>
              <a:gd name="T13" fmla="*/ 60325 h 319"/>
              <a:gd name="T14" fmla="*/ 1768475 w 2392"/>
              <a:gd name="T15" fmla="*/ 11113 h 319"/>
              <a:gd name="T16" fmla="*/ 2733675 w 2392"/>
              <a:gd name="T17" fmla="*/ 47625 h 319"/>
              <a:gd name="T18" fmla="*/ 2770188 w 2392"/>
              <a:gd name="T19" fmla="*/ 60325 h 319"/>
              <a:gd name="T20" fmla="*/ 2857500 w 2392"/>
              <a:gd name="T21" fmla="*/ 73025 h 319"/>
              <a:gd name="T22" fmla="*/ 2906713 w 2392"/>
              <a:gd name="T23" fmla="*/ 96838 h 319"/>
              <a:gd name="T24" fmla="*/ 2994025 w 2392"/>
              <a:gd name="T25" fmla="*/ 109538 h 319"/>
              <a:gd name="T26" fmla="*/ 3389313 w 2392"/>
              <a:gd name="T27" fmla="*/ 271463 h 319"/>
              <a:gd name="T28" fmla="*/ 3711575 w 2392"/>
              <a:gd name="T29" fmla="*/ 406400 h 319"/>
              <a:gd name="T30" fmla="*/ 3797300 w 2392"/>
              <a:gd name="T31" fmla="*/ 506413 h 3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392" h="319">
                <a:moveTo>
                  <a:pt x="0" y="311"/>
                </a:moveTo>
                <a:cubicBezTo>
                  <a:pt x="27" y="293"/>
                  <a:pt x="38" y="269"/>
                  <a:pt x="62" y="248"/>
                </a:cubicBezTo>
                <a:cubicBezTo>
                  <a:pt x="72" y="240"/>
                  <a:pt x="82" y="232"/>
                  <a:pt x="93" y="225"/>
                </a:cubicBezTo>
                <a:cubicBezTo>
                  <a:pt x="101" y="220"/>
                  <a:pt x="110" y="216"/>
                  <a:pt x="117" y="210"/>
                </a:cubicBezTo>
                <a:cubicBezTo>
                  <a:pt x="147" y="185"/>
                  <a:pt x="140" y="171"/>
                  <a:pt x="187" y="155"/>
                </a:cubicBezTo>
                <a:cubicBezTo>
                  <a:pt x="268" y="127"/>
                  <a:pt x="352" y="114"/>
                  <a:pt x="436" y="100"/>
                </a:cubicBezTo>
                <a:cubicBezTo>
                  <a:pt x="567" y="78"/>
                  <a:pt x="694" y="53"/>
                  <a:pt x="826" y="38"/>
                </a:cubicBezTo>
                <a:cubicBezTo>
                  <a:pt x="920" y="14"/>
                  <a:pt x="1018" y="12"/>
                  <a:pt x="1114" y="7"/>
                </a:cubicBezTo>
                <a:cubicBezTo>
                  <a:pt x="1334" y="11"/>
                  <a:pt x="1517" y="0"/>
                  <a:pt x="1722" y="30"/>
                </a:cubicBezTo>
                <a:cubicBezTo>
                  <a:pt x="1730" y="33"/>
                  <a:pt x="1737" y="36"/>
                  <a:pt x="1745" y="38"/>
                </a:cubicBezTo>
                <a:cubicBezTo>
                  <a:pt x="1763" y="42"/>
                  <a:pt x="1782" y="41"/>
                  <a:pt x="1800" y="46"/>
                </a:cubicBezTo>
                <a:cubicBezTo>
                  <a:pt x="1811" y="49"/>
                  <a:pt x="1820" y="58"/>
                  <a:pt x="1831" y="61"/>
                </a:cubicBezTo>
                <a:cubicBezTo>
                  <a:pt x="1849" y="66"/>
                  <a:pt x="1868" y="66"/>
                  <a:pt x="1886" y="69"/>
                </a:cubicBezTo>
                <a:cubicBezTo>
                  <a:pt x="1971" y="98"/>
                  <a:pt x="2052" y="138"/>
                  <a:pt x="2135" y="171"/>
                </a:cubicBezTo>
                <a:cubicBezTo>
                  <a:pt x="2203" y="198"/>
                  <a:pt x="2275" y="217"/>
                  <a:pt x="2338" y="256"/>
                </a:cubicBezTo>
                <a:cubicBezTo>
                  <a:pt x="2353" y="281"/>
                  <a:pt x="2372" y="298"/>
                  <a:pt x="2392" y="319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3811" name="Text Box 16"/>
          <p:cNvSpPr txBox="1">
            <a:spLocks noChangeArrowheads="1"/>
          </p:cNvSpPr>
          <p:nvPr/>
        </p:nvSpPr>
        <p:spPr bwMode="auto">
          <a:xfrm>
            <a:off x="4745013" y="4944778"/>
            <a:ext cx="18694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W-Union(6,0)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812" name="Text Box 17"/>
          <p:cNvSpPr txBox="1">
            <a:spLocks noChangeArrowheads="1"/>
          </p:cNvSpPr>
          <p:nvPr/>
        </p:nvSpPr>
        <p:spPr bwMode="auto">
          <a:xfrm>
            <a:off x="1239986" y="5756936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3813" name="Text Box 18"/>
          <p:cNvSpPr txBox="1">
            <a:spLocks noChangeArrowheads="1"/>
          </p:cNvSpPr>
          <p:nvPr/>
        </p:nvSpPr>
        <p:spPr bwMode="auto">
          <a:xfrm>
            <a:off x="4154636" y="5699786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4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3814" name="Text Box 19"/>
          <p:cNvSpPr txBox="1">
            <a:spLocks noChangeArrowheads="1"/>
          </p:cNvSpPr>
          <p:nvPr/>
        </p:nvSpPr>
        <p:spPr bwMode="auto">
          <a:xfrm>
            <a:off x="2656830" y="572955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23" name="Oval 11"/>
          <p:cNvSpPr>
            <a:spLocks noChangeArrowheads="1"/>
          </p:cNvSpPr>
          <p:nvPr/>
        </p:nvSpPr>
        <p:spPr bwMode="auto">
          <a:xfrm>
            <a:off x="1580604" y="56961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4" name="Oval 12"/>
          <p:cNvSpPr>
            <a:spLocks noChangeArrowheads="1"/>
          </p:cNvSpPr>
          <p:nvPr/>
        </p:nvSpPr>
        <p:spPr bwMode="auto">
          <a:xfrm>
            <a:off x="1809204" y="63819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5" name="Oval 13"/>
          <p:cNvSpPr>
            <a:spLocks noChangeArrowheads="1"/>
          </p:cNvSpPr>
          <p:nvPr/>
        </p:nvSpPr>
        <p:spPr bwMode="auto">
          <a:xfrm>
            <a:off x="3009354" y="56961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6" name="Oval 14"/>
          <p:cNvSpPr>
            <a:spLocks noChangeArrowheads="1"/>
          </p:cNvSpPr>
          <p:nvPr/>
        </p:nvSpPr>
        <p:spPr bwMode="auto">
          <a:xfrm>
            <a:off x="4952454" y="63819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" name="Oval 15"/>
          <p:cNvSpPr>
            <a:spLocks noChangeArrowheads="1"/>
          </p:cNvSpPr>
          <p:nvPr/>
        </p:nvSpPr>
        <p:spPr bwMode="auto">
          <a:xfrm>
            <a:off x="4209504" y="63819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8" name="Oval 16"/>
          <p:cNvSpPr>
            <a:spLocks noChangeArrowheads="1"/>
          </p:cNvSpPr>
          <p:nvPr/>
        </p:nvSpPr>
        <p:spPr bwMode="auto">
          <a:xfrm>
            <a:off x="3923754" y="70677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9" name="Oval 17"/>
          <p:cNvSpPr>
            <a:spLocks noChangeArrowheads="1"/>
          </p:cNvSpPr>
          <p:nvPr/>
        </p:nvSpPr>
        <p:spPr bwMode="auto">
          <a:xfrm>
            <a:off x="4552404" y="5696174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flipH="1" flipV="1">
            <a:off x="1794916" y="6033344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31" name="Line 19"/>
          <p:cNvSpPr>
            <a:spLocks noChangeShapeType="1"/>
          </p:cNvSpPr>
          <p:nvPr/>
        </p:nvSpPr>
        <p:spPr bwMode="auto">
          <a:xfrm flipV="1">
            <a:off x="4438104" y="6033344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 flipH="1" flipV="1">
            <a:off x="4781004" y="6020766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33" name="Line 21"/>
          <p:cNvSpPr>
            <a:spLocks noChangeShapeType="1"/>
          </p:cNvSpPr>
          <p:nvPr/>
        </p:nvSpPr>
        <p:spPr bwMode="auto">
          <a:xfrm flipV="1">
            <a:off x="4152354" y="6719144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8570C5A-CCF7-4B27-84CD-C5CF456F996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8DAFA06-9737-4A93-B17B-D48324DAB052}" type="slidenum">
              <a:rPr lang="en-US" altLang="zh-CN" sz="1050"/>
            </a:fld>
            <a:endParaRPr lang="en-US" altLang="zh-CN" sz="105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Again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7" name="Oval 3"/>
          <p:cNvSpPr>
            <a:spLocks noChangeArrowheads="1"/>
          </p:cNvSpPr>
          <p:nvPr/>
        </p:nvSpPr>
        <p:spPr bwMode="auto">
          <a:xfrm>
            <a:off x="747713" y="3175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8" name="Oval 4"/>
          <p:cNvSpPr>
            <a:spLocks noChangeArrowheads="1"/>
          </p:cNvSpPr>
          <p:nvPr/>
        </p:nvSpPr>
        <p:spPr bwMode="auto">
          <a:xfrm>
            <a:off x="1433513" y="3175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9" name="Oval 5"/>
          <p:cNvSpPr>
            <a:spLocks noChangeArrowheads="1"/>
          </p:cNvSpPr>
          <p:nvPr/>
        </p:nvSpPr>
        <p:spPr bwMode="auto">
          <a:xfrm>
            <a:off x="2119313" y="3175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0" name="Oval 6"/>
          <p:cNvSpPr>
            <a:spLocks noChangeArrowheads="1"/>
          </p:cNvSpPr>
          <p:nvPr/>
        </p:nvSpPr>
        <p:spPr bwMode="auto">
          <a:xfrm>
            <a:off x="3490913" y="3175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" name="Oval 7"/>
          <p:cNvSpPr>
            <a:spLocks noChangeArrowheads="1"/>
          </p:cNvSpPr>
          <p:nvPr/>
        </p:nvSpPr>
        <p:spPr bwMode="auto">
          <a:xfrm>
            <a:off x="976313" y="44708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" name="Oval 8"/>
          <p:cNvSpPr>
            <a:spLocks noChangeArrowheads="1"/>
          </p:cNvSpPr>
          <p:nvPr/>
        </p:nvSpPr>
        <p:spPr bwMode="auto">
          <a:xfrm>
            <a:off x="1433513" y="3937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3" name="Oval 9"/>
          <p:cNvSpPr>
            <a:spLocks noChangeArrowheads="1"/>
          </p:cNvSpPr>
          <p:nvPr/>
        </p:nvSpPr>
        <p:spPr bwMode="auto">
          <a:xfrm>
            <a:off x="2119313" y="3937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4" name="Oval 10"/>
          <p:cNvSpPr>
            <a:spLocks noChangeArrowheads="1"/>
          </p:cNvSpPr>
          <p:nvPr/>
        </p:nvSpPr>
        <p:spPr bwMode="auto">
          <a:xfrm>
            <a:off x="3490913" y="39374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 flipV="1">
            <a:off x="1176008" y="4166011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4176713" y="3169958"/>
            <a:ext cx="13628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宋体" pitchFamily="2" charset="-122"/>
              </a:rPr>
              <a:t>Union(2,1)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7" name="Oval 13"/>
          <p:cNvSpPr>
            <a:spLocks noChangeArrowheads="1"/>
          </p:cNvSpPr>
          <p:nvPr/>
        </p:nvSpPr>
        <p:spPr bwMode="auto">
          <a:xfrm>
            <a:off x="1585913" y="53090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8" name="Oval 14"/>
          <p:cNvSpPr>
            <a:spLocks noChangeArrowheads="1"/>
          </p:cNvSpPr>
          <p:nvPr/>
        </p:nvSpPr>
        <p:spPr bwMode="auto">
          <a:xfrm>
            <a:off x="2043113" y="47756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9" name="Oval 15"/>
          <p:cNvSpPr>
            <a:spLocks noChangeArrowheads="1"/>
          </p:cNvSpPr>
          <p:nvPr/>
        </p:nvSpPr>
        <p:spPr bwMode="auto">
          <a:xfrm>
            <a:off x="2500313" y="53090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0" name="Oval 16"/>
          <p:cNvSpPr>
            <a:spLocks noChangeArrowheads="1"/>
          </p:cNvSpPr>
          <p:nvPr/>
        </p:nvSpPr>
        <p:spPr bwMode="auto">
          <a:xfrm>
            <a:off x="3490913" y="47756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1" name="Text Box 17"/>
          <p:cNvSpPr txBox="1">
            <a:spLocks noChangeArrowheads="1"/>
          </p:cNvSpPr>
          <p:nvPr/>
        </p:nvSpPr>
        <p:spPr bwMode="auto">
          <a:xfrm>
            <a:off x="4176713" y="4084358"/>
            <a:ext cx="128079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Union(3,2)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4176713" y="5227358"/>
            <a:ext cx="149161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Union(n,n-1)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3" name="Text Box 19"/>
          <p:cNvSpPr txBox="1">
            <a:spLocks noChangeArrowheads="1"/>
          </p:cNvSpPr>
          <p:nvPr/>
        </p:nvSpPr>
        <p:spPr bwMode="auto">
          <a:xfrm>
            <a:off x="2652713" y="3556411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3600">
                <a:ea typeface="宋体" pitchFamily="2" charset="-122"/>
              </a:rPr>
              <a:t>…</a:t>
            </a:r>
            <a:endParaRPr lang="en-US" altLang="zh-CN" sz="3600">
              <a:ea typeface="宋体" pitchFamily="2" charset="-122"/>
            </a:endParaRPr>
          </a:p>
        </p:txBody>
      </p:sp>
      <p:sp>
        <p:nvSpPr>
          <p:cNvPr id="54" name="Text Box 20"/>
          <p:cNvSpPr txBox="1">
            <a:spLocks noChangeArrowheads="1"/>
          </p:cNvSpPr>
          <p:nvPr/>
        </p:nvSpPr>
        <p:spPr bwMode="auto">
          <a:xfrm>
            <a:off x="2652713" y="4394611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3600">
                <a:ea typeface="宋体" pitchFamily="2" charset="-122"/>
              </a:rPr>
              <a:t>…</a:t>
            </a:r>
            <a:endParaRPr lang="en-US" altLang="zh-CN" sz="3600">
              <a:ea typeface="宋体" pitchFamily="2" charset="-122"/>
            </a:endParaRPr>
          </a:p>
        </p:txBody>
      </p:sp>
      <p:sp>
        <p:nvSpPr>
          <p:cNvPr id="55" name="Text Box 21"/>
          <p:cNvSpPr txBox="1">
            <a:spLocks noChangeArrowheads="1"/>
          </p:cNvSpPr>
          <p:nvPr/>
        </p:nvSpPr>
        <p:spPr bwMode="auto">
          <a:xfrm>
            <a:off x="4541838" y="4400271"/>
            <a:ext cx="2760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: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: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6" name="Line 22"/>
          <p:cNvSpPr>
            <a:spLocks noChangeShapeType="1"/>
          </p:cNvSpPr>
          <p:nvPr/>
        </p:nvSpPr>
        <p:spPr bwMode="auto">
          <a:xfrm flipV="1">
            <a:off x="1767218" y="5004211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23"/>
          <p:cNvSpPr>
            <a:spLocks noChangeShapeType="1"/>
          </p:cNvSpPr>
          <p:nvPr/>
        </p:nvSpPr>
        <p:spPr bwMode="auto">
          <a:xfrm flipH="1" flipV="1">
            <a:off x="2347913" y="5004211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Oval 24"/>
          <p:cNvSpPr>
            <a:spLocks noChangeArrowheads="1"/>
          </p:cNvSpPr>
          <p:nvPr/>
        </p:nvSpPr>
        <p:spPr bwMode="auto">
          <a:xfrm>
            <a:off x="1585913" y="64520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59" name="Oval 25"/>
          <p:cNvSpPr>
            <a:spLocks noChangeArrowheads="1"/>
          </p:cNvSpPr>
          <p:nvPr/>
        </p:nvSpPr>
        <p:spPr bwMode="auto">
          <a:xfrm>
            <a:off x="2032603" y="587657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dirty="0">
                <a:ea typeface="宋体" pitchFamily="2" charset="-122"/>
              </a:rPr>
              <a:t>2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60" name="Oval 26"/>
          <p:cNvSpPr>
            <a:spLocks noChangeArrowheads="1"/>
          </p:cNvSpPr>
          <p:nvPr/>
        </p:nvSpPr>
        <p:spPr bwMode="auto">
          <a:xfrm>
            <a:off x="2424113" y="64520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61" name="Oval 27"/>
          <p:cNvSpPr>
            <a:spLocks noChangeArrowheads="1"/>
          </p:cNvSpPr>
          <p:nvPr/>
        </p:nvSpPr>
        <p:spPr bwMode="auto">
          <a:xfrm>
            <a:off x="3338513" y="6452011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n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62" name="Line 28"/>
          <p:cNvSpPr>
            <a:spLocks noChangeShapeType="1"/>
          </p:cNvSpPr>
          <p:nvPr/>
        </p:nvSpPr>
        <p:spPr bwMode="auto">
          <a:xfrm flipV="1">
            <a:off x="1738313" y="6147211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29"/>
          <p:cNvSpPr>
            <a:spLocks noChangeShapeType="1"/>
          </p:cNvSpPr>
          <p:nvPr/>
        </p:nvSpPr>
        <p:spPr bwMode="auto">
          <a:xfrm flipH="1" flipV="1">
            <a:off x="2271713" y="6147211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30"/>
          <p:cNvSpPr>
            <a:spLocks noChangeShapeType="1"/>
          </p:cNvSpPr>
          <p:nvPr/>
        </p:nvSpPr>
        <p:spPr bwMode="auto">
          <a:xfrm flipH="1" flipV="1">
            <a:off x="2347913" y="5994811"/>
            <a:ext cx="11430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32"/>
          <p:cNvSpPr txBox="1">
            <a:spLocks noChangeArrowheads="1"/>
          </p:cNvSpPr>
          <p:nvPr/>
        </p:nvSpPr>
        <p:spPr bwMode="auto">
          <a:xfrm>
            <a:off x="3871913" y="6279879"/>
            <a:ext cx="29274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Find(1)   constant time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2728913" y="6147211"/>
            <a:ext cx="6413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3600" dirty="0">
                <a:ea typeface="宋体" pitchFamily="2" charset="-122"/>
              </a:rPr>
              <a:t>…</a:t>
            </a:r>
            <a:endParaRPr lang="en-US" altLang="zh-CN" sz="36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3097521-753E-46D8-A292-3431C9FFEC8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37CBA45-EE91-4B40-94EB-53F20E51C007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Weighted 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6032" y="2784188"/>
            <a:ext cx="5829300" cy="1098947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How to save weight information?</a:t>
            </a: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2271712" y="4530547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2271713" y="4098499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822474" y="4096564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Sitka Text" panose="02000505000000020004" pitchFamily="2" charset="0"/>
              </a:rPr>
              <a:t>element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99828" y="4530547"/>
            <a:ext cx="606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s[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2271711" y="5062950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" name="矩形 38"/>
          <p:cNvSpPr/>
          <p:nvPr/>
        </p:nvSpPr>
        <p:spPr>
          <a:xfrm>
            <a:off x="1005929" y="5062950"/>
            <a:ext cx="10086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Sitka Text" panose="02000505000000020004" pitchFamily="2" charset="0"/>
              </a:rPr>
              <a:t>weight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1488126" y="620296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4402776" y="614581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4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904970" y="6175578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182874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4" name="Oval 12"/>
          <p:cNvSpPr>
            <a:spLocks noChangeArrowheads="1"/>
          </p:cNvSpPr>
          <p:nvPr/>
        </p:nvSpPr>
        <p:spPr bwMode="auto">
          <a:xfrm>
            <a:off x="205734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5" name="Oval 13"/>
          <p:cNvSpPr>
            <a:spLocks noChangeArrowheads="1"/>
          </p:cNvSpPr>
          <p:nvPr/>
        </p:nvSpPr>
        <p:spPr bwMode="auto">
          <a:xfrm>
            <a:off x="325749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6" name="Oval 14"/>
          <p:cNvSpPr>
            <a:spLocks noChangeArrowheads="1"/>
          </p:cNvSpPr>
          <p:nvPr/>
        </p:nvSpPr>
        <p:spPr bwMode="auto">
          <a:xfrm>
            <a:off x="520059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445764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4171894" y="75138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9" name="Oval 17"/>
          <p:cNvSpPr>
            <a:spLocks noChangeArrowheads="1"/>
          </p:cNvSpPr>
          <p:nvPr/>
        </p:nvSpPr>
        <p:spPr bwMode="auto">
          <a:xfrm>
            <a:off x="480054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H="1" flipV="1">
            <a:off x="2043056" y="6479370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 flipV="1">
            <a:off x="4686244" y="6479370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 flipH="1" flipV="1">
            <a:off x="5029144" y="6466792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 flipV="1">
            <a:off x="4400494" y="7165170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4" name="Text Box 1028"/>
          <p:cNvSpPr txBox="1">
            <a:spLocks noChangeArrowheads="1"/>
          </p:cNvSpPr>
          <p:nvPr/>
        </p:nvSpPr>
        <p:spPr bwMode="auto">
          <a:xfrm>
            <a:off x="1171134" y="7651428"/>
            <a:ext cx="27510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Need more space!</a:t>
            </a:r>
            <a:endParaRPr lang="en-US" altLang="zh-CN" sz="24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3097521-753E-46D8-A292-3431C9FFEC8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37CBA45-EE91-4B40-94EB-53F20E51C007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Weighted 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6032" y="2784188"/>
            <a:ext cx="5829300" cy="1098947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Less space to save weight information.</a:t>
            </a: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2271712" y="4530547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2271713" y="4098499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822474" y="4096564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Sitka Text" panose="02000505000000020004" pitchFamily="2" charset="0"/>
              </a:rPr>
              <a:t>element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99828" y="4530547"/>
            <a:ext cx="606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s[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1488126" y="620296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4402776" y="614581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4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904970" y="6175578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182874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4" name="Oval 12"/>
          <p:cNvSpPr>
            <a:spLocks noChangeArrowheads="1"/>
          </p:cNvSpPr>
          <p:nvPr/>
        </p:nvSpPr>
        <p:spPr bwMode="auto">
          <a:xfrm>
            <a:off x="205734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5" name="Oval 13"/>
          <p:cNvSpPr>
            <a:spLocks noChangeArrowheads="1"/>
          </p:cNvSpPr>
          <p:nvPr/>
        </p:nvSpPr>
        <p:spPr bwMode="auto">
          <a:xfrm>
            <a:off x="325749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6" name="Oval 14"/>
          <p:cNvSpPr>
            <a:spLocks noChangeArrowheads="1"/>
          </p:cNvSpPr>
          <p:nvPr/>
        </p:nvSpPr>
        <p:spPr bwMode="auto">
          <a:xfrm>
            <a:off x="520059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445764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4171894" y="75138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9" name="Oval 17"/>
          <p:cNvSpPr>
            <a:spLocks noChangeArrowheads="1"/>
          </p:cNvSpPr>
          <p:nvPr/>
        </p:nvSpPr>
        <p:spPr bwMode="auto">
          <a:xfrm>
            <a:off x="480054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H="1" flipV="1">
            <a:off x="2043056" y="6479370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 flipV="1">
            <a:off x="4686244" y="6479370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 flipH="1" flipV="1">
            <a:off x="5029144" y="6466792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 flipV="1">
            <a:off x="4400494" y="7165170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A6B70CB-A731-4A2B-B41E-90C7C049B25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E78A580-8A0E-4367-B57B-3A56234C8BB9}" type="slidenum">
              <a:rPr lang="en-US" altLang="zh-CN" sz="1050"/>
            </a:fld>
            <a:endParaRPr lang="en-US" altLang="zh-CN" sz="105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Analysis of Weighted 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3946" y="2652711"/>
            <a:ext cx="5829300" cy="2594720"/>
          </a:xfrm>
        </p:spPr>
        <p:txBody>
          <a:bodyPr/>
          <a:lstStyle/>
          <a:p>
            <a:r>
              <a:rPr lang="en-US" altLang="zh-CN" sz="2100" dirty="0">
                <a:ea typeface="宋体" pitchFamily="2" charset="-122"/>
              </a:rPr>
              <a:t>With weighted union an </a:t>
            </a:r>
            <a:r>
              <a:rPr lang="en-US" altLang="zh-CN" sz="2100" dirty="0">
                <a:solidFill>
                  <a:srgbClr val="FF0000"/>
                </a:solidFill>
                <a:ea typeface="宋体" pitchFamily="2" charset="-122"/>
              </a:rPr>
              <a:t>up-tree of height h</a:t>
            </a:r>
            <a:r>
              <a:rPr lang="en-US" altLang="zh-CN" sz="2100" dirty="0">
                <a:ea typeface="宋体" pitchFamily="2" charset="-122"/>
              </a:rPr>
              <a:t> has weight at least </a:t>
            </a:r>
            <a:r>
              <a:rPr lang="en-US" altLang="zh-CN" sz="2100" dirty="0">
                <a:solidFill>
                  <a:srgbClr val="FF0000"/>
                </a:solidFill>
                <a:ea typeface="宋体" pitchFamily="2" charset="-122"/>
              </a:rPr>
              <a:t>2</a:t>
            </a:r>
            <a:r>
              <a:rPr lang="en-US" altLang="zh-CN" sz="2100" baseline="30000" dirty="0">
                <a:solidFill>
                  <a:srgbClr val="FF0000"/>
                </a:solidFill>
                <a:ea typeface="宋体" pitchFamily="2" charset="-122"/>
              </a:rPr>
              <a:t>h</a:t>
            </a:r>
            <a:r>
              <a:rPr lang="en-US" altLang="zh-CN" sz="2100" dirty="0">
                <a:ea typeface="宋体" pitchFamily="2" charset="-122"/>
              </a:rPr>
              <a:t>.</a:t>
            </a:r>
            <a:endParaRPr lang="en-US" altLang="zh-CN" sz="2100" dirty="0">
              <a:ea typeface="宋体" pitchFamily="2" charset="-122"/>
            </a:endParaRPr>
          </a:p>
          <a:p>
            <a:r>
              <a:rPr lang="en-US" altLang="zh-CN" sz="2100" dirty="0">
                <a:ea typeface="宋体" pitchFamily="2" charset="-122"/>
              </a:rPr>
              <a:t>Proof by induction</a:t>
            </a:r>
            <a:endParaRPr lang="en-US" altLang="zh-CN" sz="21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Basis: h = 0. The up-tree has one node, 2</a:t>
            </a:r>
            <a:r>
              <a:rPr lang="en-US" altLang="zh-CN" sz="1800" baseline="30000" dirty="0">
                <a:ea typeface="宋体" pitchFamily="2" charset="-122"/>
              </a:rPr>
              <a:t>0</a:t>
            </a:r>
            <a:r>
              <a:rPr lang="en-US" altLang="zh-CN" sz="1800" dirty="0">
                <a:ea typeface="宋体" pitchFamily="2" charset="-122"/>
              </a:rPr>
              <a:t> = 1</a:t>
            </a:r>
            <a:endParaRPr lang="en-US" altLang="zh-CN" sz="1800" dirty="0">
              <a:ea typeface="宋体" pitchFamily="2" charset="-122"/>
            </a:endParaRPr>
          </a:p>
          <a:p>
            <a:pPr lvl="1"/>
            <a:r>
              <a:rPr lang="en-US" altLang="zh-CN" sz="1800" dirty="0">
                <a:ea typeface="宋体" pitchFamily="2" charset="-122"/>
              </a:rPr>
              <a:t>Inductive step: Assume true for all h’ &lt; h.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2248044" y="4734906"/>
            <a:ext cx="914400" cy="1017239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9" name="AutoShape 5"/>
          <p:cNvSpPr>
            <a:spLocks noChangeArrowheads="1"/>
          </p:cNvSpPr>
          <p:nvPr/>
        </p:nvSpPr>
        <p:spPr bwMode="auto">
          <a:xfrm>
            <a:off x="3238644" y="4887306"/>
            <a:ext cx="812800" cy="1084117"/>
          </a:xfrm>
          <a:prstGeom prst="triangle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0" name="Line 6"/>
          <p:cNvSpPr>
            <a:spLocks noChangeShapeType="1"/>
          </p:cNvSpPr>
          <p:nvPr/>
        </p:nvSpPr>
        <p:spPr bwMode="auto">
          <a:xfrm flipH="1" flipV="1">
            <a:off x="2749926" y="4748688"/>
            <a:ext cx="845766" cy="13861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3924444" y="5141391"/>
            <a:ext cx="514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宋体" pitchFamily="2" charset="-122"/>
              </a:rPr>
              <a:t>h-1</a:t>
            </a:r>
            <a:endParaRPr lang="en-US" altLang="zh-CN" sz="1800">
              <a:latin typeface="Sitka Text" panose="02000505000000020004" pitchFamily="2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76843" y="4887307"/>
            <a:ext cx="199149" cy="1084116"/>
            <a:chOff x="4076844" y="4887307"/>
            <a:chExt cx="152400" cy="838200"/>
          </a:xfrm>
        </p:grpSpPr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4076844" y="4887307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>
              <a:off x="4153044" y="488730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4076844" y="5725507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 flipV="1">
              <a:off x="4153044" y="5420707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</p:grpSp>
      <p:sp>
        <p:nvSpPr>
          <p:cNvPr id="36" name="Text Box 12"/>
          <p:cNvSpPr txBox="1">
            <a:spLocks noChangeArrowheads="1"/>
          </p:cNvSpPr>
          <p:nvPr/>
        </p:nvSpPr>
        <p:spPr bwMode="auto">
          <a:xfrm>
            <a:off x="482196" y="6451922"/>
            <a:ext cx="244169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Minimum weight</a:t>
            </a:r>
            <a:br>
              <a:rPr lang="en-US" altLang="zh-CN" dirty="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up-tree of height h</a:t>
            </a:r>
            <a:br>
              <a:rPr lang="en-US" altLang="zh-CN" dirty="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formed by</a:t>
            </a:r>
            <a:br>
              <a:rPr lang="en-US" altLang="zh-CN" dirty="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weighted unions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>
            <a:off x="2508797" y="5222269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T</a:t>
            </a:r>
            <a:r>
              <a:rPr lang="en-US" altLang="zh-CN" baseline="-25000" dirty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baseline="-250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" name="Text Box 14"/>
          <p:cNvSpPr txBox="1">
            <a:spLocks noChangeArrowheads="1"/>
          </p:cNvSpPr>
          <p:nvPr/>
        </p:nvSpPr>
        <p:spPr bwMode="auto">
          <a:xfrm>
            <a:off x="3463193" y="5409372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T</a:t>
            </a:r>
            <a:r>
              <a:rPr lang="en-US" altLang="zh-CN" baseline="-25000" dirty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baseline="-250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2476644" y="4353907"/>
            <a:ext cx="3449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T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3787764" y="6565735"/>
            <a:ext cx="26516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W(T</a:t>
            </a:r>
            <a:r>
              <a:rPr lang="en-US" altLang="zh-CN" baseline="-25000">
                <a:latin typeface="Sitka Text" panose="02000505000000020004" pitchFamily="2" charset="0"/>
                <a:ea typeface="宋体" pitchFamily="2" charset="-122"/>
              </a:rPr>
              <a:t>1</a:t>
            </a:r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) </a:t>
            </a:r>
            <a:r>
              <a:rPr lang="en-US" altLang="zh-CN" u="sng">
                <a:latin typeface="Sitka Text" panose="02000505000000020004" pitchFamily="2" charset="0"/>
                <a:ea typeface="宋体" pitchFamily="2" charset="-122"/>
              </a:rPr>
              <a:t>&gt;</a:t>
            </a:r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 W(T</a:t>
            </a:r>
            <a:r>
              <a:rPr lang="en-US" altLang="zh-CN" baseline="-25000">
                <a:latin typeface="Sitka Text" panose="02000505000000020004" pitchFamily="2" charset="0"/>
                <a:ea typeface="宋体" pitchFamily="2" charset="-122"/>
              </a:rPr>
              <a:t>2</a:t>
            </a:r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) </a:t>
            </a:r>
            <a:r>
              <a:rPr lang="en-US" altLang="zh-CN" u="sng">
                <a:latin typeface="Sitka Text" panose="02000505000000020004" pitchFamily="2" charset="0"/>
                <a:ea typeface="宋体" pitchFamily="2" charset="-122"/>
              </a:rPr>
              <a:t>&gt;</a:t>
            </a:r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 2</a:t>
            </a:r>
            <a:r>
              <a:rPr lang="en-US" altLang="zh-CN" baseline="30000">
                <a:latin typeface="Sitka Text" panose="02000505000000020004" pitchFamily="2" charset="0"/>
                <a:ea typeface="宋体" pitchFamily="2" charset="-122"/>
              </a:rPr>
              <a:t>h-1</a:t>
            </a:r>
            <a:endParaRPr lang="en-US" altLang="zh-CN" baseline="300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4016364" y="7175335"/>
            <a:ext cx="10999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Weighted</a:t>
            </a:r>
            <a:br>
              <a:rPr lang="en-US" altLang="zh-CN" sz="160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union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5235564" y="7099135"/>
            <a:ext cx="1217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Induction</a:t>
            </a:r>
            <a:br>
              <a:rPr lang="en-US" altLang="zh-CN" sz="1600">
                <a:latin typeface="Sitka Text" panose="02000505000000020004" pitchFamily="2" charset="0"/>
                <a:ea typeface="宋体" pitchFamily="2" charset="-122"/>
              </a:rPr>
            </a:br>
            <a:r>
              <a:rPr lang="en-US" altLang="zh-CN" sz="1600">
                <a:latin typeface="Sitka Text" panose="02000505000000020004" pitchFamily="2" charset="0"/>
                <a:ea typeface="宋体" pitchFamily="2" charset="-122"/>
              </a:rPr>
              <a:t>hypothesis</a:t>
            </a:r>
            <a:endParaRPr lang="en-US" altLang="zh-CN" sz="160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3" name="Line 19"/>
          <p:cNvSpPr>
            <a:spLocks noChangeShapeType="1"/>
          </p:cNvSpPr>
          <p:nvPr/>
        </p:nvSpPr>
        <p:spPr bwMode="auto">
          <a:xfrm flipV="1">
            <a:off x="4625964" y="7022935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flipH="1" flipV="1">
            <a:off x="5616564" y="6946735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3228279" y="5971424"/>
            <a:ext cx="18614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has 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2</a:t>
            </a:r>
            <a:r>
              <a:rPr lang="en-US" altLang="zh-CN" sz="1800" baseline="30000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h-1</a:t>
            </a:r>
            <a:r>
              <a:rPr lang="en-US" altLang="zh-CN" sz="1800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 nodes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7" name="Text Box 26"/>
          <p:cNvSpPr txBox="1">
            <a:spLocks noChangeArrowheads="1"/>
          </p:cNvSpPr>
          <p:nvPr/>
        </p:nvSpPr>
        <p:spPr bwMode="auto">
          <a:xfrm>
            <a:off x="2171844" y="5748322"/>
            <a:ext cx="8707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even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bigger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8212DBD-1EA0-43E1-8E22-B299482F5ED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8C20D05-A1D2-455B-8B64-F96137CA0281}" type="slidenum">
              <a:rPr lang="en-US" altLang="zh-CN" sz="1050"/>
            </a:fld>
            <a:endParaRPr lang="en-US" altLang="zh-CN" sz="105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Analysis of Weighted 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Let T be an up-tree of weight n formed by weighted union.  Let h be its height.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N </a:t>
            </a:r>
            <a:r>
              <a:rPr lang="en-US" altLang="zh-CN" u="sng" dirty="0" smtClean="0">
                <a:ea typeface="宋体" pitchFamily="2" charset="-122"/>
              </a:rPr>
              <a:t>&gt;</a:t>
            </a:r>
            <a:r>
              <a:rPr lang="en-US" altLang="zh-CN" dirty="0" smtClean="0">
                <a:ea typeface="宋体" pitchFamily="2" charset="-122"/>
              </a:rPr>
              <a:t> 2</a:t>
            </a:r>
            <a:r>
              <a:rPr lang="en-US" altLang="zh-CN" baseline="30000" dirty="0" smtClean="0">
                <a:ea typeface="宋体" pitchFamily="2" charset="-122"/>
              </a:rPr>
              <a:t>h</a:t>
            </a:r>
            <a:r>
              <a:rPr lang="en-US" altLang="zh-CN" dirty="0" smtClean="0">
                <a:ea typeface="宋体" pitchFamily="2" charset="-122"/>
              </a:rPr>
              <a:t> 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log</a:t>
            </a:r>
            <a:r>
              <a:rPr lang="en-US" altLang="zh-CN" baseline="-25000" dirty="0" smtClean="0">
                <a:ea typeface="宋体" pitchFamily="2" charset="-122"/>
              </a:rPr>
              <a:t>2</a:t>
            </a:r>
            <a:r>
              <a:rPr lang="en-US" altLang="zh-CN" dirty="0" smtClean="0">
                <a:ea typeface="宋体" pitchFamily="2" charset="-122"/>
              </a:rPr>
              <a:t> N </a:t>
            </a:r>
            <a:r>
              <a:rPr lang="en-US" altLang="zh-CN" u="sng" dirty="0" smtClean="0">
                <a:ea typeface="宋体" pitchFamily="2" charset="-122"/>
              </a:rPr>
              <a:t>&gt;</a:t>
            </a:r>
            <a:r>
              <a:rPr lang="en-US" altLang="zh-CN" dirty="0" smtClean="0">
                <a:ea typeface="宋体" pitchFamily="2" charset="-122"/>
              </a:rPr>
              <a:t> h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Find(x) in tree T takes O(log N) time.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Can we do better?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8ABA6ED-830C-4422-819D-7D41B03D088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789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BC893F1-29A1-4E23-BF77-6120C6703A87}" type="slidenum">
              <a:rPr lang="en-US" altLang="zh-CN" sz="1050"/>
            </a:fld>
            <a:endParaRPr lang="en-US" altLang="zh-CN" sz="105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Worst Case for Weighted Union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460598" y="2954288"/>
            <a:ext cx="330250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 smtClean="0">
                <a:latin typeface="Sitka Text" panose="02000505000000020004" pitchFamily="2" charset="0"/>
                <a:ea typeface="宋体" pitchFamily="2" charset="-122"/>
              </a:rPr>
              <a:t>N/2 </a:t>
            </a:r>
            <a:r>
              <a:rPr lang="en-US" altLang="zh-CN" sz="2400" dirty="0">
                <a:latin typeface="Sitka Text" panose="02000505000000020004" pitchFamily="2" charset="0"/>
                <a:ea typeface="宋体" pitchFamily="2" charset="-122"/>
              </a:rPr>
              <a:t>Weighted Unions</a:t>
            </a:r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  <a:p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sz="2400" dirty="0" smtClean="0">
                <a:latin typeface="Sitka Text" panose="02000505000000020004" pitchFamily="2" charset="0"/>
                <a:ea typeface="宋体" pitchFamily="2" charset="-122"/>
              </a:rPr>
              <a:t>N/4 </a:t>
            </a:r>
            <a:r>
              <a:rPr lang="en-US" altLang="zh-CN" sz="2400" dirty="0">
                <a:latin typeface="Sitka Text" panose="02000505000000020004" pitchFamily="2" charset="0"/>
                <a:ea typeface="宋体" pitchFamily="2" charset="-122"/>
              </a:rPr>
              <a:t>Weighted Unions</a:t>
            </a:r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60" name="Oval 4"/>
          <p:cNvSpPr>
            <a:spLocks noChangeArrowheads="1"/>
          </p:cNvSpPr>
          <p:nvPr/>
        </p:nvSpPr>
        <p:spPr bwMode="auto">
          <a:xfrm>
            <a:off x="12987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1" name="Oval 5"/>
          <p:cNvSpPr>
            <a:spLocks noChangeArrowheads="1"/>
          </p:cNvSpPr>
          <p:nvPr/>
        </p:nvSpPr>
        <p:spPr bwMode="auto">
          <a:xfrm>
            <a:off x="12987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2" name="Line 6"/>
          <p:cNvSpPr>
            <a:spLocks noChangeShapeType="1"/>
          </p:cNvSpPr>
          <p:nvPr/>
        </p:nvSpPr>
        <p:spPr bwMode="auto">
          <a:xfrm flipV="1">
            <a:off x="14511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Oval 7"/>
          <p:cNvSpPr>
            <a:spLocks noChangeArrowheads="1"/>
          </p:cNvSpPr>
          <p:nvPr/>
        </p:nvSpPr>
        <p:spPr bwMode="auto">
          <a:xfrm>
            <a:off x="19845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4" name="Oval 8"/>
          <p:cNvSpPr>
            <a:spLocks noChangeArrowheads="1"/>
          </p:cNvSpPr>
          <p:nvPr/>
        </p:nvSpPr>
        <p:spPr bwMode="auto">
          <a:xfrm>
            <a:off x="19845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5" name="Line 9"/>
          <p:cNvSpPr>
            <a:spLocks noChangeShapeType="1"/>
          </p:cNvSpPr>
          <p:nvPr/>
        </p:nvSpPr>
        <p:spPr bwMode="auto">
          <a:xfrm flipV="1">
            <a:off x="21369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Oval 10"/>
          <p:cNvSpPr>
            <a:spLocks noChangeArrowheads="1"/>
          </p:cNvSpPr>
          <p:nvPr/>
        </p:nvSpPr>
        <p:spPr bwMode="auto">
          <a:xfrm>
            <a:off x="25941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7" name="Oval 11"/>
          <p:cNvSpPr>
            <a:spLocks noChangeArrowheads="1"/>
          </p:cNvSpPr>
          <p:nvPr/>
        </p:nvSpPr>
        <p:spPr bwMode="auto">
          <a:xfrm>
            <a:off x="25941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8" name="Line 12"/>
          <p:cNvSpPr>
            <a:spLocks noChangeShapeType="1"/>
          </p:cNvSpPr>
          <p:nvPr/>
        </p:nvSpPr>
        <p:spPr bwMode="auto">
          <a:xfrm flipV="1">
            <a:off x="27465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Oval 13"/>
          <p:cNvSpPr>
            <a:spLocks noChangeArrowheads="1"/>
          </p:cNvSpPr>
          <p:nvPr/>
        </p:nvSpPr>
        <p:spPr bwMode="auto">
          <a:xfrm>
            <a:off x="32799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0" name="Oval 14"/>
          <p:cNvSpPr>
            <a:spLocks noChangeArrowheads="1"/>
          </p:cNvSpPr>
          <p:nvPr/>
        </p:nvSpPr>
        <p:spPr bwMode="auto">
          <a:xfrm>
            <a:off x="32799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1" name="Line 15"/>
          <p:cNvSpPr>
            <a:spLocks noChangeShapeType="1"/>
          </p:cNvSpPr>
          <p:nvPr/>
        </p:nvSpPr>
        <p:spPr bwMode="auto">
          <a:xfrm flipV="1">
            <a:off x="34323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38895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3" name="Oval 17"/>
          <p:cNvSpPr>
            <a:spLocks noChangeArrowheads="1"/>
          </p:cNvSpPr>
          <p:nvPr/>
        </p:nvSpPr>
        <p:spPr bwMode="auto">
          <a:xfrm>
            <a:off x="38895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4" name="Line 18"/>
          <p:cNvSpPr>
            <a:spLocks noChangeShapeType="1"/>
          </p:cNvSpPr>
          <p:nvPr/>
        </p:nvSpPr>
        <p:spPr bwMode="auto">
          <a:xfrm flipV="1">
            <a:off x="40419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Oval 19"/>
          <p:cNvSpPr>
            <a:spLocks noChangeArrowheads="1"/>
          </p:cNvSpPr>
          <p:nvPr/>
        </p:nvSpPr>
        <p:spPr bwMode="auto">
          <a:xfrm>
            <a:off x="45753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6" name="Oval 20"/>
          <p:cNvSpPr>
            <a:spLocks noChangeArrowheads="1"/>
          </p:cNvSpPr>
          <p:nvPr/>
        </p:nvSpPr>
        <p:spPr bwMode="auto">
          <a:xfrm>
            <a:off x="45753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7" name="Line 21"/>
          <p:cNvSpPr>
            <a:spLocks noChangeShapeType="1"/>
          </p:cNvSpPr>
          <p:nvPr/>
        </p:nvSpPr>
        <p:spPr bwMode="auto">
          <a:xfrm flipV="1">
            <a:off x="47277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Oval 22"/>
          <p:cNvSpPr>
            <a:spLocks noChangeArrowheads="1"/>
          </p:cNvSpPr>
          <p:nvPr/>
        </p:nvSpPr>
        <p:spPr bwMode="auto">
          <a:xfrm>
            <a:off x="51849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9" name="Oval 23"/>
          <p:cNvSpPr>
            <a:spLocks noChangeArrowheads="1"/>
          </p:cNvSpPr>
          <p:nvPr/>
        </p:nvSpPr>
        <p:spPr bwMode="auto">
          <a:xfrm>
            <a:off x="51849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0" name="Line 24"/>
          <p:cNvSpPr>
            <a:spLocks noChangeShapeType="1"/>
          </p:cNvSpPr>
          <p:nvPr/>
        </p:nvSpPr>
        <p:spPr bwMode="auto">
          <a:xfrm flipV="1">
            <a:off x="53373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Oval 25"/>
          <p:cNvSpPr>
            <a:spLocks noChangeArrowheads="1"/>
          </p:cNvSpPr>
          <p:nvPr/>
        </p:nvSpPr>
        <p:spPr bwMode="auto">
          <a:xfrm>
            <a:off x="5870798" y="3491880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2" name="Oval 26"/>
          <p:cNvSpPr>
            <a:spLocks noChangeArrowheads="1"/>
          </p:cNvSpPr>
          <p:nvPr/>
        </p:nvSpPr>
        <p:spPr bwMode="auto">
          <a:xfrm>
            <a:off x="5870798" y="4048925"/>
            <a:ext cx="304800" cy="30060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3" name="Line 27"/>
          <p:cNvSpPr>
            <a:spLocks noChangeShapeType="1"/>
          </p:cNvSpPr>
          <p:nvPr/>
        </p:nvSpPr>
        <p:spPr bwMode="auto">
          <a:xfrm flipV="1">
            <a:off x="6023198" y="37924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Oval 28"/>
          <p:cNvSpPr>
            <a:spLocks noChangeArrowheads="1"/>
          </p:cNvSpPr>
          <p:nvPr/>
        </p:nvSpPr>
        <p:spPr bwMode="auto">
          <a:xfrm>
            <a:off x="1374998" y="5015880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5" name="Oval 29"/>
          <p:cNvSpPr>
            <a:spLocks noChangeArrowheads="1"/>
          </p:cNvSpPr>
          <p:nvPr/>
        </p:nvSpPr>
        <p:spPr bwMode="auto">
          <a:xfrm>
            <a:off x="10701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6" name="Line 30"/>
          <p:cNvSpPr>
            <a:spLocks noChangeShapeType="1"/>
          </p:cNvSpPr>
          <p:nvPr/>
        </p:nvSpPr>
        <p:spPr bwMode="auto">
          <a:xfrm flipV="1">
            <a:off x="1298798" y="531648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Oval 31"/>
          <p:cNvSpPr>
            <a:spLocks noChangeArrowheads="1"/>
          </p:cNvSpPr>
          <p:nvPr/>
        </p:nvSpPr>
        <p:spPr bwMode="auto">
          <a:xfrm>
            <a:off x="16035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8" name="Oval 32"/>
          <p:cNvSpPr>
            <a:spLocks noChangeArrowheads="1"/>
          </p:cNvSpPr>
          <p:nvPr/>
        </p:nvSpPr>
        <p:spPr bwMode="auto">
          <a:xfrm>
            <a:off x="1603598" y="6084168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9" name="Line 33"/>
          <p:cNvSpPr>
            <a:spLocks noChangeShapeType="1"/>
          </p:cNvSpPr>
          <p:nvPr/>
        </p:nvSpPr>
        <p:spPr bwMode="auto">
          <a:xfrm flipV="1">
            <a:off x="1755998" y="583149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Line 34"/>
          <p:cNvSpPr>
            <a:spLocks noChangeShapeType="1"/>
          </p:cNvSpPr>
          <p:nvPr/>
        </p:nvSpPr>
        <p:spPr bwMode="auto">
          <a:xfrm flipH="1" flipV="1">
            <a:off x="1603598" y="531648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Oval 35"/>
          <p:cNvSpPr>
            <a:spLocks noChangeArrowheads="1"/>
          </p:cNvSpPr>
          <p:nvPr/>
        </p:nvSpPr>
        <p:spPr bwMode="auto">
          <a:xfrm>
            <a:off x="2670398" y="5015880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2" name="Oval 36"/>
          <p:cNvSpPr>
            <a:spLocks noChangeArrowheads="1"/>
          </p:cNvSpPr>
          <p:nvPr/>
        </p:nvSpPr>
        <p:spPr bwMode="auto">
          <a:xfrm>
            <a:off x="23655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3" name="Line 37"/>
          <p:cNvSpPr>
            <a:spLocks noChangeShapeType="1"/>
          </p:cNvSpPr>
          <p:nvPr/>
        </p:nvSpPr>
        <p:spPr bwMode="auto">
          <a:xfrm flipV="1">
            <a:off x="2594198" y="531648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Oval 38"/>
          <p:cNvSpPr>
            <a:spLocks noChangeArrowheads="1"/>
          </p:cNvSpPr>
          <p:nvPr/>
        </p:nvSpPr>
        <p:spPr bwMode="auto">
          <a:xfrm>
            <a:off x="28989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5" name="Oval 39"/>
          <p:cNvSpPr>
            <a:spLocks noChangeArrowheads="1"/>
          </p:cNvSpPr>
          <p:nvPr/>
        </p:nvSpPr>
        <p:spPr bwMode="auto">
          <a:xfrm>
            <a:off x="2898998" y="6084168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6" name="Line 40"/>
          <p:cNvSpPr>
            <a:spLocks noChangeShapeType="1"/>
          </p:cNvSpPr>
          <p:nvPr/>
        </p:nvSpPr>
        <p:spPr bwMode="auto">
          <a:xfrm flipV="1">
            <a:off x="3051398" y="583149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Line 41"/>
          <p:cNvSpPr>
            <a:spLocks noChangeShapeType="1"/>
          </p:cNvSpPr>
          <p:nvPr/>
        </p:nvSpPr>
        <p:spPr bwMode="auto">
          <a:xfrm flipH="1" flipV="1">
            <a:off x="2898998" y="531648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Oval 42"/>
          <p:cNvSpPr>
            <a:spLocks noChangeArrowheads="1"/>
          </p:cNvSpPr>
          <p:nvPr/>
        </p:nvSpPr>
        <p:spPr bwMode="auto">
          <a:xfrm>
            <a:off x="3965798" y="5015880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9" name="Oval 43"/>
          <p:cNvSpPr>
            <a:spLocks noChangeArrowheads="1"/>
          </p:cNvSpPr>
          <p:nvPr/>
        </p:nvSpPr>
        <p:spPr bwMode="auto">
          <a:xfrm>
            <a:off x="36609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0" name="Line 44"/>
          <p:cNvSpPr>
            <a:spLocks noChangeShapeType="1"/>
          </p:cNvSpPr>
          <p:nvPr/>
        </p:nvSpPr>
        <p:spPr bwMode="auto">
          <a:xfrm flipV="1">
            <a:off x="3889598" y="531648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Oval 45"/>
          <p:cNvSpPr>
            <a:spLocks noChangeArrowheads="1"/>
          </p:cNvSpPr>
          <p:nvPr/>
        </p:nvSpPr>
        <p:spPr bwMode="auto">
          <a:xfrm>
            <a:off x="41943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2" name="Oval 46"/>
          <p:cNvSpPr>
            <a:spLocks noChangeArrowheads="1"/>
          </p:cNvSpPr>
          <p:nvPr/>
        </p:nvSpPr>
        <p:spPr bwMode="auto">
          <a:xfrm>
            <a:off x="4194398" y="6084168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3" name="Line 47"/>
          <p:cNvSpPr>
            <a:spLocks noChangeShapeType="1"/>
          </p:cNvSpPr>
          <p:nvPr/>
        </p:nvSpPr>
        <p:spPr bwMode="auto">
          <a:xfrm flipV="1">
            <a:off x="4346798" y="583149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Line 48"/>
          <p:cNvSpPr>
            <a:spLocks noChangeShapeType="1"/>
          </p:cNvSpPr>
          <p:nvPr/>
        </p:nvSpPr>
        <p:spPr bwMode="auto">
          <a:xfrm flipH="1" flipV="1">
            <a:off x="4194398" y="531648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Oval 49"/>
          <p:cNvSpPr>
            <a:spLocks noChangeArrowheads="1"/>
          </p:cNvSpPr>
          <p:nvPr/>
        </p:nvSpPr>
        <p:spPr bwMode="auto">
          <a:xfrm>
            <a:off x="5261198" y="5015880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6" name="Oval 50"/>
          <p:cNvSpPr>
            <a:spLocks noChangeArrowheads="1"/>
          </p:cNvSpPr>
          <p:nvPr/>
        </p:nvSpPr>
        <p:spPr bwMode="auto">
          <a:xfrm>
            <a:off x="49563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7" name="Line 51"/>
          <p:cNvSpPr>
            <a:spLocks noChangeShapeType="1"/>
          </p:cNvSpPr>
          <p:nvPr/>
        </p:nvSpPr>
        <p:spPr bwMode="auto">
          <a:xfrm flipV="1">
            <a:off x="5184998" y="5316488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Oval 52"/>
          <p:cNvSpPr>
            <a:spLocks noChangeArrowheads="1"/>
          </p:cNvSpPr>
          <p:nvPr/>
        </p:nvSpPr>
        <p:spPr bwMode="auto">
          <a:xfrm>
            <a:off x="5489798" y="5530885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9" name="Oval 53"/>
          <p:cNvSpPr>
            <a:spLocks noChangeArrowheads="1"/>
          </p:cNvSpPr>
          <p:nvPr/>
        </p:nvSpPr>
        <p:spPr bwMode="auto">
          <a:xfrm>
            <a:off x="5489798" y="6084168"/>
            <a:ext cx="304800" cy="300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0" name="Line 54"/>
          <p:cNvSpPr>
            <a:spLocks noChangeShapeType="1"/>
          </p:cNvSpPr>
          <p:nvPr/>
        </p:nvSpPr>
        <p:spPr bwMode="auto">
          <a:xfrm flipV="1">
            <a:off x="5642198" y="583149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Line 55"/>
          <p:cNvSpPr>
            <a:spLocks noChangeShapeType="1"/>
          </p:cNvSpPr>
          <p:nvPr/>
        </p:nvSpPr>
        <p:spPr bwMode="auto">
          <a:xfrm flipH="1" flipV="1">
            <a:off x="5489798" y="5316488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2B51571-AFF8-4B8D-9248-79C1C7270B9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C16EC48-1114-4FF8-8B73-01DFBA755911}" type="slidenum">
              <a:rPr lang="en-US" altLang="zh-CN" sz="1050"/>
            </a:fld>
            <a:endParaRPr lang="en-US" altLang="zh-CN" sz="105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of Worst Cast (</a:t>
            </a:r>
            <a:r>
              <a:rPr lang="en-US" altLang="zh-CN" dirty="0" err="1" smtClean="0">
                <a:ea typeface="宋体" pitchFamily="2" charset="-122"/>
              </a:rPr>
              <a:t>cont</a:t>
            </a:r>
            <a:r>
              <a:rPr lang="en-US" altLang="zh-CN" dirty="0" smtClean="0">
                <a:ea typeface="宋体" pitchFamily="2" charset="-122"/>
              </a:rPr>
              <a:t>’)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8918" name="Text Box 3"/>
          <p:cNvSpPr txBox="1">
            <a:spLocks noChangeArrowheads="1"/>
          </p:cNvSpPr>
          <p:nvPr/>
        </p:nvSpPr>
        <p:spPr bwMode="auto">
          <a:xfrm>
            <a:off x="657520" y="2793447"/>
            <a:ext cx="59266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After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N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-1 =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N/2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+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N/4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+ …+ 1 Weighted Unions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8952" name="Text Box 37"/>
          <p:cNvSpPr txBox="1">
            <a:spLocks noChangeArrowheads="1"/>
          </p:cNvSpPr>
          <p:nvPr/>
        </p:nvSpPr>
        <p:spPr bwMode="auto">
          <a:xfrm>
            <a:off x="578712" y="6551771"/>
            <a:ext cx="51315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If there are </a:t>
            </a:r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N 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= 2</a:t>
            </a:r>
            <a:r>
              <a:rPr lang="en-US" altLang="zh-CN" b="1" baseline="30000" dirty="0">
                <a:latin typeface="Sitka Text" panose="02000505000000020004" pitchFamily="2" charset="0"/>
                <a:ea typeface="宋体" pitchFamily="2" charset="-122"/>
              </a:rPr>
              <a:t>k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 nodes then the longest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path from leaf to root has length k.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6" name="Oval 4"/>
          <p:cNvSpPr>
            <a:spLocks noChangeArrowheads="1"/>
          </p:cNvSpPr>
          <p:nvPr/>
        </p:nvSpPr>
        <p:spPr bwMode="auto">
          <a:xfrm>
            <a:off x="1211813" y="39089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7" name="Oval 5"/>
          <p:cNvSpPr>
            <a:spLocks noChangeArrowheads="1"/>
          </p:cNvSpPr>
          <p:nvPr/>
        </p:nvSpPr>
        <p:spPr bwMode="auto">
          <a:xfrm>
            <a:off x="907013" y="43661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 flipV="1">
            <a:off x="1135613" y="413750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Oval 7"/>
          <p:cNvSpPr>
            <a:spLocks noChangeArrowheads="1"/>
          </p:cNvSpPr>
          <p:nvPr/>
        </p:nvSpPr>
        <p:spPr bwMode="auto">
          <a:xfrm>
            <a:off x="1440413" y="43661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0" name="Oval 8"/>
          <p:cNvSpPr>
            <a:spLocks noChangeArrowheads="1"/>
          </p:cNvSpPr>
          <p:nvPr/>
        </p:nvSpPr>
        <p:spPr bwMode="auto">
          <a:xfrm>
            <a:off x="1440413" y="48233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1" name="Line 9"/>
          <p:cNvSpPr>
            <a:spLocks noChangeShapeType="1"/>
          </p:cNvSpPr>
          <p:nvPr/>
        </p:nvSpPr>
        <p:spPr bwMode="auto">
          <a:xfrm flipV="1">
            <a:off x="1592813" y="459470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 flipH="1" flipV="1">
            <a:off x="1440413" y="4137504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Oval 11"/>
          <p:cNvSpPr>
            <a:spLocks noChangeArrowheads="1"/>
          </p:cNvSpPr>
          <p:nvPr/>
        </p:nvSpPr>
        <p:spPr bwMode="auto">
          <a:xfrm>
            <a:off x="2278613" y="43661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4" name="Oval 12"/>
          <p:cNvSpPr>
            <a:spLocks noChangeArrowheads="1"/>
          </p:cNvSpPr>
          <p:nvPr/>
        </p:nvSpPr>
        <p:spPr bwMode="auto">
          <a:xfrm>
            <a:off x="1973813" y="48233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5" name="Line 13"/>
          <p:cNvSpPr>
            <a:spLocks noChangeShapeType="1"/>
          </p:cNvSpPr>
          <p:nvPr/>
        </p:nvSpPr>
        <p:spPr bwMode="auto">
          <a:xfrm flipV="1">
            <a:off x="2202413" y="459470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14"/>
          <p:cNvSpPr>
            <a:spLocks noChangeArrowheads="1"/>
          </p:cNvSpPr>
          <p:nvPr/>
        </p:nvSpPr>
        <p:spPr bwMode="auto">
          <a:xfrm>
            <a:off x="2507213" y="48233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7" name="Oval 15"/>
          <p:cNvSpPr>
            <a:spLocks noChangeArrowheads="1"/>
          </p:cNvSpPr>
          <p:nvPr/>
        </p:nvSpPr>
        <p:spPr bwMode="auto">
          <a:xfrm>
            <a:off x="2507213" y="52805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8" name="Line 16"/>
          <p:cNvSpPr>
            <a:spLocks noChangeShapeType="1"/>
          </p:cNvSpPr>
          <p:nvPr/>
        </p:nvSpPr>
        <p:spPr bwMode="auto">
          <a:xfrm flipV="1">
            <a:off x="2659613" y="505190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17"/>
          <p:cNvSpPr>
            <a:spLocks noChangeShapeType="1"/>
          </p:cNvSpPr>
          <p:nvPr/>
        </p:nvSpPr>
        <p:spPr bwMode="auto">
          <a:xfrm flipH="1" flipV="1">
            <a:off x="2507213" y="4594704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8"/>
          <p:cNvSpPr>
            <a:spLocks noChangeShapeType="1"/>
          </p:cNvSpPr>
          <p:nvPr/>
        </p:nvSpPr>
        <p:spPr bwMode="auto">
          <a:xfrm flipH="1" flipV="1">
            <a:off x="1516613" y="4061304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19"/>
          <p:cNvSpPr>
            <a:spLocks noChangeArrowheads="1"/>
          </p:cNvSpPr>
          <p:nvPr/>
        </p:nvSpPr>
        <p:spPr bwMode="auto">
          <a:xfrm>
            <a:off x="3497813" y="43661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2" name="Oval 20"/>
          <p:cNvSpPr>
            <a:spLocks noChangeArrowheads="1"/>
          </p:cNvSpPr>
          <p:nvPr/>
        </p:nvSpPr>
        <p:spPr bwMode="auto">
          <a:xfrm>
            <a:off x="3193013" y="48233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3" name="Line 21"/>
          <p:cNvSpPr>
            <a:spLocks noChangeShapeType="1"/>
          </p:cNvSpPr>
          <p:nvPr/>
        </p:nvSpPr>
        <p:spPr bwMode="auto">
          <a:xfrm flipV="1">
            <a:off x="3421613" y="459470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Oval 22"/>
          <p:cNvSpPr>
            <a:spLocks noChangeArrowheads="1"/>
          </p:cNvSpPr>
          <p:nvPr/>
        </p:nvSpPr>
        <p:spPr bwMode="auto">
          <a:xfrm>
            <a:off x="3726413" y="48233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5" name="Oval 23"/>
          <p:cNvSpPr>
            <a:spLocks noChangeArrowheads="1"/>
          </p:cNvSpPr>
          <p:nvPr/>
        </p:nvSpPr>
        <p:spPr bwMode="auto">
          <a:xfrm>
            <a:off x="3726413" y="52805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6" name="Line 24"/>
          <p:cNvSpPr>
            <a:spLocks noChangeShapeType="1"/>
          </p:cNvSpPr>
          <p:nvPr/>
        </p:nvSpPr>
        <p:spPr bwMode="auto">
          <a:xfrm flipV="1">
            <a:off x="3878813" y="505190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25"/>
          <p:cNvSpPr>
            <a:spLocks noChangeShapeType="1"/>
          </p:cNvSpPr>
          <p:nvPr/>
        </p:nvSpPr>
        <p:spPr bwMode="auto">
          <a:xfrm flipH="1" flipV="1">
            <a:off x="3726413" y="4594704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Oval 26"/>
          <p:cNvSpPr>
            <a:spLocks noChangeArrowheads="1"/>
          </p:cNvSpPr>
          <p:nvPr/>
        </p:nvSpPr>
        <p:spPr bwMode="auto">
          <a:xfrm>
            <a:off x="4564613" y="48233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9" name="Oval 27"/>
          <p:cNvSpPr>
            <a:spLocks noChangeArrowheads="1"/>
          </p:cNvSpPr>
          <p:nvPr/>
        </p:nvSpPr>
        <p:spPr bwMode="auto">
          <a:xfrm>
            <a:off x="4259813" y="52805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0" name="Line 28"/>
          <p:cNvSpPr>
            <a:spLocks noChangeShapeType="1"/>
          </p:cNvSpPr>
          <p:nvPr/>
        </p:nvSpPr>
        <p:spPr bwMode="auto">
          <a:xfrm flipV="1">
            <a:off x="4488413" y="505190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Oval 29"/>
          <p:cNvSpPr>
            <a:spLocks noChangeArrowheads="1"/>
          </p:cNvSpPr>
          <p:nvPr/>
        </p:nvSpPr>
        <p:spPr bwMode="auto">
          <a:xfrm>
            <a:off x="4793213" y="52805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2" name="Oval 30"/>
          <p:cNvSpPr>
            <a:spLocks noChangeArrowheads="1"/>
          </p:cNvSpPr>
          <p:nvPr/>
        </p:nvSpPr>
        <p:spPr bwMode="auto">
          <a:xfrm>
            <a:off x="4793213" y="5737704"/>
            <a:ext cx="304800" cy="2286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3" name="Line 31"/>
          <p:cNvSpPr>
            <a:spLocks noChangeShapeType="1"/>
          </p:cNvSpPr>
          <p:nvPr/>
        </p:nvSpPr>
        <p:spPr bwMode="auto">
          <a:xfrm flipV="1">
            <a:off x="4945613" y="550910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32"/>
          <p:cNvSpPr>
            <a:spLocks noChangeShapeType="1"/>
          </p:cNvSpPr>
          <p:nvPr/>
        </p:nvSpPr>
        <p:spPr bwMode="auto">
          <a:xfrm flipH="1" flipV="1">
            <a:off x="4793213" y="5051904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Line 33"/>
          <p:cNvSpPr>
            <a:spLocks noChangeShapeType="1"/>
          </p:cNvSpPr>
          <p:nvPr/>
        </p:nvSpPr>
        <p:spPr bwMode="auto">
          <a:xfrm flipH="1" flipV="1">
            <a:off x="3802613" y="4518504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Line 34"/>
          <p:cNvSpPr>
            <a:spLocks noChangeShapeType="1"/>
          </p:cNvSpPr>
          <p:nvPr/>
        </p:nvSpPr>
        <p:spPr bwMode="auto">
          <a:xfrm flipH="1" flipV="1">
            <a:off x="1516613" y="3985104"/>
            <a:ext cx="2057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Text Box 35"/>
          <p:cNvSpPr txBox="1">
            <a:spLocks noChangeArrowheads="1"/>
          </p:cNvSpPr>
          <p:nvPr/>
        </p:nvSpPr>
        <p:spPr bwMode="auto">
          <a:xfrm>
            <a:off x="5631413" y="6042504"/>
            <a:ext cx="8274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400" dirty="0">
                <a:latin typeface="Sitka Text" panose="02000505000000020004" pitchFamily="2" charset="0"/>
                <a:ea typeface="宋体" pitchFamily="2" charset="-122"/>
              </a:rPr>
              <a:t>Find</a:t>
            </a:r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78" name="Line 36"/>
          <p:cNvSpPr>
            <a:spLocks noChangeShapeType="1"/>
          </p:cNvSpPr>
          <p:nvPr/>
        </p:nvSpPr>
        <p:spPr bwMode="auto">
          <a:xfrm flipH="1" flipV="1">
            <a:off x="5174213" y="6042504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38"/>
          <p:cNvSpPr>
            <a:spLocks noChangeShapeType="1"/>
          </p:cNvSpPr>
          <p:nvPr/>
        </p:nvSpPr>
        <p:spPr bwMode="auto">
          <a:xfrm>
            <a:off x="5402813" y="368030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Line 39"/>
          <p:cNvSpPr>
            <a:spLocks noChangeShapeType="1"/>
          </p:cNvSpPr>
          <p:nvPr/>
        </p:nvSpPr>
        <p:spPr bwMode="auto">
          <a:xfrm>
            <a:off x="5402813" y="589010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40"/>
          <p:cNvSpPr>
            <a:spLocks noChangeShapeType="1"/>
          </p:cNvSpPr>
          <p:nvPr/>
        </p:nvSpPr>
        <p:spPr bwMode="auto">
          <a:xfrm>
            <a:off x="5631413" y="3680304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41"/>
          <p:cNvSpPr>
            <a:spLocks noChangeShapeType="1"/>
          </p:cNvSpPr>
          <p:nvPr/>
        </p:nvSpPr>
        <p:spPr bwMode="auto">
          <a:xfrm>
            <a:off x="5631413" y="5051904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Text Box 42"/>
          <p:cNvSpPr txBox="1">
            <a:spLocks noChangeArrowheads="1"/>
          </p:cNvSpPr>
          <p:nvPr/>
        </p:nvSpPr>
        <p:spPr bwMode="auto">
          <a:xfrm>
            <a:off x="5326613" y="4594704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 smtClean="0">
                <a:latin typeface="Sitka Text" panose="02000505000000020004" pitchFamily="2" charset="0"/>
                <a:ea typeface="宋体" pitchFamily="2" charset="-122"/>
              </a:rPr>
              <a:t>log</a:t>
            </a:r>
            <a:r>
              <a:rPr lang="en-US" altLang="zh-CN" baseline="-25000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N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3097521-753E-46D8-A292-3431C9FFEC8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37CBA45-EE91-4B40-94EB-53F20E51C007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alternative implementation</a:t>
            </a:r>
            <a:endParaRPr lang="en-US" altLang="zh-CN" dirty="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6032" y="2784188"/>
            <a:ext cx="5829300" cy="1098947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Union-by- height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2271712" y="4530547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2271713" y="4098499"/>
          <a:ext cx="324036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822474" y="4096564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Sitka Text" panose="02000505000000020004" pitchFamily="2" charset="0"/>
              </a:rPr>
              <a:t>element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99828" y="4530547"/>
            <a:ext cx="606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s[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1488126" y="620296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4402776" y="6145812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4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904970" y="6175578"/>
            <a:ext cx="312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182874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0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4" name="Oval 12"/>
          <p:cNvSpPr>
            <a:spLocks noChangeArrowheads="1"/>
          </p:cNvSpPr>
          <p:nvPr/>
        </p:nvSpPr>
        <p:spPr bwMode="auto">
          <a:xfrm>
            <a:off x="205734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5" name="Oval 13"/>
          <p:cNvSpPr>
            <a:spLocks noChangeArrowheads="1"/>
          </p:cNvSpPr>
          <p:nvPr/>
        </p:nvSpPr>
        <p:spPr bwMode="auto">
          <a:xfrm>
            <a:off x="325749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6" name="Oval 14"/>
          <p:cNvSpPr>
            <a:spLocks noChangeArrowheads="1"/>
          </p:cNvSpPr>
          <p:nvPr/>
        </p:nvSpPr>
        <p:spPr bwMode="auto">
          <a:xfrm>
            <a:off x="520059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7" name="Oval 15"/>
          <p:cNvSpPr>
            <a:spLocks noChangeArrowheads="1"/>
          </p:cNvSpPr>
          <p:nvPr/>
        </p:nvSpPr>
        <p:spPr bwMode="auto">
          <a:xfrm>
            <a:off x="4457644" y="68280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4171894" y="75138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9" name="Oval 17"/>
          <p:cNvSpPr>
            <a:spLocks noChangeArrowheads="1"/>
          </p:cNvSpPr>
          <p:nvPr/>
        </p:nvSpPr>
        <p:spPr bwMode="auto">
          <a:xfrm>
            <a:off x="4800544" y="6142200"/>
            <a:ext cx="342900" cy="3371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 sz="1800" b="1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H="1" flipV="1">
            <a:off x="2043056" y="6479370"/>
            <a:ext cx="128587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 flipV="1">
            <a:off x="4686244" y="6479370"/>
            <a:ext cx="228600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 flipH="1" flipV="1">
            <a:off x="5029144" y="6466792"/>
            <a:ext cx="228600" cy="3612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 flipV="1">
            <a:off x="4400494" y="7165170"/>
            <a:ext cx="168002" cy="3486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sz="1350" b="1">
              <a:latin typeface="Sitka Text" panose="02000505000000020004" pitchFamily="2" charset="0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1745382" y="5262862"/>
            <a:ext cx="1683562" cy="432048"/>
          </a:xfrm>
          <a:prstGeom prst="wedgeRectCallout">
            <a:avLst>
              <a:gd name="adj1" fmla="val -6078"/>
              <a:gd name="adj2" fmla="val -14130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  <a:latin typeface="Sitka Text" panose="02000505000000020004" pitchFamily="2" charset="0"/>
              </a:rPr>
              <a:t>- height - 1</a:t>
            </a:r>
            <a:endParaRPr lang="zh-CN" altLang="en-US" sz="2000" dirty="0">
              <a:solidFill>
                <a:schemeClr val="tx1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5399773-D52C-48BD-B9FD-E52CEEC56BF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993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3994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A6EF1F9-25CC-44E1-A1B1-067111909AC9}" type="slidenum">
              <a:rPr lang="en-US" altLang="zh-CN" sz="1050"/>
            </a:fld>
            <a:endParaRPr lang="en-US" altLang="zh-CN" sz="1050"/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anose="02000505000000020004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Union-by- height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71488" y="2339752"/>
            <a:ext cx="63865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Union two disjoint sets.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For simplicity, we assume root1 and root2 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are distinct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and represent set names.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root1 is the root of set 1.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root2 is the root of set 2.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zh-CN" altLang="en-US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void </a:t>
            </a:r>
            <a:r>
              <a:rPr lang="en-US" altLang="zh-CN" sz="2000" dirty="0" err="1">
                <a:latin typeface="Sitka Text" panose="02000505000000020004" pitchFamily="2" charset="0"/>
              </a:rPr>
              <a:t>DisjSets</a:t>
            </a:r>
            <a:r>
              <a:rPr lang="en-US" altLang="zh-CN" sz="2000" dirty="0">
                <a:latin typeface="Sitka Text" panose="02000505000000020004" pitchFamily="2" charset="0"/>
              </a:rPr>
              <a:t>::</a:t>
            </a:r>
            <a:r>
              <a:rPr lang="en-US" altLang="zh-CN" sz="2000" dirty="0" err="1">
                <a:latin typeface="Sitka Text" panose="02000505000000020004" pitchFamily="2" charset="0"/>
              </a:rPr>
              <a:t>unionSets</a:t>
            </a:r>
            <a:r>
              <a:rPr lang="en-US" altLang="zh-CN" sz="2000" dirty="0">
                <a:latin typeface="Sitka Text" panose="02000505000000020004" pitchFamily="2" charset="0"/>
              </a:rPr>
              <a:t>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root1,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root2 )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nl-NL" altLang="zh-CN" sz="2000" dirty="0" smtClean="0">
                <a:latin typeface="Sitka Text" panose="02000505000000020004" pitchFamily="2" charset="0"/>
              </a:rPr>
              <a:t>    if</a:t>
            </a:r>
            <a:r>
              <a:rPr lang="nl-NL" altLang="zh-CN" sz="2000" dirty="0">
                <a:latin typeface="Sitka Text" panose="02000505000000020004" pitchFamily="2" charset="0"/>
              </a:rPr>
              <a:t>( s[ root2 ] &lt; s[ root1 ] ) </a:t>
            </a:r>
            <a:r>
              <a:rPr lang="nl-NL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root2 is deeper</a:t>
            </a:r>
            <a:endParaRPr lang="nl-NL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s</a:t>
            </a:r>
            <a:r>
              <a:rPr lang="en-US" altLang="zh-CN" sz="2000" dirty="0">
                <a:latin typeface="Sitka Text" panose="02000505000000020004" pitchFamily="2" charset="0"/>
              </a:rPr>
              <a:t>[ root1 ] = root2;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Make root2 new root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else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if</a:t>
            </a:r>
            <a:r>
              <a:rPr lang="en-US" altLang="zh-CN" sz="2000" dirty="0">
                <a:latin typeface="Sitka Text" panose="02000505000000020004" pitchFamily="2" charset="0"/>
              </a:rPr>
              <a:t>( s[ root1 ] == s[ root2 ]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--</a:t>
            </a:r>
            <a:r>
              <a:rPr lang="en-US" altLang="zh-CN" sz="2000" dirty="0">
                <a:latin typeface="Sitka Text" panose="02000505000000020004" pitchFamily="2" charset="0"/>
              </a:rPr>
              <a:t>s[ root1 ];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Update height if same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s</a:t>
            </a:r>
            <a:r>
              <a:rPr lang="en-US" altLang="zh-CN" sz="2000" dirty="0">
                <a:latin typeface="Sitka Text" panose="02000505000000020004" pitchFamily="2" charset="0"/>
              </a:rPr>
              <a:t>[ root2 ] = root1;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 Make root1 new root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}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6498DF9-DE33-475F-A524-F15919119DC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DAF5901-E8B0-4C50-96D7-DBCC52268E82}" type="slidenum">
              <a:rPr lang="en-US" altLang="zh-CN" sz="1050"/>
            </a:fld>
            <a:endParaRPr lang="en-US" altLang="zh-CN" sz="1050"/>
          </a:p>
        </p:txBody>
      </p:sp>
      <p:sp>
        <p:nvSpPr>
          <p:cNvPr id="41989" name="Rectangle 105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Path Compression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1990" name="Rectangle 1055"/>
          <p:cNvSpPr>
            <a:spLocks noGrp="1" noChangeArrowheads="1"/>
          </p:cNvSpPr>
          <p:nvPr>
            <p:ph type="body" idx="1"/>
          </p:nvPr>
        </p:nvSpPr>
        <p:spPr>
          <a:xfrm>
            <a:off x="479249" y="2708603"/>
            <a:ext cx="5829300" cy="5715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On a Find operation point all the nodes on the search path directly to the root.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41991" name="Oval 1028"/>
          <p:cNvSpPr>
            <a:spLocks noChangeArrowheads="1"/>
          </p:cNvSpPr>
          <p:nvPr/>
        </p:nvSpPr>
        <p:spPr bwMode="auto">
          <a:xfrm>
            <a:off x="260648" y="42291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2" name="Oval 1029"/>
          <p:cNvSpPr>
            <a:spLocks noChangeArrowheads="1"/>
          </p:cNvSpPr>
          <p:nvPr/>
        </p:nvSpPr>
        <p:spPr bwMode="auto">
          <a:xfrm>
            <a:off x="489248" y="49149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3" name="Oval 1030"/>
          <p:cNvSpPr>
            <a:spLocks noChangeArrowheads="1"/>
          </p:cNvSpPr>
          <p:nvPr/>
        </p:nvSpPr>
        <p:spPr bwMode="auto">
          <a:xfrm>
            <a:off x="832148" y="62293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4" name="Oval 1031"/>
          <p:cNvSpPr>
            <a:spLocks noChangeArrowheads="1"/>
          </p:cNvSpPr>
          <p:nvPr/>
        </p:nvSpPr>
        <p:spPr bwMode="auto">
          <a:xfrm>
            <a:off x="2203748" y="48577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4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5" name="Oval 1032"/>
          <p:cNvSpPr>
            <a:spLocks noChangeArrowheads="1"/>
          </p:cNvSpPr>
          <p:nvPr/>
        </p:nvSpPr>
        <p:spPr bwMode="auto">
          <a:xfrm>
            <a:off x="1460798" y="48577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5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6" name="Oval 1033"/>
          <p:cNvSpPr>
            <a:spLocks noChangeArrowheads="1"/>
          </p:cNvSpPr>
          <p:nvPr/>
        </p:nvSpPr>
        <p:spPr bwMode="auto">
          <a:xfrm>
            <a:off x="1175048" y="55435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6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7" name="Oval 1034"/>
          <p:cNvSpPr>
            <a:spLocks noChangeArrowheads="1"/>
          </p:cNvSpPr>
          <p:nvPr/>
        </p:nvSpPr>
        <p:spPr bwMode="auto">
          <a:xfrm>
            <a:off x="1803698" y="41719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7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1998" name="Line 1035"/>
          <p:cNvSpPr>
            <a:spLocks noChangeShapeType="1"/>
          </p:cNvSpPr>
          <p:nvPr/>
        </p:nvSpPr>
        <p:spPr bwMode="auto">
          <a:xfrm flipH="1" flipV="1">
            <a:off x="489248" y="4514850"/>
            <a:ext cx="1143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1999" name="Line 1036"/>
          <p:cNvSpPr>
            <a:spLocks noChangeShapeType="1"/>
          </p:cNvSpPr>
          <p:nvPr/>
        </p:nvSpPr>
        <p:spPr bwMode="auto">
          <a:xfrm flipV="1">
            <a:off x="1689398" y="4457700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00" name="Line 1037"/>
          <p:cNvSpPr>
            <a:spLocks noChangeShapeType="1"/>
          </p:cNvSpPr>
          <p:nvPr/>
        </p:nvSpPr>
        <p:spPr bwMode="auto">
          <a:xfrm flipH="1" flipV="1">
            <a:off x="2089448" y="4400550"/>
            <a:ext cx="228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01" name="Line 1038"/>
          <p:cNvSpPr>
            <a:spLocks noChangeShapeType="1"/>
          </p:cNvSpPr>
          <p:nvPr/>
        </p:nvSpPr>
        <p:spPr bwMode="auto">
          <a:xfrm flipV="1">
            <a:off x="1403648" y="5143500"/>
            <a:ext cx="1714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02" name="Line 1039"/>
          <p:cNvSpPr>
            <a:spLocks noChangeShapeType="1"/>
          </p:cNvSpPr>
          <p:nvPr/>
        </p:nvSpPr>
        <p:spPr bwMode="auto">
          <a:xfrm flipV="1">
            <a:off x="1060748" y="5829300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03" name="Oval 1040"/>
          <p:cNvSpPr>
            <a:spLocks noChangeArrowheads="1"/>
          </p:cNvSpPr>
          <p:nvPr/>
        </p:nvSpPr>
        <p:spPr bwMode="auto">
          <a:xfrm>
            <a:off x="3886200" y="42291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04" name="Oval 1041"/>
          <p:cNvSpPr>
            <a:spLocks noChangeArrowheads="1"/>
          </p:cNvSpPr>
          <p:nvPr/>
        </p:nvSpPr>
        <p:spPr bwMode="auto">
          <a:xfrm>
            <a:off x="4114800" y="49149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2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05" name="Oval 1042"/>
          <p:cNvSpPr>
            <a:spLocks noChangeArrowheads="1"/>
          </p:cNvSpPr>
          <p:nvPr/>
        </p:nvSpPr>
        <p:spPr bwMode="auto">
          <a:xfrm>
            <a:off x="4743450" y="49149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3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06" name="Oval 1043"/>
          <p:cNvSpPr>
            <a:spLocks noChangeArrowheads="1"/>
          </p:cNvSpPr>
          <p:nvPr/>
        </p:nvSpPr>
        <p:spPr bwMode="auto">
          <a:xfrm>
            <a:off x="6115050" y="49149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4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07" name="Oval 1044"/>
          <p:cNvSpPr>
            <a:spLocks noChangeArrowheads="1"/>
          </p:cNvSpPr>
          <p:nvPr/>
        </p:nvSpPr>
        <p:spPr bwMode="auto">
          <a:xfrm>
            <a:off x="5657850" y="49149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5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08" name="Oval 1045"/>
          <p:cNvSpPr>
            <a:spLocks noChangeArrowheads="1"/>
          </p:cNvSpPr>
          <p:nvPr/>
        </p:nvSpPr>
        <p:spPr bwMode="auto">
          <a:xfrm>
            <a:off x="5200650" y="49149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6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09" name="Oval 1046"/>
          <p:cNvSpPr>
            <a:spLocks noChangeArrowheads="1"/>
          </p:cNvSpPr>
          <p:nvPr/>
        </p:nvSpPr>
        <p:spPr bwMode="auto">
          <a:xfrm>
            <a:off x="5715000" y="42291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7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10" name="Line 1047"/>
          <p:cNvSpPr>
            <a:spLocks noChangeShapeType="1"/>
          </p:cNvSpPr>
          <p:nvPr/>
        </p:nvSpPr>
        <p:spPr bwMode="auto">
          <a:xfrm flipH="1" flipV="1">
            <a:off x="4114800" y="4514850"/>
            <a:ext cx="1143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11" name="Line 1048"/>
          <p:cNvSpPr>
            <a:spLocks noChangeShapeType="1"/>
          </p:cNvSpPr>
          <p:nvPr/>
        </p:nvSpPr>
        <p:spPr bwMode="auto">
          <a:xfrm flipV="1">
            <a:off x="5829300" y="4514850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12" name="Line 1049"/>
          <p:cNvSpPr>
            <a:spLocks noChangeShapeType="1"/>
          </p:cNvSpPr>
          <p:nvPr/>
        </p:nvSpPr>
        <p:spPr bwMode="auto">
          <a:xfrm flipH="1" flipV="1">
            <a:off x="6000750" y="4457700"/>
            <a:ext cx="228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13" name="Line 1050"/>
          <p:cNvSpPr>
            <a:spLocks noChangeShapeType="1"/>
          </p:cNvSpPr>
          <p:nvPr/>
        </p:nvSpPr>
        <p:spPr bwMode="auto">
          <a:xfrm flipV="1">
            <a:off x="5372100" y="4457700"/>
            <a:ext cx="40005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14" name="Line 1051"/>
          <p:cNvSpPr>
            <a:spLocks noChangeShapeType="1"/>
          </p:cNvSpPr>
          <p:nvPr/>
        </p:nvSpPr>
        <p:spPr bwMode="auto">
          <a:xfrm flipV="1">
            <a:off x="4914900" y="4400550"/>
            <a:ext cx="800100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15" name="Line 1052"/>
          <p:cNvSpPr>
            <a:spLocks noChangeShapeType="1"/>
          </p:cNvSpPr>
          <p:nvPr/>
        </p:nvSpPr>
        <p:spPr bwMode="auto">
          <a:xfrm>
            <a:off x="3143250" y="5257800"/>
            <a:ext cx="62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16" name="Text Box 1053"/>
          <p:cNvSpPr txBox="1">
            <a:spLocks noChangeArrowheads="1"/>
          </p:cNvSpPr>
          <p:nvPr/>
        </p:nvSpPr>
        <p:spPr bwMode="auto">
          <a:xfrm>
            <a:off x="2780928" y="4893469"/>
            <a:ext cx="136127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宋体" pitchFamily="2" charset="-122"/>
              </a:rPr>
              <a:t>PC-Find(3)</a:t>
            </a:r>
            <a:endParaRPr lang="en-US" altLang="zh-CN" sz="1800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2017" name="Oval 1056"/>
          <p:cNvSpPr>
            <a:spLocks noChangeArrowheads="1"/>
          </p:cNvSpPr>
          <p:nvPr/>
        </p:nvSpPr>
        <p:spPr bwMode="auto">
          <a:xfrm>
            <a:off x="1917998" y="55435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8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18" name="Oval 1057"/>
          <p:cNvSpPr>
            <a:spLocks noChangeArrowheads="1"/>
          </p:cNvSpPr>
          <p:nvPr/>
        </p:nvSpPr>
        <p:spPr bwMode="auto">
          <a:xfrm>
            <a:off x="2489498" y="554355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9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19" name="Line 1058"/>
          <p:cNvSpPr>
            <a:spLocks noChangeShapeType="1"/>
          </p:cNvSpPr>
          <p:nvPr/>
        </p:nvSpPr>
        <p:spPr bwMode="auto">
          <a:xfrm flipV="1">
            <a:off x="2089448" y="5143500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20" name="Line 1059"/>
          <p:cNvSpPr>
            <a:spLocks noChangeShapeType="1"/>
          </p:cNvSpPr>
          <p:nvPr/>
        </p:nvSpPr>
        <p:spPr bwMode="auto">
          <a:xfrm flipH="1" flipV="1">
            <a:off x="2489498" y="5143500"/>
            <a:ext cx="1714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21" name="Oval 1060"/>
          <p:cNvSpPr>
            <a:spLocks noChangeArrowheads="1"/>
          </p:cNvSpPr>
          <p:nvPr/>
        </p:nvSpPr>
        <p:spPr bwMode="auto">
          <a:xfrm>
            <a:off x="1403648" y="62865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10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22" name="Line 1061"/>
          <p:cNvSpPr>
            <a:spLocks noChangeShapeType="1"/>
          </p:cNvSpPr>
          <p:nvPr/>
        </p:nvSpPr>
        <p:spPr bwMode="auto">
          <a:xfrm flipH="1" flipV="1">
            <a:off x="1460798" y="5829300"/>
            <a:ext cx="1143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23" name="Oval 1062"/>
          <p:cNvSpPr>
            <a:spLocks noChangeArrowheads="1"/>
          </p:cNvSpPr>
          <p:nvPr/>
        </p:nvSpPr>
        <p:spPr bwMode="auto">
          <a:xfrm>
            <a:off x="5772150" y="56007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8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24" name="Oval 1063"/>
          <p:cNvSpPr>
            <a:spLocks noChangeArrowheads="1"/>
          </p:cNvSpPr>
          <p:nvPr/>
        </p:nvSpPr>
        <p:spPr bwMode="auto">
          <a:xfrm>
            <a:off x="6343650" y="56007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9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25" name="Line 1064"/>
          <p:cNvSpPr>
            <a:spLocks noChangeShapeType="1"/>
          </p:cNvSpPr>
          <p:nvPr/>
        </p:nvSpPr>
        <p:spPr bwMode="auto">
          <a:xfrm flipV="1">
            <a:off x="5943600" y="5200650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26" name="Line 1065"/>
          <p:cNvSpPr>
            <a:spLocks noChangeShapeType="1"/>
          </p:cNvSpPr>
          <p:nvPr/>
        </p:nvSpPr>
        <p:spPr bwMode="auto">
          <a:xfrm flipH="1" flipV="1">
            <a:off x="6343650" y="5200650"/>
            <a:ext cx="1714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027" name="Oval 1066"/>
          <p:cNvSpPr>
            <a:spLocks noChangeArrowheads="1"/>
          </p:cNvSpPr>
          <p:nvPr/>
        </p:nvSpPr>
        <p:spPr bwMode="auto">
          <a:xfrm>
            <a:off x="5200650" y="5600700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itchFamily="2" charset="-122"/>
              </a:rPr>
              <a:t>10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42028" name="Line 1067"/>
          <p:cNvSpPr>
            <a:spLocks noChangeShapeType="1"/>
          </p:cNvSpPr>
          <p:nvPr/>
        </p:nvSpPr>
        <p:spPr bwMode="auto">
          <a:xfrm flipV="1">
            <a:off x="5372100" y="5200650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E401E60-D805-4ED7-AAB4-4E323F786AF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301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430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004DA2F-111A-4C69-BFF6-178C73F57CFA}" type="slidenum">
              <a:rPr lang="en-US" altLang="zh-CN" sz="1050"/>
            </a:fld>
            <a:endParaRPr lang="en-US" altLang="zh-CN" sz="105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Self-Adjustment Works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67" name="Oval 3"/>
          <p:cNvSpPr>
            <a:spLocks noChangeArrowheads="1"/>
          </p:cNvSpPr>
          <p:nvPr/>
        </p:nvSpPr>
        <p:spPr bwMode="auto">
          <a:xfrm>
            <a:off x="910208" y="3220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8" name="Line 5"/>
          <p:cNvSpPr>
            <a:spLocks noChangeShapeType="1"/>
          </p:cNvSpPr>
          <p:nvPr/>
        </p:nvSpPr>
        <p:spPr bwMode="auto">
          <a:xfrm>
            <a:off x="986408" y="337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auto">
          <a:xfrm>
            <a:off x="910208" y="3601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0" name="Line 7"/>
          <p:cNvSpPr>
            <a:spLocks noChangeShapeType="1"/>
          </p:cNvSpPr>
          <p:nvPr/>
        </p:nvSpPr>
        <p:spPr bwMode="auto">
          <a:xfrm>
            <a:off x="986408" y="3754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Oval 8"/>
          <p:cNvSpPr>
            <a:spLocks noChangeArrowheads="1"/>
          </p:cNvSpPr>
          <p:nvPr/>
        </p:nvSpPr>
        <p:spPr bwMode="auto">
          <a:xfrm>
            <a:off x="910208" y="3982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2" name="Line 9"/>
          <p:cNvSpPr>
            <a:spLocks noChangeShapeType="1"/>
          </p:cNvSpPr>
          <p:nvPr/>
        </p:nvSpPr>
        <p:spPr bwMode="auto">
          <a:xfrm>
            <a:off x="986408" y="4135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Oval 10"/>
          <p:cNvSpPr>
            <a:spLocks noChangeArrowheads="1"/>
          </p:cNvSpPr>
          <p:nvPr/>
        </p:nvSpPr>
        <p:spPr bwMode="auto">
          <a:xfrm>
            <a:off x="910208" y="4363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4" name="Line 11"/>
          <p:cNvSpPr>
            <a:spLocks noChangeShapeType="1"/>
          </p:cNvSpPr>
          <p:nvPr/>
        </p:nvSpPr>
        <p:spPr bwMode="auto">
          <a:xfrm>
            <a:off x="986408" y="451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Oval 12"/>
          <p:cNvSpPr>
            <a:spLocks noChangeArrowheads="1"/>
          </p:cNvSpPr>
          <p:nvPr/>
        </p:nvSpPr>
        <p:spPr bwMode="auto">
          <a:xfrm>
            <a:off x="910208" y="4744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6" name="Line 13"/>
          <p:cNvSpPr>
            <a:spLocks noChangeShapeType="1"/>
          </p:cNvSpPr>
          <p:nvPr/>
        </p:nvSpPr>
        <p:spPr bwMode="auto">
          <a:xfrm>
            <a:off x="986408" y="4897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Oval 14"/>
          <p:cNvSpPr>
            <a:spLocks noChangeArrowheads="1"/>
          </p:cNvSpPr>
          <p:nvPr/>
        </p:nvSpPr>
        <p:spPr bwMode="auto">
          <a:xfrm>
            <a:off x="910208" y="5125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8" name="Line 15"/>
          <p:cNvSpPr>
            <a:spLocks noChangeShapeType="1"/>
          </p:cNvSpPr>
          <p:nvPr/>
        </p:nvSpPr>
        <p:spPr bwMode="auto">
          <a:xfrm>
            <a:off x="986408" y="5278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Oval 16"/>
          <p:cNvSpPr>
            <a:spLocks noChangeArrowheads="1"/>
          </p:cNvSpPr>
          <p:nvPr/>
        </p:nvSpPr>
        <p:spPr bwMode="auto">
          <a:xfrm>
            <a:off x="910208" y="5506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0" name="Line 17"/>
          <p:cNvSpPr>
            <a:spLocks noChangeShapeType="1"/>
          </p:cNvSpPr>
          <p:nvPr/>
        </p:nvSpPr>
        <p:spPr bwMode="auto">
          <a:xfrm>
            <a:off x="986408" y="5659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Oval 18"/>
          <p:cNvSpPr>
            <a:spLocks noChangeArrowheads="1"/>
          </p:cNvSpPr>
          <p:nvPr/>
        </p:nvSpPr>
        <p:spPr bwMode="auto">
          <a:xfrm>
            <a:off x="910208" y="5887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2" name="AutoShape 20"/>
          <p:cNvSpPr>
            <a:spLocks noChangeArrowheads="1"/>
          </p:cNvSpPr>
          <p:nvPr/>
        </p:nvSpPr>
        <p:spPr bwMode="auto">
          <a:xfrm rot="19469605">
            <a:off x="1215008" y="3220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3" name="AutoShape 22"/>
          <p:cNvSpPr>
            <a:spLocks noChangeArrowheads="1"/>
          </p:cNvSpPr>
          <p:nvPr/>
        </p:nvSpPr>
        <p:spPr bwMode="auto">
          <a:xfrm rot="2130395" flipH="1">
            <a:off x="430783" y="3198375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4" name="AutoShape 23"/>
          <p:cNvSpPr>
            <a:spLocks noChangeArrowheads="1"/>
          </p:cNvSpPr>
          <p:nvPr/>
        </p:nvSpPr>
        <p:spPr bwMode="auto">
          <a:xfrm rot="19469605">
            <a:off x="1215008" y="3601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5" name="AutoShape 24"/>
          <p:cNvSpPr>
            <a:spLocks noChangeArrowheads="1"/>
          </p:cNvSpPr>
          <p:nvPr/>
        </p:nvSpPr>
        <p:spPr bwMode="auto">
          <a:xfrm rot="2130395" flipH="1">
            <a:off x="430783" y="3579375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6" name="AutoShape 25"/>
          <p:cNvSpPr>
            <a:spLocks noChangeArrowheads="1"/>
          </p:cNvSpPr>
          <p:nvPr/>
        </p:nvSpPr>
        <p:spPr bwMode="auto">
          <a:xfrm rot="19469605">
            <a:off x="1215008" y="3982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7" name="AutoShape 26"/>
          <p:cNvSpPr>
            <a:spLocks noChangeArrowheads="1"/>
          </p:cNvSpPr>
          <p:nvPr/>
        </p:nvSpPr>
        <p:spPr bwMode="auto">
          <a:xfrm rot="2130395" flipH="1">
            <a:off x="430783" y="3960375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8" name="AutoShape 27"/>
          <p:cNvSpPr>
            <a:spLocks noChangeArrowheads="1"/>
          </p:cNvSpPr>
          <p:nvPr/>
        </p:nvSpPr>
        <p:spPr bwMode="auto">
          <a:xfrm rot="19469605">
            <a:off x="1215008" y="4363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9" name="AutoShape 28"/>
          <p:cNvSpPr>
            <a:spLocks noChangeArrowheads="1"/>
          </p:cNvSpPr>
          <p:nvPr/>
        </p:nvSpPr>
        <p:spPr bwMode="auto">
          <a:xfrm rot="2130395" flipH="1">
            <a:off x="430783" y="4341375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0" name="AutoShape 29"/>
          <p:cNvSpPr>
            <a:spLocks noChangeArrowheads="1"/>
          </p:cNvSpPr>
          <p:nvPr/>
        </p:nvSpPr>
        <p:spPr bwMode="auto">
          <a:xfrm rot="2130395" flipH="1">
            <a:off x="453008" y="4744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1" name="AutoShape 30"/>
          <p:cNvSpPr>
            <a:spLocks noChangeArrowheads="1"/>
          </p:cNvSpPr>
          <p:nvPr/>
        </p:nvSpPr>
        <p:spPr bwMode="auto">
          <a:xfrm rot="2130395" flipH="1">
            <a:off x="453008" y="5125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2" name="AutoShape 31"/>
          <p:cNvSpPr>
            <a:spLocks noChangeArrowheads="1"/>
          </p:cNvSpPr>
          <p:nvPr/>
        </p:nvSpPr>
        <p:spPr bwMode="auto">
          <a:xfrm rot="2130395" flipH="1">
            <a:off x="453008" y="5506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3" name="AutoShape 32"/>
          <p:cNvSpPr>
            <a:spLocks noChangeArrowheads="1"/>
          </p:cNvSpPr>
          <p:nvPr/>
        </p:nvSpPr>
        <p:spPr bwMode="auto">
          <a:xfrm rot="2130395" flipH="1">
            <a:off x="453008" y="5887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4" name="AutoShape 33"/>
          <p:cNvSpPr>
            <a:spLocks noChangeArrowheads="1"/>
          </p:cNvSpPr>
          <p:nvPr/>
        </p:nvSpPr>
        <p:spPr bwMode="auto">
          <a:xfrm rot="19469605">
            <a:off x="1215008" y="4744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5" name="AutoShape 34"/>
          <p:cNvSpPr>
            <a:spLocks noChangeArrowheads="1"/>
          </p:cNvSpPr>
          <p:nvPr/>
        </p:nvSpPr>
        <p:spPr bwMode="auto">
          <a:xfrm rot="19469605">
            <a:off x="1215008" y="5125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6" name="AutoShape 35"/>
          <p:cNvSpPr>
            <a:spLocks noChangeArrowheads="1"/>
          </p:cNvSpPr>
          <p:nvPr/>
        </p:nvSpPr>
        <p:spPr bwMode="auto">
          <a:xfrm rot="19469605">
            <a:off x="1215008" y="5506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7" name="AutoShape 36"/>
          <p:cNvSpPr>
            <a:spLocks noChangeArrowheads="1"/>
          </p:cNvSpPr>
          <p:nvPr/>
        </p:nvSpPr>
        <p:spPr bwMode="auto">
          <a:xfrm rot="19469605">
            <a:off x="1215008" y="58876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8" name="Line 37"/>
          <p:cNvSpPr>
            <a:spLocks noChangeShapeType="1"/>
          </p:cNvSpPr>
          <p:nvPr/>
        </p:nvSpPr>
        <p:spPr bwMode="auto">
          <a:xfrm>
            <a:off x="2129408" y="5201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Oval 38"/>
          <p:cNvSpPr>
            <a:spLocks noChangeArrowheads="1"/>
          </p:cNvSpPr>
          <p:nvPr/>
        </p:nvSpPr>
        <p:spPr bwMode="auto">
          <a:xfrm>
            <a:off x="4720208" y="3220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0" name="AutoShape 39"/>
          <p:cNvSpPr>
            <a:spLocks noChangeArrowheads="1"/>
          </p:cNvSpPr>
          <p:nvPr/>
        </p:nvSpPr>
        <p:spPr bwMode="auto">
          <a:xfrm rot="17914049">
            <a:off x="5049614" y="2967394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1" name="AutoShape 40"/>
          <p:cNvSpPr>
            <a:spLocks noChangeArrowheads="1"/>
          </p:cNvSpPr>
          <p:nvPr/>
        </p:nvSpPr>
        <p:spPr bwMode="auto">
          <a:xfrm rot="4031654" flipH="1">
            <a:off x="4211414" y="2967394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2" name="Oval 41"/>
          <p:cNvSpPr>
            <a:spLocks noChangeArrowheads="1"/>
          </p:cNvSpPr>
          <p:nvPr/>
        </p:nvSpPr>
        <p:spPr bwMode="auto">
          <a:xfrm>
            <a:off x="3424808" y="3906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3" name="AutoShape 42"/>
          <p:cNvSpPr>
            <a:spLocks noChangeArrowheads="1"/>
          </p:cNvSpPr>
          <p:nvPr/>
        </p:nvSpPr>
        <p:spPr bwMode="auto">
          <a:xfrm rot="112716" flipH="1">
            <a:off x="3120008" y="40588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4" name="AutoShape 43"/>
          <p:cNvSpPr>
            <a:spLocks noChangeArrowheads="1"/>
          </p:cNvSpPr>
          <p:nvPr/>
        </p:nvSpPr>
        <p:spPr bwMode="auto">
          <a:xfrm rot="21130149">
            <a:off x="3577208" y="40588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5" name="Oval 50"/>
          <p:cNvSpPr>
            <a:spLocks noChangeArrowheads="1"/>
          </p:cNvSpPr>
          <p:nvPr/>
        </p:nvSpPr>
        <p:spPr bwMode="auto">
          <a:xfrm>
            <a:off x="4415408" y="39064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6" name="AutoShape 51"/>
          <p:cNvSpPr>
            <a:spLocks noChangeArrowheads="1"/>
          </p:cNvSpPr>
          <p:nvPr/>
        </p:nvSpPr>
        <p:spPr bwMode="auto">
          <a:xfrm rot="112716" flipH="1">
            <a:off x="4110608" y="40588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7" name="AutoShape 52"/>
          <p:cNvSpPr>
            <a:spLocks noChangeArrowheads="1"/>
          </p:cNvSpPr>
          <p:nvPr/>
        </p:nvSpPr>
        <p:spPr bwMode="auto">
          <a:xfrm rot="21130149">
            <a:off x="4567808" y="40588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8" name="Oval 53"/>
          <p:cNvSpPr>
            <a:spLocks noChangeArrowheads="1"/>
          </p:cNvSpPr>
          <p:nvPr/>
        </p:nvSpPr>
        <p:spPr bwMode="auto">
          <a:xfrm>
            <a:off x="5406008" y="3982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9" name="AutoShape 54"/>
          <p:cNvSpPr>
            <a:spLocks noChangeArrowheads="1"/>
          </p:cNvSpPr>
          <p:nvPr/>
        </p:nvSpPr>
        <p:spPr bwMode="auto">
          <a:xfrm rot="112716" flipH="1">
            <a:off x="5101208" y="41350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0" name="AutoShape 55"/>
          <p:cNvSpPr>
            <a:spLocks noChangeArrowheads="1"/>
          </p:cNvSpPr>
          <p:nvPr/>
        </p:nvSpPr>
        <p:spPr bwMode="auto">
          <a:xfrm rot="21130149">
            <a:off x="5558408" y="41350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1" name="Oval 56"/>
          <p:cNvSpPr>
            <a:spLocks noChangeArrowheads="1"/>
          </p:cNvSpPr>
          <p:nvPr/>
        </p:nvSpPr>
        <p:spPr bwMode="auto">
          <a:xfrm>
            <a:off x="6320408" y="3982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2" name="AutoShape 57"/>
          <p:cNvSpPr>
            <a:spLocks noChangeArrowheads="1"/>
          </p:cNvSpPr>
          <p:nvPr/>
        </p:nvSpPr>
        <p:spPr bwMode="auto">
          <a:xfrm rot="112716" flipH="1">
            <a:off x="6015608" y="41350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3" name="AutoShape 58"/>
          <p:cNvSpPr>
            <a:spLocks noChangeArrowheads="1"/>
          </p:cNvSpPr>
          <p:nvPr/>
        </p:nvSpPr>
        <p:spPr bwMode="auto">
          <a:xfrm rot="21130149">
            <a:off x="6472808" y="41350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4" name="Oval 59"/>
          <p:cNvSpPr>
            <a:spLocks noChangeArrowheads="1"/>
          </p:cNvSpPr>
          <p:nvPr/>
        </p:nvSpPr>
        <p:spPr bwMode="auto">
          <a:xfrm>
            <a:off x="4491608" y="47446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5" name="AutoShape 60"/>
          <p:cNvSpPr>
            <a:spLocks noChangeArrowheads="1"/>
          </p:cNvSpPr>
          <p:nvPr/>
        </p:nvSpPr>
        <p:spPr bwMode="auto">
          <a:xfrm rot="112716" flipH="1">
            <a:off x="4186808" y="48970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6" name="AutoShape 61"/>
          <p:cNvSpPr>
            <a:spLocks noChangeArrowheads="1"/>
          </p:cNvSpPr>
          <p:nvPr/>
        </p:nvSpPr>
        <p:spPr bwMode="auto">
          <a:xfrm rot="21130149">
            <a:off x="4644008" y="48970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7" name="Oval 62"/>
          <p:cNvSpPr>
            <a:spLocks noChangeArrowheads="1"/>
          </p:cNvSpPr>
          <p:nvPr/>
        </p:nvSpPr>
        <p:spPr bwMode="auto">
          <a:xfrm>
            <a:off x="5558408" y="4820800"/>
            <a:ext cx="152400" cy="152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8" name="AutoShape 63"/>
          <p:cNvSpPr>
            <a:spLocks noChangeArrowheads="1"/>
          </p:cNvSpPr>
          <p:nvPr/>
        </p:nvSpPr>
        <p:spPr bwMode="auto">
          <a:xfrm rot="112716" flipH="1">
            <a:off x="5253608" y="49732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9" name="AutoShape 64"/>
          <p:cNvSpPr>
            <a:spLocks noChangeArrowheads="1"/>
          </p:cNvSpPr>
          <p:nvPr/>
        </p:nvSpPr>
        <p:spPr bwMode="auto">
          <a:xfrm rot="21130149">
            <a:off x="5710808" y="4973200"/>
            <a:ext cx="331788" cy="533400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20" name="Line 65"/>
          <p:cNvSpPr>
            <a:spLocks noChangeShapeType="1"/>
          </p:cNvSpPr>
          <p:nvPr/>
        </p:nvSpPr>
        <p:spPr bwMode="auto">
          <a:xfrm flipH="1">
            <a:off x="4491608" y="33730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Line 66"/>
          <p:cNvSpPr>
            <a:spLocks noChangeShapeType="1"/>
          </p:cNvSpPr>
          <p:nvPr/>
        </p:nvSpPr>
        <p:spPr bwMode="auto">
          <a:xfrm>
            <a:off x="4872608" y="32968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Line 67"/>
          <p:cNvSpPr>
            <a:spLocks noChangeShapeType="1"/>
          </p:cNvSpPr>
          <p:nvPr/>
        </p:nvSpPr>
        <p:spPr bwMode="auto">
          <a:xfrm flipH="1">
            <a:off x="3501008" y="32968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Line 68"/>
          <p:cNvSpPr>
            <a:spLocks noChangeShapeType="1"/>
          </p:cNvSpPr>
          <p:nvPr/>
        </p:nvSpPr>
        <p:spPr bwMode="auto">
          <a:xfrm>
            <a:off x="4796408" y="3296800"/>
            <a:ext cx="1600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Freeform 69"/>
          <p:cNvSpPr/>
          <p:nvPr/>
        </p:nvSpPr>
        <p:spPr bwMode="auto">
          <a:xfrm>
            <a:off x="4644008" y="3373000"/>
            <a:ext cx="406400" cy="1371600"/>
          </a:xfrm>
          <a:custGeom>
            <a:avLst/>
            <a:gdLst>
              <a:gd name="T0" fmla="*/ 152400 w 256"/>
              <a:gd name="T1" fmla="*/ 0 h 864"/>
              <a:gd name="T2" fmla="*/ 381000 w 256"/>
              <a:gd name="T3" fmla="*/ 1143000 h 864"/>
              <a:gd name="T4" fmla="*/ 0 w 256"/>
              <a:gd name="T5" fmla="*/ 1371600 h 8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864">
                <a:moveTo>
                  <a:pt x="96" y="0"/>
                </a:moveTo>
                <a:cubicBezTo>
                  <a:pt x="176" y="288"/>
                  <a:pt x="256" y="576"/>
                  <a:pt x="240" y="720"/>
                </a:cubicBezTo>
                <a:cubicBezTo>
                  <a:pt x="224" y="864"/>
                  <a:pt x="112" y="864"/>
                  <a:pt x="0" y="86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Freeform 70"/>
          <p:cNvSpPr/>
          <p:nvPr/>
        </p:nvSpPr>
        <p:spPr bwMode="auto">
          <a:xfrm>
            <a:off x="4948808" y="3373000"/>
            <a:ext cx="1244600" cy="1447800"/>
          </a:xfrm>
          <a:custGeom>
            <a:avLst/>
            <a:gdLst>
              <a:gd name="T0" fmla="*/ 0 w 784"/>
              <a:gd name="T1" fmla="*/ 0 h 912"/>
              <a:gd name="T2" fmla="*/ 1143000 w 784"/>
              <a:gd name="T3" fmla="*/ 990600 h 912"/>
              <a:gd name="T4" fmla="*/ 609600 w 784"/>
              <a:gd name="T5" fmla="*/ 1447800 h 9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84" h="912">
                <a:moveTo>
                  <a:pt x="0" y="0"/>
                </a:moveTo>
                <a:cubicBezTo>
                  <a:pt x="328" y="236"/>
                  <a:pt x="656" y="472"/>
                  <a:pt x="720" y="624"/>
                </a:cubicBezTo>
                <a:cubicBezTo>
                  <a:pt x="784" y="776"/>
                  <a:pt x="584" y="844"/>
                  <a:pt x="384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Text Box 71"/>
          <p:cNvSpPr txBox="1">
            <a:spLocks noChangeArrowheads="1"/>
          </p:cNvSpPr>
          <p:nvPr/>
        </p:nvSpPr>
        <p:spPr bwMode="auto">
          <a:xfrm>
            <a:off x="2129408" y="4820800"/>
            <a:ext cx="148951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PC-Find(x)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127" name="Text Box 72"/>
          <p:cNvSpPr txBox="1">
            <a:spLocks noChangeArrowheads="1"/>
          </p:cNvSpPr>
          <p:nvPr/>
        </p:nvSpPr>
        <p:spPr bwMode="auto">
          <a:xfrm>
            <a:off x="818133" y="5974913"/>
            <a:ext cx="31115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x</a:t>
            </a:r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2CD14B5-49E9-42F5-ADF5-6B3EC5FAD49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403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4403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BC6C962-B1F9-4F09-8D89-CA66B48E8A28}" type="slidenum">
              <a:rPr lang="en-US" altLang="zh-CN" sz="1050"/>
            </a:fld>
            <a:endParaRPr lang="en-US" altLang="zh-CN" sz="105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Path Compression Find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4703" y="2843808"/>
            <a:ext cx="56527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Perform a find with path compression.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Error checks omitted again for simplicity.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Return the set containing x.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zh-CN" altLang="en-US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sz="2000" dirty="0" smtClean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latin typeface="Sitka Text" panose="02000505000000020004" pitchFamily="2" charset="0"/>
              </a:rPr>
              <a:t>DisjSets</a:t>
            </a:r>
            <a:r>
              <a:rPr lang="en-US" altLang="zh-CN" sz="2000" dirty="0">
                <a:latin typeface="Sitka Text" panose="02000505000000020004" pitchFamily="2" charset="0"/>
              </a:rPr>
              <a:t>::find(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x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if</a:t>
            </a:r>
            <a:r>
              <a:rPr lang="en-US" altLang="zh-CN" sz="2000" dirty="0">
                <a:latin typeface="Sitka Text" panose="02000505000000020004" pitchFamily="2" charset="0"/>
              </a:rPr>
              <a:t>( s[ x ] &lt; 0 )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return </a:t>
            </a:r>
            <a:r>
              <a:rPr lang="en-US" altLang="zh-CN" sz="2000" dirty="0">
                <a:latin typeface="Sitka Text" panose="02000505000000020004" pitchFamily="2" charset="0"/>
              </a:rPr>
              <a:t>x;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else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      return </a:t>
            </a:r>
            <a:r>
              <a:rPr lang="en-US" altLang="zh-CN" sz="2000" dirty="0">
                <a:latin typeface="Sitka Text" panose="02000505000000020004" pitchFamily="2" charset="0"/>
              </a:rPr>
              <a:t>s[ x ] = find( s[ x ] 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}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53D06EB-781F-4373-B22E-179C5215E3B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505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450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FCB10DB-6BEA-4CBB-A6AD-2DB130707578}" type="slidenum">
              <a:rPr lang="en-US" altLang="zh-CN" sz="1050"/>
            </a:fld>
            <a:endParaRPr lang="en-US" altLang="zh-CN" sz="105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5080" name="Text Box 21"/>
          <p:cNvSpPr txBox="1">
            <a:spLocks noChangeArrowheads="1"/>
          </p:cNvSpPr>
          <p:nvPr/>
        </p:nvSpPr>
        <p:spPr bwMode="auto">
          <a:xfrm>
            <a:off x="1619918" y="5547173"/>
            <a:ext cx="3016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2800" dirty="0" smtClean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x</a:t>
            </a:r>
            <a:endParaRPr lang="en-US" altLang="zh-CN" sz="2800" dirty="0">
              <a:solidFill>
                <a:srgbClr val="FF0000"/>
              </a:solidFill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5081" name="Line 22"/>
          <p:cNvSpPr>
            <a:spLocks noChangeShapeType="1"/>
          </p:cNvSpPr>
          <p:nvPr/>
        </p:nvSpPr>
        <p:spPr bwMode="auto">
          <a:xfrm flipV="1">
            <a:off x="1921604" y="5696216"/>
            <a:ext cx="28575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26" name="Oval 1028"/>
          <p:cNvSpPr>
            <a:spLocks noChangeArrowheads="1"/>
          </p:cNvSpPr>
          <p:nvPr/>
        </p:nvSpPr>
        <p:spPr bwMode="auto">
          <a:xfrm>
            <a:off x="1718156" y="336728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7" name="Oval 1029"/>
          <p:cNvSpPr>
            <a:spLocks noChangeArrowheads="1"/>
          </p:cNvSpPr>
          <p:nvPr/>
        </p:nvSpPr>
        <p:spPr bwMode="auto">
          <a:xfrm>
            <a:off x="1946756" y="405308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2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8" name="Oval 1030"/>
          <p:cNvSpPr>
            <a:spLocks noChangeArrowheads="1"/>
          </p:cNvSpPr>
          <p:nvPr/>
        </p:nvSpPr>
        <p:spPr bwMode="auto">
          <a:xfrm>
            <a:off x="2289656" y="53675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3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29" name="Oval 1031"/>
          <p:cNvSpPr>
            <a:spLocks noChangeArrowheads="1"/>
          </p:cNvSpPr>
          <p:nvPr/>
        </p:nvSpPr>
        <p:spPr bwMode="auto">
          <a:xfrm>
            <a:off x="3661256" y="39959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4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0" name="Oval 1032"/>
          <p:cNvSpPr>
            <a:spLocks noChangeArrowheads="1"/>
          </p:cNvSpPr>
          <p:nvPr/>
        </p:nvSpPr>
        <p:spPr bwMode="auto">
          <a:xfrm>
            <a:off x="2918306" y="39959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5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1" name="Oval 1033"/>
          <p:cNvSpPr>
            <a:spLocks noChangeArrowheads="1"/>
          </p:cNvSpPr>
          <p:nvPr/>
        </p:nvSpPr>
        <p:spPr bwMode="auto">
          <a:xfrm>
            <a:off x="2632556" y="46817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6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2" name="Oval 1034"/>
          <p:cNvSpPr>
            <a:spLocks noChangeArrowheads="1"/>
          </p:cNvSpPr>
          <p:nvPr/>
        </p:nvSpPr>
        <p:spPr bwMode="auto">
          <a:xfrm>
            <a:off x="3261206" y="33101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7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3" name="Line 1035"/>
          <p:cNvSpPr>
            <a:spLocks noChangeShapeType="1"/>
          </p:cNvSpPr>
          <p:nvPr/>
        </p:nvSpPr>
        <p:spPr bwMode="auto">
          <a:xfrm flipH="1" flipV="1">
            <a:off x="1946756" y="3653036"/>
            <a:ext cx="1143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4" name="Line 1036"/>
          <p:cNvSpPr>
            <a:spLocks noChangeShapeType="1"/>
          </p:cNvSpPr>
          <p:nvPr/>
        </p:nvSpPr>
        <p:spPr bwMode="auto">
          <a:xfrm flipV="1">
            <a:off x="3146906" y="3595886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5" name="Line 1037"/>
          <p:cNvSpPr>
            <a:spLocks noChangeShapeType="1"/>
          </p:cNvSpPr>
          <p:nvPr/>
        </p:nvSpPr>
        <p:spPr bwMode="auto">
          <a:xfrm flipH="1" flipV="1">
            <a:off x="3546956" y="3538736"/>
            <a:ext cx="228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6" name="Line 1038"/>
          <p:cNvSpPr>
            <a:spLocks noChangeShapeType="1"/>
          </p:cNvSpPr>
          <p:nvPr/>
        </p:nvSpPr>
        <p:spPr bwMode="auto">
          <a:xfrm flipV="1">
            <a:off x="2861156" y="4281686"/>
            <a:ext cx="1714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7" name="Line 1039"/>
          <p:cNvSpPr>
            <a:spLocks noChangeShapeType="1"/>
          </p:cNvSpPr>
          <p:nvPr/>
        </p:nvSpPr>
        <p:spPr bwMode="auto">
          <a:xfrm flipV="1">
            <a:off x="2518256" y="4967486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38" name="Oval 1056"/>
          <p:cNvSpPr>
            <a:spLocks noChangeArrowheads="1"/>
          </p:cNvSpPr>
          <p:nvPr/>
        </p:nvSpPr>
        <p:spPr bwMode="auto">
          <a:xfrm>
            <a:off x="3375506" y="46817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8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39" name="Oval 1057"/>
          <p:cNvSpPr>
            <a:spLocks noChangeArrowheads="1"/>
          </p:cNvSpPr>
          <p:nvPr/>
        </p:nvSpPr>
        <p:spPr bwMode="auto">
          <a:xfrm>
            <a:off x="3947006" y="468173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9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0" name="Line 1058"/>
          <p:cNvSpPr>
            <a:spLocks noChangeShapeType="1"/>
          </p:cNvSpPr>
          <p:nvPr/>
        </p:nvSpPr>
        <p:spPr bwMode="auto">
          <a:xfrm flipV="1">
            <a:off x="3546956" y="4281686"/>
            <a:ext cx="22860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41" name="Line 1059"/>
          <p:cNvSpPr>
            <a:spLocks noChangeShapeType="1"/>
          </p:cNvSpPr>
          <p:nvPr/>
        </p:nvSpPr>
        <p:spPr bwMode="auto">
          <a:xfrm flipH="1" flipV="1">
            <a:off x="3947006" y="4281686"/>
            <a:ext cx="17145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42" name="Oval 1060"/>
          <p:cNvSpPr>
            <a:spLocks noChangeArrowheads="1"/>
          </p:cNvSpPr>
          <p:nvPr/>
        </p:nvSpPr>
        <p:spPr bwMode="auto">
          <a:xfrm>
            <a:off x="2861156" y="5424686"/>
            <a:ext cx="3429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>
                <a:latin typeface="Sitka Text" panose="02000505000000020004" pitchFamily="2" charset="0"/>
                <a:ea typeface="宋体" pitchFamily="2" charset="-122"/>
              </a:rPr>
              <a:t>10</a:t>
            </a:r>
            <a:endParaRPr lang="en-US" altLang="zh-CN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43" name="Line 1061"/>
          <p:cNvSpPr>
            <a:spLocks noChangeShapeType="1"/>
          </p:cNvSpPr>
          <p:nvPr/>
        </p:nvSpPr>
        <p:spPr bwMode="auto">
          <a:xfrm flipH="1" flipV="1">
            <a:off x="2918306" y="4967486"/>
            <a:ext cx="1143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latin typeface="Sitka Text" panose="02000505000000020004" pitchFamily="2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61614" y="6429671"/>
            <a:ext cx="35429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return s[ x ] = find( s[ x ] );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27BE3D6-36D2-49B1-AB49-873095256D1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75580EB-31FC-489F-B894-38DD33D66BB6}" type="slidenum">
              <a:rPr lang="en-US" altLang="zh-CN" sz="1050"/>
            </a:fld>
            <a:endParaRPr lang="en-US" altLang="zh-CN" sz="1050"/>
          </a:p>
        </p:txBody>
      </p:sp>
      <p:sp>
        <p:nvSpPr>
          <p:cNvPr id="4608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Disjoint Union / Find</a:t>
            </a:r>
            <a:b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with Weighted Union and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Path Compression 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608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Worst case time complexity for a W-Union is O(1) and for a PC-Find is   O(log N). 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Time complexity for m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 N </a:t>
            </a:r>
            <a:r>
              <a:rPr lang="en-US" altLang="zh-CN" dirty="0" smtClean="0">
                <a:ea typeface="宋体" pitchFamily="2" charset="-122"/>
              </a:rPr>
              <a:t>operations on N elements is O(m log* N) .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Here, log* </a:t>
            </a:r>
            <a:r>
              <a:rPr lang="en-US" altLang="zh-CN" dirty="0"/>
              <a:t>N is iterated </a:t>
            </a:r>
            <a:r>
              <a:rPr lang="en-US" altLang="zh-CN" dirty="0" smtClean="0"/>
              <a:t>logarithm </a:t>
            </a:r>
            <a:r>
              <a:rPr lang="en-US" altLang="zh-CN" dirty="0"/>
              <a:t>and a very slow growing </a:t>
            </a:r>
            <a:r>
              <a:rPr lang="en-US" altLang="zh-CN" dirty="0" smtClean="0"/>
              <a:t>function</a:t>
            </a:r>
            <a:r>
              <a:rPr lang="en-US" altLang="zh-CN" dirty="0"/>
              <a:t>. (log∗ 2</a:t>
            </a:r>
            <a:r>
              <a:rPr lang="en-US" altLang="zh-CN" baseline="30000" dirty="0"/>
              <a:t>65536</a:t>
            </a:r>
            <a:r>
              <a:rPr lang="en-US" altLang="zh-CN" dirty="0"/>
              <a:t> = 5)</a:t>
            </a:r>
            <a:endParaRPr lang="en-US" altLang="zh-CN" dirty="0"/>
          </a:p>
          <a:p>
            <a:pPr lvl="1"/>
            <a:r>
              <a:rPr lang="en-US" altLang="zh-CN" dirty="0" smtClean="0">
                <a:ea typeface="宋体" pitchFamily="2" charset="-122"/>
              </a:rPr>
              <a:t>Essentially constant time per operation!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0F53C25-05F2-4D2A-BBDB-0FDCC349EA1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lec8 Disjoint Set Class</a:t>
            </a:r>
            <a:endParaRPr lang="en-US" altLang="zh-CN" sz="105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848D4E3-728D-40D4-9B7B-94E47B48D798}" type="slidenum">
              <a:rPr lang="en-US" altLang="zh-CN" sz="1050"/>
            </a:fld>
            <a:endParaRPr lang="en-US" altLang="zh-CN" sz="105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Amortized Complexity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For disjoint union / find with weighted union and path compression. 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average time per operation is essentially a constant.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 worst case time for a PC-Find is O(log N).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An individual operation can be costly, but over time the average cost per operation is not.  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6</a:t>
            </a:r>
            <a:endParaRPr lang="zh-CN" altLang="en-US" dirty="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Textbook </a:t>
            </a:r>
            <a:r>
              <a:rPr lang="en-US" altLang="zh-CN" sz="2800" dirty="0" smtClean="0"/>
              <a:t>Exercises 8.1,8.2</a:t>
            </a:r>
            <a:endParaRPr lang="zh-CN" altLang="en-US" sz="2800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71CEBBB-5C13-4167-AA25-0755E87E610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9263</Words>
  <Application>WPS 文字</Application>
  <PresentationFormat>全屏显示(4:3)</PresentationFormat>
  <Paragraphs>1461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4" baseType="lpstr">
      <vt:lpstr>Arial</vt:lpstr>
      <vt:lpstr>宋体</vt:lpstr>
      <vt:lpstr>Wingdings</vt:lpstr>
      <vt:lpstr>Sitka Small</vt:lpstr>
      <vt:lpstr>苹方-简</vt:lpstr>
      <vt:lpstr>Times New Roman</vt:lpstr>
      <vt:lpstr>Wingdings 2</vt:lpstr>
      <vt:lpstr>Sitka Text</vt:lpstr>
      <vt:lpstr>宋体</vt:lpstr>
      <vt:lpstr>宋体-简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Symbol</vt:lpstr>
      <vt:lpstr>Kingsoft Sign</vt:lpstr>
      <vt:lpstr>HDOfficeLightV0</vt:lpstr>
      <vt:lpstr>Disjoint Set Class</vt:lpstr>
      <vt:lpstr>Equivalence Relations</vt:lpstr>
      <vt:lpstr>Equivalence Classes</vt:lpstr>
      <vt:lpstr>Dynamic Equivalence Problem</vt:lpstr>
      <vt:lpstr>Dynamic Equivalence Problem</vt:lpstr>
      <vt:lpstr>Disjoint Union/Find</vt:lpstr>
      <vt:lpstr>An Application</vt:lpstr>
      <vt:lpstr>An Application</vt:lpstr>
      <vt:lpstr>An Application</vt:lpstr>
      <vt:lpstr>Desired Properties</vt:lpstr>
      <vt:lpstr>A Cycle (we don’t want that)</vt:lpstr>
      <vt:lpstr>A Good Solution</vt:lpstr>
      <vt:lpstr>Good Solution : A Hidden Tree</vt:lpstr>
      <vt:lpstr>Number the Cells</vt:lpstr>
      <vt:lpstr>Basic Algorithm</vt:lpstr>
      <vt:lpstr>Example Step</vt:lpstr>
      <vt:lpstr>Example</vt:lpstr>
      <vt:lpstr>Example</vt:lpstr>
      <vt:lpstr>Example at the End</vt:lpstr>
      <vt:lpstr>Up-Tree for D-U/F</vt:lpstr>
      <vt:lpstr>D-U/F with Up-Tree</vt:lpstr>
      <vt:lpstr>Find Operation</vt:lpstr>
      <vt:lpstr>Union Operation</vt:lpstr>
      <vt:lpstr>Simple Implementation</vt:lpstr>
      <vt:lpstr>Union</vt:lpstr>
      <vt:lpstr>Find</vt:lpstr>
      <vt:lpstr> A Bad Case</vt:lpstr>
      <vt:lpstr>Weighted Union</vt:lpstr>
      <vt:lpstr>Example Again</vt:lpstr>
      <vt:lpstr>Weighted Union</vt:lpstr>
      <vt:lpstr>Weighted Union</vt:lpstr>
      <vt:lpstr>Analysis of Weighted Union</vt:lpstr>
      <vt:lpstr>Analysis of Weighted Union</vt:lpstr>
      <vt:lpstr>Worst Case for Weighted Union</vt:lpstr>
      <vt:lpstr>Example of Worst Cast (cont’)</vt:lpstr>
      <vt:lpstr>An alternative implementation</vt:lpstr>
      <vt:lpstr>PowerPoint 演示文稿</vt:lpstr>
      <vt:lpstr>Path Compression</vt:lpstr>
      <vt:lpstr>Self-Adjustment Works</vt:lpstr>
      <vt:lpstr>Path Compression Find</vt:lpstr>
      <vt:lpstr>Example</vt:lpstr>
      <vt:lpstr>Disjoint Union / Find with Weighted Union and Path Compression </vt:lpstr>
      <vt:lpstr>Amortized Complexity</vt:lpstr>
      <vt:lpstr>Homework 6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JXWang</cp:lastModifiedBy>
  <cp:revision>963</cp:revision>
  <dcterms:created xsi:type="dcterms:W3CDTF">2025-05-08T05:18:21Z</dcterms:created>
  <dcterms:modified xsi:type="dcterms:W3CDTF">2025-05-08T05:18:21Z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D7EFC5BED1DC2D98983E1C68D02FB96A_42</vt:lpwstr>
  </property>
</Properties>
</file>