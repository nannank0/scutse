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comment2.xml" ContentType="application/vnd.openxmlformats-officedocument.presentationml.comments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56" r:id="rId4"/>
    <p:sldId id="259" r:id="rId5"/>
    <p:sldId id="257" r:id="rId6"/>
    <p:sldId id="258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88" r:id="rId15"/>
    <p:sldId id="276" r:id="rId16"/>
    <p:sldId id="271" r:id="rId17"/>
    <p:sldId id="273" r:id="rId18"/>
    <p:sldId id="274" r:id="rId19"/>
    <p:sldId id="275" r:id="rId20"/>
    <p:sldId id="278" r:id="rId21"/>
    <p:sldId id="277" r:id="rId22"/>
    <p:sldId id="279" r:id="rId23"/>
    <p:sldId id="289" r:id="rId24"/>
    <p:sldId id="280" r:id="rId25"/>
    <p:sldId id="281" r:id="rId26"/>
    <p:sldId id="283" r:id="rId27"/>
    <p:sldId id="282" r:id="rId28"/>
    <p:sldId id="285" r:id="rId29"/>
    <p:sldId id="284" r:id="rId30"/>
    <p:sldId id="286" r:id="rId31"/>
    <p:sldId id="287" r:id="rId32"/>
    <p:sldId id="290" r:id="rId33"/>
    <p:sldId id="291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D14CC61-4749-48F6-A53A-97D82AEC8F58}">
          <p14:sldIdLst>
            <p14:sldId id="263"/>
            <p14:sldId id="260"/>
            <p14:sldId id="256"/>
            <p14:sldId id="259"/>
            <p14:sldId id="257"/>
            <p14:sldId id="258"/>
            <p14:sldId id="264"/>
            <p14:sldId id="265"/>
            <p14:sldId id="266"/>
            <p14:sldId id="267"/>
            <p14:sldId id="268"/>
            <p14:sldId id="269"/>
            <p14:sldId id="272"/>
            <p14:sldId id="288"/>
            <p14:sldId id="276"/>
            <p14:sldId id="271"/>
            <p14:sldId id="273"/>
            <p14:sldId id="274"/>
            <p14:sldId id="275"/>
            <p14:sldId id="278"/>
            <p14:sldId id="277"/>
            <p14:sldId id="279"/>
            <p14:sldId id="289"/>
            <p14:sldId id="280"/>
            <p14:sldId id="281"/>
            <p14:sldId id="283"/>
            <p14:sldId id="282"/>
            <p14:sldId id="285"/>
            <p14:sldId id="284"/>
            <p14:sldId id="286"/>
            <p14:sldId id="287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金梓 鲁" initials="金梓" lastIdx="3" clrIdx="0">
    <p:extLst>
      <p:ext uri="{19B8F6BF-5375-455C-9EA6-DF929625EA0E}">
        <p15:presenceInfo xmlns:p15="http://schemas.microsoft.com/office/powerpoint/2012/main" userId="596e47fa60ff61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11" autoAdjust="0"/>
  </p:normalViewPr>
  <p:slideViewPr>
    <p:cSldViewPr snapToGrid="0">
      <p:cViewPr varScale="1">
        <p:scale>
          <a:sx n="80" d="100"/>
          <a:sy n="80" d="100"/>
        </p:scale>
        <p:origin x="62" y="46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17T19:53:39.868" idx="1">
    <p:pos x="5950" y="1910"/>
    <p:text>注意这里的“像”就是对应值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2T23:42:54.172" idx="3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2:18:5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2:18:5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2:18:5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2:29:19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5:41:2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5003 0 24575,'0'1'0,"1"1"0,-1-1 0,0 0 0,1 0 0,-1 1 0,1-1 0,-1 0 0,1 0 0,0 0 0,0 0 0,-1 0 0,1 0 0,0 0 0,0 0 0,0 0 0,0 0 0,0 0 0,0-1 0,0 1 0,1 0 0,-1-1 0,2 2 0,35 13 0,-19-9 0,1 3 0,112 56 0,-62-32 0,-45-22 0,33 20 0,102 55 0,-43-24 0,17 2 0,-100-50 0,0 2 0,-2 0 0,0 3 0,44 32 0,-55-32 0,-1 1 0,-1 1 0,30 44 0,15 17 0,-55-71 0,-1 1 0,0 0 0,-1 0 0,0 1 0,7 21 0,-6-17 0,0 0 0,15 24 0,-16-29 0,0 0 0,-1 1 0,0-1 0,-1 1 0,0 0 0,-1 1 0,-1-1 0,0 1 0,1 18 0,-1 16 0,-5 66 0,0-51 0,0-33 0,-2 0 0,-1-1 0,-2 0 0,-1 0 0,-13 32 0,-18 74 0,27-92 0,-2 0 0,-1 0 0,-3-2 0,-23 43 0,-84 165 0,121-241 0,-118 240 0,81-166 0,-53 81 0,71-126 0,-8 11 0,-40 44 0,-24 37 0,70-91 0,-1-1 0,-2-1 0,-2-2 0,-53 50 0,-165 161 0,199-196 0,16-14 0,0 2 0,-33 51 0,58-78 0,-1 1 0,0-2 0,-1 1 0,0-1 0,-1-1 0,0 0 0,0 0 0,0-1 0,-1-1 0,0 0 0,-16 5 0,-45 27 0,33-13 0,-5 1 0,2 1 0,-70 60 0,94-70 0,-32 21 0,0-2 0,33-23 0,-2 0 0,0-2 0,-1 0 0,-24 9 0,-19 9 0,38-17 0,-49 15 0,44-17 0,-32 15 0,37-14 0,-1 0 0,0-2 0,0 0 0,-1-2 0,0-2 0,0 0 0,-1-2 0,-49 0 0,16 0 0,-79 13 0,-28 2 0,82-16 0,-61 4 0,126-4 0,-1 2 0,1 0 0,-1 2 0,-30 11 0,36-10 0,-38 15 0,-96 53 0,133-65 0,0 0 0,-1-2 0,1 0 0,-1-1 0,-1 0 0,-32 5 0,15-7 0,-1-1 0,-62-3 0,-282-5 0,369 4 0,1 1 0,-1 0 0,0 1 0,1 1 0,-1 0 0,1 0 0,-14 7 0,-4 4 0,-41 26 0,48-27 0,-4 2 0,-32 11 0,-12 6 0,42-18 0,-1-2 0,-37 10 0,38-13 0,0 1 0,-50 26 0,-46 29 0,-139 52 0,176-77 0,54-23 0,1-3 0,-37 12 0,-76 27 0,37-11 0,75-29 0,2 1 0,0 2 0,1 1 0,0 2 0,2 1 0,-41 35 0,57-45-43,-2-1 0,1 0-1,-1-1 1,0 0 0,-27 9-1,15-6-1061,2-1-5721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5:41:2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0 24575,'0'33'0,"1"1"0,-5 38 0,2-59 0,-1-1 0,1 1 0,-2-1 0,0 1 0,0-1 0,-9 16 0,-16 21 0,-55 71 0,47-70 0,-33 59 0,34-45 0,-55 110 0,76-145 0,-1-1 0,-1-1 0,-1-1 0,-2 0 0,-44 45 0,47-50 0,-26 40 0,3-4 0,33-45 0,0 0 0,0 1 0,2-1 0,-1 2 0,1-1 0,1 0 0,1 1 0,0 0 0,0 0 0,2 0 0,-1 0 0,2 0 0,0 1 0,1-1 0,4 25 0,-4-35 0,1 1 0,-1-1 0,1 0 0,0 0 0,1 1 0,-1-1 0,1 0 0,-1-1 0,1 1 0,1 0 0,-1-1 0,0 0 0,1 0 0,-1 0 0,1 0 0,0 0 0,0-1 0,0 0 0,0 0 0,1 0 0,-1 0 0,1 0 0,-1-1 0,6 1 0,13 3 0,0-1 0,0 0 0,34-1 0,277-5 0,-148-3 0,-164 6 0,-1-2 0,1 0 0,-1-2 0,1 0 0,-1-2 0,0 0 0,-1-1 0,0-1 0,28-14 0,116-76 0,-66 40 68,-72 44-426,-1-1-1,-1-1 1,33-26 0,-36 20-6468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15:41:4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A0131-B1A0-4808-A6B7-E48658D6E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C322D4-F584-4998-8AF8-502D9A1E2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5D46F-7F03-4B0C-94E6-7D8011256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67CD95-1B6B-4E4A-BE4C-6C3BE41C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50ED03-0901-4EF1-B7A3-B42AFFE6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47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C1422-C002-4838-A6DF-4CEC21DB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CC2A9E-AB4B-4AAB-9676-F30314E2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CF4ADF-194E-4F85-97F4-B2E59870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C00B35-25A7-45F7-B2C2-77E76F94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B4FB8A-4012-4572-B6E3-3610F078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15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42942-1C8F-4AD6-91D4-6C702A52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338D7A-12D3-45EE-BEC7-3E8DBFBD5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4E2D40-D87D-4909-9F27-BC8087EA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CF0BC-D696-4786-9650-4AED1591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802C8-F00A-4099-9D76-40136E8D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5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0467C-0B28-44F0-BB50-F260B9C2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D193D-E6DC-4963-9300-A08E54C62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9A7D5-0DCC-402D-8163-B08F2C1A9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EAD3DD-54CE-4708-BF12-0D4EE7CB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90AFA5-BCCB-4D48-9564-75807281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610D7F-1F4E-4689-A6C3-34C84053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21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A5F47-1D12-45B7-B179-56F5320A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1C761A-56EF-4AA0-B0B6-CB8410017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80BD96-4783-4F5B-A5C8-BA003B260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B61840-01BC-4526-AB38-38656B752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21F26B-41FF-4976-9FC0-57C3F47DE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964577-12EE-44FF-A581-9414E4A4B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B08D68-2225-48AF-828B-D3FA18DB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AA622F-4930-454F-8192-BF9E2358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69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35173-BE4E-456D-BC1F-E427BC95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7A06DB-CAEA-4E50-961D-22F415EF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57D413-02BA-43F9-9293-73F4FDC9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EA5044-5B9C-4F2C-9FE7-8D7E07B06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89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60191B-8B6C-42B5-AB79-C73D8551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F64F38-B668-4AF2-8052-89A9E90B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B5CBD-07D3-45E0-906C-86D58A30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9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2C75B-956C-4C11-8224-0656BA82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F2272-8B90-428E-A416-28E3B2241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E4FFFF-E3A0-483D-AC0D-C07A217EA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340070-31BF-4009-898B-1CAF5BB2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57E41B-D4E2-4262-9794-D2E1A0BFC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A055B6-841B-4C03-995B-3BF8177D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58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780B6-B69E-462F-91AF-3526F1560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27FAC1-D028-4840-91D7-4C80245CB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530A4F-2D94-4508-836F-8BF891EEE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784567-5B65-4D8A-9201-AE463BC2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826852-9A05-496E-8065-27C7A12B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E11FEA-5D0B-48D7-A324-FE937F414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80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89E94-94B9-4BBC-A684-2F4ABF77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FCD161-961A-43D2-97F6-DDE7FD73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E8BC43-1168-455D-AF19-704A5D49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B53690-F19C-41A3-BA66-B8DE3140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384FA6-832A-43D5-9A68-C2FD378E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56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5E376D-B497-4B29-95D3-D0DD15FE1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98A19F-F24E-4D0A-9AB0-867827BAD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E3E5F2-2FA0-42F3-AECA-F218E8C0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5C833A-81BA-464B-9B14-BB053825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3566B2-8901-4F47-B9E3-77BEEC54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47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lumMod val="5000"/>
                <a:lumOff val="95000"/>
                <a:alpha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59F10C-F656-4307-B2E6-D02F439AE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39529-F96A-488F-87B7-B6E712028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37614-C449-4B65-9510-5181721CF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0043C-104C-438F-938A-C80279A13BB3}" type="datetimeFigureOut">
              <a:rPr lang="zh-CN" altLang="en-US" smtClean="0"/>
              <a:t>2023/12/26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17B5A6-5BAD-4A95-B221-E82580F37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7D194-CEEA-4E66-9AD4-6C33DD6F5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8D0A3-60DC-4A69-AA2D-D639A04D45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45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customXml" Target="../ink/ink6.xml"/><Relationship Id="rId4" Type="http://schemas.openxmlformats.org/officeDocument/2006/relationships/image" Target="../media/image2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01E504D-622E-40FB-9EA3-A51ED4977248}"/>
              </a:ext>
            </a:extLst>
          </p:cNvPr>
          <p:cNvSpPr/>
          <p:nvPr/>
        </p:nvSpPr>
        <p:spPr>
          <a:xfrm>
            <a:off x="27432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6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39A0900-255F-4889-B504-B5C72DBEC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0C6679-8BAE-42B5-A181-8D7E9437C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 useBgFill="1">
        <p:nvSpPr>
          <p:cNvPr id="11" name="任意多边形: 形状 10">
            <a:extLst>
              <a:ext uri="{FF2B5EF4-FFF2-40B4-BE49-F238E27FC236}">
                <a16:creationId xmlns:a16="http://schemas.microsoft.com/office/drawing/2014/main" id="{4CE26793-417E-4024-AB3D-7E7B2AEB3E0B}"/>
              </a:ext>
            </a:extLst>
          </p:cNvPr>
          <p:cNvSpPr/>
          <p:nvPr/>
        </p:nvSpPr>
        <p:spPr>
          <a:xfrm rot="13500000">
            <a:off x="6096002" y="-4006575"/>
            <a:ext cx="15361919" cy="15217107"/>
          </a:xfrm>
          <a:custGeom>
            <a:avLst/>
            <a:gdLst>
              <a:gd name="connsiteX0" fmla="*/ 10567947 w 15361919"/>
              <a:gd name="connsiteY0" fmla="*/ 7608614 h 15217107"/>
              <a:gd name="connsiteX1" fmla="*/ 15361919 w 15361919"/>
              <a:gd name="connsiteY1" fmla="*/ 7608614 h 15217107"/>
              <a:gd name="connsiteX2" fmla="*/ 8076220 w 15361919"/>
              <a:gd name="connsiteY2" fmla="*/ 15211089 h 15217107"/>
              <a:gd name="connsiteX3" fmla="*/ 7836058 w 15361919"/>
              <a:gd name="connsiteY3" fmla="*/ 15217107 h 15217107"/>
              <a:gd name="connsiteX4" fmla="*/ 7836058 w 15361919"/>
              <a:gd name="connsiteY4" fmla="*/ 10419376 h 15217107"/>
              <a:gd name="connsiteX5" fmla="*/ 7976137 w 15361919"/>
              <a:gd name="connsiteY5" fmla="*/ 10412471 h 15217107"/>
              <a:gd name="connsiteX6" fmla="*/ 10567947 w 15361919"/>
              <a:gd name="connsiteY6" fmla="*/ 7608614 h 15217107"/>
              <a:gd name="connsiteX7" fmla="*/ 0 w 15361919"/>
              <a:gd name="connsiteY7" fmla="*/ 7608614 h 15217107"/>
              <a:gd name="connsiteX8" fmla="*/ 4793971 w 15361919"/>
              <a:gd name="connsiteY8" fmla="*/ 7608614 h 15217107"/>
              <a:gd name="connsiteX9" fmla="*/ 7385782 w 15361919"/>
              <a:gd name="connsiteY9" fmla="*/ 10412471 h 15217107"/>
              <a:gd name="connsiteX10" fmla="*/ 7525860 w 15361919"/>
              <a:gd name="connsiteY10" fmla="*/ 10419376 h 15217107"/>
              <a:gd name="connsiteX11" fmla="*/ 7525860 w 15361919"/>
              <a:gd name="connsiteY11" fmla="*/ 15217107 h 15217107"/>
              <a:gd name="connsiteX12" fmla="*/ 7285698 w 15361919"/>
              <a:gd name="connsiteY12" fmla="*/ 15211089 h 15217107"/>
              <a:gd name="connsiteX13" fmla="*/ 0 w 15361919"/>
              <a:gd name="connsiteY13" fmla="*/ 7608614 h 15217107"/>
              <a:gd name="connsiteX14" fmla="*/ 7525860 w 15361919"/>
              <a:gd name="connsiteY14" fmla="*/ 0 h 15217107"/>
              <a:gd name="connsiteX15" fmla="*/ 7525860 w 15361919"/>
              <a:gd name="connsiteY15" fmla="*/ 4796899 h 15217107"/>
              <a:gd name="connsiteX16" fmla="*/ 7422242 w 15361919"/>
              <a:gd name="connsiteY16" fmla="*/ 4801370 h 15217107"/>
              <a:gd name="connsiteX17" fmla="*/ 4852625 w 15361919"/>
              <a:gd name="connsiteY17" fmla="*/ 7040607 h 15217107"/>
              <a:gd name="connsiteX18" fmla="*/ 4812321 w 15361919"/>
              <a:gd name="connsiteY18" fmla="*/ 7298417 h 15217107"/>
              <a:gd name="connsiteX19" fmla="*/ 7914 w 15361919"/>
              <a:gd name="connsiteY19" fmla="*/ 7298417 h 15217107"/>
              <a:gd name="connsiteX20" fmla="*/ 9995 w 15361919"/>
              <a:gd name="connsiteY20" fmla="*/ 7216883 h 15217107"/>
              <a:gd name="connsiteX21" fmla="*/ 7297974 w 15361919"/>
              <a:gd name="connsiteY21" fmla="*/ 5533 h 15217107"/>
              <a:gd name="connsiteX22" fmla="*/ 7836058 w 15361919"/>
              <a:gd name="connsiteY22" fmla="*/ 0 h 15217107"/>
              <a:gd name="connsiteX23" fmla="*/ 8063945 w 15361919"/>
              <a:gd name="connsiteY23" fmla="*/ 5533 h 15217107"/>
              <a:gd name="connsiteX24" fmla="*/ 15351925 w 15361919"/>
              <a:gd name="connsiteY24" fmla="*/ 7216883 h 15217107"/>
              <a:gd name="connsiteX25" fmla="*/ 15354005 w 15361919"/>
              <a:gd name="connsiteY25" fmla="*/ 7298417 h 15217107"/>
              <a:gd name="connsiteX26" fmla="*/ 10549598 w 15361919"/>
              <a:gd name="connsiteY26" fmla="*/ 7298417 h 15217107"/>
              <a:gd name="connsiteX27" fmla="*/ 10509294 w 15361919"/>
              <a:gd name="connsiteY27" fmla="*/ 7040607 h 15217107"/>
              <a:gd name="connsiteX28" fmla="*/ 7939676 w 15361919"/>
              <a:gd name="connsiteY28" fmla="*/ 4801370 h 15217107"/>
              <a:gd name="connsiteX29" fmla="*/ 7836058 w 15361919"/>
              <a:gd name="connsiteY29" fmla="*/ 4796899 h 152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361919" h="15217107">
                <a:moveTo>
                  <a:pt x="10567947" y="7608614"/>
                </a:moveTo>
                <a:lnTo>
                  <a:pt x="15361919" y="7608614"/>
                </a:lnTo>
                <a:cubicBezTo>
                  <a:pt x="15361919" y="11681434"/>
                  <a:pt x="12134607" y="15007205"/>
                  <a:pt x="8076220" y="15211089"/>
                </a:cubicBezTo>
                <a:lnTo>
                  <a:pt x="7836058" y="15217107"/>
                </a:lnTo>
                <a:lnTo>
                  <a:pt x="7836058" y="10419376"/>
                </a:lnTo>
                <a:lnTo>
                  <a:pt x="7976137" y="10412471"/>
                </a:lnTo>
                <a:cubicBezTo>
                  <a:pt x="9431918" y="10268140"/>
                  <a:pt x="10567947" y="9067893"/>
                  <a:pt x="10567947" y="7608614"/>
                </a:cubicBezTo>
                <a:close/>
                <a:moveTo>
                  <a:pt x="0" y="7608614"/>
                </a:moveTo>
                <a:lnTo>
                  <a:pt x="4793971" y="7608614"/>
                </a:lnTo>
                <a:cubicBezTo>
                  <a:pt x="4793971" y="9067893"/>
                  <a:pt x="5930001" y="10268140"/>
                  <a:pt x="7385782" y="10412471"/>
                </a:cubicBezTo>
                <a:lnTo>
                  <a:pt x="7525860" y="10419376"/>
                </a:lnTo>
                <a:lnTo>
                  <a:pt x="7525860" y="15217107"/>
                </a:lnTo>
                <a:lnTo>
                  <a:pt x="7285698" y="15211089"/>
                </a:lnTo>
                <a:cubicBezTo>
                  <a:pt x="3227310" y="15007205"/>
                  <a:pt x="0" y="11681434"/>
                  <a:pt x="0" y="7608614"/>
                </a:cubicBezTo>
                <a:close/>
                <a:moveTo>
                  <a:pt x="7525860" y="0"/>
                </a:moveTo>
                <a:lnTo>
                  <a:pt x="7525860" y="4796899"/>
                </a:lnTo>
                <a:lnTo>
                  <a:pt x="7422242" y="4801370"/>
                </a:lnTo>
                <a:cubicBezTo>
                  <a:pt x="6143821" y="4912212"/>
                  <a:pt x="5105001" y="5836575"/>
                  <a:pt x="4852625" y="7040607"/>
                </a:cubicBezTo>
                <a:lnTo>
                  <a:pt x="4812321" y="7298417"/>
                </a:lnTo>
                <a:lnTo>
                  <a:pt x="7914" y="7298417"/>
                </a:lnTo>
                <a:lnTo>
                  <a:pt x="9995" y="7216883"/>
                </a:lnTo>
                <a:cubicBezTo>
                  <a:pt x="209286" y="3320423"/>
                  <a:pt x="3364790" y="196945"/>
                  <a:pt x="7297974" y="5533"/>
                </a:cubicBezTo>
                <a:close/>
                <a:moveTo>
                  <a:pt x="7836058" y="0"/>
                </a:moveTo>
                <a:lnTo>
                  <a:pt x="8063945" y="5533"/>
                </a:lnTo>
                <a:cubicBezTo>
                  <a:pt x="11997129" y="196945"/>
                  <a:pt x="15152633" y="3320423"/>
                  <a:pt x="15351925" y="7216883"/>
                </a:cubicBezTo>
                <a:lnTo>
                  <a:pt x="15354005" y="7298417"/>
                </a:lnTo>
                <a:lnTo>
                  <a:pt x="10549598" y="7298417"/>
                </a:lnTo>
                <a:lnTo>
                  <a:pt x="10509294" y="7040607"/>
                </a:lnTo>
                <a:cubicBezTo>
                  <a:pt x="10256918" y="5836575"/>
                  <a:pt x="9218098" y="4912212"/>
                  <a:pt x="7939676" y="4801370"/>
                </a:cubicBezTo>
                <a:lnTo>
                  <a:pt x="7836058" y="4796899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39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42C60D1-4F3A-447F-B49C-5D6413F937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3679A6-200B-4840-B518-3856538F6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6021" y="5464276"/>
            <a:ext cx="9144000" cy="165576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0B20CAE-6205-4C91-BCAF-A82ADFD9A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104" y="1689735"/>
            <a:ext cx="9144000" cy="2387600"/>
          </a:xfrm>
        </p:spPr>
        <p:txBody>
          <a:bodyPr/>
          <a:lstStyle/>
          <a:p>
            <a:r>
              <a:rPr lang="zh-CN" altLang="en-US" dirty="0"/>
              <a:t>爆了</a:t>
            </a:r>
          </a:p>
        </p:txBody>
      </p:sp>
      <p:sp useBgFill="1">
        <p:nvSpPr>
          <p:cNvPr id="16" name="任意多边形: 形状 15">
            <a:extLst>
              <a:ext uri="{FF2B5EF4-FFF2-40B4-BE49-F238E27FC236}">
                <a16:creationId xmlns:a16="http://schemas.microsoft.com/office/drawing/2014/main" id="{5C6525CF-9B65-4197-9201-17D32AA54A3F}"/>
              </a:ext>
            </a:extLst>
          </p:cNvPr>
          <p:cNvSpPr/>
          <p:nvPr/>
        </p:nvSpPr>
        <p:spPr>
          <a:xfrm rot="8119910">
            <a:off x="6096002" y="-4006575"/>
            <a:ext cx="15361919" cy="15217107"/>
          </a:xfrm>
          <a:custGeom>
            <a:avLst/>
            <a:gdLst>
              <a:gd name="connsiteX0" fmla="*/ 10567947 w 15361919"/>
              <a:gd name="connsiteY0" fmla="*/ 7608614 h 15217107"/>
              <a:gd name="connsiteX1" fmla="*/ 15361919 w 15361919"/>
              <a:gd name="connsiteY1" fmla="*/ 7608614 h 15217107"/>
              <a:gd name="connsiteX2" fmla="*/ 8076220 w 15361919"/>
              <a:gd name="connsiteY2" fmla="*/ 15211089 h 15217107"/>
              <a:gd name="connsiteX3" fmla="*/ 7836058 w 15361919"/>
              <a:gd name="connsiteY3" fmla="*/ 15217107 h 15217107"/>
              <a:gd name="connsiteX4" fmla="*/ 7836058 w 15361919"/>
              <a:gd name="connsiteY4" fmla="*/ 10419376 h 15217107"/>
              <a:gd name="connsiteX5" fmla="*/ 7976137 w 15361919"/>
              <a:gd name="connsiteY5" fmla="*/ 10412471 h 15217107"/>
              <a:gd name="connsiteX6" fmla="*/ 10567947 w 15361919"/>
              <a:gd name="connsiteY6" fmla="*/ 7608614 h 15217107"/>
              <a:gd name="connsiteX7" fmla="*/ 0 w 15361919"/>
              <a:gd name="connsiteY7" fmla="*/ 7608614 h 15217107"/>
              <a:gd name="connsiteX8" fmla="*/ 4793971 w 15361919"/>
              <a:gd name="connsiteY8" fmla="*/ 7608614 h 15217107"/>
              <a:gd name="connsiteX9" fmla="*/ 7385782 w 15361919"/>
              <a:gd name="connsiteY9" fmla="*/ 10412471 h 15217107"/>
              <a:gd name="connsiteX10" fmla="*/ 7525860 w 15361919"/>
              <a:gd name="connsiteY10" fmla="*/ 10419376 h 15217107"/>
              <a:gd name="connsiteX11" fmla="*/ 7525860 w 15361919"/>
              <a:gd name="connsiteY11" fmla="*/ 15217107 h 15217107"/>
              <a:gd name="connsiteX12" fmla="*/ 7285698 w 15361919"/>
              <a:gd name="connsiteY12" fmla="*/ 15211089 h 15217107"/>
              <a:gd name="connsiteX13" fmla="*/ 0 w 15361919"/>
              <a:gd name="connsiteY13" fmla="*/ 7608614 h 15217107"/>
              <a:gd name="connsiteX14" fmla="*/ 7525860 w 15361919"/>
              <a:gd name="connsiteY14" fmla="*/ 0 h 15217107"/>
              <a:gd name="connsiteX15" fmla="*/ 7525860 w 15361919"/>
              <a:gd name="connsiteY15" fmla="*/ 4796899 h 15217107"/>
              <a:gd name="connsiteX16" fmla="*/ 7422242 w 15361919"/>
              <a:gd name="connsiteY16" fmla="*/ 4801370 h 15217107"/>
              <a:gd name="connsiteX17" fmla="*/ 4852625 w 15361919"/>
              <a:gd name="connsiteY17" fmla="*/ 7040607 h 15217107"/>
              <a:gd name="connsiteX18" fmla="*/ 4812321 w 15361919"/>
              <a:gd name="connsiteY18" fmla="*/ 7298417 h 15217107"/>
              <a:gd name="connsiteX19" fmla="*/ 7914 w 15361919"/>
              <a:gd name="connsiteY19" fmla="*/ 7298417 h 15217107"/>
              <a:gd name="connsiteX20" fmla="*/ 9995 w 15361919"/>
              <a:gd name="connsiteY20" fmla="*/ 7216883 h 15217107"/>
              <a:gd name="connsiteX21" fmla="*/ 7297974 w 15361919"/>
              <a:gd name="connsiteY21" fmla="*/ 5533 h 15217107"/>
              <a:gd name="connsiteX22" fmla="*/ 7836058 w 15361919"/>
              <a:gd name="connsiteY22" fmla="*/ 0 h 15217107"/>
              <a:gd name="connsiteX23" fmla="*/ 8063945 w 15361919"/>
              <a:gd name="connsiteY23" fmla="*/ 5533 h 15217107"/>
              <a:gd name="connsiteX24" fmla="*/ 15351925 w 15361919"/>
              <a:gd name="connsiteY24" fmla="*/ 7216883 h 15217107"/>
              <a:gd name="connsiteX25" fmla="*/ 15354005 w 15361919"/>
              <a:gd name="connsiteY25" fmla="*/ 7298417 h 15217107"/>
              <a:gd name="connsiteX26" fmla="*/ 10549598 w 15361919"/>
              <a:gd name="connsiteY26" fmla="*/ 7298417 h 15217107"/>
              <a:gd name="connsiteX27" fmla="*/ 10509294 w 15361919"/>
              <a:gd name="connsiteY27" fmla="*/ 7040607 h 15217107"/>
              <a:gd name="connsiteX28" fmla="*/ 7939676 w 15361919"/>
              <a:gd name="connsiteY28" fmla="*/ 4801370 h 15217107"/>
              <a:gd name="connsiteX29" fmla="*/ 7836058 w 15361919"/>
              <a:gd name="connsiteY29" fmla="*/ 4796899 h 152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361919" h="15217107">
                <a:moveTo>
                  <a:pt x="10567947" y="7608614"/>
                </a:moveTo>
                <a:lnTo>
                  <a:pt x="15361919" y="7608614"/>
                </a:lnTo>
                <a:cubicBezTo>
                  <a:pt x="15361919" y="11681434"/>
                  <a:pt x="12134607" y="15007205"/>
                  <a:pt x="8076220" y="15211089"/>
                </a:cubicBezTo>
                <a:lnTo>
                  <a:pt x="7836058" y="15217107"/>
                </a:lnTo>
                <a:lnTo>
                  <a:pt x="7836058" y="10419376"/>
                </a:lnTo>
                <a:lnTo>
                  <a:pt x="7976137" y="10412471"/>
                </a:lnTo>
                <a:cubicBezTo>
                  <a:pt x="9431918" y="10268140"/>
                  <a:pt x="10567947" y="9067893"/>
                  <a:pt x="10567947" y="7608614"/>
                </a:cubicBezTo>
                <a:close/>
                <a:moveTo>
                  <a:pt x="0" y="7608614"/>
                </a:moveTo>
                <a:lnTo>
                  <a:pt x="4793971" y="7608614"/>
                </a:lnTo>
                <a:cubicBezTo>
                  <a:pt x="4793971" y="9067893"/>
                  <a:pt x="5930001" y="10268140"/>
                  <a:pt x="7385782" y="10412471"/>
                </a:cubicBezTo>
                <a:lnTo>
                  <a:pt x="7525860" y="10419376"/>
                </a:lnTo>
                <a:lnTo>
                  <a:pt x="7525860" y="15217107"/>
                </a:lnTo>
                <a:lnTo>
                  <a:pt x="7285698" y="15211089"/>
                </a:lnTo>
                <a:cubicBezTo>
                  <a:pt x="3227310" y="15007205"/>
                  <a:pt x="0" y="11681434"/>
                  <a:pt x="0" y="7608614"/>
                </a:cubicBezTo>
                <a:close/>
                <a:moveTo>
                  <a:pt x="7525860" y="0"/>
                </a:moveTo>
                <a:lnTo>
                  <a:pt x="7525860" y="4796899"/>
                </a:lnTo>
                <a:lnTo>
                  <a:pt x="7422242" y="4801370"/>
                </a:lnTo>
                <a:cubicBezTo>
                  <a:pt x="6143821" y="4912212"/>
                  <a:pt x="5105001" y="5836575"/>
                  <a:pt x="4852625" y="7040607"/>
                </a:cubicBezTo>
                <a:lnTo>
                  <a:pt x="4812321" y="7298417"/>
                </a:lnTo>
                <a:lnTo>
                  <a:pt x="7914" y="7298417"/>
                </a:lnTo>
                <a:lnTo>
                  <a:pt x="9995" y="7216883"/>
                </a:lnTo>
                <a:cubicBezTo>
                  <a:pt x="209286" y="3320423"/>
                  <a:pt x="3364790" y="196945"/>
                  <a:pt x="7297974" y="5533"/>
                </a:cubicBezTo>
                <a:close/>
                <a:moveTo>
                  <a:pt x="7836058" y="0"/>
                </a:moveTo>
                <a:lnTo>
                  <a:pt x="8063945" y="5533"/>
                </a:lnTo>
                <a:cubicBezTo>
                  <a:pt x="11997129" y="196945"/>
                  <a:pt x="15152633" y="3320423"/>
                  <a:pt x="15351925" y="7216883"/>
                </a:cubicBezTo>
                <a:lnTo>
                  <a:pt x="15354005" y="7298417"/>
                </a:lnTo>
                <a:lnTo>
                  <a:pt x="10549598" y="7298417"/>
                </a:lnTo>
                <a:lnTo>
                  <a:pt x="10509294" y="7040607"/>
                </a:lnTo>
                <a:cubicBezTo>
                  <a:pt x="10256918" y="5836575"/>
                  <a:pt x="9218098" y="4912212"/>
                  <a:pt x="7939676" y="4801370"/>
                </a:cubicBezTo>
                <a:lnTo>
                  <a:pt x="7836058" y="4796899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451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E23AF-AB32-43ED-9B5C-5CD88922D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工科数学总复习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D860B-9C54-415A-9278-BC975C806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鲁金梓</a:t>
            </a:r>
            <a:endParaRPr lang="en-US" altLang="zh-CN" dirty="0"/>
          </a:p>
          <a:p>
            <a:r>
              <a:rPr lang="zh-CN" altLang="en-US" dirty="0"/>
              <a:t>吕齐明</a:t>
            </a:r>
          </a:p>
        </p:txBody>
      </p:sp>
      <p:sp useBgFill="1">
        <p:nvSpPr>
          <p:cNvPr id="5" name="任意多边形: 形状 4">
            <a:extLst>
              <a:ext uri="{FF2B5EF4-FFF2-40B4-BE49-F238E27FC236}">
                <a16:creationId xmlns:a16="http://schemas.microsoft.com/office/drawing/2014/main" id="{4B8C69DD-DBD1-4BCF-B0CD-5BB563FBB7C3}"/>
              </a:ext>
            </a:extLst>
          </p:cNvPr>
          <p:cNvSpPr/>
          <p:nvPr/>
        </p:nvSpPr>
        <p:spPr>
          <a:xfrm rot="8119910">
            <a:off x="6096002" y="-4006575"/>
            <a:ext cx="15361919" cy="15217107"/>
          </a:xfrm>
          <a:custGeom>
            <a:avLst/>
            <a:gdLst>
              <a:gd name="connsiteX0" fmla="*/ 10567947 w 15361919"/>
              <a:gd name="connsiteY0" fmla="*/ 7608614 h 15217107"/>
              <a:gd name="connsiteX1" fmla="*/ 15361919 w 15361919"/>
              <a:gd name="connsiteY1" fmla="*/ 7608614 h 15217107"/>
              <a:gd name="connsiteX2" fmla="*/ 8076220 w 15361919"/>
              <a:gd name="connsiteY2" fmla="*/ 15211089 h 15217107"/>
              <a:gd name="connsiteX3" fmla="*/ 7836058 w 15361919"/>
              <a:gd name="connsiteY3" fmla="*/ 15217107 h 15217107"/>
              <a:gd name="connsiteX4" fmla="*/ 7836058 w 15361919"/>
              <a:gd name="connsiteY4" fmla="*/ 10419376 h 15217107"/>
              <a:gd name="connsiteX5" fmla="*/ 7976137 w 15361919"/>
              <a:gd name="connsiteY5" fmla="*/ 10412471 h 15217107"/>
              <a:gd name="connsiteX6" fmla="*/ 10567947 w 15361919"/>
              <a:gd name="connsiteY6" fmla="*/ 7608614 h 15217107"/>
              <a:gd name="connsiteX7" fmla="*/ 0 w 15361919"/>
              <a:gd name="connsiteY7" fmla="*/ 7608614 h 15217107"/>
              <a:gd name="connsiteX8" fmla="*/ 4793971 w 15361919"/>
              <a:gd name="connsiteY8" fmla="*/ 7608614 h 15217107"/>
              <a:gd name="connsiteX9" fmla="*/ 7385782 w 15361919"/>
              <a:gd name="connsiteY9" fmla="*/ 10412471 h 15217107"/>
              <a:gd name="connsiteX10" fmla="*/ 7525860 w 15361919"/>
              <a:gd name="connsiteY10" fmla="*/ 10419376 h 15217107"/>
              <a:gd name="connsiteX11" fmla="*/ 7525860 w 15361919"/>
              <a:gd name="connsiteY11" fmla="*/ 15217107 h 15217107"/>
              <a:gd name="connsiteX12" fmla="*/ 7285698 w 15361919"/>
              <a:gd name="connsiteY12" fmla="*/ 15211089 h 15217107"/>
              <a:gd name="connsiteX13" fmla="*/ 0 w 15361919"/>
              <a:gd name="connsiteY13" fmla="*/ 7608614 h 15217107"/>
              <a:gd name="connsiteX14" fmla="*/ 7525860 w 15361919"/>
              <a:gd name="connsiteY14" fmla="*/ 0 h 15217107"/>
              <a:gd name="connsiteX15" fmla="*/ 7525860 w 15361919"/>
              <a:gd name="connsiteY15" fmla="*/ 4796899 h 15217107"/>
              <a:gd name="connsiteX16" fmla="*/ 7422242 w 15361919"/>
              <a:gd name="connsiteY16" fmla="*/ 4801370 h 15217107"/>
              <a:gd name="connsiteX17" fmla="*/ 4852625 w 15361919"/>
              <a:gd name="connsiteY17" fmla="*/ 7040607 h 15217107"/>
              <a:gd name="connsiteX18" fmla="*/ 4812321 w 15361919"/>
              <a:gd name="connsiteY18" fmla="*/ 7298417 h 15217107"/>
              <a:gd name="connsiteX19" fmla="*/ 7914 w 15361919"/>
              <a:gd name="connsiteY19" fmla="*/ 7298417 h 15217107"/>
              <a:gd name="connsiteX20" fmla="*/ 9995 w 15361919"/>
              <a:gd name="connsiteY20" fmla="*/ 7216883 h 15217107"/>
              <a:gd name="connsiteX21" fmla="*/ 7297974 w 15361919"/>
              <a:gd name="connsiteY21" fmla="*/ 5533 h 15217107"/>
              <a:gd name="connsiteX22" fmla="*/ 7836058 w 15361919"/>
              <a:gd name="connsiteY22" fmla="*/ 0 h 15217107"/>
              <a:gd name="connsiteX23" fmla="*/ 8063945 w 15361919"/>
              <a:gd name="connsiteY23" fmla="*/ 5533 h 15217107"/>
              <a:gd name="connsiteX24" fmla="*/ 15351925 w 15361919"/>
              <a:gd name="connsiteY24" fmla="*/ 7216883 h 15217107"/>
              <a:gd name="connsiteX25" fmla="*/ 15354005 w 15361919"/>
              <a:gd name="connsiteY25" fmla="*/ 7298417 h 15217107"/>
              <a:gd name="connsiteX26" fmla="*/ 10549598 w 15361919"/>
              <a:gd name="connsiteY26" fmla="*/ 7298417 h 15217107"/>
              <a:gd name="connsiteX27" fmla="*/ 10509294 w 15361919"/>
              <a:gd name="connsiteY27" fmla="*/ 7040607 h 15217107"/>
              <a:gd name="connsiteX28" fmla="*/ 7939676 w 15361919"/>
              <a:gd name="connsiteY28" fmla="*/ 4801370 h 15217107"/>
              <a:gd name="connsiteX29" fmla="*/ 7836058 w 15361919"/>
              <a:gd name="connsiteY29" fmla="*/ 4796899 h 152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361919" h="15217107">
                <a:moveTo>
                  <a:pt x="10567947" y="7608614"/>
                </a:moveTo>
                <a:lnTo>
                  <a:pt x="15361919" y="7608614"/>
                </a:lnTo>
                <a:cubicBezTo>
                  <a:pt x="15361919" y="11681434"/>
                  <a:pt x="12134607" y="15007205"/>
                  <a:pt x="8076220" y="15211089"/>
                </a:cubicBezTo>
                <a:lnTo>
                  <a:pt x="7836058" y="15217107"/>
                </a:lnTo>
                <a:lnTo>
                  <a:pt x="7836058" y="10419376"/>
                </a:lnTo>
                <a:lnTo>
                  <a:pt x="7976137" y="10412471"/>
                </a:lnTo>
                <a:cubicBezTo>
                  <a:pt x="9431918" y="10268140"/>
                  <a:pt x="10567947" y="9067893"/>
                  <a:pt x="10567947" y="7608614"/>
                </a:cubicBezTo>
                <a:close/>
                <a:moveTo>
                  <a:pt x="0" y="7608614"/>
                </a:moveTo>
                <a:lnTo>
                  <a:pt x="4793971" y="7608614"/>
                </a:lnTo>
                <a:cubicBezTo>
                  <a:pt x="4793971" y="9067893"/>
                  <a:pt x="5930001" y="10268140"/>
                  <a:pt x="7385782" y="10412471"/>
                </a:cubicBezTo>
                <a:lnTo>
                  <a:pt x="7525860" y="10419376"/>
                </a:lnTo>
                <a:lnTo>
                  <a:pt x="7525860" y="15217107"/>
                </a:lnTo>
                <a:lnTo>
                  <a:pt x="7285698" y="15211089"/>
                </a:lnTo>
                <a:cubicBezTo>
                  <a:pt x="3227310" y="15007205"/>
                  <a:pt x="0" y="11681434"/>
                  <a:pt x="0" y="7608614"/>
                </a:cubicBezTo>
                <a:close/>
                <a:moveTo>
                  <a:pt x="7525860" y="0"/>
                </a:moveTo>
                <a:lnTo>
                  <a:pt x="7525860" y="4796899"/>
                </a:lnTo>
                <a:lnTo>
                  <a:pt x="7422242" y="4801370"/>
                </a:lnTo>
                <a:cubicBezTo>
                  <a:pt x="6143821" y="4912212"/>
                  <a:pt x="5105001" y="5836575"/>
                  <a:pt x="4852625" y="7040607"/>
                </a:cubicBezTo>
                <a:lnTo>
                  <a:pt x="4812321" y="7298417"/>
                </a:lnTo>
                <a:lnTo>
                  <a:pt x="7914" y="7298417"/>
                </a:lnTo>
                <a:lnTo>
                  <a:pt x="9995" y="7216883"/>
                </a:lnTo>
                <a:cubicBezTo>
                  <a:pt x="209286" y="3320423"/>
                  <a:pt x="3364790" y="196945"/>
                  <a:pt x="7297974" y="5533"/>
                </a:cubicBezTo>
                <a:close/>
                <a:moveTo>
                  <a:pt x="7836058" y="0"/>
                </a:moveTo>
                <a:lnTo>
                  <a:pt x="8063945" y="5533"/>
                </a:lnTo>
                <a:cubicBezTo>
                  <a:pt x="11997129" y="196945"/>
                  <a:pt x="15152633" y="3320423"/>
                  <a:pt x="15351925" y="7216883"/>
                </a:cubicBezTo>
                <a:lnTo>
                  <a:pt x="15354005" y="7298417"/>
                </a:lnTo>
                <a:lnTo>
                  <a:pt x="10549598" y="7298417"/>
                </a:lnTo>
                <a:lnTo>
                  <a:pt x="10509294" y="7040607"/>
                </a:lnTo>
                <a:cubicBezTo>
                  <a:pt x="10256918" y="5836575"/>
                  <a:pt x="9218098" y="4912212"/>
                  <a:pt x="7939676" y="4801370"/>
                </a:cubicBezTo>
                <a:lnTo>
                  <a:pt x="7836058" y="4796899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87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AE8A5-D449-4338-B76F-A9777038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即使课本上没有，你也应该知道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EADBD2-6C1D-4E3D-8A3F-3615777E9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不等式</a:t>
                </a:r>
                <a:endParaRPr lang="en-US" altLang="zh-CN" dirty="0"/>
              </a:p>
              <a:p>
                <a:r>
                  <a:rPr lang="en-US" altLang="zh-CN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|≤</m:t>
                    </m:r>
                  </m:oMath>
                </a14:m>
                <a:r>
                  <a:rPr lang="en-US" altLang="zh-CN" dirty="0"/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+|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|+…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ad>
                      <m:rad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2+…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𝑥𝑛</m:t>
                        </m:r>
                      </m:e>
                    </m:ra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2+…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伯努利</a:t>
                </a:r>
                <a:r>
                  <a:rPr lang="zh-CN" altLang="en-US" dirty="0">
                    <a:sym typeface="Wingdings" panose="05000000000000000000" pitchFamily="2" charset="2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（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）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b="0" i="0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&gt;1+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nx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成立条件：</a:t>
                </a:r>
                <a:r>
                  <a:rPr lang="en-US" altLang="zh-CN" dirty="0"/>
                  <a:t>(</a:t>
                </a:r>
                <a:r>
                  <a:rPr lang="en-US" altLang="zh-CN" sz="2000" b="1" dirty="0"/>
                  <a:t>( x ) </a:t>
                </a:r>
                <a:r>
                  <a:rPr lang="zh-CN" altLang="en-US" sz="2000" b="1" dirty="0"/>
                  <a:t>的取值范围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( x ) </a:t>
                </a:r>
                <a:r>
                  <a:rPr lang="zh-CN" altLang="en-US" sz="2000" dirty="0"/>
                  <a:t>必须大于 </a:t>
                </a:r>
                <a:r>
                  <a:rPr lang="en-US" altLang="zh-CN" sz="2000" dirty="0"/>
                  <a:t>-1</a:t>
                </a:r>
                <a:r>
                  <a:rPr lang="zh-CN" altLang="en-US" sz="2000" dirty="0"/>
                  <a:t>。这是因为当 </a:t>
                </a:r>
                <a:r>
                  <a:rPr lang="en-US" altLang="zh-CN" sz="2000" dirty="0"/>
                  <a:t>( x &lt;= -1 ) </a:t>
                </a:r>
                <a:r>
                  <a:rPr lang="zh-CN" altLang="en-US" sz="2000" dirty="0"/>
                  <a:t>时，</a:t>
                </a:r>
                <a:r>
                  <a:rPr lang="en-US" altLang="zh-CN" sz="2000" dirty="0"/>
                  <a:t>( 1 + x ) </a:t>
                </a:r>
                <a:r>
                  <a:rPr lang="zh-CN" altLang="en-US" sz="2000" dirty="0"/>
                  <a:t>可能为负或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，而负数或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的任何实数次幂都不能保证不等式成立。</a:t>
                </a:r>
                <a:r>
                  <a:rPr lang="en-US" altLang="zh-CN" sz="2000" b="1" dirty="0"/>
                  <a:t>( n ) </a:t>
                </a:r>
                <a:r>
                  <a:rPr lang="zh-CN" altLang="en-US" sz="2000" b="1" dirty="0"/>
                  <a:t>的取值范围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( n ) </a:t>
                </a:r>
                <a:r>
                  <a:rPr lang="zh-CN" altLang="en-US" sz="2000" dirty="0"/>
                  <a:t>是非负整数，即 </a:t>
                </a:r>
                <a:r>
                  <a:rPr lang="en-US" altLang="zh-CN" sz="2000" dirty="0"/>
                  <a:t>( n ) </a:t>
                </a:r>
                <a:r>
                  <a:rPr lang="zh-CN" altLang="en-US" sz="2000" dirty="0"/>
                  <a:t>可以是 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、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、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、</a:t>
                </a:r>
                <a:r>
                  <a:rPr lang="en-US" altLang="zh-CN" sz="2000" dirty="0"/>
                  <a:t>3</a:t>
                </a:r>
                <a:r>
                  <a:rPr lang="zh-CN" altLang="en-US" sz="2000" dirty="0"/>
                  <a:t>、</a:t>
                </a:r>
                <a:r>
                  <a:rPr lang="en-US" altLang="zh-CN" sz="2000" dirty="0"/>
                  <a:t>... </a:t>
                </a:r>
                <a:r>
                  <a:rPr lang="zh-CN" altLang="en-US" sz="2000" dirty="0"/>
                  <a:t>等。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EADBD2-6C1D-4E3D-8A3F-3615777E9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032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17836-A6D8-4E68-BC1B-47FB4349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第一章：集合与函数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A0965-A4AF-48C5-8E3D-CE799D2B7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重要考点</a:t>
            </a:r>
            <a:endParaRPr lang="en-US" altLang="zh-CN" b="1" dirty="0"/>
          </a:p>
          <a:p>
            <a:r>
              <a:rPr lang="zh-CN" altLang="en-US" dirty="0"/>
              <a:t>实数的某些性质（稠密性）</a:t>
            </a:r>
            <a:endParaRPr lang="en-US" altLang="zh-CN" dirty="0"/>
          </a:p>
          <a:p>
            <a:r>
              <a:rPr lang="zh-CN" altLang="en-US" dirty="0"/>
              <a:t>一些不等式（说过了）</a:t>
            </a:r>
            <a:endParaRPr lang="en-US" altLang="zh-CN" dirty="0"/>
          </a:p>
          <a:p>
            <a:r>
              <a:rPr lang="zh-CN" altLang="en-US" dirty="0"/>
              <a:t>集合的一些性质（相对冷门）</a:t>
            </a:r>
            <a:endParaRPr lang="en-US" altLang="zh-CN" dirty="0"/>
          </a:p>
          <a:p>
            <a:r>
              <a:rPr lang="zh-CN" altLang="en-US" dirty="0"/>
              <a:t>函数的一些知识点</a:t>
            </a:r>
          </a:p>
        </p:txBody>
      </p:sp>
    </p:spTree>
    <p:extLst>
      <p:ext uri="{BB962C8B-B14F-4D97-AF65-F5344CB8AC3E}">
        <p14:creationId xmlns:p14="http://schemas.microsoft.com/office/powerpoint/2010/main" val="336851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092B7-561D-4358-841A-A28D89F8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实数性质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EF03C-E855-43CC-B44F-88DBAEB7C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稠密性：每两个实数之间都有无数个实数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4254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EC577-C9A2-4657-BB3F-571D037D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4AD497-7BD4-4EF4-95FD-B178270B3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运算：笛卡尔乘积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2…×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𝐴𝑛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所有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元</m:t>
                    </m:r>
                    <m:r>
                      <a:rPr lang="zh-CN" alt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有序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组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构成的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集合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其中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𝐴𝑖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b="1" dirty="0"/>
                  <a:t>不满足交换律！！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dirty="0" err="1"/>
                  <a:t>Eg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{}1,2}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/>
                  <a:t>{3,4,5}={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1,3</a:t>
                </a:r>
                <a:r>
                  <a:rPr lang="zh-CN" altLang="en-US" dirty="0"/>
                  <a:t>）（</a:t>
                </a:r>
                <a:r>
                  <a:rPr lang="en-US" altLang="zh-CN" dirty="0"/>
                  <a:t>1,4</a:t>
                </a:r>
                <a:r>
                  <a:rPr lang="zh-CN" altLang="en-US" dirty="0"/>
                  <a:t>）（</a:t>
                </a:r>
                <a:r>
                  <a:rPr lang="en-US" altLang="zh-CN" dirty="0"/>
                  <a:t>1,5</a:t>
                </a:r>
                <a:r>
                  <a:rPr lang="zh-CN" altLang="en-US" dirty="0"/>
                  <a:t>）（</a:t>
                </a:r>
                <a:r>
                  <a:rPr lang="en-US" altLang="zh-CN" dirty="0"/>
                  <a:t>2,3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…}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4AD497-7BD4-4EF4-95FD-B178270B3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122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EC577-C9A2-4657-BB3F-571D037D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集合相关概念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4AD497-7BD4-4EF4-95FD-B178270B3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确界原理：非空有上下界的数集必然存在上下确界</a:t>
                </a:r>
                <a:endParaRPr lang="en-US" altLang="zh-CN" dirty="0"/>
              </a:p>
              <a:p>
                <a:r>
                  <a:rPr lang="zh-CN" altLang="en-US" dirty="0"/>
                  <a:t>有界：既有上届又有下届</a:t>
                </a:r>
                <a:endParaRPr lang="en-US" altLang="zh-CN" dirty="0"/>
              </a:p>
              <a:p>
                <a:r>
                  <a:rPr lang="zh-CN" altLang="en-US" dirty="0"/>
                  <a:t>上界：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非空数集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en-US" altLang="zh-CN" dirty="0"/>
                  <a:t>E</a:t>
                </a:r>
                <a:r>
                  <a:rPr lang="zh-CN" altLang="en-US" dirty="0"/>
                  <a:t>上界（下界同理）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>
                    <a:latin typeface="+mj-lt"/>
                  </a:rPr>
                  <a:t>(</a:t>
                </a:r>
                <a:r>
                  <a:rPr lang="en-US" altLang="zh-CN" dirty="0" err="1">
                    <a:latin typeface="+mj-lt"/>
                  </a:rPr>
                  <a:t>supE</a:t>
                </a:r>
                <a:r>
                  <a:rPr lang="en-US" altLang="zh-CN" dirty="0">
                    <a:latin typeface="+mj-lt"/>
                  </a:rPr>
                  <a:t>=A,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zh-CN" altLang="en-US" dirty="0"/>
                  <a:t>例题：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1+5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CN" dirty="0"/>
                  <a:t>, x1=5,n=2, 3, ….,</a:t>
                </a:r>
                <a:r>
                  <a:rPr lang="zh-CN" altLang="en-US" dirty="0"/>
                  <a:t>证明数列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有界。</a:t>
                </a:r>
                <a:r>
                  <a:rPr lang="en-US" altLang="zh-CN" dirty="0"/>
                  <a:t>·	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思路：既要说明有上界又要说明有下界，可以首先看出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是单调数列，在证明其恒小于某数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D4AD497-7BD4-4EF4-95FD-B178270B3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036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0543D-F7FF-4431-B603-6645C13C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4BE0DE-D1BB-4CF0-9D3A-A2972DBFD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206942"/>
              </a:xfrm>
            </p:spPr>
            <p:txBody>
              <a:bodyPr/>
              <a:lstStyle/>
              <a:p>
                <a:r>
                  <a:rPr lang="zh-CN" altLang="en-US" dirty="0"/>
                  <a:t>映射：存在一个规则 </a:t>
                </a:r>
                <a:r>
                  <a:rPr lang="en-US" altLang="zh-CN" dirty="0"/>
                  <a:t>f </a:t>
                </a:r>
                <a:r>
                  <a:rPr lang="zh-CN" altLang="en-US" dirty="0"/>
                  <a:t>使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∃!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与其</m:t>
                    </m:r>
                  </m:oMath>
                </a14:m>
                <a:r>
                  <a:rPr lang="zh-CN" altLang="en-US" dirty="0"/>
                  <a:t>对应（相等）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zh-CN" altLang="en-US" b="0" dirty="0"/>
                  <a:t>即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/>
                  <a:t>:A-&gt;B || y=f(x)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F4BE0DE-D1BB-4CF0-9D3A-A2972DBFD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206942"/>
              </a:xfrm>
              <a:blipFill>
                <a:blip r:embed="rId2"/>
                <a:stretch>
                  <a:fillRect l="-1043" t="-8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8298281B-5B80-4FD3-B163-CDC9876E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784" y="2812648"/>
            <a:ext cx="6432329" cy="35138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8135665-7B1A-44A7-A066-D8452C0FC5EF}"/>
              </a:ext>
            </a:extLst>
          </p:cNvPr>
          <p:cNvSpPr txBox="1"/>
          <p:nvPr/>
        </p:nvSpPr>
        <p:spPr>
          <a:xfrm>
            <a:off x="601885" y="6146157"/>
            <a:ext cx="9965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恒等映射：可以理解为两个一模一样的集合间的映射</a:t>
            </a:r>
          </a:p>
        </p:txBody>
      </p:sp>
    </p:spTree>
    <p:extLst>
      <p:ext uri="{BB962C8B-B14F-4D97-AF65-F5344CB8AC3E}">
        <p14:creationId xmlns:p14="http://schemas.microsoft.com/office/powerpoint/2010/main" val="393015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E6A7A-A0DB-4BA3-B417-923E30C2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一些重要函数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B3121A-2275-4BAF-B920-36132CD72E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符号函数：</a:t>
                </a:r>
                <a:r>
                  <a:rPr lang="en-US" altLang="zh-CN" dirty="0" err="1"/>
                  <a:t>sgnx</a:t>
                </a: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==0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Dirichlet</a:t>
                </a:r>
                <a:r>
                  <a:rPr lang="zh-CN" altLang="en-US" dirty="0"/>
                  <a:t>函数：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1  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为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有理数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0  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为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无理数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gamma</a:t>
                </a:r>
                <a:r>
                  <a:rPr lang="zh-CN" altLang="en-US" dirty="0"/>
                  <a:t>函数（提前剧透）</a:t>
                </a:r>
                <a:r>
                  <a:rPr lang="en-US" altLang="zh-CN" dirty="0"/>
                  <a:t>F</a:t>
                </a: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ⅆ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marL="0" indent="0" algn="ctr">
                  <a:buNone/>
                </a:pPr>
                <a:r>
                  <a:rPr lang="en-US" altLang="zh-CN" dirty="0"/>
                  <a:t>F(p+1)=pF(p-1)=p!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B-</a:t>
                </a:r>
                <a:r>
                  <a:rPr lang="zh-CN" altLang="en-US" dirty="0"/>
                  <a:t>函数</a:t>
                </a:r>
                <a:r>
                  <a:rPr lang="en-US" altLang="zh-CN" dirty="0"/>
                  <a:t>B(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）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）</m:t>
                        </m:r>
                      </m:den>
                    </m:f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m&gt;0,n&gt;0</a:t>
                </a:r>
                <a:r>
                  <a:rPr lang="zh-CN" altLang="en-US" dirty="0"/>
                  <a:t>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B3121A-2275-4BAF-B920-36132CD72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F2B7782-52E6-4233-8CD7-F5DE37F620C0}"/>
              </a:ext>
            </a:extLst>
          </p:cNvPr>
          <p:cNvSpPr txBox="1"/>
          <p:nvPr/>
        </p:nvSpPr>
        <p:spPr>
          <a:xfrm>
            <a:off x="1058119" y="6246149"/>
            <a:ext cx="6164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易混淆：函数的反函数在同一图像中是相同的</a:t>
            </a:r>
          </a:p>
        </p:txBody>
      </p:sp>
    </p:spTree>
    <p:extLst>
      <p:ext uri="{BB962C8B-B14F-4D97-AF65-F5344CB8AC3E}">
        <p14:creationId xmlns:p14="http://schemas.microsoft.com/office/powerpoint/2010/main" val="3762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E69B1-84F4-487B-A189-2343F535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第二章：极限与连续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120CC8-D99C-4062-8AFE-8AB2D4077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dirty="0"/>
                  <a:t>语言</a:t>
                </a:r>
                <a:endParaRPr lang="en-US" altLang="zh-CN" dirty="0"/>
              </a:p>
              <a:p>
                <a:r>
                  <a:rPr lang="zh-CN" altLang="en-US" dirty="0"/>
                  <a:t>实数基本定理</a:t>
                </a:r>
                <a:endParaRPr lang="en-US" altLang="zh-CN" dirty="0"/>
              </a:p>
              <a:p>
                <a:r>
                  <a:rPr lang="zh-CN" altLang="en-US" dirty="0"/>
                  <a:t>无穷大小</a:t>
                </a:r>
                <a:endParaRPr lang="en-US" altLang="zh-CN" dirty="0"/>
              </a:p>
              <a:p>
                <a:r>
                  <a:rPr lang="zh-CN" altLang="en-US" dirty="0"/>
                  <a:t>连续与间断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C120CC8-D99C-4062-8AFE-8AB2D4077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 useBgFill="1">
        <p:nvSpPr>
          <p:cNvPr id="6" name="任意多边形: 形状 5">
            <a:extLst>
              <a:ext uri="{FF2B5EF4-FFF2-40B4-BE49-F238E27FC236}">
                <a16:creationId xmlns:a16="http://schemas.microsoft.com/office/drawing/2014/main" id="{C1DA0773-D9BA-40F3-BF23-9B0A9EF3B180}"/>
              </a:ext>
            </a:extLst>
          </p:cNvPr>
          <p:cNvSpPr/>
          <p:nvPr/>
        </p:nvSpPr>
        <p:spPr>
          <a:xfrm rot="8119910">
            <a:off x="6096002" y="-4006575"/>
            <a:ext cx="15361919" cy="15217107"/>
          </a:xfrm>
          <a:custGeom>
            <a:avLst/>
            <a:gdLst>
              <a:gd name="connsiteX0" fmla="*/ 10567947 w 15361919"/>
              <a:gd name="connsiteY0" fmla="*/ 7608614 h 15217107"/>
              <a:gd name="connsiteX1" fmla="*/ 15361919 w 15361919"/>
              <a:gd name="connsiteY1" fmla="*/ 7608614 h 15217107"/>
              <a:gd name="connsiteX2" fmla="*/ 8076220 w 15361919"/>
              <a:gd name="connsiteY2" fmla="*/ 15211089 h 15217107"/>
              <a:gd name="connsiteX3" fmla="*/ 7836058 w 15361919"/>
              <a:gd name="connsiteY3" fmla="*/ 15217107 h 15217107"/>
              <a:gd name="connsiteX4" fmla="*/ 7836058 w 15361919"/>
              <a:gd name="connsiteY4" fmla="*/ 10419376 h 15217107"/>
              <a:gd name="connsiteX5" fmla="*/ 7976137 w 15361919"/>
              <a:gd name="connsiteY5" fmla="*/ 10412471 h 15217107"/>
              <a:gd name="connsiteX6" fmla="*/ 10567947 w 15361919"/>
              <a:gd name="connsiteY6" fmla="*/ 7608614 h 15217107"/>
              <a:gd name="connsiteX7" fmla="*/ 0 w 15361919"/>
              <a:gd name="connsiteY7" fmla="*/ 7608614 h 15217107"/>
              <a:gd name="connsiteX8" fmla="*/ 4793971 w 15361919"/>
              <a:gd name="connsiteY8" fmla="*/ 7608614 h 15217107"/>
              <a:gd name="connsiteX9" fmla="*/ 7385782 w 15361919"/>
              <a:gd name="connsiteY9" fmla="*/ 10412471 h 15217107"/>
              <a:gd name="connsiteX10" fmla="*/ 7525860 w 15361919"/>
              <a:gd name="connsiteY10" fmla="*/ 10419376 h 15217107"/>
              <a:gd name="connsiteX11" fmla="*/ 7525860 w 15361919"/>
              <a:gd name="connsiteY11" fmla="*/ 15217107 h 15217107"/>
              <a:gd name="connsiteX12" fmla="*/ 7285698 w 15361919"/>
              <a:gd name="connsiteY12" fmla="*/ 15211089 h 15217107"/>
              <a:gd name="connsiteX13" fmla="*/ 0 w 15361919"/>
              <a:gd name="connsiteY13" fmla="*/ 7608614 h 15217107"/>
              <a:gd name="connsiteX14" fmla="*/ 7525860 w 15361919"/>
              <a:gd name="connsiteY14" fmla="*/ 0 h 15217107"/>
              <a:gd name="connsiteX15" fmla="*/ 7525860 w 15361919"/>
              <a:gd name="connsiteY15" fmla="*/ 4796899 h 15217107"/>
              <a:gd name="connsiteX16" fmla="*/ 7422242 w 15361919"/>
              <a:gd name="connsiteY16" fmla="*/ 4801370 h 15217107"/>
              <a:gd name="connsiteX17" fmla="*/ 4852625 w 15361919"/>
              <a:gd name="connsiteY17" fmla="*/ 7040607 h 15217107"/>
              <a:gd name="connsiteX18" fmla="*/ 4812321 w 15361919"/>
              <a:gd name="connsiteY18" fmla="*/ 7298417 h 15217107"/>
              <a:gd name="connsiteX19" fmla="*/ 7914 w 15361919"/>
              <a:gd name="connsiteY19" fmla="*/ 7298417 h 15217107"/>
              <a:gd name="connsiteX20" fmla="*/ 9995 w 15361919"/>
              <a:gd name="connsiteY20" fmla="*/ 7216883 h 15217107"/>
              <a:gd name="connsiteX21" fmla="*/ 7297974 w 15361919"/>
              <a:gd name="connsiteY21" fmla="*/ 5533 h 15217107"/>
              <a:gd name="connsiteX22" fmla="*/ 7836058 w 15361919"/>
              <a:gd name="connsiteY22" fmla="*/ 0 h 15217107"/>
              <a:gd name="connsiteX23" fmla="*/ 8063945 w 15361919"/>
              <a:gd name="connsiteY23" fmla="*/ 5533 h 15217107"/>
              <a:gd name="connsiteX24" fmla="*/ 15351925 w 15361919"/>
              <a:gd name="connsiteY24" fmla="*/ 7216883 h 15217107"/>
              <a:gd name="connsiteX25" fmla="*/ 15354005 w 15361919"/>
              <a:gd name="connsiteY25" fmla="*/ 7298417 h 15217107"/>
              <a:gd name="connsiteX26" fmla="*/ 10549598 w 15361919"/>
              <a:gd name="connsiteY26" fmla="*/ 7298417 h 15217107"/>
              <a:gd name="connsiteX27" fmla="*/ 10509294 w 15361919"/>
              <a:gd name="connsiteY27" fmla="*/ 7040607 h 15217107"/>
              <a:gd name="connsiteX28" fmla="*/ 7939676 w 15361919"/>
              <a:gd name="connsiteY28" fmla="*/ 4801370 h 15217107"/>
              <a:gd name="connsiteX29" fmla="*/ 7836058 w 15361919"/>
              <a:gd name="connsiteY29" fmla="*/ 4796899 h 152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361919" h="15217107">
                <a:moveTo>
                  <a:pt x="10567947" y="7608614"/>
                </a:moveTo>
                <a:lnTo>
                  <a:pt x="15361919" y="7608614"/>
                </a:lnTo>
                <a:cubicBezTo>
                  <a:pt x="15361919" y="11681434"/>
                  <a:pt x="12134607" y="15007205"/>
                  <a:pt x="8076220" y="15211089"/>
                </a:cubicBezTo>
                <a:lnTo>
                  <a:pt x="7836058" y="15217107"/>
                </a:lnTo>
                <a:lnTo>
                  <a:pt x="7836058" y="10419376"/>
                </a:lnTo>
                <a:lnTo>
                  <a:pt x="7976137" y="10412471"/>
                </a:lnTo>
                <a:cubicBezTo>
                  <a:pt x="9431918" y="10268140"/>
                  <a:pt x="10567947" y="9067893"/>
                  <a:pt x="10567947" y="7608614"/>
                </a:cubicBezTo>
                <a:close/>
                <a:moveTo>
                  <a:pt x="0" y="7608614"/>
                </a:moveTo>
                <a:lnTo>
                  <a:pt x="4793971" y="7608614"/>
                </a:lnTo>
                <a:cubicBezTo>
                  <a:pt x="4793971" y="9067893"/>
                  <a:pt x="5930001" y="10268140"/>
                  <a:pt x="7385782" y="10412471"/>
                </a:cubicBezTo>
                <a:lnTo>
                  <a:pt x="7525860" y="10419376"/>
                </a:lnTo>
                <a:lnTo>
                  <a:pt x="7525860" y="15217107"/>
                </a:lnTo>
                <a:lnTo>
                  <a:pt x="7285698" y="15211089"/>
                </a:lnTo>
                <a:cubicBezTo>
                  <a:pt x="3227310" y="15007205"/>
                  <a:pt x="0" y="11681434"/>
                  <a:pt x="0" y="7608614"/>
                </a:cubicBezTo>
                <a:close/>
                <a:moveTo>
                  <a:pt x="7525860" y="0"/>
                </a:moveTo>
                <a:lnTo>
                  <a:pt x="7525860" y="4796899"/>
                </a:lnTo>
                <a:lnTo>
                  <a:pt x="7422242" y="4801370"/>
                </a:lnTo>
                <a:cubicBezTo>
                  <a:pt x="6143821" y="4912212"/>
                  <a:pt x="5105001" y="5836575"/>
                  <a:pt x="4852625" y="7040607"/>
                </a:cubicBezTo>
                <a:lnTo>
                  <a:pt x="4812321" y="7298417"/>
                </a:lnTo>
                <a:lnTo>
                  <a:pt x="7914" y="7298417"/>
                </a:lnTo>
                <a:lnTo>
                  <a:pt x="9995" y="7216883"/>
                </a:lnTo>
                <a:cubicBezTo>
                  <a:pt x="209286" y="3320423"/>
                  <a:pt x="3364790" y="196945"/>
                  <a:pt x="7297974" y="5533"/>
                </a:cubicBezTo>
                <a:close/>
                <a:moveTo>
                  <a:pt x="7836058" y="0"/>
                </a:moveTo>
                <a:lnTo>
                  <a:pt x="8063945" y="5533"/>
                </a:lnTo>
                <a:cubicBezTo>
                  <a:pt x="11997129" y="196945"/>
                  <a:pt x="15152633" y="3320423"/>
                  <a:pt x="15351925" y="7216883"/>
                </a:cubicBezTo>
                <a:lnTo>
                  <a:pt x="15354005" y="7298417"/>
                </a:lnTo>
                <a:lnTo>
                  <a:pt x="10549598" y="7298417"/>
                </a:lnTo>
                <a:lnTo>
                  <a:pt x="10509294" y="7040607"/>
                </a:lnTo>
                <a:cubicBezTo>
                  <a:pt x="10256918" y="5836575"/>
                  <a:pt x="9218098" y="4912212"/>
                  <a:pt x="7939676" y="4801370"/>
                </a:cubicBezTo>
                <a:lnTo>
                  <a:pt x="7836058" y="4796899"/>
                </a:lnTo>
                <a:close/>
              </a:path>
            </a:pathLst>
          </a:cu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520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1A5FA88-B147-4252-A4AB-1ABB8292634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325140"/>
                <a:ext cx="10515600" cy="1325563"/>
              </a:xfrm>
            </p:spPr>
            <p:txBody>
              <a:bodyPr/>
              <a:lstStyle/>
              <a:p>
                <a:r>
                  <a:rPr lang="zh-CN" altLang="en-US" dirty="0"/>
                  <a:t>活久见的（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01A5FA88-B147-4252-A4AB-1ABB82926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325140"/>
                <a:ext cx="10515600" cy="1325563"/>
              </a:xfrm>
              <a:blipFill>
                <a:blip r:embed="rId2"/>
                <a:stretch>
                  <a:fillRect l="-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16ACE64-95D9-4571-845E-379474C8E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9809" y="1825625"/>
            <a:ext cx="10232381" cy="4351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4CB30D1-8F53-4A69-8982-D9B4ECF3180A}"/>
              </a:ext>
            </a:extLst>
          </p:cNvPr>
          <p:cNvSpPr txBox="1"/>
          <p:nvPr/>
        </p:nvSpPr>
        <p:spPr>
          <a:xfrm rot="19882457">
            <a:off x="4128304" y="2884346"/>
            <a:ext cx="44321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干嘛的？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C3802B-B19F-41DA-89F8-A4389C28D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954" y="110248"/>
            <a:ext cx="4259020" cy="266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46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318D1FC-CFF3-479B-AE4A-51A51036680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358120" cy="3211195"/>
              </a:xfrm>
            </p:spPr>
            <p:txBody>
              <a:bodyPr>
                <a:normAutofit fontScale="90000"/>
              </a:bodyPr>
              <a:lstStyle/>
              <a:p>
                <a:r>
                  <a:rPr lang="zh-CN" altLang="en-US" sz="3200" i="1" dirty="0">
                    <a:latin typeface="Cambria Math" panose="02040503050406030204" pitchFamily="18" charset="0"/>
                  </a:rPr>
                  <a:t>基本套路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pt-BR" altLang="zh-CN" sz="3200" i="1" dirty="0">
                    <a:latin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pt-BR" altLang="zh-CN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∋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….</m:t>
                    </m:r>
                  </m:oMath>
                </a14:m>
                <a:br>
                  <a:rPr lang="pt-BR" altLang="zh-CN" sz="3200" i="1" dirty="0">
                    <a:latin typeface="Cambria Math" panose="02040503050406030204" pitchFamily="18" charset="0"/>
                  </a:rPr>
                </a:br>
                <a:br>
                  <a:rPr lang="pt-BR" altLang="zh-CN" sz="3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func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,∃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altLang="zh-CN" sz="2400" i="1" dirty="0">
                    <a:latin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pt-BR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∋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pt-BR" altLang="zh-CN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func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altLang="zh-CN" sz="2400" i="1" dirty="0">
                    <a:latin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∋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.</a:t>
                </a:r>
                <a:br>
                  <a:rPr lang="en-US" altLang="zh-CN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~+∞</m:t>
                            </m:r>
                          </m:lim>
                        </m:limLow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&gt;0,∃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altLang="zh-CN" sz="2400" i="1" dirty="0">
                    <a:latin typeface="Cambria Math" panose="02040503050406030204" pitchFamily="18" charset="0"/>
                  </a:rPr>
                  <a:t>.</a:t>
                </a:r>
                <a:br>
                  <a:rPr lang="pt-BR" altLang="zh-CN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~+∞</m:t>
                            </m:r>
                          </m:lim>
                        </m:limLow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e>
                    </m:func>
                    <m:r>
                      <a:rPr lang="pt-B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&gt;0,∃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br>
                  <a:rPr lang="en-US" altLang="zh-CN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US" altLang="zh-CN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zh-CN" altLang="en-US" sz="2400" i="1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目的在于将一个未知量（</a:t>
                </a:r>
                <a14:m>
                  <m:oMath xmlns:m="http://schemas.openxmlformats.org/officeDocument/2006/math">
                    <m:r>
                      <a:rPr lang="zh-CN" altLang="en-US" sz="240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24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sz="2400" i="1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）用另一个未知量（</a:t>
                </a:r>
                <a14:m>
                  <m:oMath xmlns:m="http://schemas.openxmlformats.org/officeDocument/2006/math">
                    <m:r>
                      <a:rPr lang="zh-CN" altLang="en-US" sz="240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i="1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i="1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</a:t>
                </a:r>
                <a:r>
                  <a:rPr lang="zh-CN" altLang="en-US" sz="2400" i="1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）表达出来</a:t>
                </a:r>
                <a:br>
                  <a:rPr lang="pt-BR" altLang="zh-CN" sz="2400" i="1" dirty="0">
                    <a:latin typeface="Cambria Math" panose="02040503050406030204" pitchFamily="18" charset="0"/>
                  </a:rPr>
                </a:br>
                <a:br>
                  <a:rPr lang="pt-BR" altLang="zh-CN" sz="3200" i="1" dirty="0">
                    <a:latin typeface="Cambria Math" panose="02040503050406030204" pitchFamily="18" charset="0"/>
                  </a:rPr>
                </a:br>
                <a:endParaRPr lang="zh-CN" altLang="en-US" sz="3200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318D1FC-CFF3-479B-AE4A-51A510366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358120" cy="3211195"/>
              </a:xfrm>
              <a:blipFill>
                <a:blip r:embed="rId2"/>
                <a:stretch>
                  <a:fillRect l="-1295" t="-13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F92D60-D0B9-4A69-BE6F-7FFB505A6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60" y="3789679"/>
            <a:ext cx="10784840" cy="2387283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函数极限</a:t>
            </a:r>
            <a:r>
              <a:rPr lang="en-US" altLang="zh-CN" b="0" i="1" dirty="0" err="1">
                <a:solidFill>
                  <a:srgbClr val="333333"/>
                </a:solidFill>
                <a:effectLst/>
                <a:latin typeface="-apple-system"/>
              </a:rPr>
              <a:t>limx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-apple-system"/>
              </a:rPr>
              <a:t>→-∞</a:t>
            </a:r>
            <a:r>
              <a:rPr lang="en-US" altLang="zh-CN" b="0" i="1" dirty="0" err="1">
                <a:solidFill>
                  <a:srgbClr val="333333"/>
                </a:solidFill>
                <a:effectLst/>
                <a:latin typeface="-apple-system"/>
              </a:rPr>
              <a:t>fx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-apple-system"/>
              </a:rPr>
              <a:t>=A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-apple-system"/>
              </a:rPr>
              <a:t>ε-X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定义是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b="0" i="1" dirty="0">
                <a:solidFill>
                  <a:srgbClr val="4D4D4D"/>
                </a:solidFill>
                <a:effectLst/>
                <a:latin typeface="-apple-system"/>
              </a:rPr>
              <a:t>∀</a:t>
            </a:r>
            <a:r>
              <a:rPr lang="en-US" altLang="zh-CN" b="0" i="1" dirty="0">
                <a:solidFill>
                  <a:srgbClr val="4D4D4D"/>
                </a:solidFill>
                <a:effectLst/>
                <a:latin typeface="-apple-system"/>
              </a:rPr>
              <a:t>G&gt;0,∃δ&gt;0,∀x:-δ&lt;x-x0&lt;0</a:t>
            </a:r>
            <a:r>
              <a:rPr lang="en-US" altLang="zh-CN" b="0" i="0" u="sng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b="0" i="0" u="sng" dirty="0">
                <a:solidFill>
                  <a:srgbClr val="4D4D4D"/>
                </a:solidFill>
                <a:effectLst/>
                <a:latin typeface="-apple-system"/>
              </a:rPr>
              <a:t>有</a:t>
            </a:r>
            <a:r>
              <a:rPr lang="en-US" altLang="zh-CN" b="0" i="1" dirty="0" err="1">
                <a:solidFill>
                  <a:srgbClr val="4D4D4D"/>
                </a:solidFill>
                <a:effectLst/>
                <a:latin typeface="-apple-system"/>
              </a:rPr>
              <a:t>fx</a:t>
            </a:r>
            <a:r>
              <a:rPr lang="en-US" altLang="zh-CN" b="0" i="1" dirty="0">
                <a:solidFill>
                  <a:srgbClr val="4D4D4D"/>
                </a:solidFill>
                <a:effectLst/>
                <a:latin typeface="-apple-system"/>
              </a:rPr>
              <a:t>&lt;-G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；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函数值无穷引入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定义域无穷引入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左邻域加－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C1B431-3EB1-472F-BCD8-C3914B12C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3111420"/>
            <a:ext cx="732574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9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97FEB-FA0B-4262-ADE7-3FDE8CC7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连续的定义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F35729E-2666-4D90-A07E-337D50AD5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5" r="10" b="18935"/>
          <a:stretch/>
        </p:blipFill>
        <p:spPr>
          <a:xfrm>
            <a:off x="3953228" y="3743325"/>
            <a:ext cx="7735006" cy="311467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366210-4E36-495E-B442-CBF7A27724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80" r="-3316" b="18321"/>
          <a:stretch/>
        </p:blipFill>
        <p:spPr>
          <a:xfrm>
            <a:off x="3953228" y="561975"/>
            <a:ext cx="7735006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73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00E6B-8F6D-4EC0-819F-57901D35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B1AAA59-D68C-4F70-8374-5709A1B75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3615293"/>
            <a:ext cx="10515600" cy="73390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CA9485-9E2A-46D5-806C-0AD1E258A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0"/>
            <a:ext cx="12192000" cy="126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9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021FF-0447-4C44-9D1E-235D1491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你以为接下来我会给你讲第三章第四章？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B7D5388-50D0-40FC-A774-9CED3931A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9508"/>
            <a:ext cx="8528380" cy="5148492"/>
          </a:xfrm>
        </p:spPr>
      </p:pic>
    </p:spTree>
    <p:extLst>
      <p:ext uri="{BB962C8B-B14F-4D97-AF65-F5344CB8AC3E}">
        <p14:creationId xmlns:p14="http://schemas.microsoft.com/office/powerpoint/2010/main" val="356276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CFFB4-A8F4-4CA4-B017-ECF05A22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掌握知识的最佳方式就是实践知识！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422102-731C-434B-A556-EF16E3C2D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开干</a:t>
            </a:r>
            <a:r>
              <a:rPr lang="en-US" altLang="zh-CN" dirty="0"/>
              <a:t>,</a:t>
            </a:r>
            <a:r>
              <a:rPr lang="zh-CN" altLang="en-US" dirty="0"/>
              <a:t>看公式：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题型：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选择填空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作图（没个渐近线不好意思画）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896956-DCA0-4047-ABE7-415AA623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4684905"/>
            <a:ext cx="5895975" cy="185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5028009-9F63-4483-ADB9-26DD2F3A9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27" y="1264463"/>
            <a:ext cx="5314923" cy="3397212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E82287-0253-4CED-B7FE-0FD935C88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5203576"/>
            <a:ext cx="4419600" cy="81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09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E76618-E735-402C-A774-6A47AA608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850" y="349250"/>
                <a:ext cx="10515600" cy="4351338"/>
              </a:xfrm>
            </p:spPr>
            <p:txBody>
              <a:bodyPr/>
              <a:lstStyle/>
              <a:p>
                <a:r>
                  <a:rPr lang="en-US" altLang="zh-CN" dirty="0"/>
                  <a:t>Eg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y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^2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做出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r>
                  <a:rPr lang="zh-CN" altLang="en-US" dirty="0"/>
                  <a:t>图形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E76618-E735-402C-A774-6A47AA608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850" y="349250"/>
                <a:ext cx="10515600" cy="4351338"/>
              </a:xfrm>
              <a:blipFill>
                <a:blip r:embed="rId2"/>
                <a:stretch>
                  <a:fillRect l="-1043" t="-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9AC5888A-D4BB-4AA8-9335-2A3EE132AD83}"/>
              </a:ext>
            </a:extLst>
          </p:cNvPr>
          <p:cNvGrpSpPr/>
          <p:nvPr/>
        </p:nvGrpSpPr>
        <p:grpSpPr>
          <a:xfrm>
            <a:off x="3857055" y="3152385"/>
            <a:ext cx="360" cy="360"/>
            <a:chOff x="3857055" y="3152385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381BD458-FE70-4C70-908A-4DC427426E69}"/>
                    </a:ext>
                  </a:extLst>
                </p14:cNvPr>
                <p14:cNvContentPartPr/>
                <p14:nvPr/>
              </p14:nvContentPartPr>
              <p14:xfrm>
                <a:off x="3857055" y="3152385"/>
                <a:ext cx="360" cy="36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381BD458-FE70-4C70-908A-4DC427426E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48415" y="31437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C628FE0E-E840-436C-A56D-885082729671}"/>
                    </a:ext>
                  </a:extLst>
                </p14:cNvPr>
                <p14:cNvContentPartPr/>
                <p14:nvPr/>
              </p14:nvContentPartPr>
              <p14:xfrm>
                <a:off x="3857055" y="3152385"/>
                <a:ext cx="360" cy="3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C628FE0E-E840-436C-A56D-88508272967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48415" y="31437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50B8AC1D-8CBD-4573-B74D-CAD2B3231B07}"/>
                  </a:ext>
                </a:extLst>
              </p14:cNvPr>
              <p14:cNvContentPartPr/>
              <p14:nvPr/>
            </p14:nvContentPartPr>
            <p14:xfrm>
              <a:off x="3857055" y="3152385"/>
              <a:ext cx="360" cy="36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50B8AC1D-8CBD-4573-B74D-CAD2B3231B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8415" y="31437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9DB98D22-DFA0-43E5-8A12-02F7E22797CB}"/>
                  </a:ext>
                </a:extLst>
              </p14:cNvPr>
              <p14:cNvContentPartPr/>
              <p14:nvPr/>
            </p14:nvContentPartPr>
            <p14:xfrm>
              <a:off x="2066775" y="4504905"/>
              <a:ext cx="360" cy="36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9DB98D22-DFA0-43E5-8A12-02F7E22797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7775" y="449590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图片 30">
            <a:extLst>
              <a:ext uri="{FF2B5EF4-FFF2-40B4-BE49-F238E27FC236}">
                <a16:creationId xmlns:a16="http://schemas.microsoft.com/office/drawing/2014/main" id="{7A676B80-5ABC-4702-8A68-2DE2B86DE3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9" y="1773624"/>
            <a:ext cx="9076966" cy="451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8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9BC7E-EBAB-46B5-92EE-1075FFD3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证明极限存在（函数数列差不多）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E9F163-AD4C-49FD-82F6-4EA6ABB02E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zh-CN" altLang="en-US" dirty="0"/>
                  <a:t>单调有界收敛定理：</a:t>
                </a:r>
                <a:r>
                  <a:rPr lang="en-US" altLang="zh-CN" dirty="0"/>
                  <a:t>1.</a:t>
                </a:r>
                <a:r>
                  <a:rPr lang="zh-CN" altLang="en-US" dirty="0"/>
                  <a:t>单调 </a:t>
                </a:r>
                <a:r>
                  <a:rPr lang="en-US" altLang="zh-CN" dirty="0"/>
                  <a:t>2.</a:t>
                </a:r>
                <a:r>
                  <a:rPr lang="zh-CN" altLang="en-US" dirty="0"/>
                  <a:t>有上界</a:t>
                </a:r>
                <a:endParaRPr lang="en-US" altLang="zh-CN" dirty="0"/>
              </a:p>
              <a:p>
                <a:r>
                  <a:rPr lang="zh-CN" altLang="en-US" dirty="0"/>
                  <a:t>闭区间套定理：</a:t>
                </a:r>
                <a:r>
                  <a:rPr lang="en-US" altLang="zh-CN" dirty="0"/>
                  <a:t>1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（用的很少）</a:t>
                </a:r>
                <a:r>
                  <a:rPr lang="en-US" altLang="zh-CN" dirty="0"/>
                  <a:t>   2 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致密性定理：有界数列必有收敛子列，我们一般用它的逆定理：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>
                    <a:effectLst/>
                    <a:latin typeface="Arial Black" panose="020B0A04020102020204" pitchFamily="34" charset="0"/>
                    <a:cs typeface="Cascadia Code SemiLight" panose="020B0609020000020004" pitchFamily="49" charset="0"/>
                  </a:rPr>
                  <a:t>  </a:t>
                </a:r>
                <a:r>
                  <a:rPr lang="zh-CN" altLang="en-US" dirty="0">
                    <a:effectLst/>
                    <a:latin typeface="Arial Black" panose="020B0A04020102020204" pitchFamily="34" charset="0"/>
                    <a:cs typeface="Cascadia Code SemiLight" panose="020B0609020000020004" pitchFamily="49" charset="0"/>
                  </a:rPr>
                  <a:t>如果每个子序列都有一个收敛的子序列，那么原始序列必须是有界的。</a:t>
                </a:r>
                <a:endParaRPr lang="en-US" altLang="zh-CN" dirty="0">
                  <a:effectLst/>
                  <a:latin typeface="Arial Black" panose="020B0A04020102020204" pitchFamily="34" charset="0"/>
                  <a:cs typeface="Cascadia Code SemiLight" panose="020B0609020000020004" pitchFamily="49" charset="0"/>
                </a:endParaRPr>
              </a:p>
              <a:p>
                <a:r>
                  <a:rPr lang="zh-CN" altLang="en-US" dirty="0">
                    <a:latin typeface="Arial Black" panose="020B0A04020102020204" pitchFamily="34" charset="0"/>
                  </a:rPr>
                  <a:t>柯西收敛：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𝑎𝑚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US" altLang="zh-CN" dirty="0">
                  <a:latin typeface="Arial Black" panose="020B0A04020102020204" pitchFamily="34" charset="0"/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E9F163-AD4C-49FD-82F6-4EA6ABB02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785F5DF-BA68-4E58-9C3B-17E024FC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52" y="1557338"/>
            <a:ext cx="4286848" cy="8573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87AA04-0571-4E27-BBE7-4CF90D81AB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16" t="9620" r="2333" b="19235"/>
          <a:stretch/>
        </p:blipFill>
        <p:spPr>
          <a:xfrm>
            <a:off x="4104677" y="2627525"/>
            <a:ext cx="2296123" cy="7048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98BC4A1-BDA0-4320-B683-3E989F45C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984" y="2138393"/>
            <a:ext cx="2943636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38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AB4CA-E699-4492-9B4C-E9982B9F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596" y="373072"/>
            <a:ext cx="9732603" cy="106229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1DB06-CCC0-4682-BEF8-8C8D36599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C445E6-A7B3-4056-BB9E-95ACC5D586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7" t="-42535" r="-9967" b="40025"/>
          <a:stretch/>
        </p:blipFill>
        <p:spPr bwMode="auto">
          <a:xfrm>
            <a:off x="0" y="-4966205"/>
            <a:ext cx="15295962" cy="1168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52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9BF64-1B21-4E4D-8CFD-996865B6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03054-A3F0-46AD-8A6A-D84462A2E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DE4F07B-DA7C-4785-A10A-53CEE9BEC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371" b="45695"/>
          <a:stretch/>
        </p:blipFill>
        <p:spPr bwMode="auto">
          <a:xfrm>
            <a:off x="19050" y="0"/>
            <a:ext cx="12439650" cy="696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179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3E270-EE42-46FE-8A66-6F73B41B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求极限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92768-48F6-4670-B13F-A2ACFB118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无穷大、小</a:t>
            </a:r>
            <a:endParaRPr lang="en-US" altLang="zh-CN" dirty="0"/>
          </a:p>
          <a:p>
            <a:r>
              <a:rPr lang="zh-CN" altLang="en-US" dirty="0"/>
              <a:t>洛必达（注意个别题洛一次后就不能洛了）</a:t>
            </a:r>
            <a:endParaRPr lang="en-US" altLang="zh-CN" dirty="0"/>
          </a:p>
          <a:p>
            <a:r>
              <a:rPr lang="en-US" altLang="zh-CN" dirty="0"/>
              <a:t>exp</a:t>
            </a:r>
          </a:p>
          <a:p>
            <a:r>
              <a:rPr lang="zh-CN" altLang="en-US" dirty="0"/>
              <a:t>泰勒展开</a:t>
            </a:r>
            <a:endParaRPr lang="en-US" altLang="zh-CN" dirty="0"/>
          </a:p>
          <a:p>
            <a:r>
              <a:rPr lang="zh-CN" altLang="en-US" dirty="0"/>
              <a:t>利用导数的定义</a:t>
            </a:r>
          </a:p>
        </p:txBody>
      </p:sp>
    </p:spTree>
    <p:extLst>
      <p:ext uri="{BB962C8B-B14F-4D97-AF65-F5344CB8AC3E}">
        <p14:creationId xmlns:p14="http://schemas.microsoft.com/office/powerpoint/2010/main" val="2405021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D7C99-C334-42DD-BC14-C4F1776C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无穷小替换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4B972-3CDB-46CA-BF97-46C068F4F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4181475"/>
            <a:ext cx="10591800" cy="1995488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093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F8311-7057-4E4A-B5CA-78973203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泰勒展开之</a:t>
            </a:r>
            <a:r>
              <a:rPr lang="en-US" altLang="zh-CN" dirty="0"/>
              <a:t>Lagrange</a:t>
            </a:r>
            <a:r>
              <a:rPr lang="zh-CN" altLang="en-US" dirty="0"/>
              <a:t>余项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4EFE236-66A8-493D-9BE5-3FCF375059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6277"/>
            <a:ext cx="3315163" cy="149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2A147D8-EA97-4967-AFEA-FD809F9238A3}"/>
              </a:ext>
            </a:extLst>
          </p:cNvPr>
          <p:cNvSpPr txBox="1"/>
          <p:nvPr/>
        </p:nvSpPr>
        <p:spPr>
          <a:xfrm>
            <a:off x="975360" y="51816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Lagrange</a:t>
            </a:r>
            <a:r>
              <a:rPr lang="zh-CN" altLang="en-US" dirty="0"/>
              <a:t>中值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AAF8BC3-9829-48AA-99F3-941DEF1DE565}"/>
              </a:ext>
            </a:extLst>
          </p:cNvPr>
          <p:cNvGrpSpPr/>
          <p:nvPr/>
        </p:nvGrpSpPr>
        <p:grpSpPr>
          <a:xfrm>
            <a:off x="2587560" y="3474360"/>
            <a:ext cx="2428200" cy="2167200"/>
            <a:chOff x="2587560" y="3474360"/>
            <a:chExt cx="2428200" cy="21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C20BC8D1-DA31-4699-A264-E0BB5B426EB4}"/>
                    </a:ext>
                  </a:extLst>
                </p14:cNvPr>
                <p14:cNvContentPartPr/>
                <p14:nvPr/>
              </p14:nvContentPartPr>
              <p14:xfrm>
                <a:off x="2739840" y="3474360"/>
                <a:ext cx="2275920" cy="19314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C20BC8D1-DA31-4699-A264-E0BB5B426EB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31200" y="3465360"/>
                  <a:ext cx="2293560" cy="19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13B03B9-DF76-49F9-A4D5-39F4C0F75F7D}"/>
                    </a:ext>
                  </a:extLst>
                </p14:cNvPr>
                <p14:cNvContentPartPr/>
                <p14:nvPr/>
              </p14:nvContentPartPr>
              <p14:xfrm>
                <a:off x="2587560" y="5105160"/>
                <a:ext cx="501120" cy="5364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13B03B9-DF76-49F9-A4D5-39F4C0F75F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578920" y="5096160"/>
                  <a:ext cx="518760" cy="554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8459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7728B-991F-4CCE-8A2D-297DCFB2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大杂烩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90BD554-7121-4775-B0DB-D1BABFA0F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22" y="1690688"/>
            <a:ext cx="11120100" cy="4607243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8B0FFB4-6980-403C-B760-3185AB395CDE}"/>
                  </a:ext>
                </a:extLst>
              </p14:cNvPr>
              <p14:cNvContentPartPr/>
              <p14:nvPr/>
            </p14:nvContentPartPr>
            <p14:xfrm>
              <a:off x="-792840" y="7970040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8B0FFB4-6980-403C-B760-3185AB395C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840" y="79610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4999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6CDBB-B470-46E1-A10F-2761440F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需要观察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FFD9C7-6256-483C-B475-F8BA9A102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54525"/>
            <a:ext cx="7735712" cy="4351338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E4DEC5B-1E6E-4590-89EC-15D97E61A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4" y="2286794"/>
            <a:ext cx="7047563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93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097ED-DD0B-42FC-8875-6255D695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积分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329173-9107-4E5F-B844-9204A6DC8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牛顿</a:t>
            </a:r>
            <a:r>
              <a:rPr lang="en-US" altLang="zh-CN" dirty="0"/>
              <a:t>-</a:t>
            </a:r>
            <a:r>
              <a:rPr lang="zh-CN" altLang="en-US" dirty="0"/>
              <a:t>莱布尼兹公式 结合极限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AE7123-592C-49FE-ABB8-25ED08B9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185035"/>
            <a:ext cx="6088380" cy="45662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6102D86-A9A6-42DB-81E1-D26E8E359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169" y="5473558"/>
            <a:ext cx="186716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5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C7784-5392-403A-B7D5-020EDD50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0465862-D0E4-4089-AD41-602535B2C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7293" r="-1209" b="34217"/>
          <a:stretch/>
        </p:blipFill>
        <p:spPr>
          <a:xfrm>
            <a:off x="2486024" y="0"/>
            <a:ext cx="6536056" cy="1325563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64BAE8-BF03-476E-BA11-303403D6D8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94"/>
          <a:stretch/>
        </p:blipFill>
        <p:spPr>
          <a:xfrm>
            <a:off x="0" y="3122820"/>
            <a:ext cx="12192000" cy="14866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3245C9F-3493-4A8E-9666-0B0068BF411B}"/>
              </a:ext>
            </a:extLst>
          </p:cNvPr>
          <p:cNvSpPr txBox="1"/>
          <p:nvPr/>
        </p:nvSpPr>
        <p:spPr>
          <a:xfrm rot="20431334">
            <a:off x="4533555" y="2134186"/>
            <a:ext cx="3124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凑</a:t>
            </a:r>
            <a:r>
              <a:rPr lang="en-US" altLang="zh-CN" sz="5400" dirty="0"/>
              <a:t>1/</a:t>
            </a:r>
            <a:r>
              <a:rPr lang="en-US" altLang="zh-CN" sz="5400" dirty="0" err="1"/>
              <a:t>n,i</a:t>
            </a:r>
            <a:r>
              <a:rPr lang="en-US" altLang="zh-CN" sz="5400" dirty="0"/>
              <a:t>/n!</a:t>
            </a:r>
            <a:endParaRPr lang="zh-CN" altLang="en-US" sz="5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93FEAB-8EE8-4CE0-8E14-46304DEB7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8377"/>
            <a:ext cx="12192000" cy="164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012F1-B5A0-480E-BAA2-FD20F2DB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求积分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71A4A-A8E5-4694-A6BF-8646E1329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第一第二换元法：（我觉得没必要区分）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观察法</a:t>
            </a:r>
            <a:r>
              <a:rPr lang="en-US" altLang="zh-CN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 </a:t>
            </a:r>
            <a:r>
              <a:rPr lang="zh-CN" altLang="en-US" dirty="0"/>
              <a:t>齐次化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特殊形式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经验</a:t>
            </a:r>
            <a:endParaRPr lang="en-US" altLang="zh-CN" dirty="0"/>
          </a:p>
          <a:p>
            <a:r>
              <a:rPr lang="zh-CN" altLang="en-US" dirty="0"/>
              <a:t>分部积分：奇偶函数的性质；化出所求对象的负值</a:t>
            </a:r>
            <a:endParaRPr lang="en-US" altLang="zh-CN" dirty="0"/>
          </a:p>
          <a:p>
            <a:r>
              <a:rPr lang="zh-CN" altLang="en-US" dirty="0"/>
              <a:t>熟记背诵</a:t>
            </a:r>
          </a:p>
        </p:txBody>
      </p:sp>
    </p:spTree>
    <p:extLst>
      <p:ext uri="{BB962C8B-B14F-4D97-AF65-F5344CB8AC3E}">
        <p14:creationId xmlns:p14="http://schemas.microsoft.com/office/powerpoint/2010/main" val="495664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2FC22-194E-4F88-A587-3F53DA8B5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E72A031-F548-4883-8A65-1F4CA8A84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r="-1262" b="20527"/>
          <a:stretch/>
        </p:blipFill>
        <p:spPr>
          <a:xfrm>
            <a:off x="0" y="1"/>
            <a:ext cx="7833360" cy="3139440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97C1FF-B81D-426C-9FD1-A56C48198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0503"/>
            <a:ext cx="12192000" cy="271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17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BC136-7077-4AA6-9888-A51A062D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积分的几何应用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70D5F7-3C7A-472C-A91C-B31ED4DF5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1690688"/>
            <a:ext cx="9288780" cy="5224939"/>
          </a:xfrm>
        </p:spPr>
      </p:pic>
    </p:spTree>
    <p:extLst>
      <p:ext uri="{BB962C8B-B14F-4D97-AF65-F5344CB8AC3E}">
        <p14:creationId xmlns:p14="http://schemas.microsoft.com/office/powerpoint/2010/main" val="2760367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1C693-65B1-45F7-8E9D-67EF2030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CB8FD-C997-4B8D-B7D7-8FC579C14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35B6AB-B9F0-412B-B815-AD1DB2337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29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0AF75-77DE-4EF1-8CDB-685664B4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822BEAE-3322-4FC3-ABB2-83B14B0BE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2008" r="-481" b="326"/>
          <a:stretch/>
        </p:blipFill>
        <p:spPr>
          <a:xfrm>
            <a:off x="228600" y="122634"/>
            <a:ext cx="9477375" cy="1810544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52D80F4-4579-4533-93A8-806764912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2509838"/>
            <a:ext cx="9963150" cy="376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39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905</Words>
  <Application>Microsoft Office PowerPoint</Application>
  <PresentationFormat>宽屏</PresentationFormat>
  <Paragraphs>101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-apple-system</vt:lpstr>
      <vt:lpstr>等线</vt:lpstr>
      <vt:lpstr>等线 Light</vt:lpstr>
      <vt:lpstr>Arial</vt:lpstr>
      <vt:lpstr>Arial Black</vt:lpstr>
      <vt:lpstr>Cambria Math</vt:lpstr>
      <vt:lpstr>Office 主题​​</vt:lpstr>
      <vt:lpstr>PowerPoint 演示文稿</vt:lpstr>
      <vt:lpstr>爆了</vt:lpstr>
      <vt:lpstr>工科数学总复习</vt:lpstr>
      <vt:lpstr>即使课本上没有，你也应该知道</vt:lpstr>
      <vt:lpstr>第一章：集合与函数</vt:lpstr>
      <vt:lpstr>实数性质</vt:lpstr>
      <vt:lpstr>集合运算</vt:lpstr>
      <vt:lpstr>集合相关概念</vt:lpstr>
      <vt:lpstr>函数</vt:lpstr>
      <vt:lpstr>一些重要函数</vt:lpstr>
      <vt:lpstr>第二章：极限与连续</vt:lpstr>
      <vt:lpstr>活久见的（ε，σ）</vt:lpstr>
      <vt:lpstr>基本套路∀ε…,∃δ…,∋….  lim┬(x~a)⁡〖f(x)=A:〗 ∀ε&gt;0,∃δ&gt;0,∋|x-a|&lt;δ,|f(x)-A|&lt;ε. lim┬(x~a)⁡〖f(x)=+∞:〗∀G&gt;0,∃δ&gt;0, ∋|x-a|&lt;δ,f(x)&gt;G. lim┬(x~+∞)⁡〖f(x)=A:〗∀ε&gt;0,∃x&gt;N,|f(x)-A|&lt;ε. lim┬(x~+∞)⁡〖f(x)=+∞:〗∀G&gt;0,∃x&gt;N,∋f(x)&gt;G.  目的在于将一个未知量（σ,N）用另一个未知量（ε，G）表达出来  </vt:lpstr>
      <vt:lpstr>连续的定义</vt:lpstr>
      <vt:lpstr>PowerPoint 演示文稿</vt:lpstr>
      <vt:lpstr>你以为接下来我会给你讲第三章第四章？</vt:lpstr>
      <vt:lpstr>掌握知识的最佳方式就是实践知识！</vt:lpstr>
      <vt:lpstr>PowerPoint 演示文稿</vt:lpstr>
      <vt:lpstr>证明极限存在（函数数列差不多）</vt:lpstr>
      <vt:lpstr>PowerPoint 演示文稿</vt:lpstr>
      <vt:lpstr>PowerPoint 演示文稿</vt:lpstr>
      <vt:lpstr>求极限</vt:lpstr>
      <vt:lpstr>无穷小替换</vt:lpstr>
      <vt:lpstr>泰勒展开之Lagrange余项</vt:lpstr>
      <vt:lpstr>大杂烩</vt:lpstr>
      <vt:lpstr>需要观察</vt:lpstr>
      <vt:lpstr>积分</vt:lpstr>
      <vt:lpstr>PowerPoint 演示文稿</vt:lpstr>
      <vt:lpstr>求积分</vt:lpstr>
      <vt:lpstr>PowerPoint 演示文稿</vt:lpstr>
      <vt:lpstr>积分的几何应用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工科数学总复习</dc:title>
  <dc:creator>金梓 鲁</dc:creator>
  <cp:lastModifiedBy>金梓 鲁</cp:lastModifiedBy>
  <cp:revision>15</cp:revision>
  <dcterms:created xsi:type="dcterms:W3CDTF">2023-12-14T14:43:24Z</dcterms:created>
  <dcterms:modified xsi:type="dcterms:W3CDTF">2023-12-26T07:05:23Z</dcterms:modified>
</cp:coreProperties>
</file>